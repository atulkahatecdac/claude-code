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471" r:id="rId3"/>
    <p:sldId id="301" r:id="rId4"/>
    <p:sldId id="257" r:id="rId5"/>
    <p:sldId id="292" r:id="rId6"/>
    <p:sldId id="293" r:id="rId7"/>
    <p:sldId id="472" r:id="rId8"/>
    <p:sldId id="473" r:id="rId9"/>
    <p:sldId id="474" r:id="rId10"/>
    <p:sldId id="475" r:id="rId11"/>
    <p:sldId id="258" r:id="rId12"/>
    <p:sldId id="506" r:id="rId13"/>
    <p:sldId id="476" r:id="rId14"/>
    <p:sldId id="479" r:id="rId15"/>
    <p:sldId id="478" r:id="rId16"/>
    <p:sldId id="480" r:id="rId17"/>
    <p:sldId id="481" r:id="rId18"/>
    <p:sldId id="482" r:id="rId19"/>
    <p:sldId id="483" r:id="rId20"/>
    <p:sldId id="484" r:id="rId21"/>
    <p:sldId id="485" r:id="rId22"/>
    <p:sldId id="453" r:id="rId23"/>
    <p:sldId id="477" r:id="rId24"/>
    <p:sldId id="486" r:id="rId25"/>
    <p:sldId id="487" r:id="rId26"/>
    <p:sldId id="488" r:id="rId27"/>
    <p:sldId id="489" r:id="rId28"/>
    <p:sldId id="490" r:id="rId29"/>
    <p:sldId id="491" r:id="rId30"/>
    <p:sldId id="492" r:id="rId31"/>
    <p:sldId id="493" r:id="rId32"/>
    <p:sldId id="494" r:id="rId33"/>
    <p:sldId id="495" r:id="rId34"/>
    <p:sldId id="496" r:id="rId35"/>
    <p:sldId id="497" r:id="rId36"/>
    <p:sldId id="498" r:id="rId37"/>
    <p:sldId id="499" r:id="rId38"/>
    <p:sldId id="500" r:id="rId39"/>
    <p:sldId id="501" r:id="rId40"/>
    <p:sldId id="502" r:id="rId41"/>
    <p:sldId id="503" r:id="rId42"/>
    <p:sldId id="504" r:id="rId43"/>
    <p:sldId id="505" r:id="rId44"/>
    <p:sldId id="335" r:id="rId45"/>
    <p:sldId id="507" r:id="rId46"/>
    <p:sldId id="508" r:id="rId47"/>
    <p:sldId id="509" r:id="rId48"/>
    <p:sldId id="510" r:id="rId49"/>
    <p:sldId id="511" r:id="rId50"/>
    <p:sldId id="512" r:id="rId51"/>
    <p:sldId id="513" r:id="rId52"/>
    <p:sldId id="514" r:id="rId53"/>
    <p:sldId id="515" r:id="rId54"/>
    <p:sldId id="516" r:id="rId55"/>
    <p:sldId id="517" r:id="rId56"/>
    <p:sldId id="518" r:id="rId57"/>
    <p:sldId id="519" r:id="rId58"/>
    <p:sldId id="520" r:id="rId59"/>
    <p:sldId id="521" r:id="rId60"/>
    <p:sldId id="522" r:id="rId61"/>
    <p:sldId id="523" r:id="rId62"/>
    <p:sldId id="524" r:id="rId63"/>
    <p:sldId id="525" r:id="rId64"/>
    <p:sldId id="526" r:id="rId65"/>
    <p:sldId id="528" r:id="rId66"/>
    <p:sldId id="529" r:id="rId67"/>
    <p:sldId id="530" r:id="rId68"/>
    <p:sldId id="527" r:id="rId69"/>
    <p:sldId id="531" r:id="rId70"/>
    <p:sldId id="532" r:id="rId71"/>
    <p:sldId id="533" r:id="rId72"/>
    <p:sldId id="537" r:id="rId73"/>
    <p:sldId id="539" r:id="rId74"/>
    <p:sldId id="538" r:id="rId75"/>
    <p:sldId id="534" r:id="rId76"/>
    <p:sldId id="535" r:id="rId77"/>
    <p:sldId id="536" r:id="rId78"/>
    <p:sldId id="540" r:id="rId79"/>
    <p:sldId id="541" r:id="rId80"/>
    <p:sldId id="542" r:id="rId81"/>
    <p:sldId id="543" r:id="rId82"/>
    <p:sldId id="544" r:id="rId83"/>
    <p:sldId id="545" r:id="rId84"/>
    <p:sldId id="546" r:id="rId85"/>
    <p:sldId id="547" r:id="rId86"/>
    <p:sldId id="548" r:id="rId87"/>
    <p:sldId id="549" r:id="rId88"/>
    <p:sldId id="550" r:id="rId89"/>
    <p:sldId id="551" r:id="rId90"/>
    <p:sldId id="554" r:id="rId91"/>
    <p:sldId id="552" r:id="rId92"/>
    <p:sldId id="555" r:id="rId93"/>
    <p:sldId id="553" r:id="rId94"/>
    <p:sldId id="556" r:id="rId95"/>
    <p:sldId id="557" r:id="rId96"/>
    <p:sldId id="558" r:id="rId97"/>
    <p:sldId id="559" r:id="rId98"/>
    <p:sldId id="560" r:id="rId99"/>
    <p:sldId id="561" r:id="rId100"/>
    <p:sldId id="562" r:id="rId101"/>
    <p:sldId id="563" r:id="rId102"/>
    <p:sldId id="564" r:id="rId103"/>
    <p:sldId id="565" r:id="rId104"/>
    <p:sldId id="566" r:id="rId105"/>
    <p:sldId id="567" r:id="rId106"/>
    <p:sldId id="568" r:id="rId107"/>
    <p:sldId id="569" r:id="rId108"/>
    <p:sldId id="570" r:id="rId109"/>
    <p:sldId id="702" r:id="rId110"/>
    <p:sldId id="571" r:id="rId111"/>
    <p:sldId id="701" r:id="rId112"/>
    <p:sldId id="572" r:id="rId113"/>
    <p:sldId id="703" r:id="rId114"/>
    <p:sldId id="706" r:id="rId115"/>
    <p:sldId id="707" r:id="rId116"/>
    <p:sldId id="708" r:id="rId117"/>
    <p:sldId id="709" r:id="rId118"/>
    <p:sldId id="710" r:id="rId119"/>
    <p:sldId id="704" r:id="rId120"/>
    <p:sldId id="705"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0" autoAdjust="0"/>
    <p:restoredTop sz="94660"/>
  </p:normalViewPr>
  <p:slideViewPr>
    <p:cSldViewPr snapToGrid="0">
      <p:cViewPr varScale="1">
        <p:scale>
          <a:sx n="91" d="100"/>
          <a:sy n="91" d="100"/>
        </p:scale>
        <p:origin x="808" y="44"/>
      </p:cViewPr>
      <p:guideLst/>
    </p:cSldViewPr>
  </p:slideViewPr>
  <p:notesTextViewPr>
    <p:cViewPr>
      <p:scale>
        <a:sx n="1" d="1"/>
        <a:sy n="1" d="1"/>
      </p:scale>
      <p:origin x="0" y="0"/>
    </p:cViewPr>
  </p:notesTextViewPr>
  <p:sorterViewPr>
    <p:cViewPr varScale="1">
      <p:scale>
        <a:sx n="100" d="100"/>
        <a:sy n="100" d="100"/>
      </p:scale>
      <p:origin x="0" y="-2366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8731-A90A-1364-CA69-512D46149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6E2163F-242E-11F6-1556-3A645A39F0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B47DECB-5770-8D4A-F7A7-1AAE228E3441}"/>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5" name="Footer Placeholder 4">
            <a:extLst>
              <a:ext uri="{FF2B5EF4-FFF2-40B4-BE49-F238E27FC236}">
                <a16:creationId xmlns:a16="http://schemas.microsoft.com/office/drawing/2014/main" id="{B2947E91-C6B1-3BC6-6547-77744C82AB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CD4077-9B9B-E839-4C90-6DCA8924905D}"/>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929742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3EDC2-85DC-A723-2CE7-C0B33AAEF12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C6D81E-F0A6-BDCE-B21E-7897FA5432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AFD678-9C92-1B62-209E-A8AF83E11891}"/>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5" name="Footer Placeholder 4">
            <a:extLst>
              <a:ext uri="{FF2B5EF4-FFF2-40B4-BE49-F238E27FC236}">
                <a16:creationId xmlns:a16="http://schemas.microsoft.com/office/drawing/2014/main" id="{6DBA3C85-B0B2-A32B-3A14-973C6BF98B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9A7C7C-92D2-3ADE-4FC1-8E5DD1E8BA68}"/>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2374736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DCCD-F4A6-5DAC-F827-E5AF12EF91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94813D4-1411-EE4B-1E7F-410CBF2D69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02A991-7E92-B074-EBF8-B0F38F635D51}"/>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5" name="Footer Placeholder 4">
            <a:extLst>
              <a:ext uri="{FF2B5EF4-FFF2-40B4-BE49-F238E27FC236}">
                <a16:creationId xmlns:a16="http://schemas.microsoft.com/office/drawing/2014/main" id="{52C95BAC-DE4D-A32F-254D-A1842199B1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293634-09AE-2089-09DC-A1C94513E8CD}"/>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436540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1172B-61C0-AF56-69F8-E13FF7765F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8624AC-2F90-3913-A39D-18744C64A8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61E65AA-01AA-F3E0-CC2C-395BF60AE8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EF8E616-0B99-2D38-4E21-B844802E4658}"/>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6" name="Footer Placeholder 5">
            <a:extLst>
              <a:ext uri="{FF2B5EF4-FFF2-40B4-BE49-F238E27FC236}">
                <a16:creationId xmlns:a16="http://schemas.microsoft.com/office/drawing/2014/main" id="{5A6CCFB3-1F11-E82E-9B4E-2EB7794E53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9E20D10-BA12-7CEC-325A-C25CB6B2E298}"/>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163359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380C-0183-C1E0-9070-97CCEE5ABA1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C9A903-F7A6-846F-7BFB-FB7A437404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6F7151-35F5-DD87-4F12-6028E6A6CA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584B518-BDA0-FF80-9489-F054A3B543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439DAA-0BAE-B510-F179-5D6154F312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501588-53E6-854A-3143-B7669C092DBE}"/>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8" name="Footer Placeholder 7">
            <a:extLst>
              <a:ext uri="{FF2B5EF4-FFF2-40B4-BE49-F238E27FC236}">
                <a16:creationId xmlns:a16="http://schemas.microsoft.com/office/drawing/2014/main" id="{327B415A-3B2F-EC58-47F8-7F5A213EE45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AAA833-0A96-1F83-CA6C-3F5B6E48F28A}"/>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2259283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C82EC-7445-D21B-6AFC-74D122B42B3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C503CA5-8525-7EAF-0C7E-67EC1AFBD6CB}"/>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4" name="Footer Placeholder 3">
            <a:extLst>
              <a:ext uri="{FF2B5EF4-FFF2-40B4-BE49-F238E27FC236}">
                <a16:creationId xmlns:a16="http://schemas.microsoft.com/office/drawing/2014/main" id="{B5EE4C72-43F7-8660-D4B4-A72CC616A9E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63FFE0-2995-EF3B-AF64-78A4A461AB41}"/>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3378785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9673FB-5AEB-B2AA-3943-88EB51F8CDB1}"/>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3" name="Footer Placeholder 2">
            <a:extLst>
              <a:ext uri="{FF2B5EF4-FFF2-40B4-BE49-F238E27FC236}">
                <a16:creationId xmlns:a16="http://schemas.microsoft.com/office/drawing/2014/main" id="{BCCEC795-C400-F334-124E-400775B8395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B93F1FE-F09E-05AE-5779-5EB5DFB45AFB}"/>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3654349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926C4-E56B-F546-0CC6-217EF4E197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A50D5AF-5FF1-EE20-A42E-AA5464D45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2F3D637-DB18-445B-0DC3-D9817F83A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DE0E8-9C54-1CCD-7488-CBF52516C306}"/>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6" name="Footer Placeholder 5">
            <a:extLst>
              <a:ext uri="{FF2B5EF4-FFF2-40B4-BE49-F238E27FC236}">
                <a16:creationId xmlns:a16="http://schemas.microsoft.com/office/drawing/2014/main" id="{8FC62237-8AC1-CEAE-AFEB-7401965A5F4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8DF59D0-58DF-14E3-0DEC-DFCB0CD1A3A6}"/>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3854698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D0E8F-DB2C-0A42-BA37-B60AE6B9E5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8B77B2F-6932-8795-A4F2-4F3EDE2AF3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CA7E2CF-FB43-8B28-7F22-C592F743F2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6F55E-C446-CED2-0185-27079C2B8287}"/>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6" name="Footer Placeholder 5">
            <a:extLst>
              <a:ext uri="{FF2B5EF4-FFF2-40B4-BE49-F238E27FC236}">
                <a16:creationId xmlns:a16="http://schemas.microsoft.com/office/drawing/2014/main" id="{02405C41-F482-B156-1FF0-219F15554B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21961B-4BF9-B97B-0A75-B57996B3FC65}"/>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2696918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02A4-58AA-5C4B-B0E4-011C82D9F83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41BFEBA-D59F-3BE8-61CF-BB01EF9A5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E9783C2-F1FB-9DBB-5A4D-E0ECF9983883}"/>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5" name="Footer Placeholder 4">
            <a:extLst>
              <a:ext uri="{FF2B5EF4-FFF2-40B4-BE49-F238E27FC236}">
                <a16:creationId xmlns:a16="http://schemas.microsoft.com/office/drawing/2014/main" id="{3EA68558-FECD-478A-9204-CB96EBDE86B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50F54D-BFC8-3DA3-3BD5-D438B524FC6C}"/>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3419196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20DA87-488D-16FA-64F4-D9E4C4EF4E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4F403AB-AC3C-C783-BD59-3710B0B9E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BE4737-922D-CF4C-4208-5C4A46F9ECB4}"/>
              </a:ext>
            </a:extLst>
          </p:cNvPr>
          <p:cNvSpPr>
            <a:spLocks noGrp="1"/>
          </p:cNvSpPr>
          <p:nvPr>
            <p:ph type="dt" sz="half" idx="10"/>
          </p:nvPr>
        </p:nvSpPr>
        <p:spPr/>
        <p:txBody>
          <a:bodyPr/>
          <a:lstStyle/>
          <a:p>
            <a:fld id="{1ADA95EA-A3CB-4ADD-8CF1-507BDE9185DD}" type="datetimeFigureOut">
              <a:rPr lang="en-GB" smtClean="0"/>
              <a:t>24/07/2026</a:t>
            </a:fld>
            <a:endParaRPr lang="en-GB"/>
          </a:p>
        </p:txBody>
      </p:sp>
      <p:sp>
        <p:nvSpPr>
          <p:cNvPr id="5" name="Footer Placeholder 4">
            <a:extLst>
              <a:ext uri="{FF2B5EF4-FFF2-40B4-BE49-F238E27FC236}">
                <a16:creationId xmlns:a16="http://schemas.microsoft.com/office/drawing/2014/main" id="{CCFECFB1-2EE2-40E4-564B-F15FD72466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69AB4C-C57B-D471-760E-C6DEF2E81CBE}"/>
              </a:ext>
            </a:extLst>
          </p:cNvPr>
          <p:cNvSpPr>
            <a:spLocks noGrp="1"/>
          </p:cNvSpPr>
          <p:nvPr>
            <p:ph type="sldNum" sz="quarter" idx="12"/>
          </p:nvPr>
        </p:nvSpPr>
        <p:spPr/>
        <p:txBody>
          <a:bodyPr/>
          <a:lstStyle/>
          <a:p>
            <a:fld id="{B0242E8F-57A2-421F-8AF2-F5F1077C4C0F}" type="slidenum">
              <a:rPr lang="en-GB" smtClean="0"/>
              <a:t>‹#›</a:t>
            </a:fld>
            <a:endParaRPr lang="en-GB"/>
          </a:p>
        </p:txBody>
      </p:sp>
    </p:spTree>
    <p:extLst>
      <p:ext uri="{BB962C8B-B14F-4D97-AF65-F5344CB8AC3E}">
        <p14:creationId xmlns:p14="http://schemas.microsoft.com/office/powerpoint/2010/main" val="2205931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FEFE82-7BF8-AF55-90F9-79D1EF27F2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7C101D3-EA05-F1FD-5426-187144F188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F58D2D-52A3-9AC1-9712-B618231C33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DA95EA-A3CB-4ADD-8CF1-507BDE9185DD}" type="datetimeFigureOut">
              <a:rPr lang="en-GB" smtClean="0"/>
              <a:t>24/07/2026</a:t>
            </a:fld>
            <a:endParaRPr lang="en-GB"/>
          </a:p>
        </p:txBody>
      </p:sp>
      <p:sp>
        <p:nvSpPr>
          <p:cNvPr id="5" name="Footer Placeholder 4">
            <a:extLst>
              <a:ext uri="{FF2B5EF4-FFF2-40B4-BE49-F238E27FC236}">
                <a16:creationId xmlns:a16="http://schemas.microsoft.com/office/drawing/2014/main" id="{5BCD57C2-ADDA-D9ED-7029-8C4BCF26F9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76CDD86-0C3A-4EB3-94D1-D3437ED177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242E8F-57A2-421F-8AF2-F5F1077C4C0F}" type="slidenum">
              <a:rPr lang="en-GB" smtClean="0"/>
              <a:t>‹#›</a:t>
            </a:fld>
            <a:endParaRPr lang="en-GB"/>
          </a:p>
        </p:txBody>
      </p:sp>
    </p:spTree>
    <p:extLst>
      <p:ext uri="{BB962C8B-B14F-4D97-AF65-F5344CB8AC3E}">
        <p14:creationId xmlns:p14="http://schemas.microsoft.com/office/powerpoint/2010/main" val="4151660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3DC7D-703D-5BE3-ABA2-28B896B8A8D2}"/>
              </a:ext>
            </a:extLst>
          </p:cNvPr>
          <p:cNvSpPr>
            <a:spLocks noGrp="1"/>
          </p:cNvSpPr>
          <p:nvPr>
            <p:ph type="ctrTitle"/>
          </p:nvPr>
        </p:nvSpPr>
        <p:spPr/>
        <p:txBody>
          <a:bodyPr/>
          <a:lstStyle/>
          <a:p>
            <a:r>
              <a:rPr lang="en-IN" noProof="0" dirty="0"/>
              <a:t>Claude Code</a:t>
            </a:r>
          </a:p>
        </p:txBody>
      </p:sp>
      <p:sp>
        <p:nvSpPr>
          <p:cNvPr id="3" name="Subtitle 2">
            <a:extLst>
              <a:ext uri="{FF2B5EF4-FFF2-40B4-BE49-F238E27FC236}">
                <a16:creationId xmlns:a16="http://schemas.microsoft.com/office/drawing/2014/main" id="{98B4A7A7-E5D4-12B1-308D-3144F9BAC35E}"/>
              </a:ext>
            </a:extLst>
          </p:cNvPr>
          <p:cNvSpPr>
            <a:spLocks noGrp="1"/>
          </p:cNvSpPr>
          <p:nvPr>
            <p:ph type="subTitle" idx="1"/>
          </p:nvPr>
        </p:nvSpPr>
        <p:spPr/>
        <p:txBody>
          <a:bodyPr/>
          <a:lstStyle/>
          <a:p>
            <a:r>
              <a:rPr lang="en-IN" noProof="0" dirty="0"/>
              <a:t>Atul Kahate</a:t>
            </a:r>
          </a:p>
        </p:txBody>
      </p:sp>
    </p:spTree>
    <p:extLst>
      <p:ext uri="{BB962C8B-B14F-4D97-AF65-F5344CB8AC3E}">
        <p14:creationId xmlns:p14="http://schemas.microsoft.com/office/powerpoint/2010/main" val="2202825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30896-8A08-DA09-6D7E-80A9FF84DF85}"/>
              </a:ext>
            </a:extLst>
          </p:cNvPr>
          <p:cNvSpPr>
            <a:spLocks noGrp="1"/>
          </p:cNvSpPr>
          <p:nvPr>
            <p:ph type="title"/>
          </p:nvPr>
        </p:nvSpPr>
        <p:spPr/>
        <p:txBody>
          <a:bodyPr/>
          <a:lstStyle/>
          <a:p>
            <a:r>
              <a:rPr lang="en-IN" dirty="0"/>
              <a:t>Agenda</a:t>
            </a:r>
            <a:endParaRPr lang="en-GB" dirty="0"/>
          </a:p>
        </p:txBody>
      </p:sp>
      <p:sp>
        <p:nvSpPr>
          <p:cNvPr id="3" name="Content Placeholder 2">
            <a:extLst>
              <a:ext uri="{FF2B5EF4-FFF2-40B4-BE49-F238E27FC236}">
                <a16:creationId xmlns:a16="http://schemas.microsoft.com/office/drawing/2014/main" id="{67DEF99A-336F-803A-9C84-7F2B3BE6091E}"/>
              </a:ext>
            </a:extLst>
          </p:cNvPr>
          <p:cNvSpPr>
            <a:spLocks noGrp="1"/>
          </p:cNvSpPr>
          <p:nvPr>
            <p:ph idx="1"/>
          </p:nvPr>
        </p:nvSpPr>
        <p:spPr/>
        <p:txBody>
          <a:bodyPr>
            <a:normAutofit/>
          </a:bodyPr>
          <a:lstStyle/>
          <a:p>
            <a:pPr marL="514350" indent="-514350">
              <a:buFont typeface="+mj-lt"/>
              <a:buAutoNum type="arabicPeriod"/>
            </a:pPr>
            <a:r>
              <a:rPr lang="en-GB" dirty="0"/>
              <a:t>TBD</a:t>
            </a:r>
          </a:p>
        </p:txBody>
      </p:sp>
    </p:spTree>
    <p:extLst>
      <p:ext uri="{BB962C8B-B14F-4D97-AF65-F5344CB8AC3E}">
        <p14:creationId xmlns:p14="http://schemas.microsoft.com/office/powerpoint/2010/main" val="1531725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B75C4F-1699-737B-8D04-98C5F38C4473}"/>
              </a:ext>
            </a:extLst>
          </p:cNvPr>
          <p:cNvSpPr>
            <a:spLocks noGrp="1"/>
          </p:cNvSpPr>
          <p:nvPr>
            <p:ph type="title"/>
          </p:nvPr>
        </p:nvSpPr>
        <p:spPr/>
        <p:txBody>
          <a:bodyPr/>
          <a:lstStyle/>
          <a:p>
            <a:r>
              <a:rPr lang="en-IN" dirty="0"/>
              <a:t>Part 1: What is Claude Code?</a:t>
            </a:r>
            <a:endParaRPr lang="en-GB" dirty="0"/>
          </a:p>
        </p:txBody>
      </p:sp>
      <p:sp>
        <p:nvSpPr>
          <p:cNvPr id="5" name="Text Placeholder 4">
            <a:extLst>
              <a:ext uri="{FF2B5EF4-FFF2-40B4-BE49-F238E27FC236}">
                <a16:creationId xmlns:a16="http://schemas.microsoft.com/office/drawing/2014/main" id="{7FB53F70-D94F-9489-5EDA-2D82CF95525A}"/>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143592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3BC12-B0DE-B666-3481-FA9DE8E3ACD4}"/>
              </a:ext>
            </a:extLst>
          </p:cNvPr>
          <p:cNvSpPr>
            <a:spLocks noGrp="1"/>
          </p:cNvSpPr>
          <p:nvPr>
            <p:ph type="title"/>
          </p:nvPr>
        </p:nvSpPr>
        <p:spPr/>
        <p:txBody>
          <a:bodyPr/>
          <a:lstStyle/>
          <a:p>
            <a:r>
              <a:rPr lang="en-IN" noProof="0" dirty="0"/>
              <a:t>What is Claude Code</a:t>
            </a:r>
          </a:p>
        </p:txBody>
      </p:sp>
      <p:sp>
        <p:nvSpPr>
          <p:cNvPr id="3" name="Content Placeholder 2">
            <a:extLst>
              <a:ext uri="{FF2B5EF4-FFF2-40B4-BE49-F238E27FC236}">
                <a16:creationId xmlns:a16="http://schemas.microsoft.com/office/drawing/2014/main" id="{31CCBF9B-04EF-EA05-0283-458A4D0D6DAB}"/>
              </a:ext>
            </a:extLst>
          </p:cNvPr>
          <p:cNvSpPr>
            <a:spLocks noGrp="1"/>
          </p:cNvSpPr>
          <p:nvPr>
            <p:ph idx="1"/>
          </p:nvPr>
        </p:nvSpPr>
        <p:spPr/>
        <p:txBody>
          <a:bodyPr/>
          <a:lstStyle/>
          <a:p>
            <a:r>
              <a:rPr lang="en-IN" noProof="0" dirty="0"/>
              <a:t>Agentic coding tool – Not autocomplete tool or “Give me this code” tool</a:t>
            </a:r>
          </a:p>
          <a:p>
            <a:r>
              <a:rPr lang="en-IN" noProof="0" dirty="0"/>
              <a:t>We can give it a goal and it works around it – Reads files, Runs commands, Edits code, Runs tests, Observers what happens, Decides what to do next – Till the goal is accomplished</a:t>
            </a:r>
          </a:p>
          <a:p>
            <a:r>
              <a:rPr lang="en-IN" noProof="0" dirty="0"/>
              <a:t>Understands our whole project, not just a code snippet</a:t>
            </a:r>
          </a:p>
          <a:p>
            <a:r>
              <a:rPr lang="en-IN" noProof="0" dirty="0"/>
              <a:t>Example: If we tell “fix authentication bug”, it will scan the entire project for relevant files and do whatever is necessary</a:t>
            </a:r>
          </a:p>
          <a:p>
            <a:endParaRPr lang="en-IN" noProof="0" dirty="0"/>
          </a:p>
        </p:txBody>
      </p:sp>
    </p:spTree>
    <p:extLst>
      <p:ext uri="{BB962C8B-B14F-4D97-AF65-F5344CB8AC3E}">
        <p14:creationId xmlns:p14="http://schemas.microsoft.com/office/powerpoint/2010/main" val="985245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01972-34F9-1F54-E72D-E33250F448ED}"/>
              </a:ext>
            </a:extLst>
          </p:cNvPr>
          <p:cNvSpPr>
            <a:spLocks noGrp="1"/>
          </p:cNvSpPr>
          <p:nvPr>
            <p:ph type="title"/>
          </p:nvPr>
        </p:nvSpPr>
        <p:spPr/>
        <p:txBody>
          <a:bodyPr/>
          <a:lstStyle/>
          <a:p>
            <a:r>
              <a:rPr lang="en-IN" dirty="0"/>
              <a:t>Claude AI vs Claude Code</a:t>
            </a:r>
            <a:endParaRPr lang="en-GB" dirty="0"/>
          </a:p>
        </p:txBody>
      </p:sp>
      <p:graphicFrame>
        <p:nvGraphicFramePr>
          <p:cNvPr id="4" name="Content Placeholder 3">
            <a:extLst>
              <a:ext uri="{FF2B5EF4-FFF2-40B4-BE49-F238E27FC236}">
                <a16:creationId xmlns:a16="http://schemas.microsoft.com/office/drawing/2014/main" id="{EEE010C4-3F38-7663-BF4C-61A408B4AA7B}"/>
              </a:ext>
            </a:extLst>
          </p:cNvPr>
          <p:cNvGraphicFramePr>
            <a:graphicFrameLocks noGrp="1"/>
          </p:cNvGraphicFramePr>
          <p:nvPr>
            <p:ph idx="1"/>
            <p:extLst>
              <p:ext uri="{D42A27DB-BD31-4B8C-83A1-F6EECF244321}">
                <p14:modId xmlns:p14="http://schemas.microsoft.com/office/powerpoint/2010/main" val="1632710501"/>
              </p:ext>
            </p:extLst>
          </p:nvPr>
        </p:nvGraphicFramePr>
        <p:xfrm>
          <a:off x="838200" y="2081054"/>
          <a:ext cx="10515600" cy="3840480"/>
        </p:xfrm>
        <a:graphic>
          <a:graphicData uri="http://schemas.openxmlformats.org/drawingml/2006/table">
            <a:tbl>
              <a:tblPr firstRow="1">
                <a:tableStyleId>{7E9639D4-E3E2-4D34-9284-5A2195B3D0D7}</a:tableStyleId>
              </a:tblPr>
              <a:tblGrid>
                <a:gridCol w="3505200">
                  <a:extLst>
                    <a:ext uri="{9D8B030D-6E8A-4147-A177-3AD203B41FA5}">
                      <a16:colId xmlns:a16="http://schemas.microsoft.com/office/drawing/2014/main" val="807622187"/>
                    </a:ext>
                  </a:extLst>
                </a:gridCol>
                <a:gridCol w="3505200">
                  <a:extLst>
                    <a:ext uri="{9D8B030D-6E8A-4147-A177-3AD203B41FA5}">
                      <a16:colId xmlns:a16="http://schemas.microsoft.com/office/drawing/2014/main" val="411098905"/>
                    </a:ext>
                  </a:extLst>
                </a:gridCol>
                <a:gridCol w="3505200">
                  <a:extLst>
                    <a:ext uri="{9D8B030D-6E8A-4147-A177-3AD203B41FA5}">
                      <a16:colId xmlns:a16="http://schemas.microsoft.com/office/drawing/2014/main" val="1281375526"/>
                    </a:ext>
                  </a:extLst>
                </a:gridCol>
              </a:tblGrid>
              <a:tr h="0">
                <a:tc>
                  <a:txBody>
                    <a:bodyPr/>
                    <a:lstStyle/>
                    <a:p>
                      <a:pPr>
                        <a:buNone/>
                      </a:pPr>
                      <a:r>
                        <a:rPr lang="en-GB" b="1"/>
                        <a:t>Feature</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b="1"/>
                        <a:t>Claude AI</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b="1"/>
                        <a:t>Claude Code</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553859"/>
                  </a:ext>
                </a:extLst>
              </a:tr>
              <a:tr h="0">
                <a:tc>
                  <a:txBody>
                    <a:bodyPr/>
                    <a:lstStyle/>
                    <a:p>
                      <a:pPr>
                        <a:buNone/>
                      </a:pPr>
                      <a:r>
                        <a:rPr lang="en-GB" dirty="0"/>
                        <a:t>General conversation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Limited to coding workflow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5487282"/>
                  </a:ext>
                </a:extLst>
              </a:tr>
              <a:tr h="0">
                <a:tc>
                  <a:txBody>
                    <a:bodyPr/>
                    <a:lstStyle/>
                    <a:p>
                      <a:pPr>
                        <a:buNone/>
                      </a:pPr>
                      <a:r>
                        <a:rPr lang="en-GB"/>
                        <a:t>Writing and brainstorming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Not the main 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334154"/>
                  </a:ext>
                </a:extLst>
              </a:tr>
              <a:tr h="0">
                <a:tc>
                  <a:txBody>
                    <a:bodyPr/>
                    <a:lstStyle/>
                    <a:p>
                      <a:pPr>
                        <a:buNone/>
                      </a:pPr>
                      <a:r>
                        <a:rPr lang="en-GB"/>
                        <a:t>Explaining programming concepts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994755"/>
                  </a:ext>
                </a:extLst>
              </a:tr>
              <a:tr h="0">
                <a:tc>
                  <a:txBody>
                    <a:bodyPr/>
                    <a:lstStyle/>
                    <a:p>
                      <a:pPr>
                        <a:buNone/>
                      </a:pPr>
                      <a:r>
                        <a:rPr lang="en-GB"/>
                        <a:t>Reading a project folder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Only if files are provided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Yes, when connected to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9269494"/>
                  </a:ext>
                </a:extLst>
              </a:tr>
              <a:tr h="0">
                <a:tc>
                  <a:txBody>
                    <a:bodyPr/>
                    <a:lstStyle/>
                    <a:p>
                      <a:pPr>
                        <a:buNone/>
                      </a:pPr>
                      <a:r>
                        <a:rPr lang="en-GB"/>
                        <a:t>Editing project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Not directly in normal chat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Yes, with appropriate permissions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7451612"/>
                  </a:ext>
                </a:extLst>
              </a:tr>
              <a:tr h="0">
                <a:tc>
                  <a:txBody>
                    <a:bodyPr/>
                    <a:lstStyle/>
                    <a:p>
                      <a:pPr>
                        <a:buNone/>
                      </a:pPr>
                      <a:r>
                        <a:rPr lang="en-GB"/>
                        <a:t>Running commands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Not usually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Yes, depending on environment and approval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740603"/>
                  </a:ext>
                </a:extLst>
              </a:tr>
              <a:tr h="0">
                <a:tc>
                  <a:txBody>
                    <a:bodyPr/>
                    <a:lstStyle/>
                    <a:p>
                      <a:pPr>
                        <a:buNone/>
                      </a:pPr>
                      <a:r>
                        <a:rPr lang="en-GB"/>
                        <a:t>Debugging from full project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Limited unless context is pasted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Stronger because it can inspect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21498"/>
                  </a:ext>
                </a:extLst>
              </a:tr>
              <a:tr h="0">
                <a:tc>
                  <a:txBody>
                    <a:bodyPr/>
                    <a:lstStyle/>
                    <a:p>
                      <a:pPr>
                        <a:buNone/>
                      </a:pPr>
                      <a:r>
                        <a:rPr lang="en-GB"/>
                        <a:t>Best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General AI help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Real coding workflow assistance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7161062"/>
                  </a:ext>
                </a:extLst>
              </a:tr>
            </a:tbl>
          </a:graphicData>
        </a:graphic>
      </p:graphicFrame>
    </p:spTree>
    <p:extLst>
      <p:ext uri="{BB962C8B-B14F-4D97-AF65-F5344CB8AC3E}">
        <p14:creationId xmlns:p14="http://schemas.microsoft.com/office/powerpoint/2010/main" val="958758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4ADAD-E471-0061-A32C-689F0301418E}"/>
              </a:ext>
            </a:extLst>
          </p:cNvPr>
          <p:cNvSpPr>
            <a:spLocks noGrp="1"/>
          </p:cNvSpPr>
          <p:nvPr>
            <p:ph type="title"/>
          </p:nvPr>
        </p:nvSpPr>
        <p:spPr/>
        <p:txBody>
          <a:bodyPr/>
          <a:lstStyle/>
          <a:p>
            <a:r>
              <a:rPr lang="en-IN" dirty="0"/>
              <a:t>Agentic Coding</a:t>
            </a:r>
            <a:endParaRPr lang="en-GB" dirty="0"/>
          </a:p>
        </p:txBody>
      </p:sp>
      <p:sp>
        <p:nvSpPr>
          <p:cNvPr id="3" name="Content Placeholder 2">
            <a:extLst>
              <a:ext uri="{FF2B5EF4-FFF2-40B4-BE49-F238E27FC236}">
                <a16:creationId xmlns:a16="http://schemas.microsoft.com/office/drawing/2014/main" id="{857D00BE-B08F-B500-1952-DD5724DE2E04}"/>
              </a:ext>
            </a:extLst>
          </p:cNvPr>
          <p:cNvSpPr>
            <a:spLocks noGrp="1"/>
          </p:cNvSpPr>
          <p:nvPr>
            <p:ph idx="1"/>
          </p:nvPr>
        </p:nvSpPr>
        <p:spPr/>
        <p:txBody>
          <a:bodyPr/>
          <a:lstStyle/>
          <a:p>
            <a:r>
              <a:rPr lang="en-IN" dirty="0"/>
              <a:t>Agentic: AI can do more than answer a single question</a:t>
            </a:r>
          </a:p>
          <a:p>
            <a:r>
              <a:rPr lang="en-IN" dirty="0"/>
              <a:t>Standard Coding Prompt</a:t>
            </a:r>
          </a:p>
          <a:p>
            <a:pPr lvl="1"/>
            <a:r>
              <a:rPr lang="en-US" dirty="0"/>
              <a:t>Write a JavaScript function that adds two numbers</a:t>
            </a:r>
          </a:p>
          <a:p>
            <a:r>
              <a:rPr lang="en-US" dirty="0"/>
              <a:t>Agentic Coding Prompt</a:t>
            </a:r>
          </a:p>
          <a:p>
            <a:pPr lvl="1"/>
            <a:r>
              <a:rPr lang="en-US" dirty="0"/>
              <a:t>Inspect this project and find where form validation is handled. Create a plan to add email validation. Do not edit files yet. Tell me which files will need changes and why.</a:t>
            </a:r>
            <a:endParaRPr lang="en-GB" dirty="0"/>
          </a:p>
        </p:txBody>
      </p:sp>
    </p:spTree>
    <p:extLst>
      <p:ext uri="{BB962C8B-B14F-4D97-AF65-F5344CB8AC3E}">
        <p14:creationId xmlns:p14="http://schemas.microsoft.com/office/powerpoint/2010/main" val="2588975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8366-C9E2-6796-26A1-3D1209D17069}"/>
              </a:ext>
            </a:extLst>
          </p:cNvPr>
          <p:cNvSpPr>
            <a:spLocks noGrp="1"/>
          </p:cNvSpPr>
          <p:nvPr>
            <p:ph type="title"/>
          </p:nvPr>
        </p:nvSpPr>
        <p:spPr/>
        <p:txBody>
          <a:bodyPr/>
          <a:lstStyle/>
          <a:p>
            <a:r>
              <a:rPr lang="en-IN" dirty="0"/>
              <a:t>How Claude Code Thinks and Works</a:t>
            </a:r>
            <a:endParaRPr lang="en-GB" dirty="0"/>
          </a:p>
        </p:txBody>
      </p:sp>
      <p:sp>
        <p:nvSpPr>
          <p:cNvPr id="3" name="Content Placeholder 2">
            <a:extLst>
              <a:ext uri="{FF2B5EF4-FFF2-40B4-BE49-F238E27FC236}">
                <a16:creationId xmlns:a16="http://schemas.microsoft.com/office/drawing/2014/main" id="{2428FF1F-E024-ED14-D405-062BC6F84BD6}"/>
              </a:ext>
            </a:extLst>
          </p:cNvPr>
          <p:cNvSpPr>
            <a:spLocks noGrp="1"/>
          </p:cNvSpPr>
          <p:nvPr>
            <p:ph idx="1"/>
          </p:nvPr>
        </p:nvSpPr>
        <p:spPr/>
        <p:txBody>
          <a:bodyPr>
            <a:normAutofit fontScale="85000" lnSpcReduction="20000"/>
          </a:bodyPr>
          <a:lstStyle/>
          <a:p>
            <a:r>
              <a:rPr lang="en-US" dirty="0"/>
              <a:t>User Request -&gt;  Understand the Goal  -&gt; Explore the Codebase (Read files, search symbols, inspect folders) -&gt; Plan the Solution (Decide what needs to change) -&gt; Take Actions (Read, Edit, Run Commands,  Execute Tests) -&gt; Review Results -&gt; (Check output, errors, test results) -&gt; Refine if Needed (Fix issues, retry, improve) -&gt; Return Final Answer</a:t>
            </a:r>
          </a:p>
          <a:p>
            <a:r>
              <a:rPr lang="en-US" dirty="0"/>
              <a:t>What happens internally (e.g. We type </a:t>
            </a:r>
            <a:r>
              <a:rPr lang="en-US" i="1" dirty="0"/>
              <a:t>Fix the login bug</a:t>
            </a:r>
            <a:r>
              <a:rPr lang="en-US" dirty="0"/>
              <a:t>)</a:t>
            </a:r>
          </a:p>
          <a:p>
            <a:pPr lvl="1"/>
            <a:r>
              <a:rPr lang="en-GB" dirty="0"/>
              <a:t>Claude understands what you are asking</a:t>
            </a:r>
          </a:p>
          <a:p>
            <a:pPr lvl="1"/>
            <a:r>
              <a:rPr lang="en-GB" dirty="0"/>
              <a:t>Searches the project for login-related files</a:t>
            </a:r>
          </a:p>
          <a:p>
            <a:pPr lvl="1"/>
            <a:r>
              <a:rPr lang="en-GB" dirty="0"/>
              <a:t>Reads only the relevant code</a:t>
            </a:r>
          </a:p>
          <a:p>
            <a:pPr lvl="1"/>
            <a:r>
              <a:rPr lang="en-GB" dirty="0"/>
              <a:t>Builds an understanding of how the components interact</a:t>
            </a:r>
          </a:p>
          <a:p>
            <a:pPr lvl="1"/>
            <a:r>
              <a:rPr lang="en-GB" dirty="0"/>
              <a:t>Decides which files need modification</a:t>
            </a:r>
          </a:p>
          <a:p>
            <a:pPr lvl="1"/>
            <a:r>
              <a:rPr lang="en-GB" dirty="0"/>
              <a:t>Makes the required changes</a:t>
            </a:r>
          </a:p>
          <a:p>
            <a:pPr lvl="1"/>
            <a:r>
              <a:rPr lang="en-GB" dirty="0"/>
              <a:t>Runs tests or validation commands (if appropriate)</a:t>
            </a:r>
          </a:p>
          <a:p>
            <a:pPr lvl="1"/>
            <a:r>
              <a:rPr lang="en-GB" dirty="0"/>
              <a:t>Reviews the results</a:t>
            </a:r>
          </a:p>
          <a:p>
            <a:pPr lvl="1"/>
            <a:r>
              <a:rPr lang="en-GB" dirty="0"/>
              <a:t>Explains what changed and why</a:t>
            </a:r>
          </a:p>
        </p:txBody>
      </p:sp>
    </p:spTree>
    <p:extLst>
      <p:ext uri="{BB962C8B-B14F-4D97-AF65-F5344CB8AC3E}">
        <p14:creationId xmlns:p14="http://schemas.microsoft.com/office/powerpoint/2010/main" val="1629718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98FDE-4012-B21F-4CB1-E07E79C4787E}"/>
              </a:ext>
            </a:extLst>
          </p:cNvPr>
          <p:cNvSpPr>
            <a:spLocks noGrp="1"/>
          </p:cNvSpPr>
          <p:nvPr>
            <p:ph type="title"/>
          </p:nvPr>
        </p:nvSpPr>
        <p:spPr/>
        <p:txBody>
          <a:bodyPr/>
          <a:lstStyle/>
          <a:p>
            <a:r>
              <a:rPr lang="en-IN" dirty="0"/>
              <a:t>Demo</a:t>
            </a:r>
            <a:endParaRPr lang="en-GB" dirty="0"/>
          </a:p>
        </p:txBody>
      </p:sp>
      <p:sp>
        <p:nvSpPr>
          <p:cNvPr id="3" name="Content Placeholder 2">
            <a:extLst>
              <a:ext uri="{FF2B5EF4-FFF2-40B4-BE49-F238E27FC236}">
                <a16:creationId xmlns:a16="http://schemas.microsoft.com/office/drawing/2014/main" id="{AC299FEE-8BE4-20D2-43F7-738B52028521}"/>
              </a:ext>
            </a:extLst>
          </p:cNvPr>
          <p:cNvSpPr>
            <a:spLocks noGrp="1"/>
          </p:cNvSpPr>
          <p:nvPr>
            <p:ph idx="1"/>
          </p:nvPr>
        </p:nvSpPr>
        <p:spPr/>
        <p:txBody>
          <a:bodyPr/>
          <a:lstStyle/>
          <a:p>
            <a:r>
              <a:rPr lang="en-IN" dirty="0"/>
              <a:t>Open </a:t>
            </a:r>
            <a:r>
              <a:rPr lang="fr-FR" dirty="0"/>
              <a:t>C:\lectures\Others\Edureka\Claude-Code\devops-claude-code\notes_app_python in VS Code</a:t>
            </a:r>
          </a:p>
          <a:p>
            <a:r>
              <a:rPr lang="fr-FR" dirty="0"/>
              <a:t>Ask Claude: </a:t>
            </a:r>
            <a:r>
              <a:rPr lang="en-GB" dirty="0"/>
              <a:t>Find where user authentication is implemented</a:t>
            </a:r>
          </a:p>
          <a:p>
            <a:endParaRPr lang="en-GB" dirty="0"/>
          </a:p>
          <a:p>
            <a:endParaRPr lang="en-GB" dirty="0"/>
          </a:p>
          <a:p>
            <a:r>
              <a:rPr lang="en-GB" dirty="0"/>
              <a:t>Key takeaway: Claude Code is not just answering a prompt—it is actively exploring, reasoning about, and working with your project</a:t>
            </a:r>
          </a:p>
        </p:txBody>
      </p:sp>
    </p:spTree>
    <p:extLst>
      <p:ext uri="{BB962C8B-B14F-4D97-AF65-F5344CB8AC3E}">
        <p14:creationId xmlns:p14="http://schemas.microsoft.com/office/powerpoint/2010/main" val="2864876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B5195-528F-DF3F-0334-021D4A7211F0}"/>
              </a:ext>
            </a:extLst>
          </p:cNvPr>
          <p:cNvSpPr>
            <a:spLocks noGrp="1"/>
          </p:cNvSpPr>
          <p:nvPr>
            <p:ph type="title"/>
          </p:nvPr>
        </p:nvSpPr>
        <p:spPr/>
        <p:txBody>
          <a:bodyPr/>
          <a:lstStyle/>
          <a:p>
            <a:r>
              <a:rPr lang="en-IN" dirty="0"/>
              <a:t>Permissions</a:t>
            </a:r>
            <a:endParaRPr lang="en-GB" dirty="0"/>
          </a:p>
        </p:txBody>
      </p:sp>
      <p:sp>
        <p:nvSpPr>
          <p:cNvPr id="3" name="Content Placeholder 2">
            <a:extLst>
              <a:ext uri="{FF2B5EF4-FFF2-40B4-BE49-F238E27FC236}">
                <a16:creationId xmlns:a16="http://schemas.microsoft.com/office/drawing/2014/main" id="{F420719C-694B-51FE-2F02-F98A3B53F25D}"/>
              </a:ext>
            </a:extLst>
          </p:cNvPr>
          <p:cNvSpPr>
            <a:spLocks noGrp="1"/>
          </p:cNvSpPr>
          <p:nvPr>
            <p:ph idx="1"/>
          </p:nvPr>
        </p:nvSpPr>
        <p:spPr/>
        <p:txBody>
          <a:bodyPr>
            <a:normAutofit fontScale="92500" lnSpcReduction="10000"/>
          </a:bodyPr>
          <a:lstStyle/>
          <a:p>
            <a:r>
              <a:rPr lang="en-GB" dirty="0"/>
              <a:t>Claude Code can perform actions on your computer</a:t>
            </a:r>
          </a:p>
          <a:p>
            <a:r>
              <a:rPr lang="en-GB" dirty="0"/>
              <a:t>To keep you in control, it asks for permission before performing actions that could affect your system or your project</a:t>
            </a:r>
          </a:p>
          <a:p>
            <a:r>
              <a:rPr lang="en-GB" dirty="0"/>
              <a:t>You decide what Claude Code is allowed to do</a:t>
            </a:r>
          </a:p>
          <a:p>
            <a:r>
              <a:rPr lang="en-GB" dirty="0"/>
              <a:t>Permission modes</a:t>
            </a:r>
          </a:p>
          <a:p>
            <a:pPr lvl="1"/>
            <a:r>
              <a:rPr lang="en-GB" dirty="0"/>
              <a:t>Manual approval</a:t>
            </a:r>
          </a:p>
          <a:p>
            <a:pPr lvl="2"/>
            <a:r>
              <a:rPr lang="en-GB" dirty="0"/>
              <a:t>You approve important actions one by one</a:t>
            </a:r>
          </a:p>
          <a:p>
            <a:pPr lvl="2"/>
            <a:r>
              <a:rPr lang="en-GB" dirty="0"/>
              <a:t>Best for beginners and learning</a:t>
            </a:r>
          </a:p>
          <a:p>
            <a:pPr lvl="1"/>
            <a:r>
              <a:rPr lang="en-GB" dirty="0"/>
              <a:t>Automatic approval (Trusted projects)</a:t>
            </a:r>
          </a:p>
          <a:p>
            <a:pPr lvl="2"/>
            <a:r>
              <a:rPr lang="en-GB" dirty="0"/>
              <a:t>Claude can perform approved categories of actions automatically</a:t>
            </a:r>
          </a:p>
          <a:p>
            <a:pPr lvl="2"/>
            <a:r>
              <a:rPr lang="en-GB" dirty="0"/>
              <a:t>Faster for everyday development</a:t>
            </a:r>
          </a:p>
          <a:p>
            <a:pPr lvl="2"/>
            <a:r>
              <a:rPr lang="en-GB" dirty="0"/>
              <a:t>Suitable for projects you trust</a:t>
            </a:r>
          </a:p>
        </p:txBody>
      </p:sp>
    </p:spTree>
    <p:extLst>
      <p:ext uri="{BB962C8B-B14F-4D97-AF65-F5344CB8AC3E}">
        <p14:creationId xmlns:p14="http://schemas.microsoft.com/office/powerpoint/2010/main" val="1084684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32264-7E88-45A0-5B5B-4F4200720547}"/>
              </a:ext>
            </a:extLst>
          </p:cNvPr>
          <p:cNvSpPr>
            <a:spLocks noGrp="1"/>
          </p:cNvSpPr>
          <p:nvPr>
            <p:ph type="title"/>
          </p:nvPr>
        </p:nvSpPr>
        <p:spPr/>
        <p:txBody>
          <a:bodyPr/>
          <a:lstStyle/>
          <a:p>
            <a:r>
              <a:rPr lang="en-IN" dirty="0"/>
              <a:t>Permissions – Best Practices</a:t>
            </a:r>
            <a:endParaRPr lang="en-GB" dirty="0"/>
          </a:p>
        </p:txBody>
      </p:sp>
      <p:sp>
        <p:nvSpPr>
          <p:cNvPr id="3" name="Content Placeholder 2">
            <a:extLst>
              <a:ext uri="{FF2B5EF4-FFF2-40B4-BE49-F238E27FC236}">
                <a16:creationId xmlns:a16="http://schemas.microsoft.com/office/drawing/2014/main" id="{4D3B8507-9681-03C4-FC58-B26C9DC03719}"/>
              </a:ext>
            </a:extLst>
          </p:cNvPr>
          <p:cNvSpPr>
            <a:spLocks noGrp="1"/>
          </p:cNvSpPr>
          <p:nvPr>
            <p:ph idx="1"/>
          </p:nvPr>
        </p:nvSpPr>
        <p:spPr/>
        <p:txBody>
          <a:bodyPr/>
          <a:lstStyle/>
          <a:p>
            <a:r>
              <a:rPr lang="en-GB" dirty="0"/>
              <a:t>Review proposed changes before approving</a:t>
            </a:r>
          </a:p>
          <a:p>
            <a:r>
              <a:rPr lang="en-GB" dirty="0"/>
              <a:t>Start with manual approvals until you are comfortable</a:t>
            </a:r>
          </a:p>
          <a:p>
            <a:r>
              <a:rPr lang="en-GB" dirty="0"/>
              <a:t>Use auto-approval only for trusted projects</a:t>
            </a:r>
          </a:p>
          <a:p>
            <a:r>
              <a:rPr lang="en-GB" dirty="0"/>
              <a:t>Be cautious with commands that install software, delete files, or modify system settings</a:t>
            </a:r>
          </a:p>
          <a:p>
            <a:endParaRPr lang="en-GB" dirty="0"/>
          </a:p>
          <a:p>
            <a:endParaRPr lang="en-GB" dirty="0"/>
          </a:p>
        </p:txBody>
      </p:sp>
    </p:spTree>
    <p:extLst>
      <p:ext uri="{BB962C8B-B14F-4D97-AF65-F5344CB8AC3E}">
        <p14:creationId xmlns:p14="http://schemas.microsoft.com/office/powerpoint/2010/main" val="1399251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3EBCF-B7AE-B0B1-7E02-E103FB63FDFF}"/>
              </a:ext>
            </a:extLst>
          </p:cNvPr>
          <p:cNvSpPr>
            <a:spLocks noGrp="1"/>
          </p:cNvSpPr>
          <p:nvPr>
            <p:ph type="title"/>
          </p:nvPr>
        </p:nvSpPr>
        <p:spPr/>
        <p:txBody>
          <a:bodyPr/>
          <a:lstStyle/>
          <a:p>
            <a:r>
              <a:rPr lang="en-IN" noProof="0" dirty="0"/>
              <a:t>Installation and Setup</a:t>
            </a:r>
          </a:p>
        </p:txBody>
      </p:sp>
      <p:sp>
        <p:nvSpPr>
          <p:cNvPr id="3" name="Content Placeholder 2">
            <a:extLst>
              <a:ext uri="{FF2B5EF4-FFF2-40B4-BE49-F238E27FC236}">
                <a16:creationId xmlns:a16="http://schemas.microsoft.com/office/drawing/2014/main" id="{FF45EA40-3ED8-D95D-CC0C-10095E5E406C}"/>
              </a:ext>
            </a:extLst>
          </p:cNvPr>
          <p:cNvSpPr>
            <a:spLocks noGrp="1"/>
          </p:cNvSpPr>
          <p:nvPr>
            <p:ph idx="1"/>
          </p:nvPr>
        </p:nvSpPr>
        <p:spPr/>
        <p:txBody>
          <a:bodyPr/>
          <a:lstStyle/>
          <a:p>
            <a:r>
              <a:rPr lang="en-IN" noProof="0" dirty="0"/>
              <a:t>Installation </a:t>
            </a:r>
          </a:p>
          <a:p>
            <a:pPr lvl="1"/>
            <a:r>
              <a:rPr lang="en-IN" dirty="0"/>
              <a:t>https://code.claude.com/docs/en/quickstart</a:t>
            </a:r>
            <a:endParaRPr lang="en-IN" b="1" noProof="0" dirty="0"/>
          </a:p>
          <a:p>
            <a:r>
              <a:rPr lang="en-IN" noProof="0" dirty="0"/>
              <a:t>Note</a:t>
            </a:r>
          </a:p>
          <a:p>
            <a:pPr lvl="1"/>
            <a:r>
              <a:rPr lang="en-IN" noProof="0" dirty="0"/>
              <a:t>No need to repeatedly login later, but to switch, we can use </a:t>
            </a:r>
            <a:r>
              <a:rPr lang="en-IN" b="1" noProof="0" dirty="0"/>
              <a:t>/logout </a:t>
            </a:r>
            <a:r>
              <a:rPr lang="en-IN" noProof="0" dirty="0"/>
              <a:t>and </a:t>
            </a:r>
            <a:r>
              <a:rPr lang="en-IN" b="1" noProof="0" dirty="0"/>
              <a:t>/login </a:t>
            </a:r>
            <a:r>
              <a:rPr lang="en-IN" noProof="0" dirty="0"/>
              <a:t>commands or </a:t>
            </a:r>
            <a:r>
              <a:rPr lang="en-IN" b="1" noProof="0" dirty="0" err="1"/>
              <a:t>claude</a:t>
            </a:r>
            <a:r>
              <a:rPr lang="en-IN" b="1" noProof="0" dirty="0"/>
              <a:t> auth</a:t>
            </a:r>
            <a:r>
              <a:rPr lang="en-IN" noProof="0" dirty="0"/>
              <a:t> in terminal</a:t>
            </a:r>
          </a:p>
          <a:p>
            <a:endParaRPr lang="en-IN" noProof="0" dirty="0"/>
          </a:p>
          <a:p>
            <a:endParaRPr lang="en-IN" noProof="0" dirty="0"/>
          </a:p>
        </p:txBody>
      </p:sp>
    </p:spTree>
    <p:extLst>
      <p:ext uri="{BB962C8B-B14F-4D97-AF65-F5344CB8AC3E}">
        <p14:creationId xmlns:p14="http://schemas.microsoft.com/office/powerpoint/2010/main" val="1754663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D9B3-D26C-E404-27FA-AE399FD25063}"/>
              </a:ext>
            </a:extLst>
          </p:cNvPr>
          <p:cNvSpPr>
            <a:spLocks noGrp="1"/>
          </p:cNvSpPr>
          <p:nvPr>
            <p:ph type="title"/>
          </p:nvPr>
        </p:nvSpPr>
        <p:spPr/>
        <p:txBody>
          <a:bodyPr/>
          <a:lstStyle/>
          <a:p>
            <a:r>
              <a:rPr lang="en-IN" dirty="0"/>
              <a:t>Hands-on: Create a Notes App</a:t>
            </a:r>
            <a:endParaRPr lang="en-GB" dirty="0"/>
          </a:p>
        </p:txBody>
      </p:sp>
      <p:sp>
        <p:nvSpPr>
          <p:cNvPr id="3" name="Content Placeholder 2">
            <a:extLst>
              <a:ext uri="{FF2B5EF4-FFF2-40B4-BE49-F238E27FC236}">
                <a16:creationId xmlns:a16="http://schemas.microsoft.com/office/drawing/2014/main" id="{0204F940-CEF7-A05C-E171-FC68C6559AE3}"/>
              </a:ext>
            </a:extLst>
          </p:cNvPr>
          <p:cNvSpPr>
            <a:spLocks noGrp="1"/>
          </p:cNvSpPr>
          <p:nvPr>
            <p:ph idx="1"/>
          </p:nvPr>
        </p:nvSpPr>
        <p:spPr/>
        <p:txBody>
          <a:bodyPr>
            <a:normAutofit fontScale="25000" lnSpcReduction="20000"/>
          </a:bodyPr>
          <a:lstStyle/>
          <a:p>
            <a:r>
              <a:rPr lang="en-US" dirty="0"/>
              <a:t>Create a very simple Notes application using Python and Flask.</a:t>
            </a:r>
          </a:p>
          <a:p>
            <a:endParaRPr lang="en-US" dirty="0"/>
          </a:p>
          <a:p>
            <a:r>
              <a:rPr lang="en-US" dirty="0"/>
              <a:t>The goal is to build a small project that beginners can use to learn Claude Code. Keep the code clean, easy to read, and well organized.</a:t>
            </a:r>
          </a:p>
          <a:p>
            <a:endParaRPr lang="en-US" dirty="0"/>
          </a:p>
          <a:p>
            <a:r>
              <a:rPr lang="en-US" dirty="0"/>
              <a:t>Requirements</a:t>
            </a:r>
          </a:p>
          <a:p>
            <a:endParaRPr lang="en-US" dirty="0"/>
          </a:p>
          <a:p>
            <a:r>
              <a:rPr lang="en-US" dirty="0"/>
              <a:t>- Use Python and Flask.</a:t>
            </a:r>
          </a:p>
          <a:p>
            <a:r>
              <a:rPr lang="en-US" dirty="0"/>
              <a:t>- Do not use a database.</a:t>
            </a:r>
          </a:p>
          <a:p>
            <a:r>
              <a:rPr lang="en-US" dirty="0"/>
              <a:t>- Store notes in memory using a simple list.</a:t>
            </a:r>
          </a:p>
          <a:p>
            <a:r>
              <a:rPr lang="en-US" dirty="0"/>
              <a:t>- Split the code into multiple files.</a:t>
            </a:r>
          </a:p>
          <a:p>
            <a:r>
              <a:rPr lang="en-US" dirty="0"/>
              <a:t>- Use HTML templates and a simple CSS file.</a:t>
            </a:r>
          </a:p>
          <a:p>
            <a:r>
              <a:rPr lang="en-US" dirty="0"/>
              <a:t>- Do not use JavaScript frameworks.</a:t>
            </a:r>
          </a:p>
          <a:p>
            <a:r>
              <a:rPr lang="en-US" dirty="0"/>
              <a:t>- Add comments where appropriate.</a:t>
            </a:r>
          </a:p>
          <a:p>
            <a:endParaRPr lang="en-US" dirty="0"/>
          </a:p>
          <a:p>
            <a:r>
              <a:rPr lang="en-US" dirty="0"/>
              <a:t>Features</a:t>
            </a:r>
          </a:p>
          <a:p>
            <a:endParaRPr lang="en-US" dirty="0"/>
          </a:p>
          <a:p>
            <a:r>
              <a:rPr lang="en-US" dirty="0"/>
              <a:t>- View all notes</a:t>
            </a:r>
          </a:p>
          <a:p>
            <a:r>
              <a:rPr lang="en-US" dirty="0"/>
              <a:t>- Add a new note</a:t>
            </a:r>
          </a:p>
          <a:p>
            <a:r>
              <a:rPr lang="en-US" dirty="0"/>
              <a:t>- Delete a note</a:t>
            </a:r>
          </a:p>
          <a:p>
            <a:endParaRPr lang="en-US" dirty="0"/>
          </a:p>
          <a:p>
            <a:r>
              <a:rPr lang="en-US" dirty="0"/>
              <a:t>Each note should contain:</a:t>
            </a:r>
          </a:p>
          <a:p>
            <a:r>
              <a:rPr lang="en-US" dirty="0"/>
              <a:t>- Title</a:t>
            </a:r>
          </a:p>
          <a:p>
            <a:r>
              <a:rPr lang="en-US" dirty="0"/>
              <a:t>- Content</a:t>
            </a:r>
          </a:p>
          <a:p>
            <a:endParaRPr lang="en-US" dirty="0"/>
          </a:p>
          <a:p>
            <a:r>
              <a:rPr lang="en-US" dirty="0"/>
              <a:t>Suggested project structure</a:t>
            </a:r>
          </a:p>
          <a:p>
            <a:endParaRPr lang="en-US" dirty="0"/>
          </a:p>
          <a:p>
            <a:r>
              <a:rPr lang="en-US" dirty="0" err="1"/>
              <a:t>notes_app</a:t>
            </a:r>
            <a:r>
              <a:rPr lang="en-US" dirty="0"/>
              <a:t>/</a:t>
            </a:r>
          </a:p>
          <a:p>
            <a:r>
              <a:rPr lang="en-US" dirty="0"/>
              <a:t>├── app.py</a:t>
            </a:r>
          </a:p>
          <a:p>
            <a:r>
              <a:rPr lang="en-US" dirty="0"/>
              <a:t>├── routes.py</a:t>
            </a:r>
          </a:p>
          <a:p>
            <a:r>
              <a:rPr lang="en-US" dirty="0"/>
              <a:t>├── models.py</a:t>
            </a:r>
          </a:p>
          <a:p>
            <a:r>
              <a:rPr lang="en-US" dirty="0"/>
              <a:t>├── services.py</a:t>
            </a:r>
          </a:p>
          <a:p>
            <a:r>
              <a:rPr lang="en-US" dirty="0"/>
              <a:t>├── templates/</a:t>
            </a:r>
          </a:p>
          <a:p>
            <a:r>
              <a:rPr lang="en-US" dirty="0"/>
              <a:t>│   ├── index.html</a:t>
            </a:r>
          </a:p>
          <a:p>
            <a:r>
              <a:rPr lang="en-US" dirty="0"/>
              <a:t>│   └── add_note.html</a:t>
            </a:r>
          </a:p>
          <a:p>
            <a:r>
              <a:rPr lang="en-US" dirty="0"/>
              <a:t>├── static/</a:t>
            </a:r>
          </a:p>
          <a:p>
            <a:r>
              <a:rPr lang="en-US" dirty="0"/>
              <a:t>│   └── style.css</a:t>
            </a:r>
          </a:p>
          <a:p>
            <a:r>
              <a:rPr lang="en-US" dirty="0"/>
              <a:t>├── requirements.txt</a:t>
            </a:r>
          </a:p>
          <a:p>
            <a:r>
              <a:rPr lang="en-US" dirty="0"/>
              <a:t>└── README.md</a:t>
            </a:r>
          </a:p>
          <a:p>
            <a:endParaRPr lang="en-US" dirty="0"/>
          </a:p>
          <a:p>
            <a:r>
              <a:rPr lang="en-US" dirty="0"/>
              <a:t>After creating the project:</a:t>
            </a:r>
          </a:p>
          <a:p>
            <a:endParaRPr lang="en-US" dirty="0"/>
          </a:p>
          <a:p>
            <a:r>
              <a:rPr lang="en-US" dirty="0"/>
              <a:t>1. Explain the purpose of each file.</a:t>
            </a:r>
          </a:p>
          <a:p>
            <a:r>
              <a:rPr lang="en-US" dirty="0"/>
              <a:t>2. Explain the overall architecture.</a:t>
            </a:r>
          </a:p>
          <a:p>
            <a:r>
              <a:rPr lang="en-US" dirty="0"/>
              <a:t>3. Explain how a note is created from the browser until it is stored.</a:t>
            </a:r>
          </a:p>
          <a:p>
            <a:r>
              <a:rPr lang="en-US" dirty="0"/>
              <a:t>4. Create a README with setup and run instructions.</a:t>
            </a:r>
          </a:p>
          <a:p>
            <a:endParaRPr lang="en-US" dirty="0"/>
          </a:p>
          <a:p>
            <a:r>
              <a:rPr lang="en-US" dirty="0"/>
              <a:t>Keep everything beginner-friendly. Avoid advanced Flask features, authentication, databases, APIs, JavaScript frameworks, or complex design patterns.</a:t>
            </a:r>
            <a:endParaRPr lang="en-GB" dirty="0"/>
          </a:p>
        </p:txBody>
      </p:sp>
    </p:spTree>
    <p:extLst>
      <p:ext uri="{BB962C8B-B14F-4D97-AF65-F5344CB8AC3E}">
        <p14:creationId xmlns:p14="http://schemas.microsoft.com/office/powerpoint/2010/main" val="1439466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6B3E0-9C7D-1C67-B3AF-B16CA94C2E50}"/>
              </a:ext>
            </a:extLst>
          </p:cNvPr>
          <p:cNvSpPr>
            <a:spLocks noGrp="1"/>
          </p:cNvSpPr>
          <p:nvPr>
            <p:ph type="title"/>
          </p:nvPr>
        </p:nvSpPr>
        <p:spPr/>
        <p:txBody>
          <a:bodyPr/>
          <a:lstStyle/>
          <a:p>
            <a:r>
              <a:rPr lang="en-IN" dirty="0"/>
              <a:t>Hands-on</a:t>
            </a:r>
            <a:endParaRPr lang="en-GB" dirty="0"/>
          </a:p>
        </p:txBody>
      </p:sp>
      <p:sp>
        <p:nvSpPr>
          <p:cNvPr id="3" name="Content Placeholder 2">
            <a:extLst>
              <a:ext uri="{FF2B5EF4-FFF2-40B4-BE49-F238E27FC236}">
                <a16:creationId xmlns:a16="http://schemas.microsoft.com/office/drawing/2014/main" id="{3BD5C9E8-0267-7D9B-B509-85D0D5486597}"/>
              </a:ext>
            </a:extLst>
          </p:cNvPr>
          <p:cNvSpPr>
            <a:spLocks noGrp="1"/>
          </p:cNvSpPr>
          <p:nvPr>
            <p:ph idx="1"/>
          </p:nvPr>
        </p:nvSpPr>
        <p:spPr/>
        <p:txBody>
          <a:bodyPr/>
          <a:lstStyle/>
          <a:p>
            <a:r>
              <a:rPr lang="en-GB" dirty="0"/>
              <a:t>Earlier app OR</a:t>
            </a:r>
          </a:p>
          <a:p>
            <a:r>
              <a:rPr lang="en-GB" dirty="0"/>
              <a:t>Open </a:t>
            </a:r>
            <a:r>
              <a:rPr lang="fr-FR" dirty="0"/>
              <a:t>C:\lectures\Others\Edureka\Claude-Code\devops-claude-code\notes_app_python</a:t>
            </a:r>
          </a:p>
          <a:p>
            <a:r>
              <a:rPr lang="fr-FR" dirty="0"/>
              <a:t>Ask Claude</a:t>
            </a:r>
            <a:endParaRPr lang="en-GB" dirty="0"/>
          </a:p>
          <a:p>
            <a:pPr lvl="1"/>
            <a:r>
              <a:rPr lang="en-GB" dirty="0"/>
              <a:t>What does this project do? </a:t>
            </a:r>
          </a:p>
          <a:p>
            <a:pPr lvl="1"/>
            <a:r>
              <a:rPr lang="en-GB" dirty="0"/>
              <a:t>Explain the folder structure</a:t>
            </a:r>
          </a:p>
          <a:p>
            <a:pPr lvl="1"/>
            <a:r>
              <a:rPr lang="en-GB" dirty="0"/>
              <a:t>Which file should I read first?</a:t>
            </a:r>
          </a:p>
        </p:txBody>
      </p:sp>
    </p:spTree>
    <p:extLst>
      <p:ext uri="{BB962C8B-B14F-4D97-AF65-F5344CB8AC3E}">
        <p14:creationId xmlns:p14="http://schemas.microsoft.com/office/powerpoint/2010/main" val="2321113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A28F4C-97C7-89F2-51A8-19D27DC174D9}"/>
              </a:ext>
            </a:extLst>
          </p:cNvPr>
          <p:cNvSpPr>
            <a:spLocks noGrp="1"/>
          </p:cNvSpPr>
          <p:nvPr>
            <p:ph type="title"/>
          </p:nvPr>
        </p:nvSpPr>
        <p:spPr/>
        <p:txBody>
          <a:bodyPr/>
          <a:lstStyle/>
          <a:p>
            <a:r>
              <a:rPr lang="en-IN" dirty="0"/>
              <a:t>Part 2: Understanding an Existing Project</a:t>
            </a:r>
            <a:endParaRPr lang="en-GB" dirty="0"/>
          </a:p>
        </p:txBody>
      </p:sp>
      <p:sp>
        <p:nvSpPr>
          <p:cNvPr id="5" name="Text Placeholder 4">
            <a:extLst>
              <a:ext uri="{FF2B5EF4-FFF2-40B4-BE49-F238E27FC236}">
                <a16:creationId xmlns:a16="http://schemas.microsoft.com/office/drawing/2014/main" id="{CDF2FE59-5A74-36B8-64EF-C50D958E6954}"/>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975780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9482A-38C0-9815-0247-59CC33182F3F}"/>
              </a:ext>
            </a:extLst>
          </p:cNvPr>
          <p:cNvSpPr>
            <a:spLocks noGrp="1"/>
          </p:cNvSpPr>
          <p:nvPr>
            <p:ph type="title"/>
          </p:nvPr>
        </p:nvSpPr>
        <p:spPr/>
        <p:txBody>
          <a:bodyPr/>
          <a:lstStyle/>
          <a:p>
            <a:r>
              <a:rPr lang="en-IN" dirty="0"/>
              <a:t>What to Explore?</a:t>
            </a:r>
            <a:endParaRPr lang="en-GB" dirty="0"/>
          </a:p>
        </p:txBody>
      </p:sp>
      <p:sp>
        <p:nvSpPr>
          <p:cNvPr id="3" name="Content Placeholder 2">
            <a:extLst>
              <a:ext uri="{FF2B5EF4-FFF2-40B4-BE49-F238E27FC236}">
                <a16:creationId xmlns:a16="http://schemas.microsoft.com/office/drawing/2014/main" id="{99CBC38A-7EC6-2E5F-0C1E-42AF239CD252}"/>
              </a:ext>
            </a:extLst>
          </p:cNvPr>
          <p:cNvSpPr>
            <a:spLocks noGrp="1"/>
          </p:cNvSpPr>
          <p:nvPr>
            <p:ph idx="1"/>
          </p:nvPr>
        </p:nvSpPr>
        <p:spPr/>
        <p:txBody>
          <a:bodyPr/>
          <a:lstStyle/>
          <a:p>
            <a:r>
              <a:rPr lang="en-GB" dirty="0"/>
              <a:t>What problem does this project solve? </a:t>
            </a:r>
          </a:p>
          <a:p>
            <a:r>
              <a:rPr lang="en-GB" dirty="0"/>
              <a:t>What are the main folders and files? </a:t>
            </a:r>
          </a:p>
          <a:p>
            <a:r>
              <a:rPr lang="en-GB" dirty="0"/>
              <a:t>Which programming language and framework are used? </a:t>
            </a:r>
          </a:p>
          <a:p>
            <a:r>
              <a:rPr lang="en-GB" dirty="0"/>
              <a:t>Where does the application start? </a:t>
            </a:r>
          </a:p>
          <a:p>
            <a:r>
              <a:rPr lang="en-GB" dirty="0"/>
              <a:t>How is the project organized? </a:t>
            </a:r>
          </a:p>
          <a:p>
            <a:r>
              <a:rPr lang="en-GB" dirty="0"/>
              <a:t>Which files are most important for a beginner?</a:t>
            </a:r>
          </a:p>
        </p:txBody>
      </p:sp>
    </p:spTree>
    <p:extLst>
      <p:ext uri="{BB962C8B-B14F-4D97-AF65-F5344CB8AC3E}">
        <p14:creationId xmlns:p14="http://schemas.microsoft.com/office/powerpoint/2010/main" val="734905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3CB18-41E8-EA8D-7265-6D0CAF9045DF}"/>
              </a:ext>
            </a:extLst>
          </p:cNvPr>
          <p:cNvSpPr>
            <a:spLocks noGrp="1"/>
          </p:cNvSpPr>
          <p:nvPr>
            <p:ph type="title"/>
          </p:nvPr>
        </p:nvSpPr>
        <p:spPr/>
        <p:txBody>
          <a:bodyPr/>
          <a:lstStyle/>
          <a:p>
            <a:r>
              <a:rPr lang="en-IN" dirty="0"/>
              <a:t>Sample Questions We Can Ask Claude Code</a:t>
            </a:r>
            <a:endParaRPr lang="en-GB" dirty="0"/>
          </a:p>
        </p:txBody>
      </p:sp>
      <p:sp>
        <p:nvSpPr>
          <p:cNvPr id="3" name="Content Placeholder 2">
            <a:extLst>
              <a:ext uri="{FF2B5EF4-FFF2-40B4-BE49-F238E27FC236}">
                <a16:creationId xmlns:a16="http://schemas.microsoft.com/office/drawing/2014/main" id="{9848B092-CA2E-A41E-3479-41E2ADE9D573}"/>
              </a:ext>
            </a:extLst>
          </p:cNvPr>
          <p:cNvSpPr>
            <a:spLocks noGrp="1"/>
          </p:cNvSpPr>
          <p:nvPr>
            <p:ph idx="1"/>
          </p:nvPr>
        </p:nvSpPr>
        <p:spPr/>
        <p:txBody>
          <a:bodyPr/>
          <a:lstStyle/>
          <a:p>
            <a:r>
              <a:rPr lang="en-GB" i="1" dirty="0"/>
              <a:t>What does this project do?</a:t>
            </a:r>
            <a:r>
              <a:rPr lang="en-GB" dirty="0"/>
              <a:t> </a:t>
            </a:r>
          </a:p>
          <a:p>
            <a:r>
              <a:rPr lang="en-GB" i="1" dirty="0"/>
              <a:t>Explain the folder structure.</a:t>
            </a:r>
            <a:r>
              <a:rPr lang="en-GB" dirty="0"/>
              <a:t> </a:t>
            </a:r>
          </a:p>
          <a:p>
            <a:r>
              <a:rPr lang="en-GB" i="1" dirty="0"/>
              <a:t>Which file should I read first?</a:t>
            </a:r>
            <a:r>
              <a:rPr lang="en-GB" dirty="0"/>
              <a:t> </a:t>
            </a:r>
          </a:p>
          <a:p>
            <a:r>
              <a:rPr lang="en-GB" i="1" dirty="0"/>
              <a:t>Where is the application's entry point?</a:t>
            </a:r>
            <a:r>
              <a:rPr lang="en-GB" dirty="0"/>
              <a:t> </a:t>
            </a:r>
          </a:p>
          <a:p>
            <a:r>
              <a:rPr lang="en-GB" i="1" dirty="0"/>
              <a:t>Give me a high-level overview of the project.</a:t>
            </a:r>
            <a:r>
              <a:rPr lang="en-GB" dirty="0"/>
              <a:t> </a:t>
            </a:r>
          </a:p>
          <a:p>
            <a:r>
              <a:rPr lang="en-GB" i="1" dirty="0"/>
              <a:t>Which files are most important for understanding this application?</a:t>
            </a:r>
            <a:endParaRPr lang="en-GB" dirty="0"/>
          </a:p>
        </p:txBody>
      </p:sp>
    </p:spTree>
    <p:extLst>
      <p:ext uri="{BB962C8B-B14F-4D97-AF65-F5344CB8AC3E}">
        <p14:creationId xmlns:p14="http://schemas.microsoft.com/office/powerpoint/2010/main" val="987136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9B86-206C-2F5C-7733-E068D229C2D8}"/>
              </a:ext>
            </a:extLst>
          </p:cNvPr>
          <p:cNvSpPr>
            <a:spLocks noGrp="1"/>
          </p:cNvSpPr>
          <p:nvPr>
            <p:ph type="title"/>
          </p:nvPr>
        </p:nvSpPr>
        <p:spPr/>
        <p:txBody>
          <a:bodyPr/>
          <a:lstStyle/>
          <a:p>
            <a:r>
              <a:rPr lang="en-IN" dirty="0"/>
              <a:t>Reading Unfamiliar Code</a:t>
            </a:r>
            <a:endParaRPr lang="en-GB" dirty="0"/>
          </a:p>
        </p:txBody>
      </p:sp>
      <p:sp>
        <p:nvSpPr>
          <p:cNvPr id="3" name="Content Placeholder 2">
            <a:extLst>
              <a:ext uri="{FF2B5EF4-FFF2-40B4-BE49-F238E27FC236}">
                <a16:creationId xmlns:a16="http://schemas.microsoft.com/office/drawing/2014/main" id="{29EA36B8-4ED8-5642-172B-B0AE83229D51}"/>
              </a:ext>
            </a:extLst>
          </p:cNvPr>
          <p:cNvSpPr>
            <a:spLocks noGrp="1"/>
          </p:cNvSpPr>
          <p:nvPr>
            <p:ph idx="1"/>
          </p:nvPr>
        </p:nvSpPr>
        <p:spPr/>
        <p:txBody>
          <a:bodyPr>
            <a:normAutofit fontScale="92500" lnSpcReduction="20000"/>
          </a:bodyPr>
          <a:lstStyle/>
          <a:p>
            <a:r>
              <a:rPr lang="en-GB" dirty="0"/>
              <a:t>When joining an existing project, you may encounter:</a:t>
            </a:r>
          </a:p>
          <a:p>
            <a:pPr lvl="1"/>
            <a:r>
              <a:rPr lang="en-GB" dirty="0"/>
              <a:t>Large files with hundreds of lines </a:t>
            </a:r>
          </a:p>
          <a:p>
            <a:pPr lvl="1"/>
            <a:r>
              <a:rPr lang="en-GB" dirty="0"/>
              <a:t>Unfamiliar programming styles </a:t>
            </a:r>
          </a:p>
          <a:p>
            <a:pPr lvl="1"/>
            <a:r>
              <a:rPr lang="en-GB" dirty="0"/>
              <a:t>Meaningful work hidden across multiple files </a:t>
            </a:r>
          </a:p>
          <a:p>
            <a:pPr lvl="1"/>
            <a:r>
              <a:rPr lang="en-GB" dirty="0"/>
              <a:t>Unknown functions, classes, and libraries </a:t>
            </a:r>
          </a:p>
          <a:p>
            <a:pPr lvl="1"/>
            <a:r>
              <a:rPr lang="en-GB" dirty="0"/>
              <a:t>Little or no documentation </a:t>
            </a:r>
          </a:p>
          <a:p>
            <a:r>
              <a:rPr lang="en-GB" dirty="0"/>
              <a:t>Claude code can</a:t>
            </a:r>
          </a:p>
          <a:p>
            <a:pPr lvl="1"/>
            <a:r>
              <a:rPr lang="en-GB" dirty="0"/>
              <a:t>Explain a file in plain language </a:t>
            </a:r>
          </a:p>
          <a:p>
            <a:pPr lvl="1"/>
            <a:r>
              <a:rPr lang="en-GB" dirty="0"/>
              <a:t>Describe what a function does </a:t>
            </a:r>
          </a:p>
          <a:p>
            <a:pPr lvl="1"/>
            <a:r>
              <a:rPr lang="en-GB" dirty="0"/>
              <a:t>Explain the purpose of a class or module </a:t>
            </a:r>
          </a:p>
          <a:p>
            <a:pPr lvl="1"/>
            <a:r>
              <a:rPr lang="en-GB" dirty="0"/>
              <a:t>Summarize long files </a:t>
            </a:r>
          </a:p>
          <a:p>
            <a:pPr lvl="1"/>
            <a:r>
              <a:rPr lang="en-GB" dirty="0"/>
              <a:t>Clarify unfamiliar variables and logic </a:t>
            </a:r>
          </a:p>
          <a:p>
            <a:pPr lvl="1"/>
            <a:r>
              <a:rPr lang="en-GB" dirty="0"/>
              <a:t>Point out important sections to read first</a:t>
            </a:r>
          </a:p>
        </p:txBody>
      </p:sp>
    </p:spTree>
    <p:extLst>
      <p:ext uri="{BB962C8B-B14F-4D97-AF65-F5344CB8AC3E}">
        <p14:creationId xmlns:p14="http://schemas.microsoft.com/office/powerpoint/2010/main" val="4172584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8C169-41E7-7E34-6E23-5916B993DB73}"/>
              </a:ext>
            </a:extLst>
          </p:cNvPr>
          <p:cNvSpPr>
            <a:spLocks noGrp="1"/>
          </p:cNvSpPr>
          <p:nvPr>
            <p:ph type="title"/>
          </p:nvPr>
        </p:nvSpPr>
        <p:spPr/>
        <p:txBody>
          <a:bodyPr/>
          <a:lstStyle/>
          <a:p>
            <a:r>
              <a:rPr lang="en-IN" dirty="0"/>
              <a:t>Understanding Architecture</a:t>
            </a:r>
            <a:endParaRPr lang="en-GB" dirty="0"/>
          </a:p>
        </p:txBody>
      </p:sp>
      <p:sp>
        <p:nvSpPr>
          <p:cNvPr id="3" name="Content Placeholder 2">
            <a:extLst>
              <a:ext uri="{FF2B5EF4-FFF2-40B4-BE49-F238E27FC236}">
                <a16:creationId xmlns:a16="http://schemas.microsoft.com/office/drawing/2014/main" id="{A31BC3FB-D1A8-25A6-B34A-CF74307E01F7}"/>
              </a:ext>
            </a:extLst>
          </p:cNvPr>
          <p:cNvSpPr>
            <a:spLocks noGrp="1"/>
          </p:cNvSpPr>
          <p:nvPr>
            <p:ph idx="1"/>
          </p:nvPr>
        </p:nvSpPr>
        <p:spPr/>
        <p:txBody>
          <a:bodyPr/>
          <a:lstStyle/>
          <a:p>
            <a:r>
              <a:rPr lang="en-GB" dirty="0"/>
              <a:t>Software projects are made up of many components that work together</a:t>
            </a:r>
          </a:p>
          <a:p>
            <a:r>
              <a:rPr lang="en-GB" dirty="0"/>
              <a:t>You can ask Claude Code</a:t>
            </a:r>
          </a:p>
          <a:p>
            <a:pPr lvl="1"/>
            <a:r>
              <a:rPr lang="en-GB" i="1" dirty="0"/>
              <a:t>Explain the overall architecture of this project.</a:t>
            </a:r>
            <a:r>
              <a:rPr lang="en-GB" dirty="0"/>
              <a:t> </a:t>
            </a:r>
          </a:p>
          <a:p>
            <a:pPr lvl="1"/>
            <a:r>
              <a:rPr lang="en-GB" i="1" dirty="0"/>
              <a:t>What are the main components and their responsibilities?</a:t>
            </a:r>
            <a:r>
              <a:rPr lang="en-GB" dirty="0"/>
              <a:t> </a:t>
            </a:r>
          </a:p>
          <a:p>
            <a:pPr lvl="1"/>
            <a:r>
              <a:rPr lang="en-GB" i="1" dirty="0"/>
              <a:t>How does a user request flow through the application?</a:t>
            </a:r>
            <a:r>
              <a:rPr lang="en-GB" dirty="0"/>
              <a:t> </a:t>
            </a:r>
          </a:p>
          <a:p>
            <a:pPr lvl="1"/>
            <a:r>
              <a:rPr lang="en-GB" i="1" dirty="0"/>
              <a:t>How do these modules interact with each other?</a:t>
            </a:r>
            <a:r>
              <a:rPr lang="en-GB" dirty="0"/>
              <a:t> </a:t>
            </a:r>
          </a:p>
          <a:p>
            <a:pPr lvl="1"/>
            <a:r>
              <a:rPr lang="en-GB" i="1" dirty="0"/>
              <a:t>Can you explain the architecture in simple language?</a:t>
            </a:r>
            <a:r>
              <a:rPr lang="en-GB" dirty="0"/>
              <a:t> </a:t>
            </a:r>
          </a:p>
          <a:p>
            <a:pPr lvl="1"/>
            <a:r>
              <a:rPr lang="en-GB" i="1" dirty="0"/>
              <a:t>Draw a simple logical flow of this application.</a:t>
            </a:r>
            <a:endParaRPr lang="en-GB" dirty="0"/>
          </a:p>
          <a:p>
            <a:endParaRPr lang="en-GB" dirty="0"/>
          </a:p>
        </p:txBody>
      </p:sp>
    </p:spTree>
    <p:extLst>
      <p:ext uri="{BB962C8B-B14F-4D97-AF65-F5344CB8AC3E}">
        <p14:creationId xmlns:p14="http://schemas.microsoft.com/office/powerpoint/2010/main" val="3810286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A7E9D-45C6-CFB4-E50E-A690E989B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E41A61-0DEB-FB04-CB84-53794A4B489F}"/>
              </a:ext>
            </a:extLst>
          </p:cNvPr>
          <p:cNvSpPr>
            <a:spLocks noGrp="1"/>
          </p:cNvSpPr>
          <p:nvPr>
            <p:ph type="title"/>
          </p:nvPr>
        </p:nvSpPr>
        <p:spPr/>
        <p:txBody>
          <a:bodyPr/>
          <a:lstStyle/>
          <a:p>
            <a:r>
              <a:rPr lang="en-IN" dirty="0"/>
              <a:t>Finding Features</a:t>
            </a:r>
            <a:endParaRPr lang="en-GB" dirty="0"/>
          </a:p>
        </p:txBody>
      </p:sp>
      <p:sp>
        <p:nvSpPr>
          <p:cNvPr id="3" name="Content Placeholder 2">
            <a:extLst>
              <a:ext uri="{FF2B5EF4-FFF2-40B4-BE49-F238E27FC236}">
                <a16:creationId xmlns:a16="http://schemas.microsoft.com/office/drawing/2014/main" id="{2E5F40F7-B2FE-31F5-A711-399C38170D9F}"/>
              </a:ext>
            </a:extLst>
          </p:cNvPr>
          <p:cNvSpPr>
            <a:spLocks noGrp="1"/>
          </p:cNvSpPr>
          <p:nvPr>
            <p:ph idx="1"/>
          </p:nvPr>
        </p:nvSpPr>
        <p:spPr/>
        <p:txBody>
          <a:bodyPr/>
          <a:lstStyle/>
          <a:p>
            <a:r>
              <a:rPr lang="en-GB" dirty="0"/>
              <a:t>In an existing project, you often know </a:t>
            </a:r>
            <a:r>
              <a:rPr lang="en-GB" i="1" dirty="0"/>
              <a:t>what </a:t>
            </a:r>
            <a:r>
              <a:rPr lang="en-GB" dirty="0"/>
              <a:t>you are looking for—but not </a:t>
            </a:r>
            <a:r>
              <a:rPr lang="en-GB" i="1" dirty="0"/>
              <a:t>where </a:t>
            </a:r>
            <a:r>
              <a:rPr lang="en-GB" dirty="0"/>
              <a:t>it is implemented</a:t>
            </a:r>
          </a:p>
          <a:p>
            <a:r>
              <a:rPr lang="en-GB" dirty="0"/>
              <a:t>Example</a:t>
            </a:r>
          </a:p>
          <a:p>
            <a:pPr lvl="1"/>
            <a:r>
              <a:rPr lang="en-GB" dirty="0"/>
              <a:t>Where is user login implemented? </a:t>
            </a:r>
          </a:p>
          <a:p>
            <a:pPr lvl="1"/>
            <a:r>
              <a:rPr lang="en-GB" dirty="0"/>
              <a:t>Where are notes saved? </a:t>
            </a:r>
          </a:p>
          <a:p>
            <a:pPr lvl="1"/>
            <a:r>
              <a:rPr lang="en-GB" dirty="0"/>
              <a:t>Where is password validation performed? </a:t>
            </a:r>
          </a:p>
          <a:p>
            <a:pPr lvl="1"/>
            <a:r>
              <a:rPr lang="en-GB" dirty="0"/>
              <a:t>Where is the search feature? </a:t>
            </a:r>
          </a:p>
          <a:p>
            <a:pPr lvl="1"/>
            <a:r>
              <a:rPr lang="en-GB" dirty="0"/>
              <a:t>Which file sends emails?</a:t>
            </a:r>
          </a:p>
        </p:txBody>
      </p:sp>
    </p:spTree>
    <p:extLst>
      <p:ext uri="{BB962C8B-B14F-4D97-AF65-F5344CB8AC3E}">
        <p14:creationId xmlns:p14="http://schemas.microsoft.com/office/powerpoint/2010/main" val="3702328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83D58-D7C4-50FB-52DC-9421627C3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99FBB-0AFE-9A0E-6E53-FFA546E28BE3}"/>
              </a:ext>
            </a:extLst>
          </p:cNvPr>
          <p:cNvSpPr>
            <a:spLocks noGrp="1"/>
          </p:cNvSpPr>
          <p:nvPr>
            <p:ph type="title"/>
          </p:nvPr>
        </p:nvSpPr>
        <p:spPr/>
        <p:txBody>
          <a:bodyPr/>
          <a:lstStyle/>
          <a:p>
            <a:r>
              <a:rPr lang="en-IN" dirty="0"/>
              <a:t>Tracing Workflows</a:t>
            </a:r>
            <a:endParaRPr lang="en-GB" dirty="0"/>
          </a:p>
        </p:txBody>
      </p:sp>
      <p:sp>
        <p:nvSpPr>
          <p:cNvPr id="3" name="Content Placeholder 2">
            <a:extLst>
              <a:ext uri="{FF2B5EF4-FFF2-40B4-BE49-F238E27FC236}">
                <a16:creationId xmlns:a16="http://schemas.microsoft.com/office/drawing/2014/main" id="{4631414A-6B85-CB1A-0AE2-B3DC2580C1E7}"/>
              </a:ext>
            </a:extLst>
          </p:cNvPr>
          <p:cNvSpPr>
            <a:spLocks noGrp="1"/>
          </p:cNvSpPr>
          <p:nvPr>
            <p:ph idx="1"/>
          </p:nvPr>
        </p:nvSpPr>
        <p:spPr/>
        <p:txBody>
          <a:bodyPr>
            <a:normAutofit fontScale="92500" lnSpcReduction="10000"/>
          </a:bodyPr>
          <a:lstStyle/>
          <a:p>
            <a:r>
              <a:rPr lang="en-GB" dirty="0"/>
              <a:t>A workflow is the sequence of steps the application follows to complete a task</a:t>
            </a:r>
          </a:p>
          <a:p>
            <a:r>
              <a:rPr lang="en-GB" dirty="0"/>
              <a:t>Example</a:t>
            </a:r>
          </a:p>
          <a:p>
            <a:pPr lvl="1"/>
            <a:r>
              <a:rPr lang="en-GB" dirty="0"/>
              <a:t>User logs in -&gt; User creates a note -&gt; User uploads a file</a:t>
            </a:r>
          </a:p>
          <a:p>
            <a:pPr lvl="1"/>
            <a:r>
              <a:rPr lang="en-GB" dirty="0"/>
              <a:t>Customer places an order -&gt; Payment is processed</a:t>
            </a:r>
          </a:p>
          <a:p>
            <a:r>
              <a:rPr lang="en-GB" dirty="0"/>
              <a:t>We can ask Claude Code</a:t>
            </a:r>
          </a:p>
          <a:p>
            <a:pPr lvl="1"/>
            <a:r>
              <a:rPr lang="en-GB" i="1" dirty="0"/>
              <a:t>What happens when a user creates a note?</a:t>
            </a:r>
            <a:r>
              <a:rPr lang="en-GB" dirty="0"/>
              <a:t> </a:t>
            </a:r>
          </a:p>
          <a:p>
            <a:pPr lvl="1"/>
            <a:r>
              <a:rPr lang="en-GB" i="1" dirty="0"/>
              <a:t>Trace the login process from start to finish.</a:t>
            </a:r>
            <a:r>
              <a:rPr lang="en-GB" dirty="0"/>
              <a:t> </a:t>
            </a:r>
          </a:p>
          <a:p>
            <a:pPr lvl="1"/>
            <a:r>
              <a:rPr lang="en-GB" i="1" dirty="0"/>
              <a:t>How does a request move through the application?</a:t>
            </a:r>
            <a:r>
              <a:rPr lang="en-GB" dirty="0"/>
              <a:t> </a:t>
            </a:r>
          </a:p>
          <a:p>
            <a:pPr lvl="1"/>
            <a:r>
              <a:rPr lang="en-GB" i="1" dirty="0"/>
              <a:t>Which files are involved when a note is saved?</a:t>
            </a:r>
            <a:r>
              <a:rPr lang="en-GB" dirty="0"/>
              <a:t> </a:t>
            </a:r>
          </a:p>
          <a:p>
            <a:pPr lvl="1"/>
            <a:r>
              <a:rPr lang="en-GB" i="1" dirty="0"/>
              <a:t>Explain this workflow step by step in simple language.</a:t>
            </a:r>
            <a:r>
              <a:rPr lang="en-GB" dirty="0"/>
              <a:t> </a:t>
            </a:r>
          </a:p>
          <a:p>
            <a:pPr lvl="1"/>
            <a:r>
              <a:rPr lang="en-GB" i="1" dirty="0"/>
              <a:t>Show the sequence of function calls for this feature.</a:t>
            </a:r>
            <a:endParaRPr lang="en-GB" dirty="0"/>
          </a:p>
        </p:txBody>
      </p:sp>
    </p:spTree>
    <p:extLst>
      <p:ext uri="{BB962C8B-B14F-4D97-AF65-F5344CB8AC3E}">
        <p14:creationId xmlns:p14="http://schemas.microsoft.com/office/powerpoint/2010/main" val="3876069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902EC-B432-C27C-190E-22E1163D3D7C}"/>
              </a:ext>
            </a:extLst>
          </p:cNvPr>
          <p:cNvSpPr>
            <a:spLocks noGrp="1"/>
          </p:cNvSpPr>
          <p:nvPr>
            <p:ph type="title"/>
          </p:nvPr>
        </p:nvSpPr>
        <p:spPr/>
        <p:txBody>
          <a:bodyPr/>
          <a:lstStyle/>
          <a:p>
            <a:r>
              <a:rPr lang="en-IN" dirty="0"/>
              <a:t>Explaining Code in Simple Language</a:t>
            </a:r>
            <a:endParaRPr lang="en-GB" dirty="0"/>
          </a:p>
        </p:txBody>
      </p:sp>
      <p:sp>
        <p:nvSpPr>
          <p:cNvPr id="3" name="Content Placeholder 2">
            <a:extLst>
              <a:ext uri="{FF2B5EF4-FFF2-40B4-BE49-F238E27FC236}">
                <a16:creationId xmlns:a16="http://schemas.microsoft.com/office/drawing/2014/main" id="{EFDD34E4-14C7-0BD5-6C52-8777CB4292E1}"/>
              </a:ext>
            </a:extLst>
          </p:cNvPr>
          <p:cNvSpPr>
            <a:spLocks noGrp="1"/>
          </p:cNvSpPr>
          <p:nvPr>
            <p:ph idx="1"/>
          </p:nvPr>
        </p:nvSpPr>
        <p:spPr/>
        <p:txBody>
          <a:bodyPr/>
          <a:lstStyle/>
          <a:p>
            <a:r>
              <a:rPr lang="en-GB" dirty="0"/>
              <a:t>Not everyone reading code is an experienced developer</a:t>
            </a:r>
          </a:p>
          <a:p>
            <a:r>
              <a:rPr lang="en-GB" dirty="0"/>
              <a:t>Claude Code can translate technical code into clear, everyday language, making it easier to learn and collaborate</a:t>
            </a:r>
          </a:p>
          <a:p>
            <a:r>
              <a:rPr lang="en-GB" dirty="0"/>
              <a:t>Examples</a:t>
            </a:r>
          </a:p>
          <a:p>
            <a:pPr lvl="1"/>
            <a:r>
              <a:rPr lang="en-GB" i="1" dirty="0"/>
              <a:t>Explain this file as if I'm new to programming.</a:t>
            </a:r>
          </a:p>
          <a:p>
            <a:pPr lvl="1"/>
            <a:r>
              <a:rPr lang="en-GB" i="1" dirty="0"/>
              <a:t>What does this function do in simple language?</a:t>
            </a:r>
          </a:p>
          <a:p>
            <a:pPr lvl="1"/>
            <a:r>
              <a:rPr lang="en-GB" i="1" dirty="0"/>
              <a:t>Summarize this class in one paragraph.</a:t>
            </a:r>
            <a:r>
              <a:rPr lang="en-GB" dirty="0"/>
              <a:t> </a:t>
            </a:r>
          </a:p>
          <a:p>
            <a:pPr lvl="1"/>
            <a:r>
              <a:rPr lang="en-GB" i="1" dirty="0"/>
              <a:t>Can you explain this code without technical terms?</a:t>
            </a:r>
            <a:r>
              <a:rPr lang="en-GB" dirty="0"/>
              <a:t> </a:t>
            </a:r>
          </a:p>
          <a:p>
            <a:pPr lvl="1"/>
            <a:r>
              <a:rPr lang="en-GB" i="1" dirty="0"/>
              <a:t>Explain this logic using a real-world example.</a:t>
            </a:r>
            <a:r>
              <a:rPr lang="en-GB" dirty="0"/>
              <a:t> </a:t>
            </a:r>
          </a:p>
          <a:p>
            <a:pPr lvl="1"/>
            <a:r>
              <a:rPr lang="en-GB" i="1" dirty="0"/>
              <a:t>If I had to explain this to my manager, what would I say?</a:t>
            </a:r>
            <a:endParaRPr lang="en-GB" dirty="0"/>
          </a:p>
        </p:txBody>
      </p:sp>
    </p:spTree>
    <p:extLst>
      <p:ext uri="{BB962C8B-B14F-4D97-AF65-F5344CB8AC3E}">
        <p14:creationId xmlns:p14="http://schemas.microsoft.com/office/powerpoint/2010/main" val="2772845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C45E8-8707-5A82-427E-ABD15CD8A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18147-7452-C306-BFE3-D57710961AAA}"/>
              </a:ext>
            </a:extLst>
          </p:cNvPr>
          <p:cNvSpPr>
            <a:spLocks noGrp="1"/>
          </p:cNvSpPr>
          <p:nvPr>
            <p:ph type="title"/>
          </p:nvPr>
        </p:nvSpPr>
        <p:spPr/>
        <p:txBody>
          <a:bodyPr/>
          <a:lstStyle/>
          <a:p>
            <a:r>
              <a:rPr lang="en-IN" dirty="0"/>
              <a:t>Hands-on – PM/BA</a:t>
            </a:r>
            <a:endParaRPr lang="en-GB" dirty="0"/>
          </a:p>
        </p:txBody>
      </p:sp>
      <p:sp>
        <p:nvSpPr>
          <p:cNvPr id="3" name="Content Placeholder 2">
            <a:extLst>
              <a:ext uri="{FF2B5EF4-FFF2-40B4-BE49-F238E27FC236}">
                <a16:creationId xmlns:a16="http://schemas.microsoft.com/office/drawing/2014/main" id="{53FD49B1-3045-FDE5-214C-62339110FED7}"/>
              </a:ext>
            </a:extLst>
          </p:cNvPr>
          <p:cNvSpPr>
            <a:spLocks noGrp="1"/>
          </p:cNvSpPr>
          <p:nvPr>
            <p:ph idx="1"/>
          </p:nvPr>
        </p:nvSpPr>
        <p:spPr/>
        <p:txBody>
          <a:bodyPr>
            <a:normAutofit fontScale="85000" lnSpcReduction="20000"/>
          </a:bodyPr>
          <a:lstStyle/>
          <a:p>
            <a:r>
              <a:rPr lang="en-GB" dirty="0"/>
              <a:t>Open </a:t>
            </a:r>
            <a:r>
              <a:rPr lang="en-GB" dirty="0" err="1"/>
              <a:t>Open</a:t>
            </a:r>
            <a:r>
              <a:rPr lang="en-GB" dirty="0"/>
              <a:t> </a:t>
            </a:r>
            <a:r>
              <a:rPr lang="fr-FR" dirty="0"/>
              <a:t>C:\lectures\Others\Edureka\Claude-Code\devops-claude-code\notes_app_python</a:t>
            </a:r>
            <a:endParaRPr lang="en-GB" dirty="0"/>
          </a:p>
          <a:p>
            <a:r>
              <a:rPr lang="en-GB" dirty="0"/>
              <a:t>Step 1 — safe start: </a:t>
            </a:r>
            <a:r>
              <a:rPr lang="en-GB" i="1" dirty="0"/>
              <a:t>"I am new to Claude Code and I am not a developer. Please explain how I should use you safely inside this project. Do not edit any files. Give me a simple workflow I can follow."</a:t>
            </a:r>
            <a:r>
              <a:rPr lang="en-GB" dirty="0"/>
              <a:t> </a:t>
            </a:r>
          </a:p>
          <a:p>
            <a:r>
              <a:rPr lang="en-GB" dirty="0"/>
              <a:t>Step 2 — understand, do not build: </a:t>
            </a:r>
            <a:r>
              <a:rPr lang="en-GB" i="1" dirty="0"/>
              <a:t>"Explain this project folder to me like I am new to coding. Tell me what each file does and which one I should look at first."</a:t>
            </a:r>
            <a:r>
              <a:rPr lang="en-GB" dirty="0"/>
              <a:t> </a:t>
            </a:r>
          </a:p>
          <a:p>
            <a:r>
              <a:rPr lang="en-GB" dirty="0"/>
              <a:t>Step 3 — ask a real-world question: </a:t>
            </a:r>
            <a:r>
              <a:rPr lang="en-GB" i="1" dirty="0"/>
              <a:t>"If I were reporting on this project to a manager who has never seen the code, what are the three most important things I should tell them?"</a:t>
            </a:r>
            <a:r>
              <a:rPr lang="en-GB" dirty="0"/>
              <a:t> </a:t>
            </a:r>
          </a:p>
          <a:p>
            <a:r>
              <a:rPr lang="en-GB" dirty="0"/>
              <a:t>Step 4 — request a written artifact: </a:t>
            </a:r>
            <a:r>
              <a:rPr lang="en-GB" i="1" dirty="0"/>
              <a:t>"Write a one-paragraph plain-language summary of this project I could paste into a status email. No technical terms."</a:t>
            </a:r>
            <a:r>
              <a:rPr lang="en-GB" dirty="0"/>
              <a:t> </a:t>
            </a:r>
          </a:p>
          <a:p>
            <a:r>
              <a:rPr lang="en-GB" dirty="0"/>
              <a:t>Step 5 — reflect: </a:t>
            </a:r>
            <a:r>
              <a:rPr lang="en-GB" i="1" dirty="0"/>
              <a:t>"Summarize what we just did together — what did I learn about this project without writing or editing a single line of code?"</a:t>
            </a:r>
            <a:endParaRPr lang="en-GB" dirty="0"/>
          </a:p>
        </p:txBody>
      </p:sp>
    </p:spTree>
    <p:extLst>
      <p:ext uri="{BB962C8B-B14F-4D97-AF65-F5344CB8AC3E}">
        <p14:creationId xmlns:p14="http://schemas.microsoft.com/office/powerpoint/2010/main" val="3216742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82086-E44B-C929-B560-357EA8362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321BB-B9C5-3726-AD90-6E8F630C8D2B}"/>
              </a:ext>
            </a:extLst>
          </p:cNvPr>
          <p:cNvSpPr>
            <a:spLocks noGrp="1"/>
          </p:cNvSpPr>
          <p:nvPr>
            <p:ph type="title"/>
          </p:nvPr>
        </p:nvSpPr>
        <p:spPr/>
        <p:txBody>
          <a:bodyPr/>
          <a:lstStyle/>
          <a:p>
            <a:r>
              <a:rPr lang="en-IN" dirty="0"/>
              <a:t>Hands-on – Testing/QA</a:t>
            </a:r>
            <a:endParaRPr lang="en-GB" dirty="0"/>
          </a:p>
        </p:txBody>
      </p:sp>
      <p:sp>
        <p:nvSpPr>
          <p:cNvPr id="3" name="Content Placeholder 2">
            <a:extLst>
              <a:ext uri="{FF2B5EF4-FFF2-40B4-BE49-F238E27FC236}">
                <a16:creationId xmlns:a16="http://schemas.microsoft.com/office/drawing/2014/main" id="{F68F52B2-A2D3-25F1-4CF7-33ECFA116D66}"/>
              </a:ext>
            </a:extLst>
          </p:cNvPr>
          <p:cNvSpPr>
            <a:spLocks noGrp="1"/>
          </p:cNvSpPr>
          <p:nvPr>
            <p:ph idx="1"/>
          </p:nvPr>
        </p:nvSpPr>
        <p:spPr/>
        <p:txBody>
          <a:bodyPr>
            <a:normAutofit/>
          </a:bodyPr>
          <a:lstStyle/>
          <a:p>
            <a:r>
              <a:rPr lang="en-GB" dirty="0"/>
              <a:t>Open </a:t>
            </a:r>
            <a:r>
              <a:rPr lang="fr-FR" dirty="0"/>
              <a:t>C:\lectures\Others\Edureka\Claude-Code\devops-claude-code\notes_app_python</a:t>
            </a:r>
            <a:endParaRPr lang="en-GB" dirty="0"/>
          </a:p>
          <a:p>
            <a:r>
              <a:rPr lang="en-GB" dirty="0"/>
              <a:t>Step 1 —</a:t>
            </a:r>
            <a:r>
              <a:rPr lang="en-GB" i="1" dirty="0"/>
              <a:t>"Explore this project and tell me what I should test first"</a:t>
            </a:r>
            <a:r>
              <a:rPr lang="en-GB" dirty="0"/>
              <a:t> </a:t>
            </a:r>
          </a:p>
          <a:p>
            <a:r>
              <a:rPr lang="en-GB" dirty="0"/>
              <a:t>Step 2 —</a:t>
            </a:r>
            <a:r>
              <a:rPr lang="en-GB" i="1" dirty="0"/>
              <a:t>"List five simple test cases for this application"</a:t>
            </a:r>
            <a:r>
              <a:rPr lang="en-GB" dirty="0"/>
              <a:t> </a:t>
            </a:r>
          </a:p>
          <a:p>
            <a:r>
              <a:rPr lang="en-GB" dirty="0"/>
              <a:t>Step 3 — “If you were a tester, what bugs would you try to find?</a:t>
            </a:r>
            <a:r>
              <a:rPr lang="en-GB" i="1" dirty="0"/>
              <a:t>"</a:t>
            </a:r>
            <a:r>
              <a:rPr lang="en-GB" dirty="0"/>
              <a:t> </a:t>
            </a:r>
          </a:p>
          <a:p>
            <a:r>
              <a:rPr lang="en-GB" dirty="0"/>
              <a:t>Step 4 —</a:t>
            </a:r>
            <a:r>
              <a:rPr lang="en-GB" i="1" dirty="0"/>
              <a:t>"What happens if a user enters invalid or empty input? Should I test that?"</a:t>
            </a:r>
            <a:r>
              <a:rPr lang="en-GB" dirty="0"/>
              <a:t> </a:t>
            </a:r>
          </a:p>
          <a:p>
            <a:r>
              <a:rPr lang="en-GB" dirty="0"/>
              <a:t>Step 5 — “</a:t>
            </a:r>
            <a:r>
              <a:rPr lang="en-GB" i="1" dirty="0"/>
              <a:t>Create a beginner-friendly checklist to verify that this application is working correctly"</a:t>
            </a:r>
            <a:endParaRPr lang="en-GB" dirty="0"/>
          </a:p>
        </p:txBody>
      </p:sp>
    </p:spTree>
    <p:extLst>
      <p:ext uri="{BB962C8B-B14F-4D97-AF65-F5344CB8AC3E}">
        <p14:creationId xmlns:p14="http://schemas.microsoft.com/office/powerpoint/2010/main" val="478803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D3FE3D-7B32-E14A-DCD4-C7363A172E3F}"/>
              </a:ext>
            </a:extLst>
          </p:cNvPr>
          <p:cNvSpPr>
            <a:spLocks noGrp="1"/>
          </p:cNvSpPr>
          <p:nvPr>
            <p:ph type="title"/>
          </p:nvPr>
        </p:nvSpPr>
        <p:spPr/>
        <p:txBody>
          <a:bodyPr/>
          <a:lstStyle/>
          <a:p>
            <a:r>
              <a:rPr lang="en-IN" dirty="0"/>
              <a:t>Part 3: Working with Claude Code</a:t>
            </a:r>
            <a:endParaRPr lang="en-GB" dirty="0"/>
          </a:p>
        </p:txBody>
      </p:sp>
      <p:sp>
        <p:nvSpPr>
          <p:cNvPr id="5" name="Text Placeholder 4">
            <a:extLst>
              <a:ext uri="{FF2B5EF4-FFF2-40B4-BE49-F238E27FC236}">
                <a16:creationId xmlns:a16="http://schemas.microsoft.com/office/drawing/2014/main" id="{8D7B52EB-7490-FB69-094D-AA54D85C6408}"/>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945045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F5B0A-5D97-2E2C-24F9-B904DB5EF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9BA45-54DF-46AE-E188-4EE33CF04BDF}"/>
              </a:ext>
            </a:extLst>
          </p:cNvPr>
          <p:cNvSpPr>
            <a:spLocks noGrp="1"/>
          </p:cNvSpPr>
          <p:nvPr>
            <p:ph type="title"/>
          </p:nvPr>
        </p:nvSpPr>
        <p:spPr/>
        <p:txBody>
          <a:bodyPr/>
          <a:lstStyle/>
          <a:p>
            <a:r>
              <a:rPr lang="en-IN" dirty="0"/>
              <a:t>Planning before Coding</a:t>
            </a:r>
            <a:endParaRPr lang="en-GB" dirty="0"/>
          </a:p>
        </p:txBody>
      </p:sp>
      <p:sp>
        <p:nvSpPr>
          <p:cNvPr id="3" name="Content Placeholder 2">
            <a:extLst>
              <a:ext uri="{FF2B5EF4-FFF2-40B4-BE49-F238E27FC236}">
                <a16:creationId xmlns:a16="http://schemas.microsoft.com/office/drawing/2014/main" id="{4F19B097-4CCB-F2B6-EC01-15011A3DAF86}"/>
              </a:ext>
            </a:extLst>
          </p:cNvPr>
          <p:cNvSpPr>
            <a:spLocks noGrp="1"/>
          </p:cNvSpPr>
          <p:nvPr>
            <p:ph idx="1"/>
          </p:nvPr>
        </p:nvSpPr>
        <p:spPr/>
        <p:txBody>
          <a:bodyPr>
            <a:normAutofit lnSpcReduction="10000"/>
          </a:bodyPr>
          <a:lstStyle/>
          <a:p>
            <a:r>
              <a:rPr lang="en-GB" dirty="0"/>
              <a:t>Writing code immediately can lead to:</a:t>
            </a:r>
          </a:p>
          <a:p>
            <a:pPr lvl="1"/>
            <a:r>
              <a:rPr lang="en-GB" dirty="0"/>
              <a:t>Misunderstanding the requirement </a:t>
            </a:r>
          </a:p>
          <a:p>
            <a:pPr lvl="1"/>
            <a:r>
              <a:rPr lang="en-GB" dirty="0"/>
              <a:t>Editing the wrong files </a:t>
            </a:r>
          </a:p>
          <a:p>
            <a:pPr lvl="1"/>
            <a:r>
              <a:rPr lang="en-GB" dirty="0"/>
              <a:t>Creating unnecessary work </a:t>
            </a:r>
          </a:p>
          <a:p>
            <a:pPr lvl="1"/>
            <a:r>
              <a:rPr lang="en-GB" dirty="0"/>
              <a:t>Introducing bugs </a:t>
            </a:r>
          </a:p>
          <a:p>
            <a:pPr lvl="1"/>
            <a:r>
              <a:rPr lang="en-GB" dirty="0"/>
              <a:t>Wasting time </a:t>
            </a:r>
          </a:p>
          <a:p>
            <a:r>
              <a:rPr lang="en-GB" dirty="0"/>
              <a:t>Think first - Code later</a:t>
            </a:r>
          </a:p>
          <a:p>
            <a:r>
              <a:rPr lang="en-GB" dirty="0"/>
              <a:t>Hands-on - Open the Notes App project and ask Claude Code:</a:t>
            </a:r>
          </a:p>
          <a:p>
            <a:pPr lvl="1"/>
            <a:r>
              <a:rPr lang="en-GB" dirty="0"/>
              <a:t>"I want to add a feature to search notes by title. Don't write any code yet. First, explain how you would implement it, which files would need to change, and any potential risks or edge cases.“</a:t>
            </a:r>
          </a:p>
          <a:p>
            <a:endParaRPr lang="en-GB" dirty="0"/>
          </a:p>
          <a:p>
            <a:endParaRPr lang="en-GB" dirty="0"/>
          </a:p>
          <a:p>
            <a:endParaRPr lang="en-GB" dirty="0"/>
          </a:p>
        </p:txBody>
      </p:sp>
    </p:spTree>
    <p:extLst>
      <p:ext uri="{BB962C8B-B14F-4D97-AF65-F5344CB8AC3E}">
        <p14:creationId xmlns:p14="http://schemas.microsoft.com/office/powerpoint/2010/main" val="2665024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EF11C-371D-AFAB-34BD-DDDE3A5AC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B2B62-76A1-28BB-ECD1-222A15AF75CA}"/>
              </a:ext>
            </a:extLst>
          </p:cNvPr>
          <p:cNvSpPr>
            <a:spLocks noGrp="1"/>
          </p:cNvSpPr>
          <p:nvPr>
            <p:ph type="title"/>
          </p:nvPr>
        </p:nvSpPr>
        <p:spPr/>
        <p:txBody>
          <a:bodyPr/>
          <a:lstStyle/>
          <a:p>
            <a:r>
              <a:rPr lang="en-IN" dirty="0"/>
              <a:t>Good Prompting</a:t>
            </a:r>
            <a:endParaRPr lang="en-GB" dirty="0"/>
          </a:p>
        </p:txBody>
      </p:sp>
      <p:sp>
        <p:nvSpPr>
          <p:cNvPr id="3" name="Content Placeholder 2">
            <a:extLst>
              <a:ext uri="{FF2B5EF4-FFF2-40B4-BE49-F238E27FC236}">
                <a16:creationId xmlns:a16="http://schemas.microsoft.com/office/drawing/2014/main" id="{3659527F-1FF6-0725-728A-91612C3BFAA4}"/>
              </a:ext>
            </a:extLst>
          </p:cNvPr>
          <p:cNvSpPr>
            <a:spLocks noGrp="1"/>
          </p:cNvSpPr>
          <p:nvPr>
            <p:ph idx="1"/>
          </p:nvPr>
        </p:nvSpPr>
        <p:spPr/>
        <p:txBody>
          <a:bodyPr>
            <a:normAutofit fontScale="85000" lnSpcReduction="10000"/>
          </a:bodyPr>
          <a:lstStyle/>
          <a:p>
            <a:r>
              <a:rPr lang="en-GB" dirty="0"/>
              <a:t>Claude Code works best when your request is clear, specific, and goal-oriented</a:t>
            </a:r>
          </a:p>
          <a:p>
            <a:r>
              <a:rPr lang="en-GB" dirty="0"/>
              <a:t>Good prompting tips</a:t>
            </a:r>
          </a:p>
          <a:p>
            <a:pPr lvl="1"/>
            <a:r>
              <a:rPr lang="en-GB" dirty="0"/>
              <a:t>Clearly describe the task</a:t>
            </a:r>
          </a:p>
          <a:p>
            <a:pPr lvl="1"/>
            <a:r>
              <a:rPr lang="en-GB" dirty="0"/>
              <a:t>Provide the necessary context</a:t>
            </a:r>
          </a:p>
          <a:p>
            <a:pPr lvl="1"/>
            <a:r>
              <a:rPr lang="en-GB" dirty="0"/>
              <a:t>Mention any constraints (e.g., don't edit files, explain simply)</a:t>
            </a:r>
          </a:p>
          <a:p>
            <a:pPr lvl="1"/>
            <a:r>
              <a:rPr lang="en-GB" dirty="0"/>
              <a:t>Specify the desired output</a:t>
            </a:r>
          </a:p>
          <a:p>
            <a:pPr lvl="1"/>
            <a:r>
              <a:rPr lang="en-GB" dirty="0"/>
              <a:t>Break large tasks into smaller steps</a:t>
            </a:r>
          </a:p>
          <a:p>
            <a:r>
              <a:rPr lang="en-GB" dirty="0"/>
              <a:t>Prompt template:</a:t>
            </a:r>
            <a:r>
              <a:rPr lang="en-US" dirty="0"/>
              <a:t> Context + Constraints + Expected Output</a:t>
            </a:r>
          </a:p>
          <a:p>
            <a:r>
              <a:rPr lang="en-US" dirty="0"/>
              <a:t>Hands-on – Try these prompts and compare results</a:t>
            </a:r>
          </a:p>
          <a:p>
            <a:pPr lvl="1"/>
            <a:r>
              <a:rPr lang="en-GB" dirty="0"/>
              <a:t>Explain this project.</a:t>
            </a:r>
          </a:p>
          <a:p>
            <a:pPr lvl="1"/>
            <a:r>
              <a:rPr lang="en-GB" dirty="0"/>
              <a:t>Explain this project to someone new to Python. Describe the folder structure, identify the main entry point, and summarize the application's purpose in simple language. Do not edit any files.</a:t>
            </a:r>
          </a:p>
        </p:txBody>
      </p:sp>
    </p:spTree>
    <p:extLst>
      <p:ext uri="{BB962C8B-B14F-4D97-AF65-F5344CB8AC3E}">
        <p14:creationId xmlns:p14="http://schemas.microsoft.com/office/powerpoint/2010/main" val="3790588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09E9A-38CD-DBAE-830B-3FE4355302AC}"/>
              </a:ext>
            </a:extLst>
          </p:cNvPr>
          <p:cNvSpPr>
            <a:spLocks noGrp="1"/>
          </p:cNvSpPr>
          <p:nvPr>
            <p:ph type="title"/>
          </p:nvPr>
        </p:nvSpPr>
        <p:spPr/>
        <p:txBody>
          <a:bodyPr/>
          <a:lstStyle/>
          <a:p>
            <a:r>
              <a:rPr lang="en-IN" dirty="0"/>
              <a:t>Task-First Thinking</a:t>
            </a:r>
            <a:endParaRPr lang="en-GB" dirty="0"/>
          </a:p>
        </p:txBody>
      </p:sp>
      <p:sp>
        <p:nvSpPr>
          <p:cNvPr id="3" name="Content Placeholder 2">
            <a:extLst>
              <a:ext uri="{FF2B5EF4-FFF2-40B4-BE49-F238E27FC236}">
                <a16:creationId xmlns:a16="http://schemas.microsoft.com/office/drawing/2014/main" id="{276F0210-8C1C-43BE-29B4-50E7D97DF774}"/>
              </a:ext>
            </a:extLst>
          </p:cNvPr>
          <p:cNvSpPr>
            <a:spLocks noGrp="1"/>
          </p:cNvSpPr>
          <p:nvPr>
            <p:ph idx="1"/>
          </p:nvPr>
        </p:nvSpPr>
        <p:spPr/>
        <p:txBody>
          <a:bodyPr>
            <a:normAutofit lnSpcReduction="10000"/>
          </a:bodyPr>
          <a:lstStyle/>
          <a:p>
            <a:r>
              <a:rPr lang="en-GB" dirty="0"/>
              <a:t>Focus on what you want to achieve (goal), not how the code should be written</a:t>
            </a:r>
          </a:p>
          <a:p>
            <a:r>
              <a:rPr lang="en-GB" dirty="0"/>
              <a:t>Instead of telling Claude Code exactly what to code, describe the problem or desired outcome</a:t>
            </a:r>
          </a:p>
          <a:p>
            <a:r>
              <a:rPr lang="en-GB" dirty="0"/>
              <a:t>Avoid: Create a Python function using a dictionary and a for loop.</a:t>
            </a:r>
          </a:p>
          <a:p>
            <a:r>
              <a:rPr lang="en-GB" dirty="0"/>
              <a:t>Use: Allow users to search notes by title. Suggest the simplest implementation for this project.</a:t>
            </a:r>
          </a:p>
          <a:p>
            <a:r>
              <a:rPr lang="en-GB" dirty="0"/>
              <a:t>Hands-on - Users often create duplicate notes with the same title. Suggest the best way to prevent this. Explain your approach first and do not write any code yet.</a:t>
            </a:r>
          </a:p>
          <a:p>
            <a:endParaRPr lang="en-GB" dirty="0"/>
          </a:p>
        </p:txBody>
      </p:sp>
    </p:spTree>
    <p:extLst>
      <p:ext uri="{BB962C8B-B14F-4D97-AF65-F5344CB8AC3E}">
        <p14:creationId xmlns:p14="http://schemas.microsoft.com/office/powerpoint/2010/main" val="245210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0A452-42FF-D0C9-19D4-70616E42B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F945D-5EBE-4065-F6AF-5BB1D65045B6}"/>
              </a:ext>
            </a:extLst>
          </p:cNvPr>
          <p:cNvSpPr>
            <a:spLocks noGrp="1"/>
          </p:cNvSpPr>
          <p:nvPr>
            <p:ph type="title"/>
          </p:nvPr>
        </p:nvSpPr>
        <p:spPr/>
        <p:txBody>
          <a:bodyPr/>
          <a:lstStyle/>
          <a:p>
            <a:r>
              <a:rPr lang="en-IN" dirty="0"/>
              <a:t>Reviewing Plans</a:t>
            </a:r>
            <a:endParaRPr lang="en-GB" dirty="0"/>
          </a:p>
        </p:txBody>
      </p:sp>
      <p:sp>
        <p:nvSpPr>
          <p:cNvPr id="3" name="Content Placeholder 2">
            <a:extLst>
              <a:ext uri="{FF2B5EF4-FFF2-40B4-BE49-F238E27FC236}">
                <a16:creationId xmlns:a16="http://schemas.microsoft.com/office/drawing/2014/main" id="{4785CED8-8F19-018C-F2BB-2C9AD712A275}"/>
              </a:ext>
            </a:extLst>
          </p:cNvPr>
          <p:cNvSpPr>
            <a:spLocks noGrp="1"/>
          </p:cNvSpPr>
          <p:nvPr>
            <p:ph idx="1"/>
          </p:nvPr>
        </p:nvSpPr>
        <p:spPr/>
        <p:txBody>
          <a:bodyPr>
            <a:normAutofit fontScale="85000" lnSpcReduction="20000"/>
          </a:bodyPr>
          <a:lstStyle/>
          <a:p>
            <a:r>
              <a:rPr lang="en-GB" dirty="0"/>
              <a:t>Even if Claude Code proposes a good solution, it's worth reviewing it before making changes</a:t>
            </a:r>
          </a:p>
          <a:p>
            <a:pPr lvl="1"/>
            <a:r>
              <a:rPr lang="en-GB" dirty="0"/>
              <a:t>Catch misunderstandings </a:t>
            </a:r>
          </a:p>
          <a:p>
            <a:pPr lvl="1"/>
            <a:r>
              <a:rPr lang="en-GB" dirty="0"/>
              <a:t>Find simpler alternatives </a:t>
            </a:r>
          </a:p>
          <a:p>
            <a:pPr lvl="1"/>
            <a:r>
              <a:rPr lang="en-GB" dirty="0"/>
              <a:t>Identify risks </a:t>
            </a:r>
          </a:p>
          <a:p>
            <a:pPr lvl="1"/>
            <a:r>
              <a:rPr lang="en-GB" dirty="0"/>
              <a:t>Reduce unnecessary changes </a:t>
            </a:r>
          </a:p>
          <a:p>
            <a:pPr lvl="1"/>
            <a:r>
              <a:rPr lang="en-GB" dirty="0"/>
              <a:t>Build confidence before implementation</a:t>
            </a:r>
          </a:p>
          <a:p>
            <a:r>
              <a:rPr lang="en-GB" dirty="0"/>
              <a:t>Treat Claude Code's first plan as a proposal—not the final answer</a:t>
            </a:r>
          </a:p>
          <a:p>
            <a:r>
              <a:rPr lang="en-GB" dirty="0"/>
              <a:t>Review it, ask questions, and refine it before making changes</a:t>
            </a:r>
          </a:p>
          <a:p>
            <a:r>
              <a:rPr lang="en-GB" dirty="0"/>
              <a:t>Hands-on</a:t>
            </a:r>
          </a:p>
          <a:p>
            <a:pPr lvl="1"/>
            <a:r>
              <a:rPr lang="en-GB" dirty="0"/>
              <a:t>First ask: I want to add a new search feature for notes. Don't write any code. Create an implementation plan.</a:t>
            </a:r>
          </a:p>
          <a:p>
            <a:pPr lvl="1"/>
            <a:r>
              <a:rPr lang="en-GB" dirty="0"/>
              <a:t>Then: Review your own plan. Can it be simplified? Are there any risks, unnecessary steps, or edge cases that I should consider before implementing it?</a:t>
            </a:r>
          </a:p>
        </p:txBody>
      </p:sp>
    </p:spTree>
    <p:extLst>
      <p:ext uri="{BB962C8B-B14F-4D97-AF65-F5344CB8AC3E}">
        <p14:creationId xmlns:p14="http://schemas.microsoft.com/office/powerpoint/2010/main" val="2230761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CBCEF-BBBB-1C18-E591-46C7B0B027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BFCFC-8081-952F-7862-4B13BAE83FAD}"/>
              </a:ext>
            </a:extLst>
          </p:cNvPr>
          <p:cNvSpPr>
            <a:spLocks noGrp="1"/>
          </p:cNvSpPr>
          <p:nvPr>
            <p:ph type="title"/>
          </p:nvPr>
        </p:nvSpPr>
        <p:spPr/>
        <p:txBody>
          <a:bodyPr/>
          <a:lstStyle/>
          <a:p>
            <a:r>
              <a:rPr lang="en-IN" dirty="0"/>
              <a:t>Making Small Changes</a:t>
            </a:r>
            <a:endParaRPr lang="en-GB" dirty="0"/>
          </a:p>
        </p:txBody>
      </p:sp>
      <p:sp>
        <p:nvSpPr>
          <p:cNvPr id="3" name="Content Placeholder 2">
            <a:extLst>
              <a:ext uri="{FF2B5EF4-FFF2-40B4-BE49-F238E27FC236}">
                <a16:creationId xmlns:a16="http://schemas.microsoft.com/office/drawing/2014/main" id="{A12DFCC5-E3B1-D3B8-A9A2-741CEE2A4E57}"/>
              </a:ext>
            </a:extLst>
          </p:cNvPr>
          <p:cNvSpPr>
            <a:spLocks noGrp="1"/>
          </p:cNvSpPr>
          <p:nvPr>
            <p:ph idx="1"/>
          </p:nvPr>
        </p:nvSpPr>
        <p:spPr/>
        <p:txBody>
          <a:bodyPr>
            <a:normAutofit lnSpcReduction="10000"/>
          </a:bodyPr>
          <a:lstStyle/>
          <a:p>
            <a:r>
              <a:rPr lang="en-GB" dirty="0"/>
              <a:t>When working on an existing project, avoid making many changes at once</a:t>
            </a:r>
          </a:p>
          <a:p>
            <a:r>
              <a:rPr lang="en-GB" dirty="0"/>
              <a:t>Small, focused changes are:</a:t>
            </a:r>
          </a:p>
          <a:p>
            <a:pPr lvl="1"/>
            <a:r>
              <a:rPr lang="en-GB" dirty="0"/>
              <a:t>Easier to understand </a:t>
            </a:r>
          </a:p>
          <a:p>
            <a:pPr lvl="1"/>
            <a:r>
              <a:rPr lang="en-GB" dirty="0"/>
              <a:t>Easier to review </a:t>
            </a:r>
          </a:p>
          <a:p>
            <a:pPr lvl="1"/>
            <a:r>
              <a:rPr lang="en-GB" dirty="0"/>
              <a:t>Easier to test </a:t>
            </a:r>
          </a:p>
          <a:p>
            <a:pPr lvl="1"/>
            <a:r>
              <a:rPr lang="en-GB" dirty="0"/>
              <a:t>Easier to undo if something goes wrong </a:t>
            </a:r>
          </a:p>
          <a:p>
            <a:r>
              <a:rPr lang="en-GB" dirty="0"/>
              <a:t>Make one small improvement, verify it, then move to the next</a:t>
            </a:r>
          </a:p>
          <a:p>
            <a:r>
              <a:rPr lang="en-GB" dirty="0"/>
              <a:t>Hands-on - Change the application so that users cannot save a note with an empty title. Explain the change before making it, modify only the necessary files, and summarize what you changed.</a:t>
            </a:r>
          </a:p>
        </p:txBody>
      </p:sp>
    </p:spTree>
    <p:extLst>
      <p:ext uri="{BB962C8B-B14F-4D97-AF65-F5344CB8AC3E}">
        <p14:creationId xmlns:p14="http://schemas.microsoft.com/office/powerpoint/2010/main" val="3474672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816C8-77D9-A096-0F8C-FBFDC9878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D211E-A52F-0FF0-6296-C6877F81E776}"/>
              </a:ext>
            </a:extLst>
          </p:cNvPr>
          <p:cNvSpPr>
            <a:spLocks noGrp="1"/>
          </p:cNvSpPr>
          <p:nvPr>
            <p:ph type="title"/>
          </p:nvPr>
        </p:nvSpPr>
        <p:spPr/>
        <p:txBody>
          <a:bodyPr/>
          <a:lstStyle/>
          <a:p>
            <a:r>
              <a:rPr lang="en-IN" dirty="0"/>
              <a:t>Running Commands</a:t>
            </a:r>
            <a:endParaRPr lang="en-GB" dirty="0"/>
          </a:p>
        </p:txBody>
      </p:sp>
      <p:sp>
        <p:nvSpPr>
          <p:cNvPr id="3" name="Content Placeholder 2">
            <a:extLst>
              <a:ext uri="{FF2B5EF4-FFF2-40B4-BE49-F238E27FC236}">
                <a16:creationId xmlns:a16="http://schemas.microsoft.com/office/drawing/2014/main" id="{FAC8B7CF-B4EB-39AD-6C9B-82675D8EAC7B}"/>
              </a:ext>
            </a:extLst>
          </p:cNvPr>
          <p:cNvSpPr>
            <a:spLocks noGrp="1"/>
          </p:cNvSpPr>
          <p:nvPr>
            <p:ph idx="1"/>
          </p:nvPr>
        </p:nvSpPr>
        <p:spPr/>
        <p:txBody>
          <a:bodyPr>
            <a:normAutofit fontScale="92500" lnSpcReduction="10000"/>
          </a:bodyPr>
          <a:lstStyle/>
          <a:p>
            <a:r>
              <a:rPr lang="en-GB" dirty="0"/>
              <a:t>Claude Code can execute terminal commands to help you understand, build, and test your project</a:t>
            </a:r>
          </a:p>
          <a:p>
            <a:r>
              <a:rPr lang="en-GB" dirty="0"/>
              <a:t>Examples include:</a:t>
            </a:r>
          </a:p>
          <a:p>
            <a:pPr lvl="1"/>
            <a:r>
              <a:rPr lang="en-GB" dirty="0"/>
              <a:t>Listing project files </a:t>
            </a:r>
          </a:p>
          <a:p>
            <a:pPr lvl="1"/>
            <a:r>
              <a:rPr lang="en-GB" dirty="0"/>
              <a:t>Checking Git status </a:t>
            </a:r>
          </a:p>
          <a:p>
            <a:pPr lvl="1"/>
            <a:r>
              <a:rPr lang="en-GB" dirty="0"/>
              <a:t>Installing dependencies </a:t>
            </a:r>
          </a:p>
          <a:p>
            <a:pPr lvl="1"/>
            <a:r>
              <a:rPr lang="en-GB" dirty="0"/>
              <a:t>Running the application </a:t>
            </a:r>
          </a:p>
          <a:p>
            <a:pPr lvl="1"/>
            <a:r>
              <a:rPr lang="en-GB" dirty="0"/>
              <a:t>Executing tests </a:t>
            </a:r>
          </a:p>
          <a:p>
            <a:pPr lvl="1"/>
            <a:r>
              <a:rPr lang="en-GB" dirty="0"/>
              <a:t>Viewing logs</a:t>
            </a:r>
          </a:p>
          <a:p>
            <a:r>
              <a:rPr lang="en-GB" dirty="0"/>
              <a:t>Hands-on - Show me the command to run this project. Explain what the command does before executing it. After it finishes, summarize the output in simple language.</a:t>
            </a:r>
          </a:p>
        </p:txBody>
      </p:sp>
    </p:spTree>
    <p:extLst>
      <p:ext uri="{BB962C8B-B14F-4D97-AF65-F5344CB8AC3E}">
        <p14:creationId xmlns:p14="http://schemas.microsoft.com/office/powerpoint/2010/main" val="3079060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B7E64-D2B8-D3BF-808F-1D58CC4DB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4A438-C852-C22E-E64A-EC4CAD920C43}"/>
              </a:ext>
            </a:extLst>
          </p:cNvPr>
          <p:cNvSpPr>
            <a:spLocks noGrp="1"/>
          </p:cNvSpPr>
          <p:nvPr>
            <p:ph type="title"/>
          </p:nvPr>
        </p:nvSpPr>
        <p:spPr/>
        <p:txBody>
          <a:bodyPr/>
          <a:lstStyle/>
          <a:p>
            <a:r>
              <a:rPr lang="en-IN" dirty="0"/>
              <a:t>Testing</a:t>
            </a:r>
            <a:endParaRPr lang="en-GB" dirty="0"/>
          </a:p>
        </p:txBody>
      </p:sp>
      <p:sp>
        <p:nvSpPr>
          <p:cNvPr id="3" name="Content Placeholder 2">
            <a:extLst>
              <a:ext uri="{FF2B5EF4-FFF2-40B4-BE49-F238E27FC236}">
                <a16:creationId xmlns:a16="http://schemas.microsoft.com/office/drawing/2014/main" id="{4A965AE7-BBB8-5570-B2FB-FF8EE7A46A95}"/>
              </a:ext>
            </a:extLst>
          </p:cNvPr>
          <p:cNvSpPr>
            <a:spLocks noGrp="1"/>
          </p:cNvSpPr>
          <p:nvPr>
            <p:ph idx="1"/>
          </p:nvPr>
        </p:nvSpPr>
        <p:spPr/>
        <p:txBody>
          <a:bodyPr>
            <a:normAutofit/>
          </a:bodyPr>
          <a:lstStyle/>
          <a:p>
            <a:r>
              <a:rPr lang="en-GB" dirty="0"/>
              <a:t>Even a small code change can introduce unexpected problems</a:t>
            </a:r>
          </a:p>
          <a:p>
            <a:r>
              <a:rPr lang="en-GB" dirty="0"/>
              <a:t>Testing helps ensure that</a:t>
            </a:r>
          </a:p>
          <a:p>
            <a:pPr lvl="1"/>
            <a:r>
              <a:rPr lang="en-GB" dirty="0"/>
              <a:t>The new feature works correctly </a:t>
            </a:r>
          </a:p>
          <a:p>
            <a:pPr lvl="1"/>
            <a:r>
              <a:rPr lang="en-GB" dirty="0"/>
              <a:t>Existing functionality still works </a:t>
            </a:r>
          </a:p>
          <a:p>
            <a:pPr lvl="1"/>
            <a:r>
              <a:rPr lang="en-GB" dirty="0"/>
              <a:t>Edge cases are handled </a:t>
            </a:r>
          </a:p>
          <a:p>
            <a:pPr lvl="1"/>
            <a:r>
              <a:rPr lang="en-GB" dirty="0"/>
              <a:t>Bugs are caught before deployment</a:t>
            </a:r>
          </a:p>
          <a:p>
            <a:r>
              <a:rPr lang="en-GB" dirty="0"/>
              <a:t>Hands-on - Review the note creation feature and generate five manual test cases, including expected results and edge cases. Do not modify any code.</a:t>
            </a:r>
          </a:p>
        </p:txBody>
      </p:sp>
    </p:spTree>
    <p:extLst>
      <p:ext uri="{BB962C8B-B14F-4D97-AF65-F5344CB8AC3E}">
        <p14:creationId xmlns:p14="http://schemas.microsoft.com/office/powerpoint/2010/main" val="1838171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20AFC-068D-1568-866F-2FCB04050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0CFA8-22DC-075F-AC2E-56E6BC1699F2}"/>
              </a:ext>
            </a:extLst>
          </p:cNvPr>
          <p:cNvSpPr>
            <a:spLocks noGrp="1"/>
          </p:cNvSpPr>
          <p:nvPr>
            <p:ph type="title"/>
          </p:nvPr>
        </p:nvSpPr>
        <p:spPr/>
        <p:txBody>
          <a:bodyPr/>
          <a:lstStyle/>
          <a:p>
            <a:r>
              <a:rPr lang="en-IN" dirty="0"/>
              <a:t>Reviewing Changes</a:t>
            </a:r>
            <a:endParaRPr lang="en-GB" dirty="0"/>
          </a:p>
        </p:txBody>
      </p:sp>
      <p:sp>
        <p:nvSpPr>
          <p:cNvPr id="3" name="Content Placeholder 2">
            <a:extLst>
              <a:ext uri="{FF2B5EF4-FFF2-40B4-BE49-F238E27FC236}">
                <a16:creationId xmlns:a16="http://schemas.microsoft.com/office/drawing/2014/main" id="{96AA60CF-600F-369E-D9C4-DB050878C90D}"/>
              </a:ext>
            </a:extLst>
          </p:cNvPr>
          <p:cNvSpPr>
            <a:spLocks noGrp="1"/>
          </p:cNvSpPr>
          <p:nvPr>
            <p:ph idx="1"/>
          </p:nvPr>
        </p:nvSpPr>
        <p:spPr/>
        <p:txBody>
          <a:bodyPr>
            <a:normAutofit lnSpcReduction="10000"/>
          </a:bodyPr>
          <a:lstStyle/>
          <a:p>
            <a:r>
              <a:rPr lang="en-GB" dirty="0"/>
              <a:t>Before accepting any code changes, take a moment to understand what changed and why</a:t>
            </a:r>
          </a:p>
          <a:p>
            <a:r>
              <a:rPr lang="en-GB" dirty="0"/>
              <a:t>A review helps you:</a:t>
            </a:r>
          </a:p>
          <a:p>
            <a:pPr lvl="1"/>
            <a:r>
              <a:rPr lang="en-GB" dirty="0"/>
              <a:t>Verify the correct files were modified </a:t>
            </a:r>
          </a:p>
          <a:p>
            <a:pPr lvl="1"/>
            <a:r>
              <a:rPr lang="en-GB" dirty="0"/>
              <a:t>Check that the requirement was met </a:t>
            </a:r>
          </a:p>
          <a:p>
            <a:pPr lvl="1"/>
            <a:r>
              <a:rPr lang="en-GB" dirty="0"/>
              <a:t>Detect unintended changes </a:t>
            </a:r>
          </a:p>
          <a:p>
            <a:pPr lvl="1"/>
            <a:r>
              <a:rPr lang="en-GB" dirty="0"/>
              <a:t>Improve code quality</a:t>
            </a:r>
          </a:p>
          <a:p>
            <a:r>
              <a:rPr lang="en-GB" dirty="0"/>
              <a:t>Hands-on - Review the changes you just made. List the modified files, explain why each change was necessary, identify any possible risks, and suggest one improvement if you were reviewing this as a pull request.</a:t>
            </a:r>
          </a:p>
        </p:txBody>
      </p:sp>
    </p:spTree>
    <p:extLst>
      <p:ext uri="{BB962C8B-B14F-4D97-AF65-F5344CB8AC3E}">
        <p14:creationId xmlns:p14="http://schemas.microsoft.com/office/powerpoint/2010/main" val="624419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0F5DF-B34C-F6E0-366D-A73A61562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41CA3-CD68-2E89-E995-8CDEE6907AF8}"/>
              </a:ext>
            </a:extLst>
          </p:cNvPr>
          <p:cNvSpPr>
            <a:spLocks noGrp="1"/>
          </p:cNvSpPr>
          <p:nvPr>
            <p:ph type="title"/>
          </p:nvPr>
        </p:nvSpPr>
        <p:spPr/>
        <p:txBody>
          <a:bodyPr/>
          <a:lstStyle/>
          <a:p>
            <a:r>
              <a:rPr lang="en-IN" dirty="0"/>
              <a:t>Explaining Changes</a:t>
            </a:r>
            <a:endParaRPr lang="en-GB" dirty="0"/>
          </a:p>
        </p:txBody>
      </p:sp>
      <p:sp>
        <p:nvSpPr>
          <p:cNvPr id="3" name="Content Placeholder 2">
            <a:extLst>
              <a:ext uri="{FF2B5EF4-FFF2-40B4-BE49-F238E27FC236}">
                <a16:creationId xmlns:a16="http://schemas.microsoft.com/office/drawing/2014/main" id="{4408EA82-72DA-8464-CA2B-99DA6B800E06}"/>
              </a:ext>
            </a:extLst>
          </p:cNvPr>
          <p:cNvSpPr>
            <a:spLocks noGrp="1"/>
          </p:cNvSpPr>
          <p:nvPr>
            <p:ph idx="1"/>
          </p:nvPr>
        </p:nvSpPr>
        <p:spPr/>
        <p:txBody>
          <a:bodyPr>
            <a:normAutofit/>
          </a:bodyPr>
          <a:lstStyle/>
          <a:p>
            <a:r>
              <a:rPr lang="en-GB" dirty="0"/>
              <a:t>Not everyone reviewing your work is a developer</a:t>
            </a:r>
          </a:p>
          <a:p>
            <a:r>
              <a:rPr lang="en-GB" dirty="0"/>
              <a:t>You may need to explain changes to</a:t>
            </a:r>
          </a:p>
          <a:p>
            <a:pPr lvl="1"/>
            <a:r>
              <a:rPr lang="en-GB" dirty="0"/>
              <a:t>Team members </a:t>
            </a:r>
          </a:p>
          <a:p>
            <a:pPr lvl="1"/>
            <a:r>
              <a:rPr lang="en-GB" dirty="0"/>
              <a:t>QA engineers </a:t>
            </a:r>
          </a:p>
          <a:p>
            <a:pPr lvl="1"/>
            <a:r>
              <a:rPr lang="en-GB" dirty="0"/>
              <a:t>Business Analysts </a:t>
            </a:r>
          </a:p>
          <a:p>
            <a:pPr lvl="1"/>
            <a:r>
              <a:rPr lang="en-GB" dirty="0"/>
              <a:t>Project Managers </a:t>
            </a:r>
          </a:p>
          <a:p>
            <a:pPr lvl="1"/>
            <a:r>
              <a:rPr lang="en-GB" dirty="0"/>
              <a:t>Customers </a:t>
            </a:r>
          </a:p>
          <a:p>
            <a:r>
              <a:rPr lang="en-GB" dirty="0"/>
              <a:t>Hands-on - Explain the changes you just made in three ways: (1) for a developer, (2) for a QA engineer, and (3) for a project manager. Keep each explanation under 100 words.</a:t>
            </a:r>
          </a:p>
        </p:txBody>
      </p:sp>
    </p:spTree>
    <p:extLst>
      <p:ext uri="{BB962C8B-B14F-4D97-AF65-F5344CB8AC3E}">
        <p14:creationId xmlns:p14="http://schemas.microsoft.com/office/powerpoint/2010/main" val="441135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EC07-F642-7537-59DB-907D49640C76}"/>
              </a:ext>
            </a:extLst>
          </p:cNvPr>
          <p:cNvSpPr>
            <a:spLocks noGrp="1"/>
          </p:cNvSpPr>
          <p:nvPr>
            <p:ph type="title"/>
          </p:nvPr>
        </p:nvSpPr>
        <p:spPr>
          <a:xfrm>
            <a:off x="838200" y="90743"/>
            <a:ext cx="10515600" cy="732915"/>
          </a:xfrm>
        </p:spPr>
        <p:txBody>
          <a:bodyPr/>
          <a:lstStyle/>
          <a:p>
            <a:r>
              <a:rPr lang="en-IN" dirty="0"/>
              <a:t>Role-based Examples</a:t>
            </a:r>
            <a:endParaRPr lang="en-GB" dirty="0"/>
          </a:p>
        </p:txBody>
      </p:sp>
      <p:sp>
        <p:nvSpPr>
          <p:cNvPr id="3" name="Content Placeholder 2">
            <a:extLst>
              <a:ext uri="{FF2B5EF4-FFF2-40B4-BE49-F238E27FC236}">
                <a16:creationId xmlns:a16="http://schemas.microsoft.com/office/drawing/2014/main" id="{C156957F-06D9-1591-E239-58139ADD514D}"/>
              </a:ext>
            </a:extLst>
          </p:cNvPr>
          <p:cNvSpPr>
            <a:spLocks noGrp="1"/>
          </p:cNvSpPr>
          <p:nvPr>
            <p:ph idx="1"/>
          </p:nvPr>
        </p:nvSpPr>
        <p:spPr>
          <a:xfrm>
            <a:off x="838200" y="879499"/>
            <a:ext cx="10515600" cy="5297464"/>
          </a:xfrm>
        </p:spPr>
        <p:txBody>
          <a:bodyPr>
            <a:normAutofit lnSpcReduction="10000"/>
          </a:bodyPr>
          <a:lstStyle/>
          <a:p>
            <a:r>
              <a:rPr lang="en-GB" dirty="0"/>
              <a:t>Different team members use Claude Code for different purposes</a:t>
            </a:r>
          </a:p>
          <a:p>
            <a:r>
              <a:rPr lang="en-GB" dirty="0"/>
              <a:t>The same project can be explored from multiple perspectives</a:t>
            </a:r>
          </a:p>
          <a:p>
            <a:endParaRPr lang="en-GB" dirty="0"/>
          </a:p>
          <a:p>
            <a:endParaRPr lang="en-GB" dirty="0"/>
          </a:p>
          <a:p>
            <a:endParaRPr lang="en-GB" dirty="0"/>
          </a:p>
          <a:p>
            <a:endParaRPr lang="en-GB" dirty="0"/>
          </a:p>
          <a:p>
            <a:r>
              <a:rPr lang="en-GB" dirty="0"/>
              <a:t>Hands-on</a:t>
            </a:r>
          </a:p>
          <a:p>
            <a:pPr lvl="1"/>
            <a:r>
              <a:rPr lang="en-GB" dirty="0"/>
              <a:t>Developer: Suggest how to add a search feature for notes. Don't write code yet.</a:t>
            </a:r>
          </a:p>
          <a:p>
            <a:pPr lvl="1"/>
            <a:r>
              <a:rPr lang="en-GB" dirty="0"/>
              <a:t>QA: Generate five manual test cases for the search feature.</a:t>
            </a:r>
          </a:p>
          <a:p>
            <a:pPr lvl="1"/>
            <a:r>
              <a:rPr lang="en-GB" dirty="0"/>
              <a:t>BA: Write user story and acceptance criteria for the search feature.</a:t>
            </a:r>
          </a:p>
          <a:p>
            <a:pPr lvl="1"/>
            <a:r>
              <a:rPr lang="en-GB" dirty="0"/>
              <a:t>PM: Summarize this feature for today's sprint review, including its purpose, benefits, and current implementation status.</a:t>
            </a:r>
          </a:p>
          <a:p>
            <a:endParaRPr lang="en-GB" dirty="0"/>
          </a:p>
        </p:txBody>
      </p:sp>
      <p:graphicFrame>
        <p:nvGraphicFramePr>
          <p:cNvPr id="4" name="Table 3">
            <a:extLst>
              <a:ext uri="{FF2B5EF4-FFF2-40B4-BE49-F238E27FC236}">
                <a16:creationId xmlns:a16="http://schemas.microsoft.com/office/drawing/2014/main" id="{43ED538B-BECF-868A-7F32-E1692EA19DA9}"/>
              </a:ext>
            </a:extLst>
          </p:cNvPr>
          <p:cNvGraphicFramePr>
            <a:graphicFrameLocks noGrp="1"/>
          </p:cNvGraphicFramePr>
          <p:nvPr>
            <p:extLst>
              <p:ext uri="{D42A27DB-BD31-4B8C-83A1-F6EECF244321}">
                <p14:modId xmlns:p14="http://schemas.microsoft.com/office/powerpoint/2010/main" val="1655347658"/>
              </p:ext>
            </p:extLst>
          </p:nvPr>
        </p:nvGraphicFramePr>
        <p:xfrm>
          <a:off x="838200" y="1784398"/>
          <a:ext cx="10515600" cy="1920240"/>
        </p:xfrm>
        <a:graphic>
          <a:graphicData uri="http://schemas.openxmlformats.org/drawingml/2006/table">
            <a:tbl>
              <a:tblPr firstRow="1">
                <a:tableStyleId>{72833802-FEF1-4C79-8D5D-14CF1EAF98D9}</a:tableStyleId>
              </a:tblPr>
              <a:tblGrid>
                <a:gridCol w="2644896">
                  <a:extLst>
                    <a:ext uri="{9D8B030D-6E8A-4147-A177-3AD203B41FA5}">
                      <a16:colId xmlns:a16="http://schemas.microsoft.com/office/drawing/2014/main" val="3585131479"/>
                    </a:ext>
                  </a:extLst>
                </a:gridCol>
                <a:gridCol w="7870704">
                  <a:extLst>
                    <a:ext uri="{9D8B030D-6E8A-4147-A177-3AD203B41FA5}">
                      <a16:colId xmlns:a16="http://schemas.microsoft.com/office/drawing/2014/main" val="2253681648"/>
                    </a:ext>
                  </a:extLst>
                </a:gridCol>
              </a:tblGrid>
              <a:tr h="0">
                <a:tc>
                  <a:txBody>
                    <a:bodyPr/>
                    <a:lstStyle/>
                    <a:p>
                      <a:pPr>
                        <a:buNone/>
                      </a:pPr>
                      <a:r>
                        <a:rPr lang="en-GB" sz="1600" b="1"/>
                        <a:t>Role</a:t>
                      </a:r>
                      <a:endParaRPr lang="en-GB"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600" b="1" dirty="0"/>
                        <a:t>Typical Tasks with Claude Code</a:t>
                      </a:r>
                      <a:endParaRPr lang="en-GB"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033697"/>
                  </a:ext>
                </a:extLst>
              </a:tr>
              <a:tr h="0">
                <a:tc>
                  <a:txBody>
                    <a:bodyPr/>
                    <a:lstStyle/>
                    <a:p>
                      <a:pPr>
                        <a:buNone/>
                      </a:pPr>
                      <a:r>
                        <a:rPr lang="en-GB" sz="1600" b="1"/>
                        <a:t>Developer</a:t>
                      </a:r>
                      <a:endParaRPr lang="en-GB"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600"/>
                        <a:t>Understand code, add features, fix bugs, refactor, generate tests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1545034"/>
                  </a:ext>
                </a:extLst>
              </a:tr>
              <a:tr h="0">
                <a:tc>
                  <a:txBody>
                    <a:bodyPr/>
                    <a:lstStyle/>
                    <a:p>
                      <a:pPr>
                        <a:buNone/>
                      </a:pPr>
                      <a:r>
                        <a:rPr lang="en-GB" sz="1600" b="1" dirty="0"/>
                        <a:t>QA Engineer</a:t>
                      </a:r>
                      <a:endParaRPr lang="en-GB"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600"/>
                        <a:t>Generate test cases, identify edge cases, review changes, investigate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722814"/>
                  </a:ext>
                </a:extLst>
              </a:tr>
              <a:tr h="0">
                <a:tc>
                  <a:txBody>
                    <a:bodyPr/>
                    <a:lstStyle/>
                    <a:p>
                      <a:pPr>
                        <a:buNone/>
                      </a:pPr>
                      <a:r>
                        <a:rPr lang="en-GB" sz="1600" b="1"/>
                        <a:t>Business Analyst (BA)</a:t>
                      </a:r>
                      <a:endParaRPr lang="en-GB"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600"/>
                        <a:t>Explain business logic, create user stories, generate acceptance criteria, document requirements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584721"/>
                  </a:ext>
                </a:extLst>
              </a:tr>
              <a:tr h="0">
                <a:tc>
                  <a:txBody>
                    <a:bodyPr/>
                    <a:lstStyle/>
                    <a:p>
                      <a:pPr>
                        <a:buNone/>
                      </a:pPr>
                      <a:r>
                        <a:rPr lang="en-GB" sz="1600" b="1"/>
                        <a:t>Project Manager (PM)</a:t>
                      </a:r>
                      <a:endParaRPr lang="en-GB"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600" dirty="0"/>
                        <a:t>Summarize project status, explain completed work, identify risks, prepare release 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2454997"/>
                  </a:ext>
                </a:extLst>
              </a:tr>
            </a:tbl>
          </a:graphicData>
        </a:graphic>
      </p:graphicFrame>
    </p:spTree>
    <p:extLst>
      <p:ext uri="{BB962C8B-B14F-4D97-AF65-F5344CB8AC3E}">
        <p14:creationId xmlns:p14="http://schemas.microsoft.com/office/powerpoint/2010/main" val="1191386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BDEAF7-8F7F-6C0C-80EF-E88CC4E60BE7}"/>
              </a:ext>
            </a:extLst>
          </p:cNvPr>
          <p:cNvSpPr>
            <a:spLocks noGrp="1"/>
          </p:cNvSpPr>
          <p:nvPr>
            <p:ph type="title"/>
          </p:nvPr>
        </p:nvSpPr>
        <p:spPr/>
        <p:txBody>
          <a:bodyPr/>
          <a:lstStyle/>
          <a:p>
            <a:r>
              <a:rPr lang="en-IN" dirty="0"/>
              <a:t>Part 4: Prompt Engineering for Software Teams</a:t>
            </a:r>
            <a:endParaRPr lang="en-GB" dirty="0"/>
          </a:p>
        </p:txBody>
      </p:sp>
      <p:sp>
        <p:nvSpPr>
          <p:cNvPr id="5" name="Text Placeholder 4">
            <a:extLst>
              <a:ext uri="{FF2B5EF4-FFF2-40B4-BE49-F238E27FC236}">
                <a16:creationId xmlns:a16="http://schemas.microsoft.com/office/drawing/2014/main" id="{22EA41F1-5884-02B9-CF8D-EB3152C4B29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105315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5752E-A775-6A9A-9343-BF9B8A678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ADF5F-62E8-F98D-D16A-0D0B47C82CAD}"/>
              </a:ext>
            </a:extLst>
          </p:cNvPr>
          <p:cNvSpPr>
            <a:spLocks noGrp="1"/>
          </p:cNvSpPr>
          <p:nvPr>
            <p:ph type="title"/>
          </p:nvPr>
        </p:nvSpPr>
        <p:spPr>
          <a:xfrm>
            <a:off x="838200" y="76783"/>
            <a:ext cx="10515600" cy="795736"/>
          </a:xfrm>
        </p:spPr>
        <p:txBody>
          <a:bodyPr/>
          <a:lstStyle/>
          <a:p>
            <a:r>
              <a:rPr lang="en-IN" dirty="0"/>
              <a:t>Weak versus Strong Prompts</a:t>
            </a:r>
            <a:endParaRPr lang="en-GB" dirty="0"/>
          </a:p>
        </p:txBody>
      </p:sp>
      <p:sp>
        <p:nvSpPr>
          <p:cNvPr id="3" name="Content Placeholder 2">
            <a:extLst>
              <a:ext uri="{FF2B5EF4-FFF2-40B4-BE49-F238E27FC236}">
                <a16:creationId xmlns:a16="http://schemas.microsoft.com/office/drawing/2014/main" id="{31B09700-C977-493F-C4D1-477B72BA9534}"/>
              </a:ext>
            </a:extLst>
          </p:cNvPr>
          <p:cNvSpPr>
            <a:spLocks noGrp="1"/>
          </p:cNvSpPr>
          <p:nvPr>
            <p:ph idx="1"/>
          </p:nvPr>
        </p:nvSpPr>
        <p:spPr>
          <a:xfrm>
            <a:off x="838200" y="872519"/>
            <a:ext cx="10515600" cy="5304444"/>
          </a:xfrm>
        </p:spPr>
        <p:txBody>
          <a:bodyPr>
            <a:normAutofit fontScale="92500" lnSpcReduction="10000"/>
          </a:bodyPr>
          <a:lstStyle/>
          <a:p>
            <a:r>
              <a:rPr lang="en-GB" dirty="0"/>
              <a:t>Claude Code responds based on the information you provide</a:t>
            </a:r>
          </a:p>
          <a:p>
            <a:r>
              <a:rPr lang="en-GB" dirty="0"/>
              <a:t>A vague prompt often produces a vague answer</a:t>
            </a:r>
          </a:p>
          <a:p>
            <a:r>
              <a:rPr lang="en-GB" dirty="0"/>
              <a:t>A clear, detailed prompt produces a more accurate and useful result</a:t>
            </a:r>
          </a:p>
          <a:p>
            <a:endParaRPr lang="en-GB" dirty="0"/>
          </a:p>
          <a:p>
            <a:endParaRPr lang="en-GB" dirty="0"/>
          </a:p>
          <a:p>
            <a:endParaRPr lang="en-GB" dirty="0"/>
          </a:p>
          <a:p>
            <a:endParaRPr lang="en-GB" dirty="0"/>
          </a:p>
          <a:p>
            <a:endParaRPr lang="en-GB" dirty="0"/>
          </a:p>
          <a:p>
            <a:r>
              <a:rPr lang="en-GB" dirty="0"/>
              <a:t>Hands-on</a:t>
            </a:r>
          </a:p>
          <a:p>
            <a:pPr lvl="1"/>
            <a:r>
              <a:rPr lang="en-GB" dirty="0"/>
              <a:t>Explain this project.</a:t>
            </a:r>
          </a:p>
          <a:p>
            <a:pPr lvl="1"/>
            <a:r>
              <a:rPr lang="en-GB" dirty="0"/>
              <a:t>Explain this Notes App project to a new team member. Describe its purpose, folder structure, main entry point, and how notes are created. Do not edit any files. Summarize your answer in five bullet points.</a:t>
            </a:r>
          </a:p>
          <a:p>
            <a:endParaRPr lang="en-GB" dirty="0"/>
          </a:p>
          <a:p>
            <a:endParaRPr lang="en-GB" dirty="0"/>
          </a:p>
        </p:txBody>
      </p:sp>
      <p:graphicFrame>
        <p:nvGraphicFramePr>
          <p:cNvPr id="4" name="Table 3">
            <a:extLst>
              <a:ext uri="{FF2B5EF4-FFF2-40B4-BE49-F238E27FC236}">
                <a16:creationId xmlns:a16="http://schemas.microsoft.com/office/drawing/2014/main" id="{7D47DEAE-0763-FFD2-04F2-E38451ED8567}"/>
              </a:ext>
            </a:extLst>
          </p:cNvPr>
          <p:cNvGraphicFramePr>
            <a:graphicFrameLocks noGrp="1"/>
          </p:cNvGraphicFramePr>
          <p:nvPr>
            <p:extLst>
              <p:ext uri="{D42A27DB-BD31-4B8C-83A1-F6EECF244321}">
                <p14:modId xmlns:p14="http://schemas.microsoft.com/office/powerpoint/2010/main" val="3019651436"/>
              </p:ext>
            </p:extLst>
          </p:nvPr>
        </p:nvGraphicFramePr>
        <p:xfrm>
          <a:off x="942903" y="2098869"/>
          <a:ext cx="10515600" cy="2377440"/>
        </p:xfrm>
        <a:graphic>
          <a:graphicData uri="http://schemas.openxmlformats.org/drawingml/2006/table">
            <a:tbl>
              <a:tblPr firstRow="1">
                <a:tableStyleId>{72833802-FEF1-4C79-8D5D-14CF1EAF98D9}</a:tableStyleId>
              </a:tblPr>
              <a:tblGrid>
                <a:gridCol w="3273110">
                  <a:extLst>
                    <a:ext uri="{9D8B030D-6E8A-4147-A177-3AD203B41FA5}">
                      <a16:colId xmlns:a16="http://schemas.microsoft.com/office/drawing/2014/main" val="2748280925"/>
                    </a:ext>
                  </a:extLst>
                </a:gridCol>
                <a:gridCol w="7242490">
                  <a:extLst>
                    <a:ext uri="{9D8B030D-6E8A-4147-A177-3AD203B41FA5}">
                      <a16:colId xmlns:a16="http://schemas.microsoft.com/office/drawing/2014/main" val="1807922352"/>
                    </a:ext>
                  </a:extLst>
                </a:gridCol>
              </a:tblGrid>
              <a:tr h="0">
                <a:tc>
                  <a:txBody>
                    <a:bodyPr/>
                    <a:lstStyle/>
                    <a:p>
                      <a:pPr>
                        <a:buNone/>
                      </a:pPr>
                      <a:r>
                        <a:rPr lang="en-GB" sz="1400" dirty="0"/>
                        <a:t>Weak Prompt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dirty="0"/>
                        <a:t>Strong Prompt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553999"/>
                  </a:ext>
                </a:extLst>
              </a:tr>
              <a:tr h="0">
                <a:tc>
                  <a:txBody>
                    <a:bodyPr/>
                    <a:lstStyle/>
                    <a:p>
                      <a:pPr>
                        <a:buNone/>
                      </a:pPr>
                      <a:r>
                        <a:rPr lang="en-GB" sz="1400" dirty="0"/>
                        <a:t>Fix this bug.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dirty="0"/>
                        <a:t>Review the login feature, identify the root cause of the bug, explain it first, then suggest the smallest possible fix. Do not modify any files until I approve.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1346697"/>
                  </a:ext>
                </a:extLst>
              </a:tr>
              <a:tr h="0">
                <a:tc>
                  <a:txBody>
                    <a:bodyPr/>
                    <a:lstStyle/>
                    <a:p>
                      <a:pPr>
                        <a:buNone/>
                      </a:pPr>
                      <a:r>
                        <a:rPr lang="en-GB" sz="1400"/>
                        <a:t>Explain this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a:t>Explain this file in simple language for someone new to Python. Summarize each major function in one sentence.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457864"/>
                  </a:ext>
                </a:extLst>
              </a:tr>
              <a:tr h="0">
                <a:tc>
                  <a:txBody>
                    <a:bodyPr/>
                    <a:lstStyle/>
                    <a:p>
                      <a:pPr>
                        <a:buNone/>
                      </a:pPr>
                      <a:r>
                        <a:rPr lang="en-GB" sz="1400"/>
                        <a:t>Add a 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a:t>Add a search feature for notes by title. Reuse the existing coding style and explain your implementation before making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2175668"/>
                  </a:ext>
                </a:extLst>
              </a:tr>
              <a:tr h="0">
                <a:tc>
                  <a:txBody>
                    <a:bodyPr/>
                    <a:lstStyle/>
                    <a:p>
                      <a:pPr>
                        <a:buNone/>
                      </a:pPr>
                      <a:r>
                        <a:rPr lang="en-GB" sz="1400"/>
                        <a:t>Test this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dirty="0"/>
                        <a:t>Generate five manual test cases covering normal, invalid, and edge-case scenarios for note creation.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287188"/>
                  </a:ext>
                </a:extLst>
              </a:tr>
            </a:tbl>
          </a:graphicData>
        </a:graphic>
      </p:graphicFrame>
    </p:spTree>
    <p:extLst>
      <p:ext uri="{BB962C8B-B14F-4D97-AF65-F5344CB8AC3E}">
        <p14:creationId xmlns:p14="http://schemas.microsoft.com/office/powerpoint/2010/main" val="255942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93AC-10B0-C50A-7163-A5D209763092}"/>
              </a:ext>
            </a:extLst>
          </p:cNvPr>
          <p:cNvSpPr>
            <a:spLocks noGrp="1"/>
          </p:cNvSpPr>
          <p:nvPr>
            <p:ph type="title"/>
          </p:nvPr>
        </p:nvSpPr>
        <p:spPr/>
        <p:txBody>
          <a:bodyPr/>
          <a:lstStyle/>
          <a:p>
            <a:r>
              <a:rPr lang="en-IN" dirty="0"/>
              <a:t>Context</a:t>
            </a:r>
            <a:endParaRPr lang="en-GB" dirty="0"/>
          </a:p>
        </p:txBody>
      </p:sp>
      <p:sp>
        <p:nvSpPr>
          <p:cNvPr id="3" name="Content Placeholder 2">
            <a:extLst>
              <a:ext uri="{FF2B5EF4-FFF2-40B4-BE49-F238E27FC236}">
                <a16:creationId xmlns:a16="http://schemas.microsoft.com/office/drawing/2014/main" id="{207E2668-B05A-F0E6-1468-7317F7BAD772}"/>
              </a:ext>
            </a:extLst>
          </p:cNvPr>
          <p:cNvSpPr>
            <a:spLocks noGrp="1"/>
          </p:cNvSpPr>
          <p:nvPr>
            <p:ph idx="1"/>
          </p:nvPr>
        </p:nvSpPr>
        <p:spPr/>
        <p:txBody>
          <a:bodyPr/>
          <a:lstStyle/>
          <a:p>
            <a:r>
              <a:rPr lang="en-GB" dirty="0"/>
              <a:t>Claude Code performs better when it understands what you are working on and why</a:t>
            </a:r>
          </a:p>
          <a:p>
            <a:r>
              <a:rPr lang="en-GB" dirty="0"/>
              <a:t>Without context, it has to make assumptions</a:t>
            </a:r>
          </a:p>
          <a:p>
            <a:r>
              <a:rPr lang="en-GB" dirty="0"/>
              <a:t>Hands-on</a:t>
            </a:r>
          </a:p>
          <a:p>
            <a:pPr lvl="1"/>
            <a:r>
              <a:rPr lang="en-GB" dirty="0"/>
              <a:t>Generate test cases</a:t>
            </a:r>
          </a:p>
          <a:p>
            <a:pPr lvl="1"/>
            <a:r>
              <a:rPr lang="en-GB" dirty="0"/>
              <a:t>For the Notes App project, generate manual test cases for the note deletion feature. Include normal scenarios, invalid inputs, edge cases, and expected results. Do not modify any code.</a:t>
            </a:r>
          </a:p>
          <a:p>
            <a:endParaRPr lang="en-GB" dirty="0"/>
          </a:p>
        </p:txBody>
      </p:sp>
    </p:spTree>
    <p:extLst>
      <p:ext uri="{BB962C8B-B14F-4D97-AF65-F5344CB8AC3E}">
        <p14:creationId xmlns:p14="http://schemas.microsoft.com/office/powerpoint/2010/main" val="31932992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80BB-313E-C4BB-DBFC-DCEB7F6AB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2DD7D-C8BD-FBA2-B83C-6306648AFB8C}"/>
              </a:ext>
            </a:extLst>
          </p:cNvPr>
          <p:cNvSpPr>
            <a:spLocks noGrp="1"/>
          </p:cNvSpPr>
          <p:nvPr>
            <p:ph type="title"/>
          </p:nvPr>
        </p:nvSpPr>
        <p:spPr/>
        <p:txBody>
          <a:bodyPr/>
          <a:lstStyle/>
          <a:p>
            <a:r>
              <a:rPr lang="en-IN" dirty="0"/>
              <a:t>Scope</a:t>
            </a:r>
            <a:endParaRPr lang="en-GB" dirty="0"/>
          </a:p>
        </p:txBody>
      </p:sp>
      <p:sp>
        <p:nvSpPr>
          <p:cNvPr id="3" name="Content Placeholder 2">
            <a:extLst>
              <a:ext uri="{FF2B5EF4-FFF2-40B4-BE49-F238E27FC236}">
                <a16:creationId xmlns:a16="http://schemas.microsoft.com/office/drawing/2014/main" id="{1CBFE0D3-DE2A-07F1-5634-BFC41E06115B}"/>
              </a:ext>
            </a:extLst>
          </p:cNvPr>
          <p:cNvSpPr>
            <a:spLocks noGrp="1"/>
          </p:cNvSpPr>
          <p:nvPr>
            <p:ph idx="1"/>
          </p:nvPr>
        </p:nvSpPr>
        <p:spPr/>
        <p:txBody>
          <a:bodyPr/>
          <a:lstStyle/>
          <a:p>
            <a:r>
              <a:rPr lang="en-GB" dirty="0"/>
              <a:t>Claude Code can work across an entire project—but it does not always need to</a:t>
            </a:r>
          </a:p>
          <a:p>
            <a:r>
              <a:rPr lang="en-GB" dirty="0"/>
              <a:t>Defining the scope helps it focus on exactly what you want, avoiding unnecessary changes or explanations</a:t>
            </a:r>
          </a:p>
          <a:p>
            <a:r>
              <a:rPr lang="en-GB" dirty="0"/>
              <a:t>Hands-on</a:t>
            </a:r>
          </a:p>
          <a:p>
            <a:pPr lvl="1"/>
            <a:r>
              <a:rPr lang="en-GB" dirty="0"/>
              <a:t>Improve this application.</a:t>
            </a:r>
          </a:p>
          <a:p>
            <a:pPr lvl="1"/>
            <a:r>
              <a:rPr lang="en-GB" dirty="0"/>
              <a:t>Review only the note editing feature. Suggest improvements to input validation without modifying any other part of the application. Explain your recommendations before making changes.</a:t>
            </a:r>
          </a:p>
        </p:txBody>
      </p:sp>
    </p:spTree>
    <p:extLst>
      <p:ext uri="{BB962C8B-B14F-4D97-AF65-F5344CB8AC3E}">
        <p14:creationId xmlns:p14="http://schemas.microsoft.com/office/powerpoint/2010/main" val="3931024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619F9-5D17-398F-4AA1-6804CBF09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502C2-8A22-DEF9-B06E-0BC3C01033FF}"/>
              </a:ext>
            </a:extLst>
          </p:cNvPr>
          <p:cNvSpPr>
            <a:spLocks noGrp="1"/>
          </p:cNvSpPr>
          <p:nvPr>
            <p:ph type="title"/>
          </p:nvPr>
        </p:nvSpPr>
        <p:spPr>
          <a:xfrm>
            <a:off x="838200" y="146584"/>
            <a:ext cx="10515600" cy="816678"/>
          </a:xfrm>
        </p:spPr>
        <p:txBody>
          <a:bodyPr/>
          <a:lstStyle/>
          <a:p>
            <a:r>
              <a:rPr lang="en-IN" dirty="0"/>
              <a:t>Constraints</a:t>
            </a:r>
            <a:endParaRPr lang="en-GB" dirty="0"/>
          </a:p>
        </p:txBody>
      </p:sp>
      <p:sp>
        <p:nvSpPr>
          <p:cNvPr id="3" name="Content Placeholder 2">
            <a:extLst>
              <a:ext uri="{FF2B5EF4-FFF2-40B4-BE49-F238E27FC236}">
                <a16:creationId xmlns:a16="http://schemas.microsoft.com/office/drawing/2014/main" id="{02D63CB6-3E68-8DA5-043C-A00B8727C4E8}"/>
              </a:ext>
            </a:extLst>
          </p:cNvPr>
          <p:cNvSpPr>
            <a:spLocks noGrp="1"/>
          </p:cNvSpPr>
          <p:nvPr>
            <p:ph idx="1"/>
          </p:nvPr>
        </p:nvSpPr>
        <p:spPr>
          <a:xfrm>
            <a:off x="838200" y="900440"/>
            <a:ext cx="10515600" cy="5276523"/>
          </a:xfrm>
        </p:spPr>
        <p:txBody>
          <a:bodyPr>
            <a:normAutofit fontScale="92500" lnSpcReduction="10000"/>
          </a:bodyPr>
          <a:lstStyle/>
          <a:p>
            <a:r>
              <a:rPr lang="en-GB" dirty="0"/>
              <a:t>Tell Claude Code what it should and should not do</a:t>
            </a:r>
          </a:p>
          <a:p>
            <a:r>
              <a:rPr lang="en-GB" dirty="0"/>
              <a:t>Help ensure the response matches your expectations and reduces unintended changes</a:t>
            </a:r>
          </a:p>
          <a:p>
            <a:endParaRPr lang="en-GB" dirty="0"/>
          </a:p>
          <a:p>
            <a:endParaRPr lang="en-GB" dirty="0"/>
          </a:p>
          <a:p>
            <a:endParaRPr lang="en-GB" dirty="0"/>
          </a:p>
          <a:p>
            <a:endParaRPr lang="en-GB" dirty="0"/>
          </a:p>
          <a:p>
            <a:endParaRPr lang="en-GB" dirty="0"/>
          </a:p>
          <a:p>
            <a:r>
              <a:rPr lang="en-GB" dirty="0"/>
              <a:t>Hands-on</a:t>
            </a:r>
          </a:p>
          <a:p>
            <a:pPr lvl="1"/>
            <a:r>
              <a:rPr lang="en-GB" dirty="0"/>
              <a:t>Improve the note creation feature.</a:t>
            </a:r>
          </a:p>
          <a:p>
            <a:pPr lvl="1"/>
            <a:r>
              <a:rPr lang="en-GB" dirty="0"/>
              <a:t>Improve the note creation feature. Explain your approach first, modify only the necessary files, follow the existing coding style, do not add new libraries, and do not run any commands without my approval.</a:t>
            </a:r>
          </a:p>
          <a:p>
            <a:endParaRPr lang="en-GB" dirty="0"/>
          </a:p>
          <a:p>
            <a:endParaRPr lang="en-GB" dirty="0"/>
          </a:p>
        </p:txBody>
      </p:sp>
      <p:graphicFrame>
        <p:nvGraphicFramePr>
          <p:cNvPr id="4" name="Table 3">
            <a:extLst>
              <a:ext uri="{FF2B5EF4-FFF2-40B4-BE49-F238E27FC236}">
                <a16:creationId xmlns:a16="http://schemas.microsoft.com/office/drawing/2014/main" id="{84958D85-B5DC-3960-FC98-B36D0CD6973C}"/>
              </a:ext>
            </a:extLst>
          </p:cNvPr>
          <p:cNvGraphicFramePr>
            <a:graphicFrameLocks noGrp="1"/>
          </p:cNvGraphicFramePr>
          <p:nvPr>
            <p:extLst>
              <p:ext uri="{D42A27DB-BD31-4B8C-83A1-F6EECF244321}">
                <p14:modId xmlns:p14="http://schemas.microsoft.com/office/powerpoint/2010/main" val="2432639031"/>
              </p:ext>
            </p:extLst>
          </p:nvPr>
        </p:nvGraphicFramePr>
        <p:xfrm>
          <a:off x="1166267" y="2092918"/>
          <a:ext cx="10515600" cy="2133600"/>
        </p:xfrm>
        <a:graphic>
          <a:graphicData uri="http://schemas.openxmlformats.org/drawingml/2006/table">
            <a:tbl>
              <a:tblPr firstRow="1">
                <a:tableStyleId>{72833802-FEF1-4C79-8D5D-14CF1EAF98D9}</a:tableStyleId>
              </a:tblPr>
              <a:tblGrid>
                <a:gridCol w="4759883">
                  <a:extLst>
                    <a:ext uri="{9D8B030D-6E8A-4147-A177-3AD203B41FA5}">
                      <a16:colId xmlns:a16="http://schemas.microsoft.com/office/drawing/2014/main" val="426336621"/>
                    </a:ext>
                  </a:extLst>
                </a:gridCol>
                <a:gridCol w="5755717">
                  <a:extLst>
                    <a:ext uri="{9D8B030D-6E8A-4147-A177-3AD203B41FA5}">
                      <a16:colId xmlns:a16="http://schemas.microsoft.com/office/drawing/2014/main" val="3700507575"/>
                    </a:ext>
                  </a:extLst>
                </a:gridCol>
              </a:tblGrid>
              <a:tr h="0">
                <a:tc>
                  <a:txBody>
                    <a:bodyPr/>
                    <a:lstStyle/>
                    <a:p>
                      <a:pPr>
                        <a:buNone/>
                      </a:pPr>
                      <a:r>
                        <a:rPr lang="en-GB" sz="1400"/>
                        <a:t>Constraint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8965022"/>
                  </a:ext>
                </a:extLst>
              </a:tr>
              <a:tr h="0">
                <a:tc>
                  <a:txBody>
                    <a:bodyPr/>
                    <a:lstStyle/>
                    <a:p>
                      <a:pPr>
                        <a:buNone/>
                      </a:pPr>
                      <a:r>
                        <a:rPr lang="en-GB" sz="1400"/>
                        <a:t>Do not edit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a:t>Safe exploration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6730559"/>
                  </a:ext>
                </a:extLst>
              </a:tr>
              <a:tr h="0">
                <a:tc>
                  <a:txBody>
                    <a:bodyPr/>
                    <a:lstStyle/>
                    <a:p>
                      <a:pPr>
                        <a:buNone/>
                      </a:pPr>
                      <a:r>
                        <a:rPr lang="en-GB" sz="1400"/>
                        <a:t>Explain before changing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dirty="0"/>
                        <a:t>Better understanding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9286836"/>
                  </a:ext>
                </a:extLst>
              </a:tr>
              <a:tr h="0">
                <a:tc>
                  <a:txBody>
                    <a:bodyPr/>
                    <a:lstStyle/>
                    <a:p>
                      <a:pPr>
                        <a:buNone/>
                      </a:pPr>
                      <a:r>
                        <a:rPr lang="en-GB" sz="1400"/>
                        <a:t>Modify only specific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a:t>Reduce unintended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747415"/>
                  </a:ext>
                </a:extLst>
              </a:tr>
              <a:tr h="0">
                <a:tc>
                  <a:txBody>
                    <a:bodyPr/>
                    <a:lstStyle/>
                    <a:p>
                      <a:pPr>
                        <a:buNone/>
                      </a:pPr>
                      <a:r>
                        <a:rPr lang="en-GB" sz="1400"/>
                        <a:t>Keep the solution simple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a:t>Easier 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10934"/>
                  </a:ext>
                </a:extLst>
              </a:tr>
              <a:tr h="0">
                <a:tc>
                  <a:txBody>
                    <a:bodyPr/>
                    <a:lstStyle/>
                    <a:p>
                      <a:pPr>
                        <a:buNone/>
                      </a:pPr>
                      <a:r>
                        <a:rPr lang="en-GB" sz="1400"/>
                        <a:t>Don't run commands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a:t>User approval required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3066902"/>
                  </a:ext>
                </a:extLst>
              </a:tr>
              <a:tr h="0">
                <a:tc>
                  <a:txBody>
                    <a:bodyPr/>
                    <a:lstStyle/>
                    <a:p>
                      <a:pPr>
                        <a:buNone/>
                      </a:pPr>
                      <a:r>
                        <a:rPr lang="en-GB" sz="1400"/>
                        <a:t>Follow existing coding style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400" dirty="0"/>
                        <a:t>Consistent codebase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7247886"/>
                  </a:ext>
                </a:extLst>
              </a:tr>
            </a:tbl>
          </a:graphicData>
        </a:graphic>
      </p:graphicFrame>
    </p:spTree>
    <p:extLst>
      <p:ext uri="{BB962C8B-B14F-4D97-AF65-F5344CB8AC3E}">
        <p14:creationId xmlns:p14="http://schemas.microsoft.com/office/powerpoint/2010/main" val="4156800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78979-B27E-1B6C-6997-BA6389DA519B}"/>
              </a:ext>
            </a:extLst>
          </p:cNvPr>
          <p:cNvSpPr>
            <a:spLocks noGrp="1"/>
          </p:cNvSpPr>
          <p:nvPr>
            <p:ph type="title"/>
          </p:nvPr>
        </p:nvSpPr>
        <p:spPr/>
        <p:txBody>
          <a:bodyPr/>
          <a:lstStyle/>
          <a:p>
            <a:r>
              <a:rPr lang="en-IN" dirty="0"/>
              <a:t>Verification</a:t>
            </a:r>
            <a:endParaRPr lang="en-GB" dirty="0"/>
          </a:p>
        </p:txBody>
      </p:sp>
      <p:sp>
        <p:nvSpPr>
          <p:cNvPr id="3" name="Content Placeholder 2">
            <a:extLst>
              <a:ext uri="{FF2B5EF4-FFF2-40B4-BE49-F238E27FC236}">
                <a16:creationId xmlns:a16="http://schemas.microsoft.com/office/drawing/2014/main" id="{A2F301F0-A067-E1A7-F2C5-0E5E07DF50E8}"/>
              </a:ext>
            </a:extLst>
          </p:cNvPr>
          <p:cNvSpPr>
            <a:spLocks noGrp="1"/>
          </p:cNvSpPr>
          <p:nvPr>
            <p:ph idx="1"/>
          </p:nvPr>
        </p:nvSpPr>
        <p:spPr/>
        <p:txBody>
          <a:bodyPr>
            <a:normAutofit lnSpcReduction="10000"/>
          </a:bodyPr>
          <a:lstStyle/>
          <a:p>
            <a:r>
              <a:rPr lang="en-GB" dirty="0"/>
              <a:t>Always verify that</a:t>
            </a:r>
          </a:p>
          <a:p>
            <a:pPr lvl="1"/>
            <a:r>
              <a:rPr lang="en-GB" dirty="0"/>
              <a:t>The requirement was met </a:t>
            </a:r>
          </a:p>
          <a:p>
            <a:pPr lvl="1"/>
            <a:r>
              <a:rPr lang="en-GB" dirty="0"/>
              <a:t>Only the intended changes were made </a:t>
            </a:r>
          </a:p>
          <a:p>
            <a:pPr lvl="1"/>
            <a:r>
              <a:rPr lang="en-GB" dirty="0"/>
              <a:t>No new problems were introduced </a:t>
            </a:r>
          </a:p>
          <a:p>
            <a:pPr lvl="1"/>
            <a:r>
              <a:rPr lang="en-GB" dirty="0"/>
              <a:t>The solution actually works </a:t>
            </a:r>
          </a:p>
          <a:p>
            <a:r>
              <a:rPr lang="en-GB" dirty="0"/>
              <a:t>Trust, but verify</a:t>
            </a:r>
          </a:p>
          <a:p>
            <a:r>
              <a:rPr lang="en-GB" dirty="0"/>
              <a:t>Hands-on</a:t>
            </a:r>
          </a:p>
          <a:p>
            <a:pPr lvl="1"/>
            <a:r>
              <a:rPr lang="en-GB" dirty="0"/>
              <a:t>Add a new feature: Let user sort notes by date and creation time</a:t>
            </a:r>
          </a:p>
          <a:p>
            <a:pPr lvl="1"/>
            <a:r>
              <a:rPr lang="en-GB" dirty="0"/>
              <a:t>Review the changes you just made. Verify that the requirement has been fully implemented, identify any assumptions or limitations, suggest additional tests, and tell me if there are any remaining risks."</a:t>
            </a:r>
          </a:p>
          <a:p>
            <a:endParaRPr lang="en-GB" dirty="0"/>
          </a:p>
        </p:txBody>
      </p:sp>
    </p:spTree>
    <p:extLst>
      <p:ext uri="{BB962C8B-B14F-4D97-AF65-F5344CB8AC3E}">
        <p14:creationId xmlns:p14="http://schemas.microsoft.com/office/powerpoint/2010/main" val="518934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BF0EE-EE38-E9A4-371F-D4849012FCC8}"/>
              </a:ext>
            </a:extLst>
          </p:cNvPr>
          <p:cNvSpPr>
            <a:spLocks noGrp="1"/>
          </p:cNvSpPr>
          <p:nvPr>
            <p:ph type="title"/>
          </p:nvPr>
        </p:nvSpPr>
        <p:spPr/>
        <p:txBody>
          <a:bodyPr/>
          <a:lstStyle/>
          <a:p>
            <a:r>
              <a:rPr lang="en-IN" dirty="0"/>
              <a:t>Planning Prompts</a:t>
            </a:r>
            <a:endParaRPr lang="en-GB" dirty="0"/>
          </a:p>
        </p:txBody>
      </p:sp>
      <p:sp>
        <p:nvSpPr>
          <p:cNvPr id="3" name="Content Placeholder 2">
            <a:extLst>
              <a:ext uri="{FF2B5EF4-FFF2-40B4-BE49-F238E27FC236}">
                <a16:creationId xmlns:a16="http://schemas.microsoft.com/office/drawing/2014/main" id="{0CD6030C-DAE7-9D6F-6854-9160704D6D3D}"/>
              </a:ext>
            </a:extLst>
          </p:cNvPr>
          <p:cNvSpPr>
            <a:spLocks noGrp="1"/>
          </p:cNvSpPr>
          <p:nvPr>
            <p:ph idx="1"/>
          </p:nvPr>
        </p:nvSpPr>
        <p:spPr/>
        <p:txBody>
          <a:bodyPr/>
          <a:lstStyle/>
          <a:p>
            <a:r>
              <a:rPr lang="en-GB" dirty="0"/>
              <a:t>Before writing code, ask Claude Code to think through the problem</a:t>
            </a:r>
          </a:p>
          <a:p>
            <a:r>
              <a:rPr lang="en-GB" dirty="0"/>
              <a:t>A planning prompt helps you understand:</a:t>
            </a:r>
          </a:p>
          <a:p>
            <a:pPr lvl="1"/>
            <a:r>
              <a:rPr lang="en-GB" dirty="0"/>
              <a:t>What needs to be done </a:t>
            </a:r>
          </a:p>
          <a:p>
            <a:pPr lvl="1"/>
            <a:r>
              <a:rPr lang="en-GB" dirty="0"/>
              <a:t>Which files are involved </a:t>
            </a:r>
          </a:p>
          <a:p>
            <a:pPr lvl="1"/>
            <a:r>
              <a:rPr lang="en-GB" dirty="0"/>
              <a:t>Possible implementation approaches </a:t>
            </a:r>
          </a:p>
          <a:p>
            <a:pPr lvl="1"/>
            <a:r>
              <a:rPr lang="en-GB" dirty="0"/>
              <a:t>Risks and dependencies</a:t>
            </a:r>
          </a:p>
          <a:p>
            <a:r>
              <a:rPr lang="en-GB" dirty="0"/>
              <a:t>Hands-on: We want to add categories to notes. Don't write any code. Create a step-by-step implementation plan, identify the files that will likely change, highlight risks and edge cases, and recommend the simplest approach.</a:t>
            </a:r>
          </a:p>
        </p:txBody>
      </p:sp>
    </p:spTree>
    <p:extLst>
      <p:ext uri="{BB962C8B-B14F-4D97-AF65-F5344CB8AC3E}">
        <p14:creationId xmlns:p14="http://schemas.microsoft.com/office/powerpoint/2010/main" val="31415131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B9507-932F-7190-D63A-FB11DE5DD1D6}"/>
              </a:ext>
            </a:extLst>
          </p:cNvPr>
          <p:cNvSpPr>
            <a:spLocks noGrp="1"/>
          </p:cNvSpPr>
          <p:nvPr>
            <p:ph type="title"/>
          </p:nvPr>
        </p:nvSpPr>
        <p:spPr/>
        <p:txBody>
          <a:bodyPr/>
          <a:lstStyle/>
          <a:p>
            <a:r>
              <a:rPr lang="en-IN" dirty="0"/>
              <a:t>Investigation Prompts</a:t>
            </a:r>
            <a:endParaRPr lang="en-GB" dirty="0"/>
          </a:p>
        </p:txBody>
      </p:sp>
      <p:sp>
        <p:nvSpPr>
          <p:cNvPr id="3" name="Content Placeholder 2">
            <a:extLst>
              <a:ext uri="{FF2B5EF4-FFF2-40B4-BE49-F238E27FC236}">
                <a16:creationId xmlns:a16="http://schemas.microsoft.com/office/drawing/2014/main" id="{86DE3817-2C6D-501E-61C7-3D6923231BE1}"/>
              </a:ext>
            </a:extLst>
          </p:cNvPr>
          <p:cNvSpPr>
            <a:spLocks noGrp="1"/>
          </p:cNvSpPr>
          <p:nvPr>
            <p:ph idx="1"/>
          </p:nvPr>
        </p:nvSpPr>
        <p:spPr/>
        <p:txBody>
          <a:bodyPr/>
          <a:lstStyle/>
          <a:p>
            <a:r>
              <a:rPr lang="en-GB" dirty="0"/>
              <a:t>Sometimes you do not need Claude Code to write code—you need it to investigate a problem</a:t>
            </a:r>
          </a:p>
          <a:p>
            <a:r>
              <a:rPr lang="en-GB" dirty="0"/>
              <a:t>Investigation prompts help you understand</a:t>
            </a:r>
          </a:p>
          <a:p>
            <a:pPr lvl="1"/>
            <a:r>
              <a:rPr lang="en-GB" dirty="0"/>
              <a:t>Why something is not working </a:t>
            </a:r>
          </a:p>
          <a:p>
            <a:pPr lvl="1"/>
            <a:r>
              <a:rPr lang="en-GB" dirty="0"/>
              <a:t>Where a feature is implemented </a:t>
            </a:r>
          </a:p>
          <a:p>
            <a:pPr lvl="1"/>
            <a:r>
              <a:rPr lang="en-GB" dirty="0"/>
              <a:t>What changed </a:t>
            </a:r>
          </a:p>
          <a:p>
            <a:pPr lvl="1"/>
            <a:r>
              <a:rPr lang="en-GB" dirty="0"/>
              <a:t>What might be causing a bug</a:t>
            </a:r>
          </a:p>
          <a:p>
            <a:r>
              <a:rPr lang="en-GB" dirty="0"/>
              <a:t>Hands-on: Sometimes a note is not saved even though the user clicks 'Save'. Investigate the possible causes. Identify the relevant files, explain where the problem might occur, and do not modify any code.</a:t>
            </a:r>
          </a:p>
        </p:txBody>
      </p:sp>
    </p:spTree>
    <p:extLst>
      <p:ext uri="{BB962C8B-B14F-4D97-AF65-F5344CB8AC3E}">
        <p14:creationId xmlns:p14="http://schemas.microsoft.com/office/powerpoint/2010/main" val="20393762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547C1-4A4F-E1F2-C9B2-CDD537A5D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8CF0D-98EC-6CB1-4E06-482B3A4C1AD6}"/>
              </a:ext>
            </a:extLst>
          </p:cNvPr>
          <p:cNvSpPr>
            <a:spLocks noGrp="1"/>
          </p:cNvSpPr>
          <p:nvPr>
            <p:ph type="title"/>
          </p:nvPr>
        </p:nvSpPr>
        <p:spPr/>
        <p:txBody>
          <a:bodyPr/>
          <a:lstStyle/>
          <a:p>
            <a:r>
              <a:rPr lang="en-IN" dirty="0"/>
              <a:t>Reporting Prompts</a:t>
            </a:r>
            <a:endParaRPr lang="en-GB" dirty="0"/>
          </a:p>
        </p:txBody>
      </p:sp>
      <p:sp>
        <p:nvSpPr>
          <p:cNvPr id="3" name="Content Placeholder 2">
            <a:extLst>
              <a:ext uri="{FF2B5EF4-FFF2-40B4-BE49-F238E27FC236}">
                <a16:creationId xmlns:a16="http://schemas.microsoft.com/office/drawing/2014/main" id="{A61D6BF1-5D86-4285-C013-D37CBD207F63}"/>
              </a:ext>
            </a:extLst>
          </p:cNvPr>
          <p:cNvSpPr>
            <a:spLocks noGrp="1"/>
          </p:cNvSpPr>
          <p:nvPr>
            <p:ph idx="1"/>
          </p:nvPr>
        </p:nvSpPr>
        <p:spPr/>
        <p:txBody>
          <a:bodyPr/>
          <a:lstStyle/>
          <a:p>
            <a:r>
              <a:rPr lang="en-GB" dirty="0"/>
              <a:t>Software teams regularly need reports for different stakeholders</a:t>
            </a:r>
          </a:p>
          <a:p>
            <a:r>
              <a:rPr lang="en-GB" dirty="0"/>
              <a:t>Claude Code can convert technical information into clear, audience-specific reports</a:t>
            </a:r>
          </a:p>
          <a:p>
            <a:r>
              <a:rPr lang="en-GB" dirty="0"/>
              <a:t>Hands-on: Imagine you are preparing today's sprint update for the Notes App project. Summarize the work completed, the current status, any known risks or blockers, and the next steps. </a:t>
            </a:r>
            <a:r>
              <a:rPr lang="en-GB"/>
              <a:t>Write it for a project manager in less than 150 words.</a:t>
            </a:r>
            <a:endParaRPr lang="en-GB" dirty="0"/>
          </a:p>
        </p:txBody>
      </p:sp>
    </p:spTree>
    <p:extLst>
      <p:ext uri="{BB962C8B-B14F-4D97-AF65-F5344CB8AC3E}">
        <p14:creationId xmlns:p14="http://schemas.microsoft.com/office/powerpoint/2010/main" val="2448578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74F9-6A98-60F4-AC72-33939482C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1904F-CBB2-D453-0525-F7F9B6EF9CD4}"/>
              </a:ext>
            </a:extLst>
          </p:cNvPr>
          <p:cNvSpPr>
            <a:spLocks noGrp="1"/>
          </p:cNvSpPr>
          <p:nvPr>
            <p:ph type="title"/>
          </p:nvPr>
        </p:nvSpPr>
        <p:spPr/>
        <p:txBody>
          <a:bodyPr/>
          <a:lstStyle/>
          <a:p>
            <a:r>
              <a:rPr lang="en-IN" dirty="0"/>
              <a:t>Use a Prompt Formula</a:t>
            </a:r>
            <a:endParaRPr lang="en-GB" dirty="0"/>
          </a:p>
        </p:txBody>
      </p:sp>
      <p:sp>
        <p:nvSpPr>
          <p:cNvPr id="3" name="Content Placeholder 2">
            <a:extLst>
              <a:ext uri="{FF2B5EF4-FFF2-40B4-BE49-F238E27FC236}">
                <a16:creationId xmlns:a16="http://schemas.microsoft.com/office/drawing/2014/main" id="{4D5840BB-AE43-2B8F-A59D-D3C78FC2CB66}"/>
              </a:ext>
            </a:extLst>
          </p:cNvPr>
          <p:cNvSpPr>
            <a:spLocks noGrp="1"/>
          </p:cNvSpPr>
          <p:nvPr>
            <p:ph idx="1"/>
          </p:nvPr>
        </p:nvSpPr>
        <p:spPr/>
        <p:txBody>
          <a:bodyPr/>
          <a:lstStyle/>
          <a:p>
            <a:r>
              <a:rPr lang="en-US" dirty="0"/>
              <a:t>Role-Task-Context-Output</a:t>
            </a:r>
          </a:p>
          <a:p>
            <a:pPr lvl="1"/>
            <a:r>
              <a:rPr lang="en-US" dirty="0"/>
              <a:t>Role: Tells Claude how to behave</a:t>
            </a:r>
          </a:p>
          <a:p>
            <a:pPr lvl="1"/>
            <a:r>
              <a:rPr lang="en-US" dirty="0"/>
              <a:t>Task: Tells Claude what to do.</a:t>
            </a:r>
          </a:p>
          <a:p>
            <a:pPr lvl="1"/>
            <a:r>
              <a:rPr lang="en-US" dirty="0"/>
              <a:t>Context: Gives Claude the information it needs</a:t>
            </a:r>
          </a:p>
          <a:p>
            <a:pPr lvl="1"/>
            <a:r>
              <a:rPr lang="en-US" dirty="0"/>
              <a:t>Output: Tells Claude how to present the answer</a:t>
            </a:r>
          </a:p>
          <a:p>
            <a:r>
              <a:rPr lang="en-US" dirty="0"/>
              <a:t>In coding, we should often add two more pieces</a:t>
            </a:r>
          </a:p>
          <a:p>
            <a:pPr lvl="1"/>
            <a:r>
              <a:rPr lang="en-US" dirty="0"/>
              <a:t>Limits: Tell Claude what not to do </a:t>
            </a:r>
          </a:p>
          <a:p>
            <a:pPr lvl="1"/>
            <a:r>
              <a:rPr lang="en-US" dirty="0"/>
              <a:t>Verification: Tells Claude how the result should be checked</a:t>
            </a:r>
            <a:endParaRPr lang="en-GB" dirty="0"/>
          </a:p>
        </p:txBody>
      </p:sp>
    </p:spTree>
    <p:extLst>
      <p:ext uri="{BB962C8B-B14F-4D97-AF65-F5344CB8AC3E}">
        <p14:creationId xmlns:p14="http://schemas.microsoft.com/office/powerpoint/2010/main" val="2731444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55C867-9672-1E81-C74C-A36E10CA3F87}"/>
              </a:ext>
            </a:extLst>
          </p:cNvPr>
          <p:cNvSpPr>
            <a:spLocks noGrp="1"/>
          </p:cNvSpPr>
          <p:nvPr>
            <p:ph type="title"/>
          </p:nvPr>
        </p:nvSpPr>
        <p:spPr/>
        <p:txBody>
          <a:bodyPr/>
          <a:lstStyle/>
          <a:p>
            <a:r>
              <a:rPr lang="en-IN" dirty="0"/>
              <a:t>Part 5: Building a Real Estate CRM using Claude Code</a:t>
            </a:r>
            <a:endParaRPr lang="en-GB" dirty="0"/>
          </a:p>
        </p:txBody>
      </p:sp>
      <p:sp>
        <p:nvSpPr>
          <p:cNvPr id="5" name="Text Placeholder 4">
            <a:extLst>
              <a:ext uri="{FF2B5EF4-FFF2-40B4-BE49-F238E27FC236}">
                <a16:creationId xmlns:a16="http://schemas.microsoft.com/office/drawing/2014/main" id="{7868355D-5AE7-36D0-8166-B67C702FE28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1529913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606E8-E46F-1FC9-8549-58852CCDAFCE}"/>
              </a:ext>
            </a:extLst>
          </p:cNvPr>
          <p:cNvSpPr>
            <a:spLocks noGrp="1"/>
          </p:cNvSpPr>
          <p:nvPr>
            <p:ph type="title"/>
          </p:nvPr>
        </p:nvSpPr>
        <p:spPr/>
        <p:txBody>
          <a:bodyPr/>
          <a:lstStyle/>
          <a:p>
            <a:r>
              <a:rPr lang="en-IN" dirty="0"/>
              <a:t>Stage 1: Understand the Requirements</a:t>
            </a:r>
            <a:endParaRPr lang="en-GB" dirty="0"/>
          </a:p>
        </p:txBody>
      </p:sp>
      <p:sp>
        <p:nvSpPr>
          <p:cNvPr id="3" name="Content Placeholder 2">
            <a:extLst>
              <a:ext uri="{FF2B5EF4-FFF2-40B4-BE49-F238E27FC236}">
                <a16:creationId xmlns:a16="http://schemas.microsoft.com/office/drawing/2014/main" id="{E3F7C7FE-4E61-656D-B03B-2A4BF932297A}"/>
              </a:ext>
            </a:extLst>
          </p:cNvPr>
          <p:cNvSpPr>
            <a:spLocks noGrp="1"/>
          </p:cNvSpPr>
          <p:nvPr>
            <p:ph idx="1"/>
          </p:nvPr>
        </p:nvSpPr>
        <p:spPr/>
        <p:txBody>
          <a:bodyPr>
            <a:normAutofit fontScale="92500" lnSpcReduction="10000"/>
          </a:bodyPr>
          <a:lstStyle/>
          <a:p>
            <a:r>
              <a:rPr lang="en-IN" dirty="0"/>
              <a:t>Create a new project and upload file C:\lectures\Others\Edureka\Claude-Code\claude-projects\real_estate_CRM\</a:t>
            </a:r>
            <a:r>
              <a:rPr lang="en-US" dirty="0"/>
              <a:t>Indian_Real_Estate_Developer_CRM_Specification.pdf</a:t>
            </a:r>
          </a:p>
          <a:p>
            <a:r>
              <a:rPr lang="en-US" dirty="0"/>
              <a:t>Ask Claude</a:t>
            </a:r>
          </a:p>
          <a:p>
            <a:pPr lvl="1"/>
            <a:r>
              <a:rPr lang="en-GB" dirty="0"/>
              <a:t>Summarize the project </a:t>
            </a:r>
          </a:p>
          <a:p>
            <a:pPr lvl="1"/>
            <a:r>
              <a:rPr lang="en-GB" dirty="0"/>
              <a:t>Identify actors </a:t>
            </a:r>
          </a:p>
          <a:p>
            <a:pPr lvl="1"/>
            <a:r>
              <a:rPr lang="en-GB" dirty="0"/>
              <a:t>List major modules </a:t>
            </a:r>
          </a:p>
          <a:p>
            <a:pPr lvl="1"/>
            <a:r>
              <a:rPr lang="en-GB" dirty="0"/>
              <a:t>Explain business workflow </a:t>
            </a:r>
          </a:p>
          <a:p>
            <a:pPr lvl="1"/>
            <a:r>
              <a:rPr lang="en-GB" dirty="0"/>
              <a:t>Identify functional and non-functional requirements </a:t>
            </a:r>
          </a:p>
          <a:p>
            <a:pPr lvl="1"/>
            <a:r>
              <a:rPr lang="en-GB" dirty="0"/>
              <a:t>Highlight ambiguities </a:t>
            </a:r>
          </a:p>
          <a:p>
            <a:pPr lvl="1"/>
            <a:r>
              <a:rPr lang="en-GB" dirty="0"/>
              <a:t>Suggest questions for stakeholders</a:t>
            </a:r>
          </a:p>
        </p:txBody>
      </p:sp>
    </p:spTree>
    <p:extLst>
      <p:ext uri="{BB962C8B-B14F-4D97-AF65-F5344CB8AC3E}">
        <p14:creationId xmlns:p14="http://schemas.microsoft.com/office/powerpoint/2010/main" val="33653263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55B3B-6118-BEA8-B96B-FC7D83281A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56796-417C-5D50-D1DC-D951063D4BFC}"/>
              </a:ext>
            </a:extLst>
          </p:cNvPr>
          <p:cNvSpPr>
            <a:spLocks noGrp="1"/>
          </p:cNvSpPr>
          <p:nvPr>
            <p:ph type="title"/>
          </p:nvPr>
        </p:nvSpPr>
        <p:spPr/>
        <p:txBody>
          <a:bodyPr/>
          <a:lstStyle/>
          <a:p>
            <a:r>
              <a:rPr lang="en-IN" dirty="0"/>
              <a:t>Stage 2: Plan the Project</a:t>
            </a:r>
            <a:endParaRPr lang="en-GB" dirty="0"/>
          </a:p>
        </p:txBody>
      </p:sp>
      <p:sp>
        <p:nvSpPr>
          <p:cNvPr id="3" name="Content Placeholder 2">
            <a:extLst>
              <a:ext uri="{FF2B5EF4-FFF2-40B4-BE49-F238E27FC236}">
                <a16:creationId xmlns:a16="http://schemas.microsoft.com/office/drawing/2014/main" id="{E8258E50-DE3C-26AE-C7D7-960D1D024533}"/>
              </a:ext>
            </a:extLst>
          </p:cNvPr>
          <p:cNvSpPr>
            <a:spLocks noGrp="1"/>
          </p:cNvSpPr>
          <p:nvPr>
            <p:ph idx="1"/>
          </p:nvPr>
        </p:nvSpPr>
        <p:spPr/>
        <p:txBody>
          <a:bodyPr>
            <a:normAutofit/>
          </a:bodyPr>
          <a:lstStyle/>
          <a:p>
            <a:r>
              <a:rPr lang="en-IN" dirty="0"/>
              <a:t>Ask Claude Code: Plan the project</a:t>
            </a:r>
          </a:p>
          <a:p>
            <a:r>
              <a:rPr lang="en-GB" dirty="0"/>
              <a:t>Claude Code might generate</a:t>
            </a:r>
          </a:p>
          <a:p>
            <a:pPr lvl="1"/>
            <a:r>
              <a:rPr lang="en-GB" dirty="0"/>
              <a:t>Folder structure </a:t>
            </a:r>
          </a:p>
          <a:p>
            <a:pPr lvl="1"/>
            <a:r>
              <a:rPr lang="en-GB" dirty="0"/>
              <a:t>Technology stack </a:t>
            </a:r>
          </a:p>
          <a:p>
            <a:pPr lvl="1"/>
            <a:r>
              <a:rPr lang="en-GB" dirty="0"/>
              <a:t>Database selection </a:t>
            </a:r>
          </a:p>
          <a:p>
            <a:pPr lvl="1"/>
            <a:r>
              <a:rPr lang="en-GB" dirty="0"/>
              <a:t>Architecture </a:t>
            </a:r>
          </a:p>
          <a:p>
            <a:pPr lvl="1"/>
            <a:r>
              <a:rPr lang="en-GB" dirty="0"/>
              <a:t>APIs required </a:t>
            </a:r>
          </a:p>
          <a:p>
            <a:pPr lvl="1"/>
            <a:r>
              <a:rPr lang="en-GB" dirty="0"/>
              <a:t>Sprint breakdown </a:t>
            </a:r>
          </a:p>
          <a:p>
            <a:pPr lvl="1"/>
            <a:r>
              <a:rPr lang="en-GB" dirty="0"/>
              <a:t>Development roadmap</a:t>
            </a:r>
          </a:p>
          <a:p>
            <a:endParaRPr lang="en-GB" dirty="0"/>
          </a:p>
        </p:txBody>
      </p:sp>
    </p:spTree>
    <p:extLst>
      <p:ext uri="{BB962C8B-B14F-4D97-AF65-F5344CB8AC3E}">
        <p14:creationId xmlns:p14="http://schemas.microsoft.com/office/powerpoint/2010/main" val="1314939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A13F3-7012-D073-5F62-11F1F4269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66ECD-632B-BF35-6CD8-9F7EE130AA5F}"/>
              </a:ext>
            </a:extLst>
          </p:cNvPr>
          <p:cNvSpPr>
            <a:spLocks noGrp="1"/>
          </p:cNvSpPr>
          <p:nvPr>
            <p:ph type="title"/>
          </p:nvPr>
        </p:nvSpPr>
        <p:spPr/>
        <p:txBody>
          <a:bodyPr/>
          <a:lstStyle/>
          <a:p>
            <a:r>
              <a:rPr lang="en-IN" dirty="0"/>
              <a:t>Stage 3: Create the Project</a:t>
            </a:r>
            <a:endParaRPr lang="en-GB" dirty="0"/>
          </a:p>
        </p:txBody>
      </p:sp>
      <p:sp>
        <p:nvSpPr>
          <p:cNvPr id="3" name="Content Placeholder 2">
            <a:extLst>
              <a:ext uri="{FF2B5EF4-FFF2-40B4-BE49-F238E27FC236}">
                <a16:creationId xmlns:a16="http://schemas.microsoft.com/office/drawing/2014/main" id="{425FED39-42AC-436D-6C1C-E6A82E2B047D}"/>
              </a:ext>
            </a:extLst>
          </p:cNvPr>
          <p:cNvSpPr>
            <a:spLocks noGrp="1"/>
          </p:cNvSpPr>
          <p:nvPr>
            <p:ph idx="1"/>
          </p:nvPr>
        </p:nvSpPr>
        <p:spPr/>
        <p:txBody>
          <a:bodyPr>
            <a:normAutofit/>
          </a:bodyPr>
          <a:lstStyle/>
          <a:p>
            <a:r>
              <a:rPr lang="en-IN" dirty="0"/>
              <a:t>Ask Claude Code: Create the initial project structure</a:t>
            </a:r>
          </a:p>
          <a:p>
            <a:r>
              <a:rPr lang="en-GB" dirty="0"/>
              <a:t>Claude Code might generate</a:t>
            </a:r>
          </a:p>
          <a:p>
            <a:pPr lvl="1"/>
            <a:r>
              <a:rPr lang="en-US" dirty="0"/>
              <a:t>real-estate-</a:t>
            </a:r>
            <a:r>
              <a:rPr lang="en-US" dirty="0" err="1"/>
              <a:t>crm</a:t>
            </a:r>
            <a:r>
              <a:rPr lang="en-US" dirty="0"/>
              <a:t>/</a:t>
            </a:r>
          </a:p>
          <a:p>
            <a:pPr lvl="1"/>
            <a:r>
              <a:rPr lang="en-US" dirty="0"/>
              <a:t>frontend/</a:t>
            </a:r>
          </a:p>
          <a:p>
            <a:pPr lvl="1"/>
            <a:r>
              <a:rPr lang="en-US" dirty="0"/>
              <a:t>backend/</a:t>
            </a:r>
          </a:p>
          <a:p>
            <a:pPr lvl="1"/>
            <a:r>
              <a:rPr lang="en-US" dirty="0"/>
              <a:t>database/</a:t>
            </a:r>
          </a:p>
          <a:p>
            <a:pPr lvl="1"/>
            <a:r>
              <a:rPr lang="en-US" dirty="0"/>
              <a:t>tests/</a:t>
            </a:r>
          </a:p>
          <a:p>
            <a:pPr lvl="1"/>
            <a:r>
              <a:rPr lang="en-US" dirty="0"/>
              <a:t>docs/</a:t>
            </a:r>
          </a:p>
          <a:p>
            <a:pPr lvl="1"/>
            <a:r>
              <a:rPr lang="en-US" dirty="0"/>
              <a:t>README.md</a:t>
            </a:r>
          </a:p>
          <a:p>
            <a:pPr lvl="1"/>
            <a:r>
              <a:rPr lang="en-US" dirty="0"/>
              <a:t>docker-</a:t>
            </a:r>
            <a:r>
              <a:rPr lang="en-US" dirty="0" err="1"/>
              <a:t>compose.yml</a:t>
            </a:r>
            <a:endParaRPr lang="en-GB" dirty="0"/>
          </a:p>
        </p:txBody>
      </p:sp>
    </p:spTree>
    <p:extLst>
      <p:ext uri="{BB962C8B-B14F-4D97-AF65-F5344CB8AC3E}">
        <p14:creationId xmlns:p14="http://schemas.microsoft.com/office/powerpoint/2010/main" val="29078016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D1D01-4306-AC6C-9699-BAFD72CD8AF9}"/>
              </a:ext>
            </a:extLst>
          </p:cNvPr>
          <p:cNvSpPr>
            <a:spLocks noGrp="1"/>
          </p:cNvSpPr>
          <p:nvPr>
            <p:ph type="title"/>
          </p:nvPr>
        </p:nvSpPr>
        <p:spPr/>
        <p:txBody>
          <a:bodyPr/>
          <a:lstStyle/>
          <a:p>
            <a:r>
              <a:rPr lang="en-IN" dirty="0"/>
              <a:t>Stage 4: Database Design</a:t>
            </a:r>
            <a:endParaRPr lang="en-GB" dirty="0"/>
          </a:p>
        </p:txBody>
      </p:sp>
      <p:sp>
        <p:nvSpPr>
          <p:cNvPr id="3" name="Content Placeholder 2">
            <a:extLst>
              <a:ext uri="{FF2B5EF4-FFF2-40B4-BE49-F238E27FC236}">
                <a16:creationId xmlns:a16="http://schemas.microsoft.com/office/drawing/2014/main" id="{72509C53-2F33-D152-12D5-6CB112E9399F}"/>
              </a:ext>
            </a:extLst>
          </p:cNvPr>
          <p:cNvSpPr>
            <a:spLocks noGrp="1"/>
          </p:cNvSpPr>
          <p:nvPr>
            <p:ph idx="1"/>
          </p:nvPr>
        </p:nvSpPr>
        <p:spPr/>
        <p:txBody>
          <a:bodyPr>
            <a:normAutofit lnSpcReduction="10000"/>
          </a:bodyPr>
          <a:lstStyle/>
          <a:p>
            <a:r>
              <a:rPr lang="en-IN" dirty="0"/>
              <a:t>Ask Claude: </a:t>
            </a:r>
            <a:r>
              <a:rPr lang="en-GB" dirty="0"/>
              <a:t>Design the database for this CRM</a:t>
            </a:r>
          </a:p>
          <a:p>
            <a:r>
              <a:rPr lang="en-GB" dirty="0"/>
              <a:t>Claude might create</a:t>
            </a:r>
          </a:p>
          <a:p>
            <a:pPr lvl="1"/>
            <a:r>
              <a:rPr lang="en-GB" dirty="0"/>
              <a:t>Customers </a:t>
            </a:r>
          </a:p>
          <a:p>
            <a:pPr lvl="1"/>
            <a:r>
              <a:rPr lang="en-GB" dirty="0"/>
              <a:t>Leads </a:t>
            </a:r>
          </a:p>
          <a:p>
            <a:pPr lvl="1"/>
            <a:r>
              <a:rPr lang="en-GB" dirty="0"/>
              <a:t>Properties </a:t>
            </a:r>
          </a:p>
          <a:p>
            <a:pPr lvl="1"/>
            <a:r>
              <a:rPr lang="en-GB" dirty="0"/>
              <a:t>Agents </a:t>
            </a:r>
          </a:p>
          <a:p>
            <a:pPr lvl="1"/>
            <a:r>
              <a:rPr lang="en-GB" dirty="0"/>
              <a:t>Visits </a:t>
            </a:r>
          </a:p>
          <a:p>
            <a:pPr lvl="1"/>
            <a:r>
              <a:rPr lang="en-GB" dirty="0"/>
              <a:t>Bookings </a:t>
            </a:r>
          </a:p>
          <a:p>
            <a:pPr lvl="1"/>
            <a:r>
              <a:rPr lang="en-GB" dirty="0"/>
              <a:t>Payments </a:t>
            </a:r>
          </a:p>
          <a:p>
            <a:pPr lvl="1"/>
            <a:r>
              <a:rPr lang="en-GB" dirty="0"/>
              <a:t>Documents </a:t>
            </a:r>
          </a:p>
          <a:p>
            <a:pPr lvl="1"/>
            <a:r>
              <a:rPr lang="en-GB" dirty="0"/>
              <a:t>Follow-ups</a:t>
            </a:r>
          </a:p>
        </p:txBody>
      </p:sp>
    </p:spTree>
    <p:extLst>
      <p:ext uri="{BB962C8B-B14F-4D97-AF65-F5344CB8AC3E}">
        <p14:creationId xmlns:p14="http://schemas.microsoft.com/office/powerpoint/2010/main" val="2046324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44FBC-1B96-B1D9-BE0D-35C1BCD59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C17D4-0EDF-0037-4930-98944EF11197}"/>
              </a:ext>
            </a:extLst>
          </p:cNvPr>
          <p:cNvSpPr>
            <a:spLocks noGrp="1"/>
          </p:cNvSpPr>
          <p:nvPr>
            <p:ph type="title"/>
          </p:nvPr>
        </p:nvSpPr>
        <p:spPr/>
        <p:txBody>
          <a:bodyPr/>
          <a:lstStyle/>
          <a:p>
            <a:r>
              <a:rPr lang="en-IN" dirty="0"/>
              <a:t>Stage 5: Build the First Feature</a:t>
            </a:r>
            <a:endParaRPr lang="en-GB" dirty="0"/>
          </a:p>
        </p:txBody>
      </p:sp>
      <p:sp>
        <p:nvSpPr>
          <p:cNvPr id="3" name="Content Placeholder 2">
            <a:extLst>
              <a:ext uri="{FF2B5EF4-FFF2-40B4-BE49-F238E27FC236}">
                <a16:creationId xmlns:a16="http://schemas.microsoft.com/office/drawing/2014/main" id="{4F9AA2C0-DE51-DD2C-0680-A5FFAB2D4E88}"/>
              </a:ext>
            </a:extLst>
          </p:cNvPr>
          <p:cNvSpPr>
            <a:spLocks noGrp="1"/>
          </p:cNvSpPr>
          <p:nvPr>
            <p:ph idx="1"/>
          </p:nvPr>
        </p:nvSpPr>
        <p:spPr/>
        <p:txBody>
          <a:bodyPr>
            <a:normAutofit/>
          </a:bodyPr>
          <a:lstStyle/>
          <a:p>
            <a:r>
              <a:rPr lang="en-IN" dirty="0"/>
              <a:t>Ask Claude: </a:t>
            </a:r>
            <a:r>
              <a:rPr lang="en-GB" dirty="0"/>
              <a:t>Build Lead Management</a:t>
            </a:r>
          </a:p>
          <a:p>
            <a:r>
              <a:rPr lang="en-GB" dirty="0"/>
              <a:t>Claude might create</a:t>
            </a:r>
          </a:p>
          <a:p>
            <a:pPr lvl="1"/>
            <a:r>
              <a:rPr lang="en-GB" dirty="0"/>
              <a:t>models </a:t>
            </a:r>
          </a:p>
          <a:p>
            <a:pPr lvl="1"/>
            <a:r>
              <a:rPr lang="en-GB" dirty="0"/>
              <a:t>REST APIs </a:t>
            </a:r>
          </a:p>
          <a:p>
            <a:pPr lvl="1"/>
            <a:r>
              <a:rPr lang="en-GB" dirty="0"/>
              <a:t>validation </a:t>
            </a:r>
          </a:p>
          <a:p>
            <a:pPr lvl="1"/>
            <a:r>
              <a:rPr lang="en-GB" dirty="0"/>
              <a:t>frontend  page </a:t>
            </a:r>
          </a:p>
          <a:p>
            <a:pPr lvl="1"/>
            <a:r>
              <a:rPr lang="en-GB" dirty="0"/>
              <a:t>search </a:t>
            </a:r>
          </a:p>
          <a:p>
            <a:pPr lvl="1"/>
            <a:r>
              <a:rPr lang="en-GB" dirty="0"/>
              <a:t>pagination</a:t>
            </a:r>
          </a:p>
          <a:p>
            <a:r>
              <a:rPr lang="en-GB" dirty="0"/>
              <a:t>Try it out</a:t>
            </a:r>
          </a:p>
        </p:txBody>
      </p:sp>
    </p:spTree>
    <p:extLst>
      <p:ext uri="{BB962C8B-B14F-4D97-AF65-F5344CB8AC3E}">
        <p14:creationId xmlns:p14="http://schemas.microsoft.com/office/powerpoint/2010/main" val="28083440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1F5B6-4F89-298F-97F4-D76DE9D22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C6130F-AF6B-C40C-D2BF-0F86529A0E76}"/>
              </a:ext>
            </a:extLst>
          </p:cNvPr>
          <p:cNvSpPr>
            <a:spLocks noGrp="1"/>
          </p:cNvSpPr>
          <p:nvPr>
            <p:ph type="title"/>
          </p:nvPr>
        </p:nvSpPr>
        <p:spPr/>
        <p:txBody>
          <a:bodyPr/>
          <a:lstStyle/>
          <a:p>
            <a:r>
              <a:rPr lang="en-IN" dirty="0"/>
              <a:t>Stage 6: QA with Claude Code</a:t>
            </a:r>
            <a:endParaRPr lang="en-GB" dirty="0"/>
          </a:p>
        </p:txBody>
      </p:sp>
      <p:sp>
        <p:nvSpPr>
          <p:cNvPr id="3" name="Content Placeholder 2">
            <a:extLst>
              <a:ext uri="{FF2B5EF4-FFF2-40B4-BE49-F238E27FC236}">
                <a16:creationId xmlns:a16="http://schemas.microsoft.com/office/drawing/2014/main" id="{C12D26B3-8C51-63EA-E44B-1443747CD21A}"/>
              </a:ext>
            </a:extLst>
          </p:cNvPr>
          <p:cNvSpPr>
            <a:spLocks noGrp="1"/>
          </p:cNvSpPr>
          <p:nvPr>
            <p:ph idx="1"/>
          </p:nvPr>
        </p:nvSpPr>
        <p:spPr/>
        <p:txBody>
          <a:bodyPr>
            <a:normAutofit/>
          </a:bodyPr>
          <a:lstStyle/>
          <a:p>
            <a:r>
              <a:rPr lang="en-IN" dirty="0"/>
              <a:t>Ask Claude: </a:t>
            </a:r>
            <a:r>
              <a:rPr lang="en-GB" dirty="0"/>
              <a:t>Test the Lead Management module</a:t>
            </a:r>
          </a:p>
          <a:p>
            <a:r>
              <a:rPr lang="en-GB" dirty="0"/>
              <a:t>Claude might create</a:t>
            </a:r>
          </a:p>
          <a:p>
            <a:pPr lvl="1"/>
            <a:r>
              <a:rPr lang="en-GB" dirty="0"/>
              <a:t>Unit tests </a:t>
            </a:r>
          </a:p>
          <a:p>
            <a:pPr lvl="1"/>
            <a:r>
              <a:rPr lang="en-GB" dirty="0"/>
              <a:t>Integration tests </a:t>
            </a:r>
          </a:p>
          <a:p>
            <a:pPr lvl="1"/>
            <a:r>
              <a:rPr lang="en-GB" dirty="0"/>
              <a:t>API tests </a:t>
            </a:r>
          </a:p>
          <a:p>
            <a:pPr lvl="1"/>
            <a:r>
              <a:rPr lang="en-GB" dirty="0"/>
              <a:t>Boundary tests </a:t>
            </a:r>
          </a:p>
          <a:p>
            <a:pPr lvl="1"/>
            <a:r>
              <a:rPr lang="en-GB" dirty="0"/>
              <a:t>Invalid input tests </a:t>
            </a:r>
          </a:p>
          <a:p>
            <a:pPr lvl="1"/>
            <a:r>
              <a:rPr lang="en-GB" dirty="0"/>
              <a:t>Manual test cases</a:t>
            </a:r>
          </a:p>
          <a:p>
            <a:r>
              <a:rPr lang="en-GB" dirty="0"/>
              <a:t>Then ask: What bugs are likely?</a:t>
            </a:r>
          </a:p>
        </p:txBody>
      </p:sp>
    </p:spTree>
    <p:extLst>
      <p:ext uri="{BB962C8B-B14F-4D97-AF65-F5344CB8AC3E}">
        <p14:creationId xmlns:p14="http://schemas.microsoft.com/office/powerpoint/2010/main" val="26039777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D934-80F1-DB70-9010-29FBE5914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EBEBE-03FD-8055-3DB7-48FB2E4D8782}"/>
              </a:ext>
            </a:extLst>
          </p:cNvPr>
          <p:cNvSpPr>
            <a:spLocks noGrp="1"/>
          </p:cNvSpPr>
          <p:nvPr>
            <p:ph type="title"/>
          </p:nvPr>
        </p:nvSpPr>
        <p:spPr/>
        <p:txBody>
          <a:bodyPr/>
          <a:lstStyle/>
          <a:p>
            <a:r>
              <a:rPr lang="en-IN" dirty="0"/>
              <a:t>Stage 7: Change Request</a:t>
            </a:r>
            <a:endParaRPr lang="en-GB" dirty="0"/>
          </a:p>
        </p:txBody>
      </p:sp>
      <p:sp>
        <p:nvSpPr>
          <p:cNvPr id="3" name="Content Placeholder 2">
            <a:extLst>
              <a:ext uri="{FF2B5EF4-FFF2-40B4-BE49-F238E27FC236}">
                <a16:creationId xmlns:a16="http://schemas.microsoft.com/office/drawing/2014/main" id="{54C86F89-05F8-D913-4D23-39BE7C33ED46}"/>
              </a:ext>
            </a:extLst>
          </p:cNvPr>
          <p:cNvSpPr>
            <a:spLocks noGrp="1"/>
          </p:cNvSpPr>
          <p:nvPr>
            <p:ph idx="1"/>
          </p:nvPr>
        </p:nvSpPr>
        <p:spPr/>
        <p:txBody>
          <a:bodyPr>
            <a:normAutofit/>
          </a:bodyPr>
          <a:lstStyle/>
          <a:p>
            <a:r>
              <a:rPr lang="en-IN" dirty="0"/>
              <a:t>Ask Claude: Customer says </a:t>
            </a:r>
            <a:r>
              <a:rPr lang="en-GB" dirty="0"/>
              <a:t>add WhatsApp number and preferred contact time</a:t>
            </a:r>
          </a:p>
          <a:p>
            <a:r>
              <a:rPr lang="en-GB" dirty="0"/>
              <a:t>Observe how Claude makes changes</a:t>
            </a:r>
          </a:p>
          <a:p>
            <a:r>
              <a:rPr lang="en-GB" dirty="0"/>
              <a:t>Test it</a:t>
            </a:r>
          </a:p>
        </p:txBody>
      </p:sp>
    </p:spTree>
    <p:extLst>
      <p:ext uri="{BB962C8B-B14F-4D97-AF65-F5344CB8AC3E}">
        <p14:creationId xmlns:p14="http://schemas.microsoft.com/office/powerpoint/2010/main" val="4230016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894F7-99A0-0307-F156-E8D021C25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2D27D-8FD5-F8FB-C206-DA89208D3E04}"/>
              </a:ext>
            </a:extLst>
          </p:cNvPr>
          <p:cNvSpPr>
            <a:spLocks noGrp="1"/>
          </p:cNvSpPr>
          <p:nvPr>
            <p:ph type="title"/>
          </p:nvPr>
        </p:nvSpPr>
        <p:spPr/>
        <p:txBody>
          <a:bodyPr/>
          <a:lstStyle/>
          <a:p>
            <a:r>
              <a:rPr lang="en-IN" dirty="0"/>
              <a:t>Stage 8: Documentation</a:t>
            </a:r>
            <a:endParaRPr lang="en-GB" dirty="0"/>
          </a:p>
        </p:txBody>
      </p:sp>
      <p:sp>
        <p:nvSpPr>
          <p:cNvPr id="3" name="Content Placeholder 2">
            <a:extLst>
              <a:ext uri="{FF2B5EF4-FFF2-40B4-BE49-F238E27FC236}">
                <a16:creationId xmlns:a16="http://schemas.microsoft.com/office/drawing/2014/main" id="{2F6210EA-B781-ADC8-610F-FDD31444AA79}"/>
              </a:ext>
            </a:extLst>
          </p:cNvPr>
          <p:cNvSpPr>
            <a:spLocks noGrp="1"/>
          </p:cNvSpPr>
          <p:nvPr>
            <p:ph idx="1"/>
          </p:nvPr>
        </p:nvSpPr>
        <p:spPr/>
        <p:txBody>
          <a:bodyPr>
            <a:normAutofit/>
          </a:bodyPr>
          <a:lstStyle/>
          <a:p>
            <a:r>
              <a:rPr lang="en-IN" dirty="0"/>
              <a:t>Ask Claude: Generate these documents: </a:t>
            </a:r>
            <a:r>
              <a:rPr lang="en-GB" dirty="0"/>
              <a:t>API documentation, User manual, Installation guide, Release notes, README</a:t>
            </a:r>
          </a:p>
          <a:p>
            <a:r>
              <a:rPr lang="en-GB" dirty="0"/>
              <a:t>Review some of these documents</a:t>
            </a:r>
          </a:p>
        </p:txBody>
      </p:sp>
    </p:spTree>
    <p:extLst>
      <p:ext uri="{BB962C8B-B14F-4D97-AF65-F5344CB8AC3E}">
        <p14:creationId xmlns:p14="http://schemas.microsoft.com/office/powerpoint/2010/main" val="38947207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8B84-1F1B-1413-3F98-AFAD12C25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AB83F-008E-77BC-7640-D1601F637BB6}"/>
              </a:ext>
            </a:extLst>
          </p:cNvPr>
          <p:cNvSpPr>
            <a:spLocks noGrp="1"/>
          </p:cNvSpPr>
          <p:nvPr>
            <p:ph type="title"/>
          </p:nvPr>
        </p:nvSpPr>
        <p:spPr/>
        <p:txBody>
          <a:bodyPr/>
          <a:lstStyle/>
          <a:p>
            <a:r>
              <a:rPr lang="en-IN" dirty="0"/>
              <a:t>Stage 9: Code Review</a:t>
            </a:r>
            <a:endParaRPr lang="en-GB" dirty="0"/>
          </a:p>
        </p:txBody>
      </p:sp>
      <p:sp>
        <p:nvSpPr>
          <p:cNvPr id="3" name="Content Placeholder 2">
            <a:extLst>
              <a:ext uri="{FF2B5EF4-FFF2-40B4-BE49-F238E27FC236}">
                <a16:creationId xmlns:a16="http://schemas.microsoft.com/office/drawing/2014/main" id="{31EE9FA8-B91E-1056-F034-AF83AF77AC9A}"/>
              </a:ext>
            </a:extLst>
          </p:cNvPr>
          <p:cNvSpPr>
            <a:spLocks noGrp="1"/>
          </p:cNvSpPr>
          <p:nvPr>
            <p:ph idx="1"/>
          </p:nvPr>
        </p:nvSpPr>
        <p:spPr/>
        <p:txBody>
          <a:bodyPr>
            <a:normAutofit/>
          </a:bodyPr>
          <a:lstStyle/>
          <a:p>
            <a:r>
              <a:rPr lang="en-IN" dirty="0"/>
              <a:t>Ask Claude: Review code for </a:t>
            </a:r>
            <a:r>
              <a:rPr lang="en-GB" dirty="0"/>
              <a:t>security, naming, performance, duplication, maintainability</a:t>
            </a:r>
          </a:p>
          <a:p>
            <a:r>
              <a:rPr lang="en-GB" dirty="0"/>
              <a:t>Then: Suggest improvements</a:t>
            </a:r>
          </a:p>
        </p:txBody>
      </p:sp>
    </p:spTree>
    <p:extLst>
      <p:ext uri="{BB962C8B-B14F-4D97-AF65-F5344CB8AC3E}">
        <p14:creationId xmlns:p14="http://schemas.microsoft.com/office/powerpoint/2010/main" val="1450349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22AC3-0089-9E6D-A7AA-9D9B23D3A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9F876-9750-2B70-3AA8-C0AA1BE76B31}"/>
              </a:ext>
            </a:extLst>
          </p:cNvPr>
          <p:cNvSpPr>
            <a:spLocks noGrp="1"/>
          </p:cNvSpPr>
          <p:nvPr>
            <p:ph type="title"/>
          </p:nvPr>
        </p:nvSpPr>
        <p:spPr/>
        <p:txBody>
          <a:bodyPr/>
          <a:lstStyle/>
          <a:p>
            <a:r>
              <a:rPr lang="en-IN" dirty="0"/>
              <a:t>Stage 10: Repeat for another Workflow</a:t>
            </a:r>
            <a:endParaRPr lang="en-GB" dirty="0"/>
          </a:p>
        </p:txBody>
      </p:sp>
      <p:sp>
        <p:nvSpPr>
          <p:cNvPr id="3" name="Content Placeholder 2">
            <a:extLst>
              <a:ext uri="{FF2B5EF4-FFF2-40B4-BE49-F238E27FC236}">
                <a16:creationId xmlns:a16="http://schemas.microsoft.com/office/drawing/2014/main" id="{EFE18B13-E99D-F8B0-549F-6A4A9CFE6C1F}"/>
              </a:ext>
            </a:extLst>
          </p:cNvPr>
          <p:cNvSpPr>
            <a:spLocks noGrp="1"/>
          </p:cNvSpPr>
          <p:nvPr>
            <p:ph idx="1"/>
          </p:nvPr>
        </p:nvSpPr>
        <p:spPr/>
        <p:txBody>
          <a:bodyPr>
            <a:normAutofit/>
          </a:bodyPr>
          <a:lstStyle/>
          <a:p>
            <a:r>
              <a:rPr lang="en-IN" dirty="0"/>
              <a:t>Ask Claude: Now work on the inventory management module</a:t>
            </a:r>
            <a:endParaRPr lang="en-GB" dirty="0"/>
          </a:p>
        </p:txBody>
      </p:sp>
    </p:spTree>
    <p:extLst>
      <p:ext uri="{BB962C8B-B14F-4D97-AF65-F5344CB8AC3E}">
        <p14:creationId xmlns:p14="http://schemas.microsoft.com/office/powerpoint/2010/main" val="19686869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588E63-B0D0-D33F-5E68-92547F84F6E9}"/>
              </a:ext>
            </a:extLst>
          </p:cNvPr>
          <p:cNvSpPr>
            <a:spLocks noGrp="1"/>
          </p:cNvSpPr>
          <p:nvPr>
            <p:ph type="title"/>
          </p:nvPr>
        </p:nvSpPr>
        <p:spPr/>
        <p:txBody>
          <a:bodyPr/>
          <a:lstStyle/>
          <a:p>
            <a:r>
              <a:rPr lang="en-IN" dirty="0"/>
              <a:t>Part 6: Project Instructions (CLAUDE.md File)</a:t>
            </a:r>
            <a:endParaRPr lang="en-GB" dirty="0"/>
          </a:p>
        </p:txBody>
      </p:sp>
      <p:sp>
        <p:nvSpPr>
          <p:cNvPr id="5" name="Text Placeholder 4">
            <a:extLst>
              <a:ext uri="{FF2B5EF4-FFF2-40B4-BE49-F238E27FC236}">
                <a16:creationId xmlns:a16="http://schemas.microsoft.com/office/drawing/2014/main" id="{5A581D2C-30FF-9941-A02B-72816CD1AF7F}"/>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9114192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94C39-FC13-B649-834B-C010FB4EAE97}"/>
              </a:ext>
            </a:extLst>
          </p:cNvPr>
          <p:cNvSpPr>
            <a:spLocks noGrp="1"/>
          </p:cNvSpPr>
          <p:nvPr>
            <p:ph type="title"/>
          </p:nvPr>
        </p:nvSpPr>
        <p:spPr/>
        <p:txBody>
          <a:bodyPr/>
          <a:lstStyle/>
          <a:p>
            <a:r>
              <a:rPr lang="en-IN" dirty="0"/>
              <a:t>CLAUDE.md File</a:t>
            </a:r>
            <a:endParaRPr lang="en-GB" dirty="0"/>
          </a:p>
        </p:txBody>
      </p:sp>
      <p:sp>
        <p:nvSpPr>
          <p:cNvPr id="3" name="Content Placeholder 2">
            <a:extLst>
              <a:ext uri="{FF2B5EF4-FFF2-40B4-BE49-F238E27FC236}">
                <a16:creationId xmlns:a16="http://schemas.microsoft.com/office/drawing/2014/main" id="{956958AE-AC9F-81CB-A938-08017EDA5696}"/>
              </a:ext>
            </a:extLst>
          </p:cNvPr>
          <p:cNvSpPr>
            <a:spLocks noGrp="1"/>
          </p:cNvSpPr>
          <p:nvPr>
            <p:ph idx="1"/>
          </p:nvPr>
        </p:nvSpPr>
        <p:spPr/>
        <p:txBody>
          <a:bodyPr>
            <a:normAutofit fontScale="92500" lnSpcReduction="10000"/>
          </a:bodyPr>
          <a:lstStyle/>
          <a:p>
            <a:r>
              <a:rPr lang="en-IN" dirty="0"/>
              <a:t>Goal: </a:t>
            </a:r>
            <a:r>
              <a:rPr lang="en-GB" dirty="0"/>
              <a:t>Teach Claude Code how your project works</a:t>
            </a:r>
          </a:p>
          <a:p>
            <a:r>
              <a:rPr lang="en-GB" dirty="0"/>
              <a:t>Without project instructions</a:t>
            </a:r>
          </a:p>
          <a:p>
            <a:pPr lvl="1"/>
            <a:r>
              <a:rPr lang="en-GB" dirty="0"/>
              <a:t>Claude starts with little project knowledge </a:t>
            </a:r>
          </a:p>
          <a:p>
            <a:pPr lvl="1"/>
            <a:r>
              <a:rPr lang="en-GB" dirty="0"/>
              <a:t>Coding style varies </a:t>
            </a:r>
          </a:p>
          <a:p>
            <a:pPr lvl="1"/>
            <a:r>
              <a:rPr lang="en-GB" dirty="0"/>
              <a:t>Different prompts produce inconsistent results </a:t>
            </a:r>
          </a:p>
          <a:p>
            <a:pPr lvl="1"/>
            <a:r>
              <a:rPr lang="en-GB" dirty="0"/>
              <a:t>Team members get different answers </a:t>
            </a:r>
          </a:p>
          <a:p>
            <a:r>
              <a:rPr lang="en-GB" dirty="0"/>
              <a:t>With a good </a:t>
            </a:r>
            <a:r>
              <a:rPr lang="en-GB" b="1" dirty="0"/>
              <a:t>CLAUDE.md </a:t>
            </a:r>
            <a:r>
              <a:rPr lang="en-GB" dirty="0"/>
              <a:t>file</a:t>
            </a:r>
          </a:p>
          <a:p>
            <a:pPr lvl="1"/>
            <a:r>
              <a:rPr lang="en-GB" dirty="0"/>
              <a:t>Consistent code generation </a:t>
            </a:r>
          </a:p>
          <a:p>
            <a:pPr lvl="1"/>
            <a:r>
              <a:rPr lang="en-GB" dirty="0"/>
              <a:t>Project-aware suggestions </a:t>
            </a:r>
          </a:p>
          <a:p>
            <a:pPr lvl="1"/>
            <a:r>
              <a:rPr lang="en-GB" dirty="0"/>
              <a:t>Faster onboarding </a:t>
            </a:r>
          </a:p>
          <a:p>
            <a:pPr lvl="1"/>
            <a:r>
              <a:rPr lang="en-GB" dirty="0"/>
              <a:t>Better reviews </a:t>
            </a:r>
          </a:p>
          <a:p>
            <a:pPr lvl="1"/>
            <a:r>
              <a:rPr lang="en-GB" dirty="0"/>
              <a:t>Fewer repeated prompts</a:t>
            </a:r>
          </a:p>
          <a:p>
            <a:endParaRPr lang="en-GB" dirty="0"/>
          </a:p>
        </p:txBody>
      </p:sp>
    </p:spTree>
    <p:extLst>
      <p:ext uri="{BB962C8B-B14F-4D97-AF65-F5344CB8AC3E}">
        <p14:creationId xmlns:p14="http://schemas.microsoft.com/office/powerpoint/2010/main" val="30805090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33F7B-F304-CAC4-0B4A-3A29B8A92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89A02-AD62-9C2F-B7E8-0BAAD9D3B5A4}"/>
              </a:ext>
            </a:extLst>
          </p:cNvPr>
          <p:cNvSpPr>
            <a:spLocks noGrp="1"/>
          </p:cNvSpPr>
          <p:nvPr>
            <p:ph type="title"/>
          </p:nvPr>
        </p:nvSpPr>
        <p:spPr/>
        <p:txBody>
          <a:bodyPr/>
          <a:lstStyle/>
          <a:p>
            <a:r>
              <a:rPr lang="en-IN" dirty="0"/>
              <a:t>What is CLAUDE.md File?</a:t>
            </a:r>
            <a:endParaRPr lang="en-GB" dirty="0"/>
          </a:p>
        </p:txBody>
      </p:sp>
      <p:sp>
        <p:nvSpPr>
          <p:cNvPr id="3" name="Content Placeholder 2">
            <a:extLst>
              <a:ext uri="{FF2B5EF4-FFF2-40B4-BE49-F238E27FC236}">
                <a16:creationId xmlns:a16="http://schemas.microsoft.com/office/drawing/2014/main" id="{B39B6908-2ECF-BCE2-4107-D43241B1889C}"/>
              </a:ext>
            </a:extLst>
          </p:cNvPr>
          <p:cNvSpPr>
            <a:spLocks noGrp="1"/>
          </p:cNvSpPr>
          <p:nvPr>
            <p:ph idx="1"/>
          </p:nvPr>
        </p:nvSpPr>
        <p:spPr/>
        <p:txBody>
          <a:bodyPr>
            <a:normAutofit fontScale="92500" lnSpcReduction="10000"/>
          </a:bodyPr>
          <a:lstStyle/>
          <a:p>
            <a:r>
              <a:rPr lang="en-GB" dirty="0"/>
              <a:t>A </a:t>
            </a:r>
            <a:r>
              <a:rPr lang="en-GB" b="1" dirty="0"/>
              <a:t>CLAUDE.md</a:t>
            </a:r>
            <a:r>
              <a:rPr lang="en-GB" dirty="0"/>
              <a:t> file provides permanent instructions about your project</a:t>
            </a:r>
          </a:p>
          <a:p>
            <a:r>
              <a:rPr lang="en-GB" dirty="0"/>
              <a:t>Think of it as: "Everything Claude should know before writing code"</a:t>
            </a:r>
          </a:p>
          <a:p>
            <a:r>
              <a:rPr lang="en-GB" dirty="0"/>
              <a:t>Typical contents</a:t>
            </a:r>
          </a:p>
          <a:p>
            <a:pPr lvl="1"/>
            <a:r>
              <a:rPr lang="en-GB" dirty="0"/>
              <a:t>Project overview </a:t>
            </a:r>
          </a:p>
          <a:p>
            <a:pPr lvl="1"/>
            <a:r>
              <a:rPr lang="en-GB" dirty="0"/>
              <a:t>Technology stack </a:t>
            </a:r>
          </a:p>
          <a:p>
            <a:pPr lvl="1"/>
            <a:r>
              <a:rPr lang="en-GB" dirty="0"/>
              <a:t>Coding standards </a:t>
            </a:r>
          </a:p>
          <a:p>
            <a:pPr lvl="1"/>
            <a:r>
              <a:rPr lang="en-GB" dirty="0"/>
              <a:t>Architecture </a:t>
            </a:r>
          </a:p>
          <a:p>
            <a:pPr lvl="1"/>
            <a:r>
              <a:rPr lang="en-GB" dirty="0"/>
              <a:t>Folder structure </a:t>
            </a:r>
          </a:p>
          <a:p>
            <a:pPr lvl="1"/>
            <a:r>
              <a:rPr lang="en-GB" dirty="0"/>
              <a:t>Business rules </a:t>
            </a:r>
          </a:p>
          <a:p>
            <a:pPr lvl="1"/>
            <a:r>
              <a:rPr lang="en-GB" dirty="0"/>
              <a:t>Team conventions </a:t>
            </a:r>
          </a:p>
          <a:p>
            <a:pPr lvl="1"/>
            <a:r>
              <a:rPr lang="en-GB" dirty="0"/>
              <a:t>Testing requirements </a:t>
            </a:r>
          </a:p>
          <a:p>
            <a:pPr lvl="1"/>
            <a:r>
              <a:rPr lang="en-GB" dirty="0"/>
              <a:t>Documentation standards</a:t>
            </a:r>
          </a:p>
        </p:txBody>
      </p:sp>
    </p:spTree>
    <p:extLst>
      <p:ext uri="{BB962C8B-B14F-4D97-AF65-F5344CB8AC3E}">
        <p14:creationId xmlns:p14="http://schemas.microsoft.com/office/powerpoint/2010/main" val="35634002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4120E-06FF-FCFD-A06E-215B44EF4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814DC-BD5B-BD65-C667-44FCEA413777}"/>
              </a:ext>
            </a:extLst>
          </p:cNvPr>
          <p:cNvSpPr>
            <a:spLocks noGrp="1"/>
          </p:cNvSpPr>
          <p:nvPr>
            <p:ph type="title"/>
          </p:nvPr>
        </p:nvSpPr>
        <p:spPr/>
        <p:txBody>
          <a:bodyPr/>
          <a:lstStyle/>
          <a:p>
            <a:r>
              <a:rPr lang="en-IN" dirty="0"/>
              <a:t>What should be there in CLAUDE.md?</a:t>
            </a:r>
            <a:endParaRPr lang="en-GB" dirty="0"/>
          </a:p>
        </p:txBody>
      </p:sp>
      <p:sp>
        <p:nvSpPr>
          <p:cNvPr id="3" name="Content Placeholder 2">
            <a:extLst>
              <a:ext uri="{FF2B5EF4-FFF2-40B4-BE49-F238E27FC236}">
                <a16:creationId xmlns:a16="http://schemas.microsoft.com/office/drawing/2014/main" id="{0963C76F-EA1D-28D4-13F5-495F3741CAA2}"/>
              </a:ext>
            </a:extLst>
          </p:cNvPr>
          <p:cNvSpPr>
            <a:spLocks noGrp="1"/>
          </p:cNvSpPr>
          <p:nvPr>
            <p:ph idx="1"/>
          </p:nvPr>
        </p:nvSpPr>
        <p:spPr/>
        <p:txBody>
          <a:bodyPr>
            <a:normAutofit/>
          </a:bodyPr>
          <a:lstStyle/>
          <a:p>
            <a:r>
              <a:rPr lang="en-GB" dirty="0"/>
              <a:t>Project: Purpose, Business domain </a:t>
            </a:r>
          </a:p>
          <a:p>
            <a:r>
              <a:rPr lang="en-GB" dirty="0"/>
              <a:t>Technology: Languages  Frameworks </a:t>
            </a:r>
          </a:p>
          <a:p>
            <a:r>
              <a:rPr lang="en-GB" dirty="0"/>
              <a:t>Database: Architecture, Folder structure </a:t>
            </a:r>
          </a:p>
          <a:p>
            <a:r>
              <a:rPr lang="en-GB" dirty="0"/>
              <a:t>Layers: API conventions, Development</a:t>
            </a:r>
          </a:p>
          <a:p>
            <a:r>
              <a:rPr lang="en-GB" dirty="0"/>
              <a:t>Naming conventions: Error handling, Logging, Security</a:t>
            </a:r>
          </a:p>
          <a:p>
            <a:r>
              <a:rPr lang="en-GB" dirty="0"/>
              <a:t>Testing: Unit tests, Integration tests, Coverage expectations </a:t>
            </a:r>
          </a:p>
          <a:p>
            <a:r>
              <a:rPr lang="en-GB" dirty="0"/>
              <a:t>Documentation: README, API docs, Comments</a:t>
            </a:r>
          </a:p>
        </p:txBody>
      </p:sp>
    </p:spTree>
    <p:extLst>
      <p:ext uri="{BB962C8B-B14F-4D97-AF65-F5344CB8AC3E}">
        <p14:creationId xmlns:p14="http://schemas.microsoft.com/office/powerpoint/2010/main" val="28659880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CE65A-89EC-F13D-9298-2A42E7E13EE2}"/>
              </a:ext>
            </a:extLst>
          </p:cNvPr>
          <p:cNvSpPr>
            <a:spLocks noGrp="1"/>
          </p:cNvSpPr>
          <p:nvPr>
            <p:ph type="title"/>
          </p:nvPr>
        </p:nvSpPr>
        <p:spPr/>
        <p:txBody>
          <a:bodyPr/>
          <a:lstStyle/>
          <a:p>
            <a:r>
              <a:rPr lang="en-IN" dirty="0"/>
              <a:t>Good Practices</a:t>
            </a:r>
            <a:endParaRPr lang="en-GB" dirty="0"/>
          </a:p>
        </p:txBody>
      </p:sp>
      <p:sp>
        <p:nvSpPr>
          <p:cNvPr id="3" name="Content Placeholder 2">
            <a:extLst>
              <a:ext uri="{FF2B5EF4-FFF2-40B4-BE49-F238E27FC236}">
                <a16:creationId xmlns:a16="http://schemas.microsoft.com/office/drawing/2014/main" id="{85F6F66D-04BD-4452-7348-7F010377FAE3}"/>
              </a:ext>
            </a:extLst>
          </p:cNvPr>
          <p:cNvSpPr>
            <a:spLocks noGrp="1"/>
          </p:cNvSpPr>
          <p:nvPr>
            <p:ph idx="1"/>
          </p:nvPr>
        </p:nvSpPr>
        <p:spPr/>
        <p:txBody>
          <a:bodyPr/>
          <a:lstStyle/>
          <a:p>
            <a:r>
              <a:rPr lang="en-GB" dirty="0"/>
              <a:t>Keep instructions short</a:t>
            </a:r>
          </a:p>
          <a:p>
            <a:r>
              <a:rPr lang="en-GB" dirty="0"/>
              <a:t>Be specific</a:t>
            </a:r>
          </a:p>
          <a:p>
            <a:r>
              <a:rPr lang="en-GB" dirty="0"/>
              <a:t>Update with the project</a:t>
            </a:r>
          </a:p>
          <a:p>
            <a:r>
              <a:rPr lang="en-GB" dirty="0"/>
              <a:t>Document business rules</a:t>
            </a:r>
          </a:p>
          <a:p>
            <a:r>
              <a:rPr lang="en-GB" dirty="0"/>
              <a:t>Include coding standards</a:t>
            </a:r>
          </a:p>
          <a:p>
            <a:r>
              <a:rPr lang="en-GB" dirty="0"/>
              <a:t>Mention preferred libraries</a:t>
            </a:r>
          </a:p>
          <a:p>
            <a:r>
              <a:rPr lang="en-GB" dirty="0"/>
              <a:t>Include testing expectations</a:t>
            </a:r>
          </a:p>
          <a:p>
            <a:r>
              <a:rPr lang="en-GB" dirty="0"/>
              <a:t>Keep examples current</a:t>
            </a:r>
          </a:p>
          <a:p>
            <a:endParaRPr lang="en-GB" dirty="0"/>
          </a:p>
        </p:txBody>
      </p:sp>
    </p:spTree>
    <p:extLst>
      <p:ext uri="{BB962C8B-B14F-4D97-AF65-F5344CB8AC3E}">
        <p14:creationId xmlns:p14="http://schemas.microsoft.com/office/powerpoint/2010/main" val="30529774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8550D-8CE6-D9A6-5295-3735F371BEC3}"/>
              </a:ext>
            </a:extLst>
          </p:cNvPr>
          <p:cNvSpPr>
            <a:spLocks noGrp="1"/>
          </p:cNvSpPr>
          <p:nvPr>
            <p:ph type="title"/>
          </p:nvPr>
        </p:nvSpPr>
        <p:spPr/>
        <p:txBody>
          <a:bodyPr/>
          <a:lstStyle/>
          <a:p>
            <a:r>
              <a:rPr lang="en-IN" dirty="0"/>
              <a:t>Example – Developer’s CLAUDE.md</a:t>
            </a:r>
            <a:endParaRPr lang="en-GB" dirty="0"/>
          </a:p>
        </p:txBody>
      </p:sp>
      <p:sp>
        <p:nvSpPr>
          <p:cNvPr id="3" name="Content Placeholder 2">
            <a:extLst>
              <a:ext uri="{FF2B5EF4-FFF2-40B4-BE49-F238E27FC236}">
                <a16:creationId xmlns:a16="http://schemas.microsoft.com/office/drawing/2014/main" id="{D5EC88C4-8E2C-931C-885F-A140AF2884DB}"/>
              </a:ext>
            </a:extLst>
          </p:cNvPr>
          <p:cNvSpPr>
            <a:spLocks noGrp="1"/>
          </p:cNvSpPr>
          <p:nvPr>
            <p:ph idx="1"/>
          </p:nvPr>
        </p:nvSpPr>
        <p:spPr/>
        <p:txBody>
          <a:bodyPr>
            <a:normAutofit fontScale="62500" lnSpcReduction="20000"/>
          </a:bodyPr>
          <a:lstStyle/>
          <a:p>
            <a:r>
              <a:rPr lang="en-US" dirty="0"/>
              <a:t>Use </a:t>
            </a:r>
            <a:r>
              <a:rPr lang="en-US" dirty="0" err="1"/>
              <a:t>FastAPI</a:t>
            </a:r>
            <a:r>
              <a:rPr lang="en-US" dirty="0"/>
              <a:t>.</a:t>
            </a:r>
          </a:p>
          <a:p>
            <a:endParaRPr lang="en-US" dirty="0"/>
          </a:p>
          <a:p>
            <a:r>
              <a:rPr lang="en-US" dirty="0"/>
              <a:t>Use </a:t>
            </a:r>
            <a:r>
              <a:rPr lang="en-US" dirty="0" err="1"/>
              <a:t>SQLAlchemy</a:t>
            </a:r>
            <a:r>
              <a:rPr lang="en-US" dirty="0"/>
              <a:t> ORM.</a:t>
            </a:r>
          </a:p>
          <a:p>
            <a:endParaRPr lang="en-US" dirty="0"/>
          </a:p>
          <a:p>
            <a:r>
              <a:rPr lang="en-US" dirty="0"/>
              <a:t>Use dependency injection.</a:t>
            </a:r>
          </a:p>
          <a:p>
            <a:endParaRPr lang="en-US" dirty="0"/>
          </a:p>
          <a:p>
            <a:r>
              <a:rPr lang="en-US" dirty="0"/>
              <a:t>Follow REST naming conventions.</a:t>
            </a:r>
          </a:p>
          <a:p>
            <a:endParaRPr lang="en-US" dirty="0"/>
          </a:p>
          <a:p>
            <a:r>
              <a:rPr lang="en-US" dirty="0"/>
              <a:t>Write docstrings.</a:t>
            </a:r>
          </a:p>
          <a:p>
            <a:endParaRPr lang="en-US" dirty="0"/>
          </a:p>
          <a:p>
            <a:r>
              <a:rPr lang="en-US" dirty="0"/>
              <a:t>Keep functions under 50 lines.</a:t>
            </a:r>
          </a:p>
          <a:p>
            <a:endParaRPr lang="en-US" dirty="0"/>
          </a:p>
          <a:p>
            <a:r>
              <a:rPr lang="en-US" dirty="0"/>
              <a:t>Always update tests.</a:t>
            </a:r>
            <a:endParaRPr lang="en-GB" dirty="0"/>
          </a:p>
        </p:txBody>
      </p:sp>
    </p:spTree>
    <p:extLst>
      <p:ext uri="{BB962C8B-B14F-4D97-AF65-F5344CB8AC3E}">
        <p14:creationId xmlns:p14="http://schemas.microsoft.com/office/powerpoint/2010/main" val="7909136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CCF71-465C-4C6D-9277-DF0CE5E1C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135A8-EAB5-CA26-0173-EBA920DA3418}"/>
              </a:ext>
            </a:extLst>
          </p:cNvPr>
          <p:cNvSpPr>
            <a:spLocks noGrp="1"/>
          </p:cNvSpPr>
          <p:nvPr>
            <p:ph type="title"/>
          </p:nvPr>
        </p:nvSpPr>
        <p:spPr/>
        <p:txBody>
          <a:bodyPr/>
          <a:lstStyle/>
          <a:p>
            <a:r>
              <a:rPr lang="en-IN" dirty="0"/>
              <a:t>Example – QA’s CLAUDE.md</a:t>
            </a:r>
            <a:endParaRPr lang="en-GB" dirty="0"/>
          </a:p>
        </p:txBody>
      </p:sp>
      <p:sp>
        <p:nvSpPr>
          <p:cNvPr id="3" name="Content Placeholder 2">
            <a:extLst>
              <a:ext uri="{FF2B5EF4-FFF2-40B4-BE49-F238E27FC236}">
                <a16:creationId xmlns:a16="http://schemas.microsoft.com/office/drawing/2014/main" id="{AAC1AC32-3A1B-B04B-E2CD-1B1C1163B25D}"/>
              </a:ext>
            </a:extLst>
          </p:cNvPr>
          <p:cNvSpPr>
            <a:spLocks noGrp="1"/>
          </p:cNvSpPr>
          <p:nvPr>
            <p:ph idx="1"/>
          </p:nvPr>
        </p:nvSpPr>
        <p:spPr/>
        <p:txBody>
          <a:bodyPr>
            <a:normAutofit fontScale="85000" lnSpcReduction="20000"/>
          </a:bodyPr>
          <a:lstStyle/>
          <a:p>
            <a:r>
              <a:rPr lang="en-US" dirty="0"/>
              <a:t>Generate </a:t>
            </a:r>
            <a:r>
              <a:rPr lang="en-US" dirty="0" err="1"/>
              <a:t>pytest</a:t>
            </a:r>
            <a:r>
              <a:rPr lang="en-US" dirty="0"/>
              <a:t> tests.</a:t>
            </a:r>
          </a:p>
          <a:p>
            <a:endParaRPr lang="en-US" dirty="0"/>
          </a:p>
          <a:p>
            <a:r>
              <a:rPr lang="en-US" dirty="0"/>
              <a:t>Test positive and negative scenarios.</a:t>
            </a:r>
          </a:p>
          <a:p>
            <a:endParaRPr lang="en-US" dirty="0"/>
          </a:p>
          <a:p>
            <a:r>
              <a:rPr lang="en-US" dirty="0"/>
              <a:t>Always include boundary values.</a:t>
            </a:r>
          </a:p>
          <a:p>
            <a:endParaRPr lang="en-US" dirty="0"/>
          </a:p>
          <a:p>
            <a:r>
              <a:rPr lang="en-US" dirty="0"/>
              <a:t>Create API tests.</a:t>
            </a:r>
          </a:p>
          <a:p>
            <a:endParaRPr lang="en-US" dirty="0"/>
          </a:p>
          <a:p>
            <a:r>
              <a:rPr lang="en-US" dirty="0"/>
              <a:t>Generate mock data.</a:t>
            </a:r>
          </a:p>
          <a:p>
            <a:endParaRPr lang="en-US" dirty="0"/>
          </a:p>
          <a:p>
            <a:r>
              <a:rPr lang="en-US" dirty="0"/>
              <a:t>Prioritize regression testing.</a:t>
            </a:r>
            <a:endParaRPr lang="en-GB" dirty="0"/>
          </a:p>
        </p:txBody>
      </p:sp>
    </p:spTree>
    <p:extLst>
      <p:ext uri="{BB962C8B-B14F-4D97-AF65-F5344CB8AC3E}">
        <p14:creationId xmlns:p14="http://schemas.microsoft.com/office/powerpoint/2010/main" val="385339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9B98B-805E-309B-7904-4D1AFA7B1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426BB-915F-B5EF-D6F5-F2550E4BB1F1}"/>
              </a:ext>
            </a:extLst>
          </p:cNvPr>
          <p:cNvSpPr>
            <a:spLocks noGrp="1"/>
          </p:cNvSpPr>
          <p:nvPr>
            <p:ph type="title"/>
          </p:nvPr>
        </p:nvSpPr>
        <p:spPr/>
        <p:txBody>
          <a:bodyPr/>
          <a:lstStyle/>
          <a:p>
            <a:r>
              <a:rPr lang="en-IN" dirty="0"/>
              <a:t>Example – BA’s CLAUDE.md</a:t>
            </a:r>
            <a:endParaRPr lang="en-GB" dirty="0"/>
          </a:p>
        </p:txBody>
      </p:sp>
      <p:sp>
        <p:nvSpPr>
          <p:cNvPr id="3" name="Content Placeholder 2">
            <a:extLst>
              <a:ext uri="{FF2B5EF4-FFF2-40B4-BE49-F238E27FC236}">
                <a16:creationId xmlns:a16="http://schemas.microsoft.com/office/drawing/2014/main" id="{853302F7-F06A-31E4-CC0B-12D273D91CD6}"/>
              </a:ext>
            </a:extLst>
          </p:cNvPr>
          <p:cNvSpPr>
            <a:spLocks noGrp="1"/>
          </p:cNvSpPr>
          <p:nvPr>
            <p:ph idx="1"/>
          </p:nvPr>
        </p:nvSpPr>
        <p:spPr/>
        <p:txBody>
          <a:bodyPr>
            <a:normAutofit fontScale="85000" lnSpcReduction="20000"/>
          </a:bodyPr>
          <a:lstStyle/>
          <a:p>
            <a:r>
              <a:rPr lang="en-US" dirty="0"/>
              <a:t>Use real estate terminology.</a:t>
            </a:r>
          </a:p>
          <a:p>
            <a:endParaRPr lang="en-US" dirty="0"/>
          </a:p>
          <a:p>
            <a:r>
              <a:rPr lang="en-US" dirty="0"/>
              <a:t>Write user stories in standard format.</a:t>
            </a:r>
          </a:p>
          <a:p>
            <a:endParaRPr lang="en-US" dirty="0"/>
          </a:p>
          <a:p>
            <a:r>
              <a:rPr lang="en-US" dirty="0"/>
              <a:t>Generate acceptance criteria.</a:t>
            </a:r>
          </a:p>
          <a:p>
            <a:endParaRPr lang="en-US" dirty="0"/>
          </a:p>
          <a:p>
            <a:r>
              <a:rPr lang="en-US" dirty="0"/>
              <a:t>Identify missing requirements.</a:t>
            </a:r>
          </a:p>
          <a:p>
            <a:endParaRPr lang="en-US" dirty="0"/>
          </a:p>
          <a:p>
            <a:r>
              <a:rPr lang="en-US" dirty="0"/>
              <a:t>Highlight assumptions.</a:t>
            </a:r>
          </a:p>
          <a:p>
            <a:endParaRPr lang="en-US" dirty="0"/>
          </a:p>
          <a:p>
            <a:r>
              <a:rPr lang="en-US" dirty="0"/>
              <a:t>Maintain traceability.</a:t>
            </a:r>
            <a:endParaRPr lang="en-GB" dirty="0"/>
          </a:p>
        </p:txBody>
      </p:sp>
    </p:spTree>
    <p:extLst>
      <p:ext uri="{BB962C8B-B14F-4D97-AF65-F5344CB8AC3E}">
        <p14:creationId xmlns:p14="http://schemas.microsoft.com/office/powerpoint/2010/main" val="22048342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50DA6-4179-3A41-B20C-B0A86019D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F95E8-F7EA-4289-5B43-A740FEA6AB16}"/>
              </a:ext>
            </a:extLst>
          </p:cNvPr>
          <p:cNvSpPr>
            <a:spLocks noGrp="1"/>
          </p:cNvSpPr>
          <p:nvPr>
            <p:ph type="title"/>
          </p:nvPr>
        </p:nvSpPr>
        <p:spPr/>
        <p:txBody>
          <a:bodyPr/>
          <a:lstStyle/>
          <a:p>
            <a:r>
              <a:rPr lang="en-IN" dirty="0"/>
              <a:t>Example – PM’s CLAUDE.md</a:t>
            </a:r>
            <a:endParaRPr lang="en-GB" dirty="0"/>
          </a:p>
        </p:txBody>
      </p:sp>
      <p:sp>
        <p:nvSpPr>
          <p:cNvPr id="3" name="Content Placeholder 2">
            <a:extLst>
              <a:ext uri="{FF2B5EF4-FFF2-40B4-BE49-F238E27FC236}">
                <a16:creationId xmlns:a16="http://schemas.microsoft.com/office/drawing/2014/main" id="{565CE263-8EDD-2AE8-FEAE-7F9B368150FA}"/>
              </a:ext>
            </a:extLst>
          </p:cNvPr>
          <p:cNvSpPr>
            <a:spLocks noGrp="1"/>
          </p:cNvSpPr>
          <p:nvPr>
            <p:ph idx="1"/>
          </p:nvPr>
        </p:nvSpPr>
        <p:spPr/>
        <p:txBody>
          <a:bodyPr>
            <a:normAutofit fontScale="85000" lnSpcReduction="20000"/>
          </a:bodyPr>
          <a:lstStyle/>
          <a:p>
            <a:r>
              <a:rPr lang="en-US" dirty="0"/>
              <a:t>Estimate implementation effort.</a:t>
            </a:r>
          </a:p>
          <a:p>
            <a:endParaRPr lang="en-US" dirty="0"/>
          </a:p>
          <a:p>
            <a:r>
              <a:rPr lang="en-US" dirty="0"/>
              <a:t>Identify project risks.</a:t>
            </a:r>
          </a:p>
          <a:p>
            <a:endParaRPr lang="en-US" dirty="0"/>
          </a:p>
          <a:p>
            <a:r>
              <a:rPr lang="en-US" dirty="0"/>
              <a:t>Generate sprint summaries.</a:t>
            </a:r>
          </a:p>
          <a:p>
            <a:endParaRPr lang="en-US" dirty="0"/>
          </a:p>
          <a:p>
            <a:r>
              <a:rPr lang="en-US" dirty="0"/>
              <a:t>Create release notes.</a:t>
            </a:r>
          </a:p>
          <a:p>
            <a:endParaRPr lang="en-US" dirty="0"/>
          </a:p>
          <a:p>
            <a:r>
              <a:rPr lang="en-US" dirty="0"/>
              <a:t>Highlight dependencies.</a:t>
            </a:r>
          </a:p>
          <a:p>
            <a:endParaRPr lang="en-US" dirty="0"/>
          </a:p>
          <a:p>
            <a:r>
              <a:rPr lang="en-US" dirty="0"/>
              <a:t>Track incomplete work.</a:t>
            </a:r>
            <a:endParaRPr lang="en-GB" dirty="0"/>
          </a:p>
        </p:txBody>
      </p:sp>
    </p:spTree>
    <p:extLst>
      <p:ext uri="{BB962C8B-B14F-4D97-AF65-F5344CB8AC3E}">
        <p14:creationId xmlns:p14="http://schemas.microsoft.com/office/powerpoint/2010/main" val="29863842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646B-8DE9-8C41-2108-E91DC1073DC0}"/>
              </a:ext>
            </a:extLst>
          </p:cNvPr>
          <p:cNvSpPr>
            <a:spLocks noGrp="1"/>
          </p:cNvSpPr>
          <p:nvPr>
            <p:ph type="title"/>
          </p:nvPr>
        </p:nvSpPr>
        <p:spPr/>
        <p:txBody>
          <a:bodyPr/>
          <a:lstStyle/>
          <a:p>
            <a:r>
              <a:rPr lang="en-IN" dirty="0"/>
              <a:t>Methods for Creating CLAUDE.md </a:t>
            </a:r>
            <a:endParaRPr lang="en-GB" dirty="0"/>
          </a:p>
        </p:txBody>
      </p:sp>
      <p:graphicFrame>
        <p:nvGraphicFramePr>
          <p:cNvPr id="4" name="Content Placeholder 3">
            <a:extLst>
              <a:ext uri="{FF2B5EF4-FFF2-40B4-BE49-F238E27FC236}">
                <a16:creationId xmlns:a16="http://schemas.microsoft.com/office/drawing/2014/main" id="{B3F4674E-3B4C-2015-E704-F272B5E6E1A6}"/>
              </a:ext>
            </a:extLst>
          </p:cNvPr>
          <p:cNvGraphicFramePr>
            <a:graphicFrameLocks noGrp="1"/>
          </p:cNvGraphicFramePr>
          <p:nvPr>
            <p:ph idx="1"/>
            <p:extLst>
              <p:ext uri="{D42A27DB-BD31-4B8C-83A1-F6EECF244321}">
                <p14:modId xmlns:p14="http://schemas.microsoft.com/office/powerpoint/2010/main" val="3438762098"/>
              </p:ext>
            </p:extLst>
          </p:nvPr>
        </p:nvGraphicFramePr>
        <p:xfrm>
          <a:off x="838200" y="2218214"/>
          <a:ext cx="10515600" cy="3566160"/>
        </p:xfrm>
        <a:graphic>
          <a:graphicData uri="http://schemas.openxmlformats.org/drawingml/2006/table">
            <a:tbl>
              <a:tblPr firstRow="1">
                <a:tableStyleId>{7E9639D4-E3E2-4D34-9284-5A2195B3D0D7}</a:tableStyleId>
              </a:tblPr>
              <a:tblGrid>
                <a:gridCol w="2628900">
                  <a:extLst>
                    <a:ext uri="{9D8B030D-6E8A-4147-A177-3AD203B41FA5}">
                      <a16:colId xmlns:a16="http://schemas.microsoft.com/office/drawing/2014/main" val="355335286"/>
                    </a:ext>
                  </a:extLst>
                </a:gridCol>
                <a:gridCol w="2628900">
                  <a:extLst>
                    <a:ext uri="{9D8B030D-6E8A-4147-A177-3AD203B41FA5}">
                      <a16:colId xmlns:a16="http://schemas.microsoft.com/office/drawing/2014/main" val="2655515275"/>
                    </a:ext>
                  </a:extLst>
                </a:gridCol>
                <a:gridCol w="2628900">
                  <a:extLst>
                    <a:ext uri="{9D8B030D-6E8A-4147-A177-3AD203B41FA5}">
                      <a16:colId xmlns:a16="http://schemas.microsoft.com/office/drawing/2014/main" val="3364694094"/>
                    </a:ext>
                  </a:extLst>
                </a:gridCol>
                <a:gridCol w="2628900">
                  <a:extLst>
                    <a:ext uri="{9D8B030D-6E8A-4147-A177-3AD203B41FA5}">
                      <a16:colId xmlns:a16="http://schemas.microsoft.com/office/drawing/2014/main" val="3661934024"/>
                    </a:ext>
                  </a:extLst>
                </a:gridCol>
              </a:tblGrid>
              <a:tr h="0">
                <a:tc>
                  <a:txBody>
                    <a:bodyPr/>
                    <a:lstStyle/>
                    <a:p>
                      <a:pPr>
                        <a:buNone/>
                      </a:pPr>
                      <a:r>
                        <a:rPr lang="en-GB"/>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dirty="0"/>
                        <a:t>Best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Pros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Cons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3013963"/>
                  </a:ext>
                </a:extLst>
              </a:tr>
              <a:tr h="0">
                <a:tc>
                  <a:txBody>
                    <a:bodyPr/>
                    <a:lstStyle/>
                    <a:p>
                      <a:pPr>
                        <a:buNone/>
                      </a:pPr>
                      <a:r>
                        <a:rPr lang="en-GB" b="1"/>
                        <a:t>Ask Claude Code</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Existing 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Understands repository structure and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Quality depends on repository 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0678880"/>
                  </a:ext>
                </a:extLst>
              </a:tr>
              <a:tr h="0">
                <a:tc>
                  <a:txBody>
                    <a:bodyPr/>
                    <a:lstStyle/>
                    <a:p>
                      <a:pPr>
                        <a:buNone/>
                      </a:pPr>
                      <a:r>
                        <a:rPr lang="en-GB" b="1"/>
                        <a:t>Ask ChatGPT (or another LLM)</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New projects with specifications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Good at converting requirements into instructions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Doesn't know the actual codebase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9893308"/>
                  </a:ext>
                </a:extLst>
              </a:tr>
              <a:tr h="0">
                <a:tc>
                  <a:txBody>
                    <a:bodyPr/>
                    <a:lstStyle/>
                    <a:p>
                      <a:pPr>
                        <a:buNone/>
                      </a:pPr>
                      <a:r>
                        <a:rPr lang="en-GB" b="1"/>
                        <a:t>Write it manually</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Small or specialized 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Full control and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Time-consuming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44466211"/>
                  </a:ext>
                </a:extLst>
              </a:tr>
              <a:tr h="0">
                <a:tc>
                  <a:txBody>
                    <a:bodyPr/>
                    <a:lstStyle/>
                    <a:p>
                      <a:pPr>
                        <a:buNone/>
                      </a:pPr>
                      <a:r>
                        <a:rPr lang="en-GB" b="1"/>
                        <a:t>Start from a template</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Standard team 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Fast and consistent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Needs customization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8831438"/>
                  </a:ext>
                </a:extLst>
              </a:tr>
              <a:tr h="0">
                <a:tc>
                  <a:txBody>
                    <a:bodyPr/>
                    <a:lstStyle/>
                    <a:p>
                      <a:pPr>
                        <a:buNone/>
                      </a:pPr>
                      <a:r>
                        <a:rPr lang="en-GB" b="1" dirty="0"/>
                        <a:t>Generate, then refine</a:t>
                      </a:r>
                      <a:r>
                        <a:rPr lang="en-GB"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Most teams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a:t>Fast and accurate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dirty="0"/>
                        <a:t>Requires review before adoption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4297221"/>
                  </a:ext>
                </a:extLst>
              </a:tr>
            </a:tbl>
          </a:graphicData>
        </a:graphic>
      </p:graphicFrame>
    </p:spTree>
    <p:extLst>
      <p:ext uri="{BB962C8B-B14F-4D97-AF65-F5344CB8AC3E}">
        <p14:creationId xmlns:p14="http://schemas.microsoft.com/office/powerpoint/2010/main" val="36782777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6A0F4-380B-A7C9-76A4-3CE89D0A2E16}"/>
              </a:ext>
            </a:extLst>
          </p:cNvPr>
          <p:cNvSpPr>
            <a:spLocks noGrp="1"/>
          </p:cNvSpPr>
          <p:nvPr>
            <p:ph type="title"/>
          </p:nvPr>
        </p:nvSpPr>
        <p:spPr/>
        <p:txBody>
          <a:bodyPr/>
          <a:lstStyle/>
          <a:p>
            <a:r>
              <a:rPr lang="en-IN" dirty="0"/>
              <a:t>Method 1 – Ask Claude Code (Use when code base is available)</a:t>
            </a:r>
            <a:endParaRPr lang="en-GB" dirty="0"/>
          </a:p>
        </p:txBody>
      </p:sp>
      <p:sp>
        <p:nvSpPr>
          <p:cNvPr id="3" name="Content Placeholder 2">
            <a:extLst>
              <a:ext uri="{FF2B5EF4-FFF2-40B4-BE49-F238E27FC236}">
                <a16:creationId xmlns:a16="http://schemas.microsoft.com/office/drawing/2014/main" id="{E3B097DC-EEF3-3AC7-C6F2-A9DD938CB229}"/>
              </a:ext>
            </a:extLst>
          </p:cNvPr>
          <p:cNvSpPr>
            <a:spLocks noGrp="1"/>
          </p:cNvSpPr>
          <p:nvPr>
            <p:ph idx="1"/>
          </p:nvPr>
        </p:nvSpPr>
        <p:spPr/>
        <p:txBody>
          <a:bodyPr>
            <a:normAutofit fontScale="92500" lnSpcReduction="20000"/>
          </a:bodyPr>
          <a:lstStyle/>
          <a:p>
            <a:r>
              <a:rPr lang="en-US" dirty="0"/>
              <a:t>Analyze this repository and generate a comprehensive CLAUDE.md that includes:</a:t>
            </a:r>
          </a:p>
          <a:p>
            <a:pPr lvl="1"/>
            <a:r>
              <a:rPr lang="en-US" dirty="0"/>
              <a:t>Project overview</a:t>
            </a:r>
          </a:p>
          <a:p>
            <a:pPr lvl="1"/>
            <a:r>
              <a:rPr lang="en-US" dirty="0"/>
              <a:t>Architecture</a:t>
            </a:r>
          </a:p>
          <a:p>
            <a:pPr lvl="1"/>
            <a:r>
              <a:rPr lang="en-US" dirty="0"/>
              <a:t>Technology stack</a:t>
            </a:r>
          </a:p>
          <a:p>
            <a:pPr lvl="1"/>
            <a:r>
              <a:rPr lang="en-US" dirty="0"/>
              <a:t>Folder structure</a:t>
            </a:r>
          </a:p>
          <a:p>
            <a:pPr lvl="1"/>
            <a:r>
              <a:rPr lang="en-US" dirty="0"/>
              <a:t>Coding standards</a:t>
            </a:r>
          </a:p>
          <a:p>
            <a:pPr lvl="1"/>
            <a:r>
              <a:rPr lang="en-US" dirty="0"/>
              <a:t>Testing guidelines</a:t>
            </a:r>
          </a:p>
          <a:p>
            <a:pPr lvl="1"/>
            <a:r>
              <a:rPr lang="en-US" dirty="0"/>
              <a:t>Documentation conventions</a:t>
            </a:r>
          </a:p>
          <a:p>
            <a:pPr lvl="1"/>
            <a:r>
              <a:rPr lang="en-US" dirty="0"/>
              <a:t>Business rules</a:t>
            </a:r>
          </a:p>
          <a:p>
            <a:pPr lvl="1"/>
            <a:r>
              <a:rPr lang="en-US" dirty="0"/>
              <a:t>Security guidelines</a:t>
            </a:r>
          </a:p>
          <a:p>
            <a:r>
              <a:rPr lang="en-US" dirty="0"/>
              <a:t>Do not invent information. If something is unclear, list it under "Assumptions" or "Questions".</a:t>
            </a:r>
            <a:endParaRPr lang="en-GB" dirty="0"/>
          </a:p>
        </p:txBody>
      </p:sp>
    </p:spTree>
    <p:extLst>
      <p:ext uri="{BB962C8B-B14F-4D97-AF65-F5344CB8AC3E}">
        <p14:creationId xmlns:p14="http://schemas.microsoft.com/office/powerpoint/2010/main" val="4386094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80992-BFC3-34A2-D8CF-96161E3BA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861BD-037F-61D9-2FEC-F233F1ECD8A6}"/>
              </a:ext>
            </a:extLst>
          </p:cNvPr>
          <p:cNvSpPr>
            <a:spLocks noGrp="1"/>
          </p:cNvSpPr>
          <p:nvPr>
            <p:ph type="title"/>
          </p:nvPr>
        </p:nvSpPr>
        <p:spPr/>
        <p:txBody>
          <a:bodyPr/>
          <a:lstStyle/>
          <a:p>
            <a:r>
              <a:rPr lang="en-IN" dirty="0"/>
              <a:t>Method 2 – Ask ChatGPT (When only RS/BRD is available)</a:t>
            </a:r>
            <a:endParaRPr lang="en-GB" dirty="0"/>
          </a:p>
        </p:txBody>
      </p:sp>
      <p:sp>
        <p:nvSpPr>
          <p:cNvPr id="3" name="Content Placeholder 2">
            <a:extLst>
              <a:ext uri="{FF2B5EF4-FFF2-40B4-BE49-F238E27FC236}">
                <a16:creationId xmlns:a16="http://schemas.microsoft.com/office/drawing/2014/main" id="{04F3ED1B-0394-5999-C6CA-083AE90D3FC1}"/>
              </a:ext>
            </a:extLst>
          </p:cNvPr>
          <p:cNvSpPr>
            <a:spLocks noGrp="1"/>
          </p:cNvSpPr>
          <p:nvPr>
            <p:ph idx="1"/>
          </p:nvPr>
        </p:nvSpPr>
        <p:spPr/>
        <p:txBody>
          <a:bodyPr>
            <a:normAutofit fontScale="92500" lnSpcReduction="20000"/>
          </a:bodyPr>
          <a:lstStyle/>
          <a:p>
            <a:r>
              <a:rPr lang="en-US" dirty="0"/>
              <a:t>Using this Software Requirements Specification, create a CLAUDE.md for a Real Estate CRM project.</a:t>
            </a:r>
          </a:p>
          <a:p>
            <a:r>
              <a:rPr lang="en-US" dirty="0"/>
              <a:t>Include:</a:t>
            </a:r>
          </a:p>
          <a:p>
            <a:pPr lvl="1"/>
            <a:r>
              <a:rPr lang="en-US" dirty="0"/>
              <a:t>Project overview</a:t>
            </a:r>
          </a:p>
          <a:p>
            <a:pPr lvl="1"/>
            <a:r>
              <a:rPr lang="en-US" dirty="0"/>
              <a:t>Architecture</a:t>
            </a:r>
          </a:p>
          <a:p>
            <a:pPr lvl="1"/>
            <a:r>
              <a:rPr lang="en-US" dirty="0"/>
              <a:t>Technology stack</a:t>
            </a:r>
          </a:p>
          <a:p>
            <a:pPr lvl="1"/>
            <a:r>
              <a:rPr lang="en-US" dirty="0"/>
              <a:t>Folder structure</a:t>
            </a:r>
          </a:p>
          <a:p>
            <a:pPr lvl="1"/>
            <a:r>
              <a:rPr lang="en-US" dirty="0"/>
              <a:t>Coding standards</a:t>
            </a:r>
          </a:p>
          <a:p>
            <a:pPr lvl="1"/>
            <a:r>
              <a:rPr lang="en-US" dirty="0"/>
              <a:t>Business terminology</a:t>
            </a:r>
          </a:p>
          <a:p>
            <a:pPr lvl="1"/>
            <a:r>
              <a:rPr lang="en-US" dirty="0"/>
              <a:t>Testing expectations</a:t>
            </a:r>
          </a:p>
          <a:p>
            <a:pPr lvl="1"/>
            <a:r>
              <a:rPr lang="en-US" dirty="0"/>
              <a:t>Documentation guidelines</a:t>
            </a:r>
          </a:p>
          <a:p>
            <a:pPr lvl="1"/>
            <a:r>
              <a:rPr lang="en-US" dirty="0"/>
              <a:t>Security practices</a:t>
            </a:r>
          </a:p>
          <a:p>
            <a:r>
              <a:rPr lang="en-US" dirty="0"/>
              <a:t>Use Markdown format.</a:t>
            </a:r>
            <a:endParaRPr lang="en-GB" dirty="0"/>
          </a:p>
        </p:txBody>
      </p:sp>
    </p:spTree>
    <p:extLst>
      <p:ext uri="{BB962C8B-B14F-4D97-AF65-F5344CB8AC3E}">
        <p14:creationId xmlns:p14="http://schemas.microsoft.com/office/powerpoint/2010/main" val="3345746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BDA7B-1E33-7000-FD19-3CAD9FA27D4B}"/>
              </a:ext>
            </a:extLst>
          </p:cNvPr>
          <p:cNvSpPr>
            <a:spLocks noGrp="1"/>
          </p:cNvSpPr>
          <p:nvPr>
            <p:ph type="title"/>
          </p:nvPr>
        </p:nvSpPr>
        <p:spPr/>
        <p:txBody>
          <a:bodyPr/>
          <a:lstStyle/>
          <a:p>
            <a:r>
              <a:rPr lang="en-IN" dirty="0"/>
              <a:t>CRM Project Exercise</a:t>
            </a:r>
            <a:endParaRPr lang="en-GB" dirty="0"/>
          </a:p>
        </p:txBody>
      </p:sp>
      <p:sp>
        <p:nvSpPr>
          <p:cNvPr id="3" name="Content Placeholder 2">
            <a:extLst>
              <a:ext uri="{FF2B5EF4-FFF2-40B4-BE49-F238E27FC236}">
                <a16:creationId xmlns:a16="http://schemas.microsoft.com/office/drawing/2014/main" id="{08DA0246-3E57-A2CE-6FFB-44F87AE659D1}"/>
              </a:ext>
            </a:extLst>
          </p:cNvPr>
          <p:cNvSpPr>
            <a:spLocks noGrp="1"/>
          </p:cNvSpPr>
          <p:nvPr>
            <p:ph idx="1"/>
          </p:nvPr>
        </p:nvSpPr>
        <p:spPr/>
        <p:txBody>
          <a:bodyPr>
            <a:normAutofit fontScale="62500" lnSpcReduction="20000"/>
          </a:bodyPr>
          <a:lstStyle/>
          <a:p>
            <a:r>
              <a:rPr lang="en-GB" dirty="0"/>
              <a:t>Create a </a:t>
            </a:r>
            <a:r>
              <a:rPr lang="en-GB" b="1" dirty="0"/>
              <a:t>CLAUDE.md</a:t>
            </a:r>
            <a:r>
              <a:rPr lang="en-GB" dirty="0"/>
              <a:t> for the Real Estate CRM project.</a:t>
            </a:r>
          </a:p>
          <a:p>
            <a:r>
              <a:rPr lang="en-GB" dirty="0"/>
              <a:t>Include</a:t>
            </a:r>
          </a:p>
          <a:p>
            <a:pPr lvl="1"/>
            <a:r>
              <a:rPr lang="en-GB" dirty="0"/>
              <a:t>Project overview </a:t>
            </a:r>
          </a:p>
          <a:p>
            <a:pPr lvl="1"/>
            <a:r>
              <a:rPr lang="en-GB" dirty="0"/>
              <a:t>Technology stack </a:t>
            </a:r>
          </a:p>
          <a:p>
            <a:pPr lvl="1"/>
            <a:r>
              <a:rPr lang="en-GB" dirty="0"/>
              <a:t>Folder structure </a:t>
            </a:r>
          </a:p>
          <a:p>
            <a:pPr lvl="1"/>
            <a:r>
              <a:rPr lang="en-GB" dirty="0"/>
              <a:t>Coding standards </a:t>
            </a:r>
          </a:p>
          <a:p>
            <a:pPr lvl="1"/>
            <a:r>
              <a:rPr lang="en-GB" dirty="0"/>
              <a:t>Database conventions </a:t>
            </a:r>
          </a:p>
          <a:p>
            <a:pPr lvl="1"/>
            <a:r>
              <a:rPr lang="en-GB" dirty="0"/>
              <a:t>API conventions </a:t>
            </a:r>
          </a:p>
          <a:p>
            <a:pPr lvl="1"/>
            <a:r>
              <a:rPr lang="en-GB" dirty="0"/>
              <a:t>Security guidelines </a:t>
            </a:r>
          </a:p>
          <a:p>
            <a:pPr lvl="1"/>
            <a:r>
              <a:rPr lang="en-GB" dirty="0"/>
              <a:t>Testing requirements </a:t>
            </a:r>
          </a:p>
          <a:p>
            <a:pPr lvl="1"/>
            <a:r>
              <a:rPr lang="en-GB" dirty="0"/>
              <a:t>Documentation rules </a:t>
            </a:r>
          </a:p>
          <a:p>
            <a:pPr lvl="1"/>
            <a:r>
              <a:rPr lang="en-GB" dirty="0"/>
              <a:t>Business terminology </a:t>
            </a:r>
          </a:p>
          <a:p>
            <a:r>
              <a:rPr lang="en-GB" dirty="0"/>
              <a:t>Add role-specific instructions for</a:t>
            </a:r>
          </a:p>
          <a:p>
            <a:pPr lvl="1"/>
            <a:r>
              <a:rPr lang="en-GB" dirty="0"/>
              <a:t>Developer </a:t>
            </a:r>
          </a:p>
          <a:p>
            <a:pPr lvl="1"/>
            <a:r>
              <a:rPr lang="en-GB" dirty="0"/>
              <a:t>QA </a:t>
            </a:r>
          </a:p>
          <a:p>
            <a:pPr lvl="1"/>
            <a:r>
              <a:rPr lang="en-GB" dirty="0"/>
              <a:t>BA </a:t>
            </a:r>
          </a:p>
          <a:p>
            <a:pPr lvl="1"/>
            <a:r>
              <a:rPr lang="en-GB" dirty="0"/>
              <a:t>PM</a:t>
            </a:r>
          </a:p>
          <a:p>
            <a:endParaRPr lang="en-GB" dirty="0"/>
          </a:p>
        </p:txBody>
      </p:sp>
    </p:spTree>
    <p:extLst>
      <p:ext uri="{BB962C8B-B14F-4D97-AF65-F5344CB8AC3E}">
        <p14:creationId xmlns:p14="http://schemas.microsoft.com/office/powerpoint/2010/main" val="31729027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AD42C9-A846-7459-880D-F13FDE5F1896}"/>
              </a:ext>
            </a:extLst>
          </p:cNvPr>
          <p:cNvSpPr>
            <a:spLocks noGrp="1"/>
          </p:cNvSpPr>
          <p:nvPr>
            <p:ph type="title"/>
          </p:nvPr>
        </p:nvSpPr>
        <p:spPr/>
        <p:txBody>
          <a:bodyPr/>
          <a:lstStyle/>
          <a:p>
            <a:r>
              <a:rPr lang="en-IN" dirty="0"/>
              <a:t>Part 7: Technical Foundations</a:t>
            </a:r>
            <a:endParaRPr lang="en-GB" dirty="0"/>
          </a:p>
        </p:txBody>
      </p:sp>
      <p:sp>
        <p:nvSpPr>
          <p:cNvPr id="5" name="Text Placeholder 4">
            <a:extLst>
              <a:ext uri="{FF2B5EF4-FFF2-40B4-BE49-F238E27FC236}">
                <a16:creationId xmlns:a16="http://schemas.microsoft.com/office/drawing/2014/main" id="{F5EFCDFB-D4A0-19E4-91E8-4C7062D7353E}"/>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42147627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8021-BD54-C1EB-69E8-143AF666A383}"/>
              </a:ext>
            </a:extLst>
          </p:cNvPr>
          <p:cNvSpPr>
            <a:spLocks noGrp="1"/>
          </p:cNvSpPr>
          <p:nvPr>
            <p:ph type="title"/>
          </p:nvPr>
        </p:nvSpPr>
        <p:spPr/>
        <p:txBody>
          <a:bodyPr/>
          <a:lstStyle/>
          <a:p>
            <a:r>
              <a:rPr lang="en-IN" dirty="0"/>
              <a:t>Basic Idea</a:t>
            </a:r>
            <a:endParaRPr lang="en-GB" dirty="0"/>
          </a:p>
        </p:txBody>
      </p:sp>
      <p:sp>
        <p:nvSpPr>
          <p:cNvPr id="3" name="Content Placeholder 2">
            <a:extLst>
              <a:ext uri="{FF2B5EF4-FFF2-40B4-BE49-F238E27FC236}">
                <a16:creationId xmlns:a16="http://schemas.microsoft.com/office/drawing/2014/main" id="{AB474F26-BE0D-BDFE-3FF6-DE184E213A3D}"/>
              </a:ext>
            </a:extLst>
          </p:cNvPr>
          <p:cNvSpPr>
            <a:spLocks noGrp="1"/>
          </p:cNvSpPr>
          <p:nvPr>
            <p:ph idx="1"/>
          </p:nvPr>
        </p:nvSpPr>
        <p:spPr/>
        <p:txBody>
          <a:bodyPr>
            <a:normAutofit fontScale="92500" lnSpcReduction="20000"/>
          </a:bodyPr>
          <a:lstStyle/>
          <a:p>
            <a:r>
              <a:rPr lang="en-GB" dirty="0"/>
              <a:t>You have already:</a:t>
            </a:r>
          </a:p>
          <a:p>
            <a:pPr lvl="1"/>
            <a:r>
              <a:rPr lang="en-GB" dirty="0"/>
              <a:t>Built code </a:t>
            </a:r>
          </a:p>
          <a:p>
            <a:pPr lvl="1"/>
            <a:r>
              <a:rPr lang="en-GB" dirty="0"/>
              <a:t>Fixed bugs </a:t>
            </a:r>
          </a:p>
          <a:p>
            <a:pPr lvl="1"/>
            <a:r>
              <a:rPr lang="en-GB" dirty="0"/>
              <a:t>Generated tests </a:t>
            </a:r>
          </a:p>
          <a:p>
            <a:pPr lvl="1"/>
            <a:r>
              <a:rPr lang="en-GB" dirty="0"/>
              <a:t>Refactored applications </a:t>
            </a:r>
          </a:p>
          <a:p>
            <a:r>
              <a:rPr lang="en-GB" dirty="0"/>
              <a:t>Now let us understand how Claude Code actually works</a:t>
            </a:r>
          </a:p>
          <a:p>
            <a:r>
              <a:rPr lang="en-GB" dirty="0"/>
              <a:t>Topics:</a:t>
            </a:r>
          </a:p>
          <a:p>
            <a:pPr lvl="1"/>
            <a:r>
              <a:rPr lang="en-GB" dirty="0"/>
              <a:t>Context Window </a:t>
            </a:r>
          </a:p>
          <a:p>
            <a:pPr lvl="1"/>
            <a:r>
              <a:rPr lang="en-GB" dirty="0"/>
              <a:t>Sessions </a:t>
            </a:r>
          </a:p>
          <a:p>
            <a:pPr lvl="1"/>
            <a:r>
              <a:rPr lang="en-GB" dirty="0"/>
              <a:t>Planning Mode </a:t>
            </a:r>
          </a:p>
          <a:p>
            <a:pPr lvl="1"/>
            <a:r>
              <a:rPr lang="en-GB" dirty="0"/>
              <a:t>Permission Modes </a:t>
            </a:r>
          </a:p>
          <a:p>
            <a:pPr lvl="1"/>
            <a:r>
              <a:rPr lang="en-GB" dirty="0"/>
              <a:t>Slash Commands </a:t>
            </a:r>
          </a:p>
          <a:p>
            <a:pPr lvl="1"/>
            <a:r>
              <a:rPr lang="en-GB" dirty="0"/>
              <a:t>Configuration</a:t>
            </a:r>
          </a:p>
        </p:txBody>
      </p:sp>
    </p:spTree>
    <p:extLst>
      <p:ext uri="{BB962C8B-B14F-4D97-AF65-F5344CB8AC3E}">
        <p14:creationId xmlns:p14="http://schemas.microsoft.com/office/powerpoint/2010/main" val="23535853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C4BD4-FCFC-4C51-8ADD-BF0186C5D953}"/>
              </a:ext>
            </a:extLst>
          </p:cNvPr>
          <p:cNvSpPr>
            <a:spLocks noGrp="1"/>
          </p:cNvSpPr>
          <p:nvPr>
            <p:ph type="title"/>
          </p:nvPr>
        </p:nvSpPr>
        <p:spPr/>
        <p:txBody>
          <a:bodyPr/>
          <a:lstStyle/>
          <a:p>
            <a:r>
              <a:rPr lang="en-IN" dirty="0"/>
              <a:t>Why Needed?</a:t>
            </a:r>
            <a:endParaRPr lang="en-GB" dirty="0"/>
          </a:p>
        </p:txBody>
      </p:sp>
      <p:sp>
        <p:nvSpPr>
          <p:cNvPr id="3" name="Content Placeholder 2">
            <a:extLst>
              <a:ext uri="{FF2B5EF4-FFF2-40B4-BE49-F238E27FC236}">
                <a16:creationId xmlns:a16="http://schemas.microsoft.com/office/drawing/2014/main" id="{9EA34D2C-7AEB-966A-927B-B7F2427C7B1E}"/>
              </a:ext>
            </a:extLst>
          </p:cNvPr>
          <p:cNvSpPr>
            <a:spLocks noGrp="1"/>
          </p:cNvSpPr>
          <p:nvPr>
            <p:ph idx="1"/>
          </p:nvPr>
        </p:nvSpPr>
        <p:spPr/>
        <p:txBody>
          <a:bodyPr>
            <a:normAutofit lnSpcReduction="10000"/>
          </a:bodyPr>
          <a:lstStyle/>
          <a:p>
            <a:r>
              <a:rPr lang="en-GB" dirty="0"/>
              <a:t>When projects become larger...</a:t>
            </a:r>
          </a:p>
          <a:p>
            <a:pPr lvl="1"/>
            <a:r>
              <a:rPr lang="en-GB" dirty="0"/>
              <a:t>Thousands of files </a:t>
            </a:r>
          </a:p>
          <a:p>
            <a:pPr lvl="1"/>
            <a:r>
              <a:rPr lang="en-GB" dirty="0"/>
              <a:t>Hundreds of prompts </a:t>
            </a:r>
          </a:p>
          <a:p>
            <a:pPr lvl="1"/>
            <a:r>
              <a:rPr lang="en-GB" dirty="0"/>
              <a:t>Long conversations </a:t>
            </a:r>
          </a:p>
          <a:p>
            <a:pPr lvl="1"/>
            <a:r>
              <a:rPr lang="en-GB" dirty="0"/>
              <a:t>Multiple developers </a:t>
            </a:r>
          </a:p>
          <a:p>
            <a:r>
              <a:rPr lang="en-GB" dirty="0"/>
              <a:t>Understanding these concepts helps you</a:t>
            </a:r>
          </a:p>
          <a:p>
            <a:pPr lvl="1"/>
            <a:r>
              <a:rPr lang="en-GB" dirty="0"/>
              <a:t>Get better answers</a:t>
            </a:r>
          </a:p>
          <a:p>
            <a:pPr lvl="1"/>
            <a:r>
              <a:rPr lang="en-GB" dirty="0"/>
              <a:t>Reduce token usage</a:t>
            </a:r>
          </a:p>
          <a:p>
            <a:pPr lvl="1"/>
            <a:r>
              <a:rPr lang="en-GB" dirty="0"/>
              <a:t>Avoid confusion</a:t>
            </a:r>
          </a:p>
          <a:p>
            <a:pPr lvl="1"/>
            <a:r>
              <a:rPr lang="en-GB" dirty="0"/>
              <a:t>Work faster</a:t>
            </a:r>
          </a:p>
          <a:p>
            <a:pPr lvl="1"/>
            <a:r>
              <a:rPr lang="en-GB" dirty="0"/>
              <a:t>Build reliable workflows</a:t>
            </a:r>
          </a:p>
        </p:txBody>
      </p:sp>
    </p:spTree>
    <p:extLst>
      <p:ext uri="{BB962C8B-B14F-4D97-AF65-F5344CB8AC3E}">
        <p14:creationId xmlns:p14="http://schemas.microsoft.com/office/powerpoint/2010/main" val="36157309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6ECF7-4906-FE6B-D525-75F9CE5CBE5E}"/>
              </a:ext>
            </a:extLst>
          </p:cNvPr>
          <p:cNvSpPr>
            <a:spLocks noGrp="1"/>
          </p:cNvSpPr>
          <p:nvPr>
            <p:ph type="title"/>
          </p:nvPr>
        </p:nvSpPr>
        <p:spPr>
          <a:xfrm>
            <a:off x="838200" y="97723"/>
            <a:ext cx="10515600" cy="530491"/>
          </a:xfrm>
        </p:spPr>
        <p:txBody>
          <a:bodyPr>
            <a:normAutofit fontScale="90000"/>
          </a:bodyPr>
          <a:lstStyle/>
          <a:p>
            <a:r>
              <a:rPr lang="en-IN" dirty="0"/>
              <a:t>Sessions</a:t>
            </a:r>
            <a:endParaRPr lang="en-GB" dirty="0"/>
          </a:p>
        </p:txBody>
      </p:sp>
      <p:sp>
        <p:nvSpPr>
          <p:cNvPr id="3" name="Content Placeholder 2">
            <a:extLst>
              <a:ext uri="{FF2B5EF4-FFF2-40B4-BE49-F238E27FC236}">
                <a16:creationId xmlns:a16="http://schemas.microsoft.com/office/drawing/2014/main" id="{71CAF3EC-C3EF-E27A-55DC-8418C33B1255}"/>
              </a:ext>
            </a:extLst>
          </p:cNvPr>
          <p:cNvSpPr>
            <a:spLocks noGrp="1"/>
          </p:cNvSpPr>
          <p:nvPr>
            <p:ph idx="1"/>
          </p:nvPr>
        </p:nvSpPr>
        <p:spPr>
          <a:xfrm>
            <a:off x="838200" y="725936"/>
            <a:ext cx="10515600" cy="5451027"/>
          </a:xfrm>
        </p:spPr>
        <p:txBody>
          <a:bodyPr>
            <a:normAutofit fontScale="70000" lnSpcReduction="20000"/>
          </a:bodyPr>
          <a:lstStyle/>
          <a:p>
            <a:r>
              <a:rPr lang="en-GB" b="1" dirty="0"/>
              <a:t>Session</a:t>
            </a:r>
            <a:r>
              <a:rPr lang="en-GB" dirty="0"/>
              <a:t> = A continuous the conversation </a:t>
            </a:r>
          </a:p>
          <a:p>
            <a:r>
              <a:rPr lang="en-GB" b="1" dirty="0"/>
              <a:t>Context</a:t>
            </a:r>
            <a:r>
              <a:rPr lang="en-GB" dirty="0"/>
              <a:t> = what Claude currently remembers within that conversation</a:t>
            </a:r>
          </a:p>
          <a:p>
            <a:r>
              <a:rPr lang="en-GB" dirty="0"/>
              <a:t>Example</a:t>
            </a:r>
          </a:p>
          <a:p>
            <a:pPr marL="457200" lvl="1" indent="0">
              <a:buNone/>
            </a:pPr>
            <a:r>
              <a:rPr lang="en-GB" dirty="0"/>
              <a:t>Session</a:t>
            </a:r>
          </a:p>
          <a:p>
            <a:pPr marL="457200" lvl="1" indent="0">
              <a:buNone/>
            </a:pPr>
            <a:r>
              <a:rPr lang="en-GB" dirty="0"/>
              <a:t>-------------------------------------------------------------</a:t>
            </a:r>
          </a:p>
          <a:p>
            <a:pPr marL="457200" lvl="1" indent="0">
              <a:buNone/>
            </a:pPr>
            <a:r>
              <a:rPr lang="en-GB" dirty="0"/>
              <a:t>Start</a:t>
            </a:r>
          </a:p>
          <a:p>
            <a:pPr marL="457200" lvl="1" indent="0">
              <a:buNone/>
            </a:pPr>
            <a:r>
              <a:rPr lang="en-GB" dirty="0"/>
              <a:t>  |</a:t>
            </a:r>
          </a:p>
          <a:p>
            <a:pPr marL="457200" lvl="1" indent="0">
              <a:buNone/>
            </a:pPr>
            <a:r>
              <a:rPr lang="en-GB" dirty="0"/>
              <a:t>  |  Prompt 1</a:t>
            </a:r>
          </a:p>
          <a:p>
            <a:pPr marL="457200" lvl="1" indent="0">
              <a:buNone/>
            </a:pPr>
            <a:r>
              <a:rPr lang="en-GB" dirty="0"/>
              <a:t>  |  Prompt 2</a:t>
            </a:r>
          </a:p>
          <a:p>
            <a:pPr marL="457200" lvl="1" indent="0">
              <a:buNone/>
            </a:pPr>
            <a:r>
              <a:rPr lang="en-GB" dirty="0"/>
              <a:t>  |  Prompt 3</a:t>
            </a:r>
          </a:p>
          <a:p>
            <a:pPr marL="457200" lvl="1" indent="0">
              <a:buNone/>
            </a:pPr>
            <a:r>
              <a:rPr lang="en-GB" dirty="0"/>
              <a:t>  |  ...</a:t>
            </a:r>
          </a:p>
          <a:p>
            <a:pPr marL="457200" lvl="1" indent="0">
              <a:buNone/>
            </a:pPr>
            <a:r>
              <a:rPr lang="en-GB" dirty="0"/>
              <a:t>  |  Prompt 200</a:t>
            </a:r>
          </a:p>
          <a:p>
            <a:pPr marL="457200" lvl="1" indent="0">
              <a:buNone/>
            </a:pPr>
            <a:r>
              <a:rPr lang="en-GB" dirty="0"/>
              <a:t>  |</a:t>
            </a:r>
          </a:p>
          <a:p>
            <a:pPr marL="457200" lvl="1" indent="0">
              <a:buNone/>
            </a:pPr>
            <a:r>
              <a:rPr lang="en-GB" dirty="0"/>
              <a:t>End</a:t>
            </a:r>
          </a:p>
          <a:p>
            <a:pPr lvl="1"/>
            <a:endParaRPr lang="en-GB" dirty="0"/>
          </a:p>
          <a:p>
            <a:pPr lvl="1"/>
            <a:endParaRPr lang="en-GB" dirty="0"/>
          </a:p>
          <a:p>
            <a:pPr lvl="1"/>
            <a:r>
              <a:rPr lang="en-GB" dirty="0"/>
              <a:t>Context (sliding window)</a:t>
            </a:r>
          </a:p>
          <a:p>
            <a:pPr lvl="1"/>
            <a:endParaRPr lang="en-GB" dirty="0"/>
          </a:p>
          <a:p>
            <a:pPr marL="457200" lvl="1" indent="0">
              <a:buNone/>
            </a:pPr>
            <a:r>
              <a:rPr lang="en-GB" dirty="0"/>
              <a:t>Initially: [Prompt1 Prompt2 Prompt3]</a:t>
            </a:r>
          </a:p>
          <a:p>
            <a:pPr marL="457200" lvl="1" indent="0">
              <a:buNone/>
            </a:pPr>
            <a:r>
              <a:rPr lang="en-GB" dirty="0"/>
              <a:t>Later:  [Prompt40 Prompt41 ... Prompt120]</a:t>
            </a:r>
          </a:p>
          <a:p>
            <a:pPr marL="457200" lvl="1" indent="0">
              <a:buNone/>
            </a:pPr>
            <a:r>
              <a:rPr lang="en-GB" dirty="0"/>
              <a:t>After /compact: [Summary of Prompt1-120] + [Prompt121-200]</a:t>
            </a:r>
          </a:p>
        </p:txBody>
      </p:sp>
    </p:spTree>
    <p:extLst>
      <p:ext uri="{BB962C8B-B14F-4D97-AF65-F5344CB8AC3E}">
        <p14:creationId xmlns:p14="http://schemas.microsoft.com/office/powerpoint/2010/main" val="20298421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635BA-C26F-6150-F658-E622401AB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9822B-6B10-C4F3-6FD3-7B144048DD10}"/>
              </a:ext>
            </a:extLst>
          </p:cNvPr>
          <p:cNvSpPr>
            <a:spLocks noGrp="1"/>
          </p:cNvSpPr>
          <p:nvPr>
            <p:ph type="title"/>
          </p:nvPr>
        </p:nvSpPr>
        <p:spPr/>
        <p:txBody>
          <a:bodyPr/>
          <a:lstStyle/>
          <a:p>
            <a:r>
              <a:rPr lang="en-IN" dirty="0"/>
              <a:t>Sessions</a:t>
            </a:r>
            <a:endParaRPr lang="en-GB" dirty="0"/>
          </a:p>
        </p:txBody>
      </p:sp>
      <p:sp>
        <p:nvSpPr>
          <p:cNvPr id="3" name="Content Placeholder 2">
            <a:extLst>
              <a:ext uri="{FF2B5EF4-FFF2-40B4-BE49-F238E27FC236}">
                <a16:creationId xmlns:a16="http://schemas.microsoft.com/office/drawing/2014/main" id="{A4971ED3-68E3-2A60-9F5A-F871CEC8CFF1}"/>
              </a:ext>
            </a:extLst>
          </p:cNvPr>
          <p:cNvSpPr>
            <a:spLocks noGrp="1"/>
          </p:cNvSpPr>
          <p:nvPr>
            <p:ph idx="1"/>
          </p:nvPr>
        </p:nvSpPr>
        <p:spPr/>
        <p:txBody>
          <a:bodyPr>
            <a:normAutofit/>
          </a:bodyPr>
          <a:lstStyle/>
          <a:p>
            <a:r>
              <a:rPr lang="en-GB" dirty="0"/>
              <a:t>Within a session Claude remembers </a:t>
            </a:r>
          </a:p>
          <a:p>
            <a:pPr lvl="1"/>
            <a:r>
              <a:rPr lang="en-GB" dirty="0"/>
              <a:t>previous prompts </a:t>
            </a:r>
          </a:p>
          <a:p>
            <a:pPr lvl="1"/>
            <a:r>
              <a:rPr lang="en-GB" dirty="0"/>
              <a:t>files </a:t>
            </a:r>
          </a:p>
          <a:p>
            <a:pPr lvl="1"/>
            <a:r>
              <a:rPr lang="en-GB" dirty="0"/>
              <a:t>decisions </a:t>
            </a:r>
          </a:p>
          <a:p>
            <a:pPr lvl="1"/>
            <a:r>
              <a:rPr lang="en-GB" dirty="0"/>
              <a:t>discussions </a:t>
            </a:r>
          </a:p>
          <a:p>
            <a:r>
              <a:rPr lang="en-GB" dirty="0"/>
              <a:t>Start a new session when</a:t>
            </a:r>
          </a:p>
          <a:p>
            <a:pPr lvl="1"/>
            <a:r>
              <a:rPr lang="en-GB" dirty="0"/>
              <a:t>Changing projects </a:t>
            </a:r>
          </a:p>
          <a:p>
            <a:pPr lvl="1"/>
            <a:r>
              <a:rPr lang="en-GB" dirty="0"/>
              <a:t>Starting a new feature </a:t>
            </a:r>
          </a:p>
          <a:p>
            <a:pPr lvl="1"/>
            <a:r>
              <a:rPr lang="en-GB" dirty="0"/>
              <a:t>Context becomes messy</a:t>
            </a:r>
          </a:p>
          <a:p>
            <a:endParaRPr lang="en-GB" dirty="0"/>
          </a:p>
        </p:txBody>
      </p:sp>
    </p:spTree>
    <p:extLst>
      <p:ext uri="{BB962C8B-B14F-4D97-AF65-F5344CB8AC3E}">
        <p14:creationId xmlns:p14="http://schemas.microsoft.com/office/powerpoint/2010/main" val="34085172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A4FE1-EA28-2C4E-5923-59AE9128E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C22CA-452E-7031-F99F-541A72F6EC7B}"/>
              </a:ext>
            </a:extLst>
          </p:cNvPr>
          <p:cNvSpPr>
            <a:spLocks noGrp="1"/>
          </p:cNvSpPr>
          <p:nvPr>
            <p:ph type="title"/>
          </p:nvPr>
        </p:nvSpPr>
        <p:spPr/>
        <p:txBody>
          <a:bodyPr/>
          <a:lstStyle/>
          <a:p>
            <a:r>
              <a:rPr lang="en-IN" dirty="0"/>
              <a:t>Example Session</a:t>
            </a:r>
            <a:endParaRPr lang="en-GB" dirty="0"/>
          </a:p>
        </p:txBody>
      </p:sp>
      <p:sp>
        <p:nvSpPr>
          <p:cNvPr id="3" name="Content Placeholder 2">
            <a:extLst>
              <a:ext uri="{FF2B5EF4-FFF2-40B4-BE49-F238E27FC236}">
                <a16:creationId xmlns:a16="http://schemas.microsoft.com/office/drawing/2014/main" id="{1328DE69-6C53-BC99-5577-57869663007F}"/>
              </a:ext>
            </a:extLst>
          </p:cNvPr>
          <p:cNvSpPr>
            <a:spLocks noGrp="1"/>
          </p:cNvSpPr>
          <p:nvPr>
            <p:ph idx="1"/>
          </p:nvPr>
        </p:nvSpPr>
        <p:spPr/>
        <p:txBody>
          <a:bodyPr>
            <a:normAutofit lnSpcReduction="10000"/>
          </a:bodyPr>
          <a:lstStyle/>
          <a:p>
            <a:r>
              <a:rPr lang="en-GB" dirty="0"/>
              <a:t>Morning: Build login page</a:t>
            </a:r>
          </a:p>
          <a:p>
            <a:r>
              <a:rPr lang="en-GB" dirty="0"/>
              <a:t>Later: Now write unit tests</a:t>
            </a:r>
          </a:p>
          <a:p>
            <a:r>
              <a:rPr lang="en-GB" dirty="0"/>
              <a:t>Later: Update documentation</a:t>
            </a:r>
          </a:p>
          <a:p>
            <a:r>
              <a:rPr lang="en-GB" dirty="0"/>
              <a:t>Claude remembers the earlier work</a:t>
            </a:r>
          </a:p>
          <a:p>
            <a:r>
              <a:rPr lang="en-GB" dirty="0"/>
              <a:t>No need to explain everything again</a:t>
            </a:r>
          </a:p>
          <a:p>
            <a:r>
              <a:rPr lang="en-GB" dirty="0"/>
              <a:t>When to start a new session?</a:t>
            </a:r>
          </a:p>
          <a:p>
            <a:pPr lvl="1"/>
            <a:r>
              <a:rPr lang="en-GB" dirty="0"/>
              <a:t>New project </a:t>
            </a:r>
          </a:p>
          <a:p>
            <a:pPr lvl="1"/>
            <a:r>
              <a:rPr lang="en-GB" dirty="0"/>
              <a:t>Different customer </a:t>
            </a:r>
          </a:p>
          <a:p>
            <a:pPr lvl="1"/>
            <a:r>
              <a:rPr lang="en-GB" dirty="0"/>
              <a:t>Completely different feature </a:t>
            </a:r>
          </a:p>
          <a:p>
            <a:pPr lvl="1"/>
            <a:r>
              <a:rPr lang="en-GB" dirty="0"/>
              <a:t>Conversation getting confusing</a:t>
            </a:r>
          </a:p>
        </p:txBody>
      </p:sp>
    </p:spTree>
    <p:extLst>
      <p:ext uri="{BB962C8B-B14F-4D97-AF65-F5344CB8AC3E}">
        <p14:creationId xmlns:p14="http://schemas.microsoft.com/office/powerpoint/2010/main" val="13099395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0E454-1644-55A7-0D67-E230BCB7532C}"/>
              </a:ext>
            </a:extLst>
          </p:cNvPr>
          <p:cNvSpPr>
            <a:spLocks noGrp="1"/>
          </p:cNvSpPr>
          <p:nvPr>
            <p:ph type="title"/>
          </p:nvPr>
        </p:nvSpPr>
        <p:spPr/>
        <p:txBody>
          <a:bodyPr/>
          <a:lstStyle/>
          <a:p>
            <a:r>
              <a:rPr lang="en-IN" dirty="0"/>
              <a:t>Context Window</a:t>
            </a:r>
            <a:endParaRPr lang="en-GB" dirty="0"/>
          </a:p>
        </p:txBody>
      </p:sp>
      <p:sp>
        <p:nvSpPr>
          <p:cNvPr id="3" name="Content Placeholder 2">
            <a:extLst>
              <a:ext uri="{FF2B5EF4-FFF2-40B4-BE49-F238E27FC236}">
                <a16:creationId xmlns:a16="http://schemas.microsoft.com/office/drawing/2014/main" id="{B1EA3303-3E82-8947-E830-64683E60798A}"/>
              </a:ext>
            </a:extLst>
          </p:cNvPr>
          <p:cNvSpPr>
            <a:spLocks noGrp="1"/>
          </p:cNvSpPr>
          <p:nvPr>
            <p:ph idx="1"/>
          </p:nvPr>
        </p:nvSpPr>
        <p:spPr/>
        <p:txBody>
          <a:bodyPr>
            <a:normAutofit fontScale="85000" lnSpcReduction="20000"/>
          </a:bodyPr>
          <a:lstStyle/>
          <a:p>
            <a:r>
              <a:rPr lang="en-GB" dirty="0"/>
              <a:t>Context window: Everything Claude can "see" at one time and includes</a:t>
            </a:r>
          </a:p>
          <a:p>
            <a:pPr lvl="1"/>
            <a:r>
              <a:rPr lang="en-GB" dirty="0"/>
              <a:t>Current prompt </a:t>
            </a:r>
          </a:p>
          <a:p>
            <a:pPr lvl="1"/>
            <a:r>
              <a:rPr lang="en-GB" dirty="0"/>
              <a:t>Previous conversation </a:t>
            </a:r>
          </a:p>
          <a:p>
            <a:pPr lvl="1"/>
            <a:r>
              <a:rPr lang="en-GB" dirty="0"/>
              <a:t>Files opened </a:t>
            </a:r>
          </a:p>
          <a:p>
            <a:pPr lvl="1"/>
            <a:r>
              <a:rPr lang="en-GB" dirty="0"/>
              <a:t>Code sent </a:t>
            </a:r>
          </a:p>
          <a:p>
            <a:pPr lvl="1"/>
            <a:r>
              <a:rPr lang="en-GB" dirty="0"/>
              <a:t>Instructions (CLAUDE.md) </a:t>
            </a:r>
          </a:p>
          <a:p>
            <a:pPr lvl="1"/>
            <a:r>
              <a:rPr lang="en-GB" dirty="0"/>
              <a:t>Project memory </a:t>
            </a:r>
          </a:p>
          <a:p>
            <a:r>
              <a:rPr lang="en-GB" dirty="0"/>
              <a:t>Think of it as Claude's temporary working memory</a:t>
            </a:r>
          </a:p>
          <a:p>
            <a:r>
              <a:rPr lang="en-GB" dirty="0"/>
              <a:t>Imagine explaining a project to a new developer</a:t>
            </a:r>
          </a:p>
          <a:p>
            <a:r>
              <a:rPr lang="en-GB" dirty="0"/>
              <a:t>If they only remember last 5 minutes, they miss important details</a:t>
            </a:r>
          </a:p>
          <a:p>
            <a:r>
              <a:rPr lang="en-GB" dirty="0"/>
              <a:t>If they remember entire project history, they make much better decisions</a:t>
            </a:r>
          </a:p>
          <a:p>
            <a:r>
              <a:rPr lang="en-GB" dirty="0"/>
              <a:t>Claude works the same way</a:t>
            </a:r>
          </a:p>
          <a:p>
            <a:r>
              <a:rPr lang="en-GB" dirty="0"/>
              <a:t>More relevant context → Better answers</a:t>
            </a:r>
          </a:p>
        </p:txBody>
      </p:sp>
    </p:spTree>
    <p:extLst>
      <p:ext uri="{BB962C8B-B14F-4D97-AF65-F5344CB8AC3E}">
        <p14:creationId xmlns:p14="http://schemas.microsoft.com/office/powerpoint/2010/main" val="36487589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2E5E6-895F-0922-277D-27E9C09ED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796F0-64A9-59F5-43C1-08CDF8D20D94}"/>
              </a:ext>
            </a:extLst>
          </p:cNvPr>
          <p:cNvSpPr>
            <a:spLocks noGrp="1"/>
          </p:cNvSpPr>
          <p:nvPr>
            <p:ph type="title"/>
          </p:nvPr>
        </p:nvSpPr>
        <p:spPr/>
        <p:txBody>
          <a:bodyPr/>
          <a:lstStyle/>
          <a:p>
            <a:r>
              <a:rPr lang="en-IN" dirty="0"/>
              <a:t>Good Context Practices</a:t>
            </a:r>
            <a:endParaRPr lang="en-GB" dirty="0"/>
          </a:p>
        </p:txBody>
      </p:sp>
      <p:sp>
        <p:nvSpPr>
          <p:cNvPr id="3" name="Content Placeholder 2">
            <a:extLst>
              <a:ext uri="{FF2B5EF4-FFF2-40B4-BE49-F238E27FC236}">
                <a16:creationId xmlns:a16="http://schemas.microsoft.com/office/drawing/2014/main" id="{9C321F23-5109-7F7E-E2DB-BA89011F4A5F}"/>
              </a:ext>
            </a:extLst>
          </p:cNvPr>
          <p:cNvSpPr>
            <a:spLocks noGrp="1"/>
          </p:cNvSpPr>
          <p:nvPr>
            <p:ph idx="1"/>
          </p:nvPr>
        </p:nvSpPr>
        <p:spPr/>
        <p:txBody>
          <a:bodyPr>
            <a:normAutofit fontScale="85000" lnSpcReduction="20000"/>
          </a:bodyPr>
          <a:lstStyle/>
          <a:p>
            <a:r>
              <a:rPr lang="en-GB" dirty="0"/>
              <a:t>Provide</a:t>
            </a:r>
          </a:p>
          <a:p>
            <a:pPr lvl="1"/>
            <a:r>
              <a:rPr lang="en-GB" dirty="0"/>
              <a:t>Goal </a:t>
            </a:r>
          </a:p>
          <a:p>
            <a:pPr lvl="1"/>
            <a:r>
              <a:rPr lang="en-GB" dirty="0"/>
              <a:t>Project </a:t>
            </a:r>
          </a:p>
          <a:p>
            <a:pPr lvl="1"/>
            <a:r>
              <a:rPr lang="en-GB" dirty="0"/>
              <a:t>Relevant files </a:t>
            </a:r>
          </a:p>
          <a:p>
            <a:pPr lvl="1"/>
            <a:r>
              <a:rPr lang="en-GB" dirty="0"/>
              <a:t>Constraints </a:t>
            </a:r>
          </a:p>
          <a:p>
            <a:pPr lvl="1"/>
            <a:r>
              <a:rPr lang="en-GB" dirty="0"/>
              <a:t>Coding standards </a:t>
            </a:r>
          </a:p>
          <a:p>
            <a:pPr lvl="1"/>
            <a:r>
              <a:rPr lang="en-GB" dirty="0"/>
              <a:t>Expected output </a:t>
            </a:r>
          </a:p>
          <a:p>
            <a:r>
              <a:rPr lang="en-GB" dirty="0"/>
              <a:t>Avoid</a:t>
            </a:r>
          </a:p>
          <a:p>
            <a:pPr lvl="1"/>
            <a:r>
              <a:rPr lang="en-GB" dirty="0"/>
              <a:t>Unnecessary files </a:t>
            </a:r>
          </a:p>
          <a:p>
            <a:pPr lvl="1"/>
            <a:r>
              <a:rPr lang="en-GB" dirty="0"/>
              <a:t>Old discussions </a:t>
            </a:r>
          </a:p>
          <a:p>
            <a:pPr lvl="1"/>
            <a:r>
              <a:rPr lang="en-GB" dirty="0"/>
              <a:t>Irrelevant logs </a:t>
            </a:r>
          </a:p>
          <a:p>
            <a:pPr lvl="1"/>
            <a:r>
              <a:rPr lang="en-GB" dirty="0"/>
              <a:t>Quality beats quantity</a:t>
            </a:r>
          </a:p>
          <a:p>
            <a:r>
              <a:rPr lang="en-GB" dirty="0"/>
              <a:t>General context limits: 1 million tokens for recent models such as Claude Sonnet 4.6 and Opus 4.6 ≈ 2500 pages of text</a:t>
            </a:r>
          </a:p>
          <a:p>
            <a:endParaRPr lang="en-GB" dirty="0"/>
          </a:p>
        </p:txBody>
      </p:sp>
    </p:spTree>
    <p:extLst>
      <p:ext uri="{BB962C8B-B14F-4D97-AF65-F5344CB8AC3E}">
        <p14:creationId xmlns:p14="http://schemas.microsoft.com/office/powerpoint/2010/main" val="26681883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E275D-347D-504A-0B0D-297C2E560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7AD63-8911-0F58-1465-61A0405C3CCF}"/>
              </a:ext>
            </a:extLst>
          </p:cNvPr>
          <p:cNvSpPr>
            <a:spLocks noGrp="1"/>
          </p:cNvSpPr>
          <p:nvPr>
            <p:ph type="title"/>
          </p:nvPr>
        </p:nvSpPr>
        <p:spPr>
          <a:xfrm>
            <a:off x="838200" y="69803"/>
            <a:ext cx="10515600" cy="611234"/>
          </a:xfrm>
        </p:spPr>
        <p:txBody>
          <a:bodyPr>
            <a:normAutofit fontScale="90000"/>
          </a:bodyPr>
          <a:lstStyle/>
          <a:p>
            <a:r>
              <a:rPr lang="en-IN" dirty="0"/>
              <a:t>/ Commands for Context Management</a:t>
            </a:r>
            <a:endParaRPr lang="en-GB" dirty="0"/>
          </a:p>
        </p:txBody>
      </p:sp>
      <p:sp>
        <p:nvSpPr>
          <p:cNvPr id="3" name="Content Placeholder 2">
            <a:extLst>
              <a:ext uri="{FF2B5EF4-FFF2-40B4-BE49-F238E27FC236}">
                <a16:creationId xmlns:a16="http://schemas.microsoft.com/office/drawing/2014/main" id="{0F344100-9A91-4ACA-DFCD-8315E43A625B}"/>
              </a:ext>
            </a:extLst>
          </p:cNvPr>
          <p:cNvSpPr>
            <a:spLocks noGrp="1"/>
          </p:cNvSpPr>
          <p:nvPr>
            <p:ph idx="1"/>
          </p:nvPr>
        </p:nvSpPr>
        <p:spPr>
          <a:xfrm>
            <a:off x="838200" y="837618"/>
            <a:ext cx="10515600" cy="5339345"/>
          </a:xfrm>
        </p:spPr>
        <p:txBody>
          <a:bodyPr>
            <a:normAutofit/>
          </a:bodyPr>
          <a:lstStyle/>
          <a:p>
            <a:r>
              <a:rPr lang="en-GB" dirty="0"/>
              <a:t>As the context fills up, Claude Code automatically compacts the older information by summarizing it</a:t>
            </a:r>
          </a:p>
          <a:p>
            <a:r>
              <a:rPr lang="en-GB" dirty="0"/>
              <a:t>Main commands for session and context</a:t>
            </a:r>
          </a:p>
        </p:txBody>
      </p:sp>
      <p:graphicFrame>
        <p:nvGraphicFramePr>
          <p:cNvPr id="4" name="Table 3">
            <a:extLst>
              <a:ext uri="{FF2B5EF4-FFF2-40B4-BE49-F238E27FC236}">
                <a16:creationId xmlns:a16="http://schemas.microsoft.com/office/drawing/2014/main" id="{6C9F4494-E5E1-5D27-5D62-5A0716BF24D0}"/>
              </a:ext>
            </a:extLst>
          </p:cNvPr>
          <p:cNvGraphicFramePr>
            <a:graphicFrameLocks noGrp="1"/>
          </p:cNvGraphicFramePr>
          <p:nvPr>
            <p:extLst>
              <p:ext uri="{D42A27DB-BD31-4B8C-83A1-F6EECF244321}">
                <p14:modId xmlns:p14="http://schemas.microsoft.com/office/powerpoint/2010/main" val="3042749651"/>
              </p:ext>
            </p:extLst>
          </p:nvPr>
        </p:nvGraphicFramePr>
        <p:xfrm>
          <a:off x="1001220" y="2293296"/>
          <a:ext cx="10008078" cy="4526213"/>
        </p:xfrm>
        <a:graphic>
          <a:graphicData uri="http://schemas.openxmlformats.org/drawingml/2006/table">
            <a:tbl>
              <a:tblPr firstRow="1">
                <a:tableStyleId>{B301B821-A1FF-4177-AEE7-76D212191A09}</a:tableStyleId>
              </a:tblPr>
              <a:tblGrid>
                <a:gridCol w="1986286">
                  <a:extLst>
                    <a:ext uri="{9D8B030D-6E8A-4147-A177-3AD203B41FA5}">
                      <a16:colId xmlns:a16="http://schemas.microsoft.com/office/drawing/2014/main" val="1624886511"/>
                    </a:ext>
                  </a:extLst>
                </a:gridCol>
                <a:gridCol w="8021792">
                  <a:extLst>
                    <a:ext uri="{9D8B030D-6E8A-4147-A177-3AD203B41FA5}">
                      <a16:colId xmlns:a16="http://schemas.microsoft.com/office/drawing/2014/main" val="800898517"/>
                    </a:ext>
                  </a:extLst>
                </a:gridCol>
              </a:tblGrid>
              <a:tr h="348107">
                <a:tc>
                  <a:txBody>
                    <a:bodyPr/>
                    <a:lstStyle/>
                    <a:p>
                      <a:pPr>
                        <a:buNone/>
                      </a:pPr>
                      <a:r>
                        <a:rPr lang="en-GB" sz="2000"/>
                        <a:t>Command</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000" dirty="0"/>
                        <a:t>Purpose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7157254"/>
                  </a:ext>
                </a:extLst>
              </a:tr>
              <a:tr h="609187">
                <a:tc>
                  <a:txBody>
                    <a:bodyPr/>
                    <a:lstStyle/>
                    <a:p>
                      <a:pPr>
                        <a:buNone/>
                      </a:pPr>
                      <a:r>
                        <a:rPr lang="en-GB" sz="2000"/>
                        <a:t>/clear</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000" dirty="0"/>
                        <a:t>Start a fresh conversation (new session) while staying in the same project.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1126446"/>
                  </a:ext>
                </a:extLst>
              </a:tr>
              <a:tr h="609187">
                <a:tc>
                  <a:txBody>
                    <a:bodyPr/>
                    <a:lstStyle/>
                    <a:p>
                      <a:pPr>
                        <a:buNone/>
                      </a:pPr>
                      <a:r>
                        <a:rPr lang="en-GB" sz="2000"/>
                        <a:t>/compact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000"/>
                        <a:t>Summarize the current conversation to reduce context usage.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8239886"/>
                  </a:ext>
                </a:extLst>
              </a:tr>
              <a:tr h="609187">
                <a:tc>
                  <a:txBody>
                    <a:bodyPr/>
                    <a:lstStyle/>
                    <a:p>
                      <a:pPr>
                        <a:buNone/>
                      </a:pPr>
                      <a:r>
                        <a:rPr lang="en-GB" sz="2000"/>
                        <a:t>/context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000"/>
                        <a:t>Show how much context is being used and what is consuming it.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3540256"/>
                  </a:ext>
                </a:extLst>
              </a:tr>
              <a:tr h="348107">
                <a:tc>
                  <a:txBody>
                    <a:bodyPr/>
                    <a:lstStyle/>
                    <a:p>
                      <a:pPr>
                        <a:buNone/>
                      </a:pPr>
                      <a:r>
                        <a:rPr lang="en-GB" sz="2000"/>
                        <a:t>/resume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000"/>
                        <a:t>Resume a previous conversation/session.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2984745"/>
                  </a:ext>
                </a:extLst>
              </a:tr>
              <a:tr h="609187">
                <a:tc>
                  <a:txBody>
                    <a:bodyPr/>
                    <a:lstStyle/>
                    <a:p>
                      <a:pPr>
                        <a:buNone/>
                      </a:pPr>
                      <a:r>
                        <a:rPr lang="en-GB" sz="2000"/>
                        <a:t>/status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000"/>
                        <a:t>Display current session information, model, permissions, and other settings.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6083497"/>
                  </a:ext>
                </a:extLst>
              </a:tr>
              <a:tr h="609187">
                <a:tc>
                  <a:txBody>
                    <a:bodyPr/>
                    <a:lstStyle/>
                    <a:p>
                      <a:pPr>
                        <a:buNone/>
                      </a:pPr>
                      <a:r>
                        <a:rPr lang="en-GB" sz="2000"/>
                        <a:t>/memory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000"/>
                        <a:t>View or edit project/user memory that Claude can reuse across sessions.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106350"/>
                  </a:ext>
                </a:extLst>
              </a:tr>
              <a:tr h="609187">
                <a:tc>
                  <a:txBody>
                    <a:bodyPr/>
                    <a:lstStyle/>
                    <a:p>
                      <a:pPr>
                        <a:buNone/>
                      </a:pPr>
                      <a:r>
                        <a:rPr lang="en-GB" sz="2000"/>
                        <a:t>/init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000" dirty="0"/>
                        <a:t>Create or update a CLAUDE.md file for the project (project instructions that persist across sessions).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3826954"/>
                  </a:ext>
                </a:extLst>
              </a:tr>
            </a:tbl>
          </a:graphicData>
        </a:graphic>
      </p:graphicFrame>
    </p:spTree>
    <p:extLst>
      <p:ext uri="{BB962C8B-B14F-4D97-AF65-F5344CB8AC3E}">
        <p14:creationId xmlns:p14="http://schemas.microsoft.com/office/powerpoint/2010/main" val="41434006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6B417-08ED-A5F2-FBDA-9AB5CDD9425B}"/>
              </a:ext>
            </a:extLst>
          </p:cNvPr>
          <p:cNvSpPr>
            <a:spLocks noGrp="1"/>
          </p:cNvSpPr>
          <p:nvPr>
            <p:ph type="title"/>
          </p:nvPr>
        </p:nvSpPr>
        <p:spPr/>
        <p:txBody>
          <a:bodyPr/>
          <a:lstStyle/>
          <a:p>
            <a:r>
              <a:rPr lang="en-IN" dirty="0"/>
              <a:t>Planning</a:t>
            </a:r>
            <a:endParaRPr lang="en-GB" dirty="0"/>
          </a:p>
        </p:txBody>
      </p:sp>
      <p:sp>
        <p:nvSpPr>
          <p:cNvPr id="3" name="Content Placeholder 2">
            <a:extLst>
              <a:ext uri="{FF2B5EF4-FFF2-40B4-BE49-F238E27FC236}">
                <a16:creationId xmlns:a16="http://schemas.microsoft.com/office/drawing/2014/main" id="{8BB18E3B-3B25-3E54-5A6D-BDB18340E08C}"/>
              </a:ext>
            </a:extLst>
          </p:cNvPr>
          <p:cNvSpPr>
            <a:spLocks noGrp="1"/>
          </p:cNvSpPr>
          <p:nvPr>
            <p:ph idx="1"/>
          </p:nvPr>
        </p:nvSpPr>
        <p:spPr/>
        <p:txBody>
          <a:bodyPr>
            <a:normAutofit fontScale="77500" lnSpcReduction="20000"/>
          </a:bodyPr>
          <a:lstStyle/>
          <a:p>
            <a:r>
              <a:rPr lang="en-GB" dirty="0"/>
              <a:t>Without planning</a:t>
            </a:r>
          </a:p>
          <a:p>
            <a:pPr lvl="1"/>
            <a:r>
              <a:rPr lang="en-GB" dirty="0"/>
              <a:t>Prompt: Build payment module</a:t>
            </a:r>
          </a:p>
          <a:p>
            <a:pPr lvl="1"/>
            <a:r>
              <a:rPr lang="en-GB" dirty="0"/>
              <a:t>Claude starts coding immediately</a:t>
            </a:r>
          </a:p>
          <a:p>
            <a:pPr lvl="1"/>
            <a:r>
              <a:rPr lang="en-GB" dirty="0"/>
              <a:t>May miss</a:t>
            </a:r>
          </a:p>
          <a:p>
            <a:pPr lvl="2"/>
            <a:r>
              <a:rPr lang="en-GB" dirty="0"/>
              <a:t>architecture </a:t>
            </a:r>
          </a:p>
          <a:p>
            <a:pPr lvl="2"/>
            <a:r>
              <a:rPr lang="en-GB" dirty="0"/>
              <a:t>dependencies </a:t>
            </a:r>
          </a:p>
          <a:p>
            <a:pPr lvl="2"/>
            <a:r>
              <a:rPr lang="en-GB" dirty="0"/>
              <a:t>edge cases</a:t>
            </a:r>
          </a:p>
          <a:p>
            <a:r>
              <a:rPr lang="en-GB" dirty="0"/>
              <a:t>With planning</a:t>
            </a:r>
          </a:p>
          <a:p>
            <a:pPr lvl="1"/>
            <a:r>
              <a:rPr lang="en-GB" dirty="0"/>
              <a:t>Claude first creates</a:t>
            </a:r>
          </a:p>
          <a:p>
            <a:pPr lvl="2"/>
            <a:r>
              <a:rPr lang="en-GB" dirty="0"/>
              <a:t>design </a:t>
            </a:r>
          </a:p>
          <a:p>
            <a:pPr lvl="2"/>
            <a:r>
              <a:rPr lang="en-GB" dirty="0"/>
              <a:t>files </a:t>
            </a:r>
          </a:p>
          <a:p>
            <a:pPr lvl="2"/>
            <a:r>
              <a:rPr lang="en-GB" dirty="0"/>
              <a:t>dependencies </a:t>
            </a:r>
          </a:p>
          <a:p>
            <a:pPr lvl="2"/>
            <a:r>
              <a:rPr lang="en-GB" dirty="0"/>
              <a:t>risks </a:t>
            </a:r>
          </a:p>
          <a:p>
            <a:pPr lvl="2"/>
            <a:r>
              <a:rPr lang="en-GB" dirty="0"/>
              <a:t>implementation order </a:t>
            </a:r>
          </a:p>
          <a:p>
            <a:pPr lvl="1"/>
            <a:r>
              <a:rPr lang="en-GB" dirty="0"/>
              <a:t>Then writes code</a:t>
            </a:r>
          </a:p>
          <a:p>
            <a:pPr lvl="1"/>
            <a:r>
              <a:rPr lang="en-GB" dirty="0"/>
              <a:t>Much safer</a:t>
            </a:r>
          </a:p>
        </p:txBody>
      </p:sp>
    </p:spTree>
    <p:extLst>
      <p:ext uri="{BB962C8B-B14F-4D97-AF65-F5344CB8AC3E}">
        <p14:creationId xmlns:p14="http://schemas.microsoft.com/office/powerpoint/2010/main" val="38183886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76BFA-7CB8-1F80-01C3-8B83D3649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A6BE5-76F9-7C19-C6E0-9FF37744B853}"/>
              </a:ext>
            </a:extLst>
          </p:cNvPr>
          <p:cNvSpPr>
            <a:spLocks noGrp="1"/>
          </p:cNvSpPr>
          <p:nvPr>
            <p:ph type="title"/>
          </p:nvPr>
        </p:nvSpPr>
        <p:spPr/>
        <p:txBody>
          <a:bodyPr/>
          <a:lstStyle/>
          <a:p>
            <a:r>
              <a:rPr lang="en-IN" dirty="0"/>
              <a:t>Planning Prompt Example</a:t>
            </a:r>
            <a:endParaRPr lang="en-GB" dirty="0"/>
          </a:p>
        </p:txBody>
      </p:sp>
      <p:sp>
        <p:nvSpPr>
          <p:cNvPr id="3" name="Content Placeholder 2">
            <a:extLst>
              <a:ext uri="{FF2B5EF4-FFF2-40B4-BE49-F238E27FC236}">
                <a16:creationId xmlns:a16="http://schemas.microsoft.com/office/drawing/2014/main" id="{F81B3A29-60FE-AB3D-5BC6-C12B42E5944B}"/>
              </a:ext>
            </a:extLst>
          </p:cNvPr>
          <p:cNvSpPr>
            <a:spLocks noGrp="1"/>
          </p:cNvSpPr>
          <p:nvPr>
            <p:ph idx="1"/>
          </p:nvPr>
        </p:nvSpPr>
        <p:spPr/>
        <p:txBody>
          <a:bodyPr>
            <a:normAutofit/>
          </a:bodyPr>
          <a:lstStyle/>
          <a:p>
            <a:r>
              <a:rPr lang="en-GB" dirty="0"/>
              <a:t>Instead of: Create authentication</a:t>
            </a:r>
          </a:p>
          <a:p>
            <a:r>
              <a:rPr lang="en-GB" dirty="0"/>
              <a:t>Use</a:t>
            </a:r>
          </a:p>
          <a:p>
            <a:pPr lvl="1"/>
            <a:r>
              <a:rPr lang="en-GB" dirty="0"/>
              <a:t>First create an implementation plan.</a:t>
            </a:r>
          </a:p>
          <a:p>
            <a:pPr lvl="1"/>
            <a:r>
              <a:rPr lang="en-GB" dirty="0"/>
              <a:t>Identify files.</a:t>
            </a:r>
          </a:p>
          <a:p>
            <a:pPr lvl="1"/>
            <a:r>
              <a:rPr lang="en-GB" dirty="0"/>
              <a:t>List dependencies.</a:t>
            </a:r>
          </a:p>
          <a:p>
            <a:pPr lvl="1"/>
            <a:r>
              <a:rPr lang="en-GB" dirty="0"/>
              <a:t>Wait for approval before coding.</a:t>
            </a:r>
          </a:p>
          <a:p>
            <a:r>
              <a:rPr lang="en-GB" dirty="0"/>
              <a:t>Now the developer reviews the plan before changes begin</a:t>
            </a:r>
          </a:p>
        </p:txBody>
      </p:sp>
    </p:spTree>
    <p:extLst>
      <p:ext uri="{BB962C8B-B14F-4D97-AF65-F5344CB8AC3E}">
        <p14:creationId xmlns:p14="http://schemas.microsoft.com/office/powerpoint/2010/main" val="40874054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4D72-0610-7A07-D5D9-C64691A21B7C}"/>
              </a:ext>
            </a:extLst>
          </p:cNvPr>
          <p:cNvSpPr>
            <a:spLocks noGrp="1"/>
          </p:cNvSpPr>
          <p:nvPr>
            <p:ph type="title"/>
          </p:nvPr>
        </p:nvSpPr>
        <p:spPr/>
        <p:txBody>
          <a:bodyPr/>
          <a:lstStyle/>
          <a:p>
            <a:r>
              <a:rPr lang="en-IN" dirty="0"/>
              <a:t>Permission Modes</a:t>
            </a:r>
            <a:endParaRPr lang="en-GB" dirty="0"/>
          </a:p>
        </p:txBody>
      </p:sp>
      <p:sp>
        <p:nvSpPr>
          <p:cNvPr id="3" name="Content Placeholder 2">
            <a:extLst>
              <a:ext uri="{FF2B5EF4-FFF2-40B4-BE49-F238E27FC236}">
                <a16:creationId xmlns:a16="http://schemas.microsoft.com/office/drawing/2014/main" id="{63085AA8-E334-FA38-941D-885E5B69A821}"/>
              </a:ext>
            </a:extLst>
          </p:cNvPr>
          <p:cNvSpPr>
            <a:spLocks noGrp="1"/>
          </p:cNvSpPr>
          <p:nvPr>
            <p:ph idx="1"/>
          </p:nvPr>
        </p:nvSpPr>
        <p:spPr/>
        <p:txBody>
          <a:bodyPr/>
          <a:lstStyle/>
          <a:p>
            <a:r>
              <a:rPr lang="en-GB" dirty="0"/>
              <a:t>Claude can perform actions</a:t>
            </a:r>
          </a:p>
          <a:p>
            <a:r>
              <a:rPr lang="en-GB" dirty="0"/>
              <a:t>Examples</a:t>
            </a:r>
          </a:p>
          <a:p>
            <a:pPr lvl="1"/>
            <a:r>
              <a:rPr lang="en-GB" dirty="0"/>
              <a:t>Read files </a:t>
            </a:r>
          </a:p>
          <a:p>
            <a:pPr lvl="1"/>
            <a:r>
              <a:rPr lang="en-GB" dirty="0"/>
              <a:t>Write files </a:t>
            </a:r>
          </a:p>
          <a:p>
            <a:pPr lvl="1"/>
            <a:r>
              <a:rPr lang="en-GB" dirty="0"/>
              <a:t>Execute commands </a:t>
            </a:r>
          </a:p>
          <a:p>
            <a:pPr lvl="1"/>
            <a:r>
              <a:rPr lang="en-GB" dirty="0"/>
              <a:t>Install packages </a:t>
            </a:r>
          </a:p>
          <a:p>
            <a:r>
              <a:rPr lang="en-GB" dirty="0"/>
              <a:t>Permission modes control What Claude is allowed to do automatically</a:t>
            </a:r>
          </a:p>
          <a:p>
            <a:endParaRPr lang="en-GB" dirty="0"/>
          </a:p>
          <a:p>
            <a:endParaRPr lang="en-GB" dirty="0"/>
          </a:p>
        </p:txBody>
      </p:sp>
    </p:spTree>
    <p:extLst>
      <p:ext uri="{BB962C8B-B14F-4D97-AF65-F5344CB8AC3E}">
        <p14:creationId xmlns:p14="http://schemas.microsoft.com/office/powerpoint/2010/main" val="27923275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090B-6669-1097-6A48-3E0A6C04C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6E0E9-DEE7-354A-2166-9D8AF18108E2}"/>
              </a:ext>
            </a:extLst>
          </p:cNvPr>
          <p:cNvSpPr>
            <a:spLocks noGrp="1"/>
          </p:cNvSpPr>
          <p:nvPr>
            <p:ph type="title"/>
          </p:nvPr>
        </p:nvSpPr>
        <p:spPr/>
        <p:txBody>
          <a:bodyPr/>
          <a:lstStyle/>
          <a:p>
            <a:r>
              <a:rPr lang="en-IN" dirty="0"/>
              <a:t>Permission Modes</a:t>
            </a:r>
            <a:endParaRPr lang="en-GB" dirty="0"/>
          </a:p>
        </p:txBody>
      </p:sp>
      <p:sp>
        <p:nvSpPr>
          <p:cNvPr id="3" name="Content Placeholder 2">
            <a:extLst>
              <a:ext uri="{FF2B5EF4-FFF2-40B4-BE49-F238E27FC236}">
                <a16:creationId xmlns:a16="http://schemas.microsoft.com/office/drawing/2014/main" id="{36AC5CBD-7BEE-794C-55B2-A78D2941123E}"/>
              </a:ext>
            </a:extLst>
          </p:cNvPr>
          <p:cNvSpPr>
            <a:spLocks noGrp="1"/>
          </p:cNvSpPr>
          <p:nvPr>
            <p:ph idx="1"/>
          </p:nvPr>
        </p:nvSpPr>
        <p:spPr/>
        <p:txBody>
          <a:bodyPr/>
          <a:lstStyle/>
          <a:p>
            <a:r>
              <a:rPr lang="en-GB" dirty="0"/>
              <a:t>Main permission modes</a:t>
            </a:r>
          </a:p>
          <a:p>
            <a:endParaRPr lang="en-GB" dirty="0"/>
          </a:p>
          <a:p>
            <a:endParaRPr lang="en-GB" dirty="0"/>
          </a:p>
          <a:p>
            <a:endParaRPr lang="en-GB" dirty="0"/>
          </a:p>
          <a:p>
            <a:endParaRPr lang="en-GB" dirty="0"/>
          </a:p>
          <a:p>
            <a:endParaRPr lang="en-GB" dirty="0"/>
          </a:p>
          <a:p>
            <a:r>
              <a:rPr lang="en-GB" dirty="0"/>
              <a:t>Changing permission modes</a:t>
            </a:r>
          </a:p>
          <a:p>
            <a:pPr lvl="1"/>
            <a:r>
              <a:rPr lang="en-GB" dirty="0"/>
              <a:t>Inside VS Code/an IDE: </a:t>
            </a:r>
            <a:r>
              <a:rPr lang="en-GB" dirty="0" err="1"/>
              <a:t>Shift+TAB</a:t>
            </a:r>
            <a:endParaRPr lang="en-GB" dirty="0"/>
          </a:p>
          <a:p>
            <a:pPr lvl="1"/>
            <a:r>
              <a:rPr lang="en-GB" dirty="0"/>
              <a:t>On the terminal: --permission-mode</a:t>
            </a:r>
          </a:p>
        </p:txBody>
      </p:sp>
      <p:graphicFrame>
        <p:nvGraphicFramePr>
          <p:cNvPr id="4" name="Table 3">
            <a:extLst>
              <a:ext uri="{FF2B5EF4-FFF2-40B4-BE49-F238E27FC236}">
                <a16:creationId xmlns:a16="http://schemas.microsoft.com/office/drawing/2014/main" id="{C228B4B2-B319-AA87-E0E3-0485A3DFA335}"/>
              </a:ext>
            </a:extLst>
          </p:cNvPr>
          <p:cNvGraphicFramePr>
            <a:graphicFrameLocks noGrp="1"/>
          </p:cNvGraphicFramePr>
          <p:nvPr>
            <p:extLst>
              <p:ext uri="{D42A27DB-BD31-4B8C-83A1-F6EECF244321}">
                <p14:modId xmlns:p14="http://schemas.microsoft.com/office/powerpoint/2010/main" val="2846684373"/>
              </p:ext>
            </p:extLst>
          </p:nvPr>
        </p:nvGraphicFramePr>
        <p:xfrm>
          <a:off x="838200" y="2465311"/>
          <a:ext cx="10515600" cy="2286000"/>
        </p:xfrm>
        <a:graphic>
          <a:graphicData uri="http://schemas.openxmlformats.org/drawingml/2006/table">
            <a:tbl>
              <a:tblPr firstRow="1">
                <a:tableStyleId>{793D81CF-94F2-401A-BA57-92F5A7B2D0C5}</a:tableStyleId>
              </a:tblPr>
              <a:tblGrid>
                <a:gridCol w="1953861">
                  <a:extLst>
                    <a:ext uri="{9D8B030D-6E8A-4147-A177-3AD203B41FA5}">
                      <a16:colId xmlns:a16="http://schemas.microsoft.com/office/drawing/2014/main" val="1823270338"/>
                    </a:ext>
                  </a:extLst>
                </a:gridCol>
                <a:gridCol w="5653924">
                  <a:extLst>
                    <a:ext uri="{9D8B030D-6E8A-4147-A177-3AD203B41FA5}">
                      <a16:colId xmlns:a16="http://schemas.microsoft.com/office/drawing/2014/main" val="3813131165"/>
                    </a:ext>
                  </a:extLst>
                </a:gridCol>
                <a:gridCol w="2907815">
                  <a:extLst>
                    <a:ext uri="{9D8B030D-6E8A-4147-A177-3AD203B41FA5}">
                      <a16:colId xmlns:a16="http://schemas.microsoft.com/office/drawing/2014/main" val="4024334245"/>
                    </a:ext>
                  </a:extLst>
                </a:gridCol>
              </a:tblGrid>
              <a:tr h="0">
                <a:tc>
                  <a:txBody>
                    <a:bodyPr/>
                    <a:lstStyle/>
                    <a:p>
                      <a:pPr>
                        <a:buNone/>
                      </a:pPr>
                      <a:r>
                        <a:rPr lang="en-GB"/>
                        <a:t>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Claude Can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Best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3659958"/>
                  </a:ext>
                </a:extLst>
              </a:tr>
              <a:tr h="0">
                <a:tc>
                  <a:txBody>
                    <a:bodyPr/>
                    <a:lstStyle/>
                    <a:p>
                      <a:pPr>
                        <a:buNone/>
                      </a:pPr>
                      <a:r>
                        <a:rPr lang="en-GB" b="1"/>
                        <a:t>Ask</a:t>
                      </a:r>
                      <a:r>
                        <a:rPr lang="en-GB"/>
                        <a:t> (default)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Requests approval before running commands or modifying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Daily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9093639"/>
                  </a:ext>
                </a:extLst>
              </a:tr>
              <a:tr h="0">
                <a:tc>
                  <a:txBody>
                    <a:bodyPr/>
                    <a:lstStyle/>
                    <a:p>
                      <a:pPr>
                        <a:buNone/>
                      </a:pPr>
                      <a:r>
                        <a:rPr lang="en-GB" b="1"/>
                        <a:t>Auto Accept</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Executes approved actions automatically with fewer interruptions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Trusted development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0450979"/>
                  </a:ext>
                </a:extLst>
              </a:tr>
              <a:tr h="0">
                <a:tc>
                  <a:txBody>
                    <a:bodyPr/>
                    <a:lstStyle/>
                    <a:p>
                      <a:pPr>
                        <a:buNone/>
                      </a:pPr>
                      <a:r>
                        <a:rPr lang="en-GB" b="1"/>
                        <a:t>Plan</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Analyzes the codebase and proposes changes without making them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Learning, code reviews, planning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0591447"/>
                  </a:ext>
                </a:extLst>
              </a:tr>
            </a:tbl>
          </a:graphicData>
        </a:graphic>
      </p:graphicFrame>
    </p:spTree>
    <p:extLst>
      <p:ext uri="{BB962C8B-B14F-4D97-AF65-F5344CB8AC3E}">
        <p14:creationId xmlns:p14="http://schemas.microsoft.com/office/powerpoint/2010/main" val="20700712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31FBE-2EF7-743D-A741-BF90A048732D}"/>
              </a:ext>
            </a:extLst>
          </p:cNvPr>
          <p:cNvSpPr>
            <a:spLocks noGrp="1"/>
          </p:cNvSpPr>
          <p:nvPr>
            <p:ph type="title"/>
          </p:nvPr>
        </p:nvSpPr>
        <p:spPr/>
        <p:txBody>
          <a:bodyPr/>
          <a:lstStyle/>
          <a:p>
            <a:r>
              <a:rPr lang="en-IN" dirty="0"/>
              <a:t>Slash Commands</a:t>
            </a:r>
            <a:endParaRPr lang="en-GB" dirty="0"/>
          </a:p>
        </p:txBody>
      </p:sp>
      <p:graphicFrame>
        <p:nvGraphicFramePr>
          <p:cNvPr id="4" name="Content Placeholder 3">
            <a:extLst>
              <a:ext uri="{FF2B5EF4-FFF2-40B4-BE49-F238E27FC236}">
                <a16:creationId xmlns:a16="http://schemas.microsoft.com/office/drawing/2014/main" id="{E2E586CC-4521-B0C2-E11D-3434BBB8D782}"/>
              </a:ext>
            </a:extLst>
          </p:cNvPr>
          <p:cNvGraphicFramePr>
            <a:graphicFrameLocks noGrp="1"/>
          </p:cNvGraphicFramePr>
          <p:nvPr>
            <p:ph idx="1"/>
            <p:extLst>
              <p:ext uri="{D42A27DB-BD31-4B8C-83A1-F6EECF244321}">
                <p14:modId xmlns:p14="http://schemas.microsoft.com/office/powerpoint/2010/main" val="1267410605"/>
              </p:ext>
            </p:extLst>
          </p:nvPr>
        </p:nvGraphicFramePr>
        <p:xfrm>
          <a:off x="711977" y="1762804"/>
          <a:ext cx="10861116" cy="4804672"/>
        </p:xfrm>
        <a:graphic>
          <a:graphicData uri="http://schemas.openxmlformats.org/drawingml/2006/table">
            <a:tbl>
              <a:tblPr firstRow="1">
                <a:tableStyleId>{7E9639D4-E3E2-4D34-9284-5A2195B3D0D7}</a:tableStyleId>
              </a:tblPr>
              <a:tblGrid>
                <a:gridCol w="2220733">
                  <a:extLst>
                    <a:ext uri="{9D8B030D-6E8A-4147-A177-3AD203B41FA5}">
                      <a16:colId xmlns:a16="http://schemas.microsoft.com/office/drawing/2014/main" val="2735565358"/>
                    </a:ext>
                  </a:extLst>
                </a:gridCol>
                <a:gridCol w="5239452">
                  <a:extLst>
                    <a:ext uri="{9D8B030D-6E8A-4147-A177-3AD203B41FA5}">
                      <a16:colId xmlns:a16="http://schemas.microsoft.com/office/drawing/2014/main" val="4270921018"/>
                    </a:ext>
                  </a:extLst>
                </a:gridCol>
                <a:gridCol w="3400931">
                  <a:extLst>
                    <a:ext uri="{9D8B030D-6E8A-4147-A177-3AD203B41FA5}">
                      <a16:colId xmlns:a16="http://schemas.microsoft.com/office/drawing/2014/main" val="4009934705"/>
                    </a:ext>
                  </a:extLst>
                </a:gridCol>
              </a:tblGrid>
              <a:tr h="310810">
                <a:tc>
                  <a:txBody>
                    <a:bodyPr/>
                    <a:lstStyle/>
                    <a:p>
                      <a:pPr>
                        <a:buNone/>
                      </a:pPr>
                      <a:r>
                        <a:rPr lang="en-GB" sz="1800"/>
                        <a:t>Slash Command</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Purpose</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When to Use</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7944110"/>
                  </a:ext>
                </a:extLst>
              </a:tr>
              <a:tr h="310810">
                <a:tc>
                  <a:txBody>
                    <a:bodyPr/>
                    <a:lstStyle/>
                    <a:p>
                      <a:pPr>
                        <a:buNone/>
                      </a:pPr>
                      <a:r>
                        <a:rPr lang="en-GB" sz="1800"/>
                        <a:t>/help</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Show available commands</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When learning Claude Code</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533842"/>
                  </a:ext>
                </a:extLst>
              </a:tr>
              <a:tr h="310810">
                <a:tc>
                  <a:txBody>
                    <a:bodyPr/>
                    <a:lstStyle/>
                    <a:p>
                      <a:pPr>
                        <a:buNone/>
                      </a:pPr>
                      <a:r>
                        <a:rPr lang="en-GB" sz="1800"/>
                        <a:t>/clear</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dirty="0"/>
                        <a:t>Start a new conversation/session</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dirty="0"/>
                        <a:t>Switching projects or features</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8488391"/>
                  </a:ext>
                </a:extLst>
              </a:tr>
              <a:tr h="543917">
                <a:tc>
                  <a:txBody>
                    <a:bodyPr/>
                    <a:lstStyle/>
                    <a:p>
                      <a:pPr>
                        <a:buNone/>
                      </a:pPr>
                      <a:r>
                        <a:rPr lang="en-GB" sz="1800"/>
                        <a:t>/compact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Summarize older conversation to reduce context usage</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Long-running sessions</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7454710"/>
                  </a:ext>
                </a:extLst>
              </a:tr>
              <a:tr h="310810">
                <a:tc>
                  <a:txBody>
                    <a:bodyPr/>
                    <a:lstStyle/>
                    <a:p>
                      <a:pPr>
                        <a:buNone/>
                      </a:pPr>
                      <a:r>
                        <a:rPr lang="en-GB" sz="1800"/>
                        <a:t>/context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Show current context usage</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Check how much context remains</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2380799"/>
                  </a:ext>
                </a:extLst>
              </a:tr>
              <a:tr h="543917">
                <a:tc>
                  <a:txBody>
                    <a:bodyPr/>
                    <a:lstStyle/>
                    <a:p>
                      <a:pPr>
                        <a:buNone/>
                      </a:pPr>
                      <a:r>
                        <a:rPr lang="en-GB" sz="1800"/>
                        <a:t>/status</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Display current session, model, and settings</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Verify current configuration</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7878673"/>
                  </a:ext>
                </a:extLst>
              </a:tr>
              <a:tr h="310810">
                <a:tc>
                  <a:txBody>
                    <a:bodyPr/>
                    <a:lstStyle/>
                    <a:p>
                      <a:pPr>
                        <a:buNone/>
                      </a:pPr>
                      <a:r>
                        <a:rPr lang="en-GB" sz="1800"/>
                        <a:t>/resume</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Resume a previous session</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Continue earlier work</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2729054"/>
                  </a:ext>
                </a:extLst>
              </a:tr>
              <a:tr h="310810">
                <a:tc>
                  <a:txBody>
                    <a:bodyPr/>
                    <a:lstStyle/>
                    <a:p>
                      <a:pPr>
                        <a:buNone/>
                      </a:pPr>
                      <a:r>
                        <a:rPr lang="en-GB" sz="1800"/>
                        <a:t>/memory</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View or edit project/user memory</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Manage persistent instructions</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0575048"/>
                  </a:ext>
                </a:extLst>
              </a:tr>
              <a:tr h="310810">
                <a:tc>
                  <a:txBody>
                    <a:bodyPr/>
                    <a:lstStyle/>
                    <a:p>
                      <a:pPr>
                        <a:buNone/>
                      </a:pPr>
                      <a:r>
                        <a:rPr lang="en-GB" sz="1800"/>
                        <a:t>/init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Create or update CLAUDE.md</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Set up a new project</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0632232"/>
                  </a:ext>
                </a:extLst>
              </a:tr>
              <a:tr h="543917">
                <a:tc>
                  <a:txBody>
                    <a:bodyPr/>
                    <a:lstStyle/>
                    <a:p>
                      <a:pPr>
                        <a:buNone/>
                      </a:pPr>
                      <a:r>
                        <a:rPr lang="en-GB" sz="1800"/>
                        <a:t>/plan</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Analyze and propose changes without implementing them</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Large features, refactoring, architecture review</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2717368"/>
                  </a:ext>
                </a:extLst>
              </a:tr>
              <a:tr h="543917">
                <a:tc>
                  <a:txBody>
                    <a:bodyPr/>
                    <a:lstStyle/>
                    <a:p>
                      <a:pPr>
                        <a:buNone/>
                      </a:pPr>
                      <a:r>
                        <a:rPr lang="en-GB" sz="1800"/>
                        <a:t>/review</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a:t>Review code for bugs, quality, or improvements</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1800" dirty="0"/>
                        <a:t>Before committing code</a:t>
                      </a:r>
                    </a:p>
                  </a:txBody>
                  <a:tcPr marL="77702" marR="77702" marT="38851" marB="388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827404"/>
                  </a:ext>
                </a:extLst>
              </a:tr>
            </a:tbl>
          </a:graphicData>
        </a:graphic>
      </p:graphicFrame>
    </p:spTree>
    <p:extLst>
      <p:ext uri="{BB962C8B-B14F-4D97-AF65-F5344CB8AC3E}">
        <p14:creationId xmlns:p14="http://schemas.microsoft.com/office/powerpoint/2010/main" val="25626182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A633-90E8-5001-CC19-DD256AD5F153}"/>
              </a:ext>
            </a:extLst>
          </p:cNvPr>
          <p:cNvSpPr>
            <a:spLocks noGrp="1"/>
          </p:cNvSpPr>
          <p:nvPr>
            <p:ph type="title"/>
          </p:nvPr>
        </p:nvSpPr>
        <p:spPr/>
        <p:txBody>
          <a:bodyPr/>
          <a:lstStyle/>
          <a:p>
            <a:r>
              <a:rPr lang="en-IN" dirty="0"/>
              <a:t>Configuration</a:t>
            </a:r>
            <a:endParaRPr lang="en-GB" dirty="0"/>
          </a:p>
        </p:txBody>
      </p:sp>
      <p:sp>
        <p:nvSpPr>
          <p:cNvPr id="3" name="Content Placeholder 2">
            <a:extLst>
              <a:ext uri="{FF2B5EF4-FFF2-40B4-BE49-F238E27FC236}">
                <a16:creationId xmlns:a16="http://schemas.microsoft.com/office/drawing/2014/main" id="{CB29C175-79EE-B497-F57E-6F1326A02935}"/>
              </a:ext>
            </a:extLst>
          </p:cNvPr>
          <p:cNvSpPr>
            <a:spLocks noGrp="1"/>
          </p:cNvSpPr>
          <p:nvPr>
            <p:ph idx="1"/>
          </p:nvPr>
        </p:nvSpPr>
        <p:spPr/>
        <p:txBody>
          <a:bodyPr/>
          <a:lstStyle/>
          <a:p>
            <a:r>
              <a:rPr lang="en-GB" dirty="0"/>
              <a:t>Claude Code can be customized</a:t>
            </a:r>
          </a:p>
          <a:p>
            <a:r>
              <a:rPr lang="en-GB" dirty="0"/>
              <a:t>Examples</a:t>
            </a:r>
          </a:p>
          <a:p>
            <a:pPr lvl="1"/>
            <a:r>
              <a:rPr lang="en-GB" dirty="0"/>
              <a:t>Default </a:t>
            </a:r>
            <a:r>
              <a:rPr lang="en-GB" dirty="0" err="1"/>
              <a:t>behavior</a:t>
            </a:r>
            <a:r>
              <a:rPr lang="en-GB" dirty="0"/>
              <a:t> </a:t>
            </a:r>
          </a:p>
          <a:p>
            <a:pPr lvl="1"/>
            <a:r>
              <a:rPr lang="en-GB" dirty="0"/>
              <a:t>Project instructions </a:t>
            </a:r>
          </a:p>
          <a:p>
            <a:pPr lvl="1"/>
            <a:r>
              <a:rPr lang="en-GB" dirty="0"/>
              <a:t>Permissions </a:t>
            </a:r>
          </a:p>
          <a:p>
            <a:pPr lvl="1"/>
            <a:r>
              <a:rPr lang="en-GB" dirty="0"/>
              <a:t>Tool settings </a:t>
            </a:r>
          </a:p>
          <a:p>
            <a:pPr lvl="1"/>
            <a:r>
              <a:rPr lang="en-GB" dirty="0"/>
              <a:t>Model preferences </a:t>
            </a:r>
          </a:p>
          <a:p>
            <a:pPr lvl="1"/>
            <a:r>
              <a:rPr lang="en-GB" dirty="0"/>
              <a:t>Working directories</a:t>
            </a:r>
          </a:p>
          <a:p>
            <a:endParaRPr lang="en-GB" dirty="0"/>
          </a:p>
          <a:p>
            <a:endParaRPr lang="en-GB" dirty="0"/>
          </a:p>
        </p:txBody>
      </p:sp>
    </p:spTree>
    <p:extLst>
      <p:ext uri="{BB962C8B-B14F-4D97-AF65-F5344CB8AC3E}">
        <p14:creationId xmlns:p14="http://schemas.microsoft.com/office/powerpoint/2010/main" val="16961494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3B3C-3B04-6880-14CE-4C7A279F3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93B68-4526-FFC7-D211-F9067B03F175}"/>
              </a:ext>
            </a:extLst>
          </p:cNvPr>
          <p:cNvSpPr>
            <a:spLocks noGrp="1"/>
          </p:cNvSpPr>
          <p:nvPr>
            <p:ph type="title"/>
          </p:nvPr>
        </p:nvSpPr>
        <p:spPr/>
        <p:txBody>
          <a:bodyPr/>
          <a:lstStyle/>
          <a:p>
            <a:r>
              <a:rPr lang="en-IN" dirty="0"/>
              <a:t>Example Configuration</a:t>
            </a:r>
            <a:endParaRPr lang="en-GB" dirty="0"/>
          </a:p>
        </p:txBody>
      </p:sp>
      <p:sp>
        <p:nvSpPr>
          <p:cNvPr id="3" name="Content Placeholder 2">
            <a:extLst>
              <a:ext uri="{FF2B5EF4-FFF2-40B4-BE49-F238E27FC236}">
                <a16:creationId xmlns:a16="http://schemas.microsoft.com/office/drawing/2014/main" id="{37E9DA60-DAA8-5204-0688-6302916C4E69}"/>
              </a:ext>
            </a:extLst>
          </p:cNvPr>
          <p:cNvSpPr>
            <a:spLocks noGrp="1"/>
          </p:cNvSpPr>
          <p:nvPr>
            <p:ph idx="1"/>
          </p:nvPr>
        </p:nvSpPr>
        <p:spPr/>
        <p:txBody>
          <a:bodyPr/>
          <a:lstStyle/>
          <a:p>
            <a:r>
              <a:rPr lang="en-GB" dirty="0"/>
              <a:t>Instead of repeating</a:t>
            </a:r>
          </a:p>
          <a:p>
            <a:pPr lvl="1"/>
            <a:r>
              <a:rPr lang="en-US" dirty="0"/>
              <a:t>Always write </a:t>
            </a:r>
            <a:r>
              <a:rPr lang="en-US" dirty="0" err="1"/>
              <a:t>pytest</a:t>
            </a:r>
            <a:r>
              <a:rPr lang="en-US" dirty="0"/>
              <a:t> tests</a:t>
            </a:r>
          </a:p>
          <a:p>
            <a:pPr lvl="1"/>
            <a:r>
              <a:rPr lang="en-US" dirty="0"/>
              <a:t>Use black formatting</a:t>
            </a:r>
          </a:p>
          <a:p>
            <a:pPr lvl="1"/>
            <a:r>
              <a:rPr lang="en-US" dirty="0"/>
              <a:t>Use </a:t>
            </a:r>
            <a:r>
              <a:rPr lang="en-US" dirty="0" err="1"/>
              <a:t>FastAPI</a:t>
            </a:r>
            <a:endParaRPr lang="en-US" dirty="0"/>
          </a:p>
          <a:p>
            <a:pPr lvl="1"/>
            <a:r>
              <a:rPr lang="en-US" dirty="0"/>
              <a:t>Never modify migrations</a:t>
            </a:r>
          </a:p>
          <a:p>
            <a:r>
              <a:rPr lang="en-GB" dirty="0"/>
              <a:t>Store these rules in project configuration (such as CLAUDE.md), so every session starts with the same guidance</a:t>
            </a:r>
          </a:p>
        </p:txBody>
      </p:sp>
    </p:spTree>
    <p:extLst>
      <p:ext uri="{BB962C8B-B14F-4D97-AF65-F5344CB8AC3E}">
        <p14:creationId xmlns:p14="http://schemas.microsoft.com/office/powerpoint/2010/main" val="22363139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A6FF9F-8D86-06F4-4411-368C93A1ADFA}"/>
              </a:ext>
            </a:extLst>
          </p:cNvPr>
          <p:cNvSpPr>
            <a:spLocks noGrp="1"/>
          </p:cNvSpPr>
          <p:nvPr>
            <p:ph type="title"/>
          </p:nvPr>
        </p:nvSpPr>
        <p:spPr/>
        <p:txBody>
          <a:bodyPr/>
          <a:lstStyle/>
          <a:p>
            <a:r>
              <a:rPr lang="en-IN" dirty="0"/>
              <a:t>Part 8: Advanced Collaboration</a:t>
            </a:r>
            <a:endParaRPr lang="en-GB" dirty="0"/>
          </a:p>
        </p:txBody>
      </p:sp>
      <p:sp>
        <p:nvSpPr>
          <p:cNvPr id="5" name="Text Placeholder 4">
            <a:extLst>
              <a:ext uri="{FF2B5EF4-FFF2-40B4-BE49-F238E27FC236}">
                <a16:creationId xmlns:a16="http://schemas.microsoft.com/office/drawing/2014/main" id="{B650AE1D-614F-0443-471D-4FEF2D98CEC0}"/>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4747334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A5DD4-8292-9BE9-305A-846E47B2FAF0}"/>
              </a:ext>
            </a:extLst>
          </p:cNvPr>
          <p:cNvSpPr>
            <a:spLocks noGrp="1"/>
          </p:cNvSpPr>
          <p:nvPr>
            <p:ph type="title"/>
          </p:nvPr>
        </p:nvSpPr>
        <p:spPr/>
        <p:txBody>
          <a:bodyPr/>
          <a:lstStyle/>
          <a:p>
            <a:r>
              <a:rPr lang="en-IN" dirty="0"/>
              <a:t>Collaboration Need</a:t>
            </a:r>
            <a:endParaRPr lang="en-GB" dirty="0"/>
          </a:p>
        </p:txBody>
      </p:sp>
      <p:sp>
        <p:nvSpPr>
          <p:cNvPr id="3" name="Content Placeholder 2">
            <a:extLst>
              <a:ext uri="{FF2B5EF4-FFF2-40B4-BE49-F238E27FC236}">
                <a16:creationId xmlns:a16="http://schemas.microsoft.com/office/drawing/2014/main" id="{F6730ACB-C054-AFE7-E437-F0A6522960EE}"/>
              </a:ext>
            </a:extLst>
          </p:cNvPr>
          <p:cNvSpPr>
            <a:spLocks noGrp="1"/>
          </p:cNvSpPr>
          <p:nvPr>
            <p:ph idx="1"/>
          </p:nvPr>
        </p:nvSpPr>
        <p:spPr/>
        <p:txBody>
          <a:bodyPr/>
          <a:lstStyle/>
          <a:p>
            <a:r>
              <a:rPr lang="en-GB" dirty="0"/>
              <a:t>As projects grow, teams need</a:t>
            </a:r>
          </a:p>
          <a:p>
            <a:pPr lvl="1"/>
            <a:r>
              <a:rPr lang="en-GB" dirty="0"/>
              <a:t>Reusable expertise </a:t>
            </a:r>
          </a:p>
          <a:p>
            <a:pPr lvl="1"/>
            <a:r>
              <a:rPr lang="en-GB" dirty="0"/>
              <a:t>Parallel work </a:t>
            </a:r>
          </a:p>
          <a:p>
            <a:pPr lvl="1"/>
            <a:r>
              <a:rPr lang="en-GB" dirty="0"/>
              <a:t>Consistent enforcement </a:t>
            </a:r>
          </a:p>
          <a:p>
            <a:r>
              <a:rPr lang="en-GB" dirty="0"/>
              <a:t>Claude Code provides these through</a:t>
            </a:r>
          </a:p>
          <a:p>
            <a:pPr lvl="1"/>
            <a:r>
              <a:rPr lang="en-GB" dirty="0"/>
              <a:t>Skills </a:t>
            </a:r>
          </a:p>
          <a:p>
            <a:pPr lvl="1"/>
            <a:r>
              <a:rPr lang="en-GB" dirty="0"/>
              <a:t>Subagents </a:t>
            </a:r>
          </a:p>
          <a:p>
            <a:pPr lvl="1"/>
            <a:r>
              <a:rPr lang="en-GB" dirty="0"/>
              <a:t>Hooks </a:t>
            </a:r>
          </a:p>
          <a:p>
            <a:endParaRPr lang="en-GB" dirty="0"/>
          </a:p>
        </p:txBody>
      </p:sp>
    </p:spTree>
    <p:extLst>
      <p:ext uri="{BB962C8B-B14F-4D97-AF65-F5344CB8AC3E}">
        <p14:creationId xmlns:p14="http://schemas.microsoft.com/office/powerpoint/2010/main" val="28559529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C1A75-4EF3-DA0B-B594-9BE487728F0A}"/>
              </a:ext>
            </a:extLst>
          </p:cNvPr>
          <p:cNvSpPr>
            <a:spLocks noGrp="1"/>
          </p:cNvSpPr>
          <p:nvPr>
            <p:ph type="title"/>
          </p:nvPr>
        </p:nvSpPr>
        <p:spPr/>
        <p:txBody>
          <a:bodyPr/>
          <a:lstStyle/>
          <a:p>
            <a:r>
              <a:rPr lang="en-IN" dirty="0"/>
              <a:t>Problem 1: Repeating the Same Instructions</a:t>
            </a:r>
            <a:endParaRPr lang="en-GB" dirty="0"/>
          </a:p>
        </p:txBody>
      </p:sp>
      <p:sp>
        <p:nvSpPr>
          <p:cNvPr id="3" name="Content Placeholder 2">
            <a:extLst>
              <a:ext uri="{FF2B5EF4-FFF2-40B4-BE49-F238E27FC236}">
                <a16:creationId xmlns:a16="http://schemas.microsoft.com/office/drawing/2014/main" id="{B7A428B8-54E7-7A0A-F727-9B8FBC581F4D}"/>
              </a:ext>
            </a:extLst>
          </p:cNvPr>
          <p:cNvSpPr>
            <a:spLocks noGrp="1"/>
          </p:cNvSpPr>
          <p:nvPr>
            <p:ph idx="1"/>
          </p:nvPr>
        </p:nvSpPr>
        <p:spPr/>
        <p:txBody>
          <a:bodyPr>
            <a:normAutofit/>
          </a:bodyPr>
          <a:lstStyle/>
          <a:p>
            <a:r>
              <a:rPr lang="en-GB" dirty="0"/>
              <a:t>Typical prompts</a:t>
            </a:r>
          </a:p>
          <a:p>
            <a:pPr lvl="1"/>
            <a:r>
              <a:rPr lang="en-GB" dirty="0"/>
              <a:t>Review this code for security. </a:t>
            </a:r>
          </a:p>
          <a:p>
            <a:pPr lvl="1"/>
            <a:r>
              <a:rPr lang="en-GB" dirty="0"/>
              <a:t>Check coding standards. </a:t>
            </a:r>
          </a:p>
          <a:p>
            <a:pPr lvl="1"/>
            <a:r>
              <a:rPr lang="en-GB" dirty="0"/>
              <a:t>Generate API documentation. </a:t>
            </a:r>
          </a:p>
          <a:p>
            <a:pPr lvl="1"/>
            <a:r>
              <a:rPr lang="en-GB" dirty="0" err="1"/>
              <a:t>Analyze</a:t>
            </a:r>
            <a:r>
              <a:rPr lang="en-GB" dirty="0"/>
              <a:t> logs. </a:t>
            </a:r>
          </a:p>
          <a:p>
            <a:pPr lvl="1"/>
            <a:r>
              <a:rPr lang="en-GB" dirty="0"/>
              <a:t>Create meeting minutes. </a:t>
            </a:r>
          </a:p>
          <a:p>
            <a:r>
              <a:rPr lang="en-GB" dirty="0"/>
              <a:t>Soon, these prompts become repetitive.</a:t>
            </a:r>
          </a:p>
          <a:p>
            <a:r>
              <a:rPr lang="en-GB" dirty="0"/>
              <a:t>Need: Reusable expertise</a:t>
            </a:r>
          </a:p>
          <a:p>
            <a:r>
              <a:rPr lang="en-GB" dirty="0"/>
              <a:t>Solution: </a:t>
            </a:r>
            <a:r>
              <a:rPr lang="en-GB" b="1" dirty="0"/>
              <a:t>Skills</a:t>
            </a:r>
            <a:endParaRPr lang="en-GB" dirty="0"/>
          </a:p>
          <a:p>
            <a:endParaRPr lang="en-GB" dirty="0"/>
          </a:p>
        </p:txBody>
      </p:sp>
    </p:spTree>
    <p:extLst>
      <p:ext uri="{BB962C8B-B14F-4D97-AF65-F5344CB8AC3E}">
        <p14:creationId xmlns:p14="http://schemas.microsoft.com/office/powerpoint/2010/main" val="10291058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CD41C-DB4C-C0F8-0E4D-537976A1737C}"/>
              </a:ext>
            </a:extLst>
          </p:cNvPr>
          <p:cNvSpPr>
            <a:spLocks noGrp="1"/>
          </p:cNvSpPr>
          <p:nvPr>
            <p:ph type="title"/>
          </p:nvPr>
        </p:nvSpPr>
        <p:spPr/>
        <p:txBody>
          <a:bodyPr/>
          <a:lstStyle/>
          <a:p>
            <a:r>
              <a:rPr lang="en-IN" dirty="0"/>
              <a:t>Skill	</a:t>
            </a:r>
            <a:endParaRPr lang="en-GB" dirty="0"/>
          </a:p>
        </p:txBody>
      </p:sp>
      <p:sp>
        <p:nvSpPr>
          <p:cNvPr id="3" name="Content Placeholder 2">
            <a:extLst>
              <a:ext uri="{FF2B5EF4-FFF2-40B4-BE49-F238E27FC236}">
                <a16:creationId xmlns:a16="http://schemas.microsoft.com/office/drawing/2014/main" id="{444F8B74-2A52-5730-24BC-23110C87004C}"/>
              </a:ext>
            </a:extLst>
          </p:cNvPr>
          <p:cNvSpPr>
            <a:spLocks noGrp="1"/>
          </p:cNvSpPr>
          <p:nvPr>
            <p:ph idx="1"/>
          </p:nvPr>
        </p:nvSpPr>
        <p:spPr/>
        <p:txBody>
          <a:bodyPr>
            <a:normAutofit lnSpcReduction="10000"/>
          </a:bodyPr>
          <a:lstStyle/>
          <a:p>
            <a:r>
              <a:rPr lang="en-GB" b="1" dirty="0"/>
              <a:t>Skill</a:t>
            </a:r>
            <a:r>
              <a:rPr lang="en-GB" dirty="0"/>
              <a:t>: Packages knowledge and instructions for a specific task</a:t>
            </a:r>
          </a:p>
          <a:p>
            <a:r>
              <a:rPr lang="en-GB" dirty="0"/>
              <a:t>Think of it as A reusable expert that Claude can invoke whenever needed</a:t>
            </a:r>
          </a:p>
          <a:p>
            <a:r>
              <a:rPr lang="en-GB" dirty="0"/>
              <a:t>Examples</a:t>
            </a:r>
          </a:p>
          <a:p>
            <a:pPr lvl="1"/>
            <a:r>
              <a:rPr lang="en-GB" dirty="0"/>
              <a:t>Security Review </a:t>
            </a:r>
          </a:p>
          <a:p>
            <a:pPr lvl="1"/>
            <a:r>
              <a:rPr lang="en-GB" dirty="0"/>
              <a:t>API Documentation </a:t>
            </a:r>
          </a:p>
          <a:p>
            <a:pPr lvl="1"/>
            <a:r>
              <a:rPr lang="en-GB" dirty="0"/>
              <a:t>Log Analysis </a:t>
            </a:r>
          </a:p>
          <a:p>
            <a:pPr lvl="1"/>
            <a:r>
              <a:rPr lang="en-GB" dirty="0"/>
              <a:t>Database Design </a:t>
            </a:r>
          </a:p>
          <a:p>
            <a:pPr lvl="1"/>
            <a:r>
              <a:rPr lang="en-GB" dirty="0"/>
              <a:t>Performance Optimization </a:t>
            </a:r>
          </a:p>
          <a:p>
            <a:pPr lvl="1"/>
            <a:r>
              <a:rPr lang="en-GB" dirty="0"/>
              <a:t>Code Refactoring </a:t>
            </a:r>
          </a:p>
          <a:p>
            <a:pPr lvl="1"/>
            <a:r>
              <a:rPr lang="en-GB" dirty="0"/>
              <a:t>Sprint Summary Generator</a:t>
            </a:r>
          </a:p>
        </p:txBody>
      </p:sp>
    </p:spTree>
    <p:extLst>
      <p:ext uri="{BB962C8B-B14F-4D97-AF65-F5344CB8AC3E}">
        <p14:creationId xmlns:p14="http://schemas.microsoft.com/office/powerpoint/2010/main" val="285082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D53AA-3ADF-6702-164B-ED4602D01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FCD8B-5052-0387-F6D2-2D2CE3528D30}"/>
              </a:ext>
            </a:extLst>
          </p:cNvPr>
          <p:cNvSpPr>
            <a:spLocks noGrp="1"/>
          </p:cNvSpPr>
          <p:nvPr>
            <p:ph type="title"/>
          </p:nvPr>
        </p:nvSpPr>
        <p:spPr/>
        <p:txBody>
          <a:bodyPr/>
          <a:lstStyle/>
          <a:p>
            <a:r>
              <a:rPr lang="en-IN" dirty="0"/>
              <a:t>Skill Example – CRM Application	</a:t>
            </a:r>
            <a:endParaRPr lang="en-GB" dirty="0"/>
          </a:p>
        </p:txBody>
      </p:sp>
      <p:sp>
        <p:nvSpPr>
          <p:cNvPr id="3" name="Content Placeholder 2">
            <a:extLst>
              <a:ext uri="{FF2B5EF4-FFF2-40B4-BE49-F238E27FC236}">
                <a16:creationId xmlns:a16="http://schemas.microsoft.com/office/drawing/2014/main" id="{62152E6C-2AAA-257F-760F-146E1E6B3C08}"/>
              </a:ext>
            </a:extLst>
          </p:cNvPr>
          <p:cNvSpPr>
            <a:spLocks noGrp="1"/>
          </p:cNvSpPr>
          <p:nvPr>
            <p:ph idx="1"/>
          </p:nvPr>
        </p:nvSpPr>
        <p:spPr/>
        <p:txBody>
          <a:bodyPr>
            <a:normAutofit fontScale="70000" lnSpcReduction="20000"/>
          </a:bodyPr>
          <a:lstStyle/>
          <a:p>
            <a:r>
              <a:rPr lang="en-GB" dirty="0"/>
              <a:t>Developer</a:t>
            </a:r>
          </a:p>
          <a:p>
            <a:pPr lvl="1"/>
            <a:r>
              <a:rPr lang="en-GB" dirty="0"/>
              <a:t>Security review </a:t>
            </a:r>
          </a:p>
          <a:p>
            <a:pPr lvl="1"/>
            <a:r>
              <a:rPr lang="en-GB" dirty="0"/>
              <a:t>SQL optimization </a:t>
            </a:r>
          </a:p>
          <a:p>
            <a:pPr lvl="1"/>
            <a:r>
              <a:rPr lang="en-GB" dirty="0"/>
              <a:t>API documentation </a:t>
            </a:r>
          </a:p>
          <a:p>
            <a:r>
              <a:rPr lang="en-GB" dirty="0"/>
              <a:t>QA</a:t>
            </a:r>
          </a:p>
          <a:p>
            <a:pPr lvl="1"/>
            <a:r>
              <a:rPr lang="en-GB" dirty="0"/>
              <a:t>Test case generation </a:t>
            </a:r>
          </a:p>
          <a:p>
            <a:pPr lvl="1"/>
            <a:r>
              <a:rPr lang="en-GB" dirty="0"/>
              <a:t>Regression checklist </a:t>
            </a:r>
          </a:p>
          <a:p>
            <a:pPr lvl="1"/>
            <a:r>
              <a:rPr lang="en-GB" dirty="0"/>
              <a:t>Bug report analysis </a:t>
            </a:r>
          </a:p>
          <a:p>
            <a:r>
              <a:rPr lang="en-GB" dirty="0"/>
              <a:t>BA</a:t>
            </a:r>
          </a:p>
          <a:p>
            <a:pPr lvl="1"/>
            <a:r>
              <a:rPr lang="en-GB" dirty="0"/>
              <a:t>User story generator </a:t>
            </a:r>
          </a:p>
          <a:p>
            <a:pPr lvl="1"/>
            <a:r>
              <a:rPr lang="en-GB" dirty="0"/>
              <a:t>Acceptance criteria </a:t>
            </a:r>
          </a:p>
          <a:p>
            <a:pPr lvl="1"/>
            <a:r>
              <a:rPr lang="en-GB" dirty="0"/>
              <a:t>Requirement review </a:t>
            </a:r>
          </a:p>
          <a:p>
            <a:r>
              <a:rPr lang="en-GB" dirty="0"/>
              <a:t>PM</a:t>
            </a:r>
          </a:p>
          <a:p>
            <a:pPr lvl="1"/>
            <a:r>
              <a:rPr lang="en-GB" dirty="0"/>
              <a:t>Sprint summaries </a:t>
            </a:r>
          </a:p>
          <a:p>
            <a:pPr lvl="1"/>
            <a:r>
              <a:rPr lang="en-GB" dirty="0"/>
              <a:t>Risk identification </a:t>
            </a:r>
          </a:p>
          <a:p>
            <a:pPr lvl="1"/>
            <a:r>
              <a:rPr lang="en-GB" dirty="0"/>
              <a:t>Release notes</a:t>
            </a:r>
          </a:p>
        </p:txBody>
      </p:sp>
    </p:spTree>
    <p:extLst>
      <p:ext uri="{BB962C8B-B14F-4D97-AF65-F5344CB8AC3E}">
        <p14:creationId xmlns:p14="http://schemas.microsoft.com/office/powerpoint/2010/main" val="16882975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4004E-9384-276B-1960-EE6F3E777EE7}"/>
              </a:ext>
            </a:extLst>
          </p:cNvPr>
          <p:cNvSpPr>
            <a:spLocks noGrp="1"/>
          </p:cNvSpPr>
          <p:nvPr>
            <p:ph type="title"/>
          </p:nvPr>
        </p:nvSpPr>
        <p:spPr/>
        <p:txBody>
          <a:bodyPr/>
          <a:lstStyle/>
          <a:p>
            <a:r>
              <a:rPr lang="en-IN" dirty="0"/>
              <a:t>Creating Skills</a:t>
            </a:r>
            <a:endParaRPr lang="en-GB" dirty="0"/>
          </a:p>
        </p:txBody>
      </p:sp>
      <p:sp>
        <p:nvSpPr>
          <p:cNvPr id="3" name="Content Placeholder 2">
            <a:extLst>
              <a:ext uri="{FF2B5EF4-FFF2-40B4-BE49-F238E27FC236}">
                <a16:creationId xmlns:a16="http://schemas.microsoft.com/office/drawing/2014/main" id="{707B4043-5039-1115-4D68-A634DA2C5E54}"/>
              </a:ext>
            </a:extLst>
          </p:cNvPr>
          <p:cNvSpPr>
            <a:spLocks noGrp="1"/>
          </p:cNvSpPr>
          <p:nvPr>
            <p:ph idx="1"/>
          </p:nvPr>
        </p:nvSpPr>
        <p:spPr/>
        <p:txBody>
          <a:bodyPr>
            <a:normAutofit/>
          </a:bodyPr>
          <a:lstStyle/>
          <a:p>
            <a:r>
              <a:rPr lang="en-US" dirty="0"/>
              <a:t>Need a repeatable task</a:t>
            </a:r>
          </a:p>
          <a:p>
            <a:r>
              <a:rPr lang="en-US" dirty="0"/>
              <a:t>Create a folder</a:t>
            </a:r>
          </a:p>
          <a:p>
            <a:r>
              <a:rPr lang="en-US" dirty="0"/>
              <a:t>Add SKILL.md</a:t>
            </a:r>
          </a:p>
          <a:p>
            <a:r>
              <a:rPr lang="en-US" dirty="0"/>
              <a:t>Describe what it does</a:t>
            </a:r>
          </a:p>
          <a:p>
            <a:r>
              <a:rPr lang="en-US" dirty="0"/>
              <a:t>Use with: /skill-name</a:t>
            </a:r>
          </a:p>
          <a:p>
            <a:r>
              <a:rPr lang="en-US" dirty="0"/>
              <a:t>(or let Claude invoke it automatically when appropriate)</a:t>
            </a:r>
          </a:p>
          <a:p>
            <a:r>
              <a:rPr lang="en-GB" dirty="0"/>
              <a:t>one skill = one folder = one SKILL.md</a:t>
            </a:r>
          </a:p>
        </p:txBody>
      </p:sp>
    </p:spTree>
    <p:extLst>
      <p:ext uri="{BB962C8B-B14F-4D97-AF65-F5344CB8AC3E}">
        <p14:creationId xmlns:p14="http://schemas.microsoft.com/office/powerpoint/2010/main" val="809617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66A1-EA4F-C4B8-9013-4C2A2CE57C26}"/>
              </a:ext>
            </a:extLst>
          </p:cNvPr>
          <p:cNvSpPr>
            <a:spLocks noGrp="1"/>
          </p:cNvSpPr>
          <p:nvPr>
            <p:ph type="title"/>
          </p:nvPr>
        </p:nvSpPr>
        <p:spPr>
          <a:xfrm>
            <a:off x="838200" y="83763"/>
            <a:ext cx="10515600" cy="656133"/>
          </a:xfrm>
        </p:spPr>
        <p:txBody>
          <a:bodyPr>
            <a:normAutofit fontScale="90000"/>
          </a:bodyPr>
          <a:lstStyle/>
          <a:p>
            <a:r>
              <a:rPr lang="en-IN" dirty="0"/>
              <a:t>Creating Skills – Example: Test Case Generator</a:t>
            </a:r>
            <a:endParaRPr lang="en-GB" dirty="0"/>
          </a:p>
        </p:txBody>
      </p:sp>
      <p:sp>
        <p:nvSpPr>
          <p:cNvPr id="3" name="Content Placeholder 2">
            <a:extLst>
              <a:ext uri="{FF2B5EF4-FFF2-40B4-BE49-F238E27FC236}">
                <a16:creationId xmlns:a16="http://schemas.microsoft.com/office/drawing/2014/main" id="{9E9EB146-AB16-4737-3059-D63614AAA7EC}"/>
              </a:ext>
            </a:extLst>
          </p:cNvPr>
          <p:cNvSpPr>
            <a:spLocks noGrp="1"/>
          </p:cNvSpPr>
          <p:nvPr>
            <p:ph idx="1"/>
          </p:nvPr>
        </p:nvSpPr>
        <p:spPr>
          <a:xfrm>
            <a:off x="838200" y="739896"/>
            <a:ext cx="10515600" cy="5437067"/>
          </a:xfrm>
        </p:spPr>
        <p:txBody>
          <a:bodyPr>
            <a:normAutofit fontScale="47500" lnSpcReduction="20000"/>
          </a:bodyPr>
          <a:lstStyle/>
          <a:p>
            <a:r>
              <a:rPr lang="en-IN" dirty="0"/>
              <a:t>Create skill directory</a:t>
            </a:r>
          </a:p>
          <a:p>
            <a:pPr lvl="1"/>
            <a:r>
              <a:rPr lang="en-US" dirty="0" err="1"/>
              <a:t>mkdir</a:t>
            </a:r>
            <a:r>
              <a:rPr lang="en-US" dirty="0"/>
              <a:t> -p ~/.</a:t>
            </a:r>
            <a:r>
              <a:rPr lang="en-US" dirty="0" err="1"/>
              <a:t>claude</a:t>
            </a:r>
            <a:r>
              <a:rPr lang="en-US" dirty="0"/>
              <a:t>/skills/test-case-generator</a:t>
            </a:r>
          </a:p>
          <a:p>
            <a:r>
              <a:rPr lang="en-US" dirty="0"/>
              <a:t>Create SKILL.md</a:t>
            </a:r>
          </a:p>
          <a:p>
            <a:pPr lvl="1"/>
            <a:r>
              <a:rPr lang="en-US" dirty="0"/>
              <a:t>---</a:t>
            </a:r>
          </a:p>
          <a:p>
            <a:pPr lvl="1"/>
            <a:r>
              <a:rPr lang="en-US" dirty="0"/>
              <a:t>name: test-case-generator</a:t>
            </a:r>
          </a:p>
          <a:p>
            <a:pPr lvl="1"/>
            <a:r>
              <a:rPr lang="en-US" dirty="0"/>
              <a:t>description: Generate functional, boundary, negative, and edge test cases for user stories and software features.</a:t>
            </a:r>
          </a:p>
          <a:p>
            <a:pPr lvl="1"/>
            <a:r>
              <a:rPr lang="en-US" dirty="0"/>
              <a:t>---</a:t>
            </a:r>
          </a:p>
          <a:p>
            <a:pPr lvl="1"/>
            <a:endParaRPr lang="en-US" dirty="0"/>
          </a:p>
          <a:p>
            <a:pPr lvl="1"/>
            <a:r>
              <a:rPr lang="en-US" dirty="0"/>
              <a:t># Test Case Generator</a:t>
            </a:r>
          </a:p>
          <a:p>
            <a:pPr lvl="1"/>
            <a:endParaRPr lang="en-US" dirty="0"/>
          </a:p>
          <a:p>
            <a:pPr lvl="1"/>
            <a:r>
              <a:rPr lang="en-US" dirty="0"/>
              <a:t>Whenever invoked:</a:t>
            </a:r>
          </a:p>
          <a:p>
            <a:pPr lvl="1"/>
            <a:endParaRPr lang="en-US" dirty="0"/>
          </a:p>
          <a:p>
            <a:pPr lvl="1"/>
            <a:r>
              <a:rPr lang="en-US" dirty="0"/>
              <a:t>1. Read the supplied requirement.</a:t>
            </a:r>
          </a:p>
          <a:p>
            <a:pPr lvl="1"/>
            <a:r>
              <a:rPr lang="en-US" dirty="0"/>
              <a:t>2. Identify the functional scenarios.</a:t>
            </a:r>
          </a:p>
          <a:p>
            <a:pPr lvl="1"/>
            <a:r>
              <a:rPr lang="en-US" dirty="0"/>
              <a:t>3. Generate:</a:t>
            </a:r>
          </a:p>
          <a:p>
            <a:pPr lvl="1"/>
            <a:r>
              <a:rPr lang="en-US" dirty="0"/>
              <a:t>   - Positive test cases</a:t>
            </a:r>
          </a:p>
          <a:p>
            <a:pPr lvl="1"/>
            <a:r>
              <a:rPr lang="en-US" dirty="0"/>
              <a:t>   - Negative test cases</a:t>
            </a:r>
          </a:p>
          <a:p>
            <a:pPr lvl="1"/>
            <a:r>
              <a:rPr lang="en-US" dirty="0"/>
              <a:t>   - Boundary value cases</a:t>
            </a:r>
          </a:p>
          <a:p>
            <a:pPr lvl="1"/>
            <a:r>
              <a:rPr lang="en-US" dirty="0"/>
              <a:t>   - Edge cases</a:t>
            </a:r>
          </a:p>
          <a:p>
            <a:pPr lvl="1"/>
            <a:r>
              <a:rPr lang="en-US" dirty="0"/>
              <a:t>4. Present results as a table.</a:t>
            </a:r>
          </a:p>
          <a:p>
            <a:pPr lvl="1"/>
            <a:endParaRPr lang="en-US" dirty="0"/>
          </a:p>
          <a:p>
            <a:pPr lvl="1"/>
            <a:r>
              <a:rPr lang="en-US" dirty="0"/>
              <a:t>Columns:</a:t>
            </a:r>
          </a:p>
          <a:p>
            <a:pPr lvl="1"/>
            <a:r>
              <a:rPr lang="en-US" dirty="0"/>
              <a:t>- Test Case ID</a:t>
            </a:r>
          </a:p>
          <a:p>
            <a:pPr lvl="1"/>
            <a:r>
              <a:rPr lang="en-US" dirty="0"/>
              <a:t>- Scenario</a:t>
            </a:r>
          </a:p>
          <a:p>
            <a:pPr lvl="1"/>
            <a:r>
              <a:rPr lang="en-US" dirty="0"/>
              <a:t>- Steps</a:t>
            </a:r>
          </a:p>
          <a:p>
            <a:pPr lvl="1"/>
            <a:r>
              <a:rPr lang="en-US" dirty="0"/>
              <a:t>- Expected Result</a:t>
            </a:r>
          </a:p>
          <a:p>
            <a:pPr lvl="1"/>
            <a:r>
              <a:rPr lang="en-US" dirty="0"/>
              <a:t>- Priority</a:t>
            </a:r>
          </a:p>
          <a:p>
            <a:r>
              <a:rPr lang="en-US" dirty="0"/>
              <a:t>To manually run the skill: /test-case-generator Generate test cases for login feature</a:t>
            </a:r>
            <a:endParaRPr lang="en-GB" dirty="0"/>
          </a:p>
        </p:txBody>
      </p:sp>
    </p:spTree>
    <p:extLst>
      <p:ext uri="{BB962C8B-B14F-4D97-AF65-F5344CB8AC3E}">
        <p14:creationId xmlns:p14="http://schemas.microsoft.com/office/powerpoint/2010/main" val="38826599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308E-3B2E-0DC6-F4BB-B26FD565DEAF}"/>
              </a:ext>
            </a:extLst>
          </p:cNvPr>
          <p:cNvSpPr>
            <a:spLocks noGrp="1"/>
          </p:cNvSpPr>
          <p:nvPr>
            <p:ph type="title"/>
          </p:nvPr>
        </p:nvSpPr>
        <p:spPr/>
        <p:txBody>
          <a:bodyPr/>
          <a:lstStyle/>
          <a:p>
            <a:r>
              <a:rPr lang="en-IN" dirty="0"/>
              <a:t>Running Skills – Various Methods</a:t>
            </a:r>
            <a:endParaRPr lang="en-GB" dirty="0"/>
          </a:p>
        </p:txBody>
      </p:sp>
      <p:sp>
        <p:nvSpPr>
          <p:cNvPr id="3" name="Content Placeholder 2">
            <a:extLst>
              <a:ext uri="{FF2B5EF4-FFF2-40B4-BE49-F238E27FC236}">
                <a16:creationId xmlns:a16="http://schemas.microsoft.com/office/drawing/2014/main" id="{378880D1-3942-F2E2-37A8-43FF7FC91DB8}"/>
              </a:ext>
            </a:extLst>
          </p:cNvPr>
          <p:cNvSpPr>
            <a:spLocks noGrp="1"/>
          </p:cNvSpPr>
          <p:nvPr>
            <p:ph idx="1"/>
          </p:nvPr>
        </p:nvSpPr>
        <p:spPr/>
        <p:txBody>
          <a:bodyPr>
            <a:normAutofit/>
          </a:bodyPr>
          <a:lstStyle/>
          <a:p>
            <a:r>
              <a:rPr lang="en-US" dirty="0"/>
              <a:t>/test-case-generator</a:t>
            </a:r>
          </a:p>
          <a:p>
            <a:endParaRPr lang="en-US" dirty="0"/>
          </a:p>
          <a:p>
            <a:r>
              <a:rPr lang="en-US" dirty="0"/>
              <a:t>/test-case-generator Generate test cases for the Login feature</a:t>
            </a:r>
          </a:p>
          <a:p>
            <a:endParaRPr lang="en-US" dirty="0"/>
          </a:p>
          <a:p>
            <a:r>
              <a:rPr lang="en-US" dirty="0"/>
              <a:t>/test-case-generator</a:t>
            </a:r>
          </a:p>
          <a:p>
            <a:pPr marL="457200" lvl="1" indent="0">
              <a:buNone/>
            </a:pPr>
            <a:r>
              <a:rPr lang="en-US" dirty="0"/>
              <a:t>Generate test cases for the Login feature</a:t>
            </a:r>
          </a:p>
          <a:p>
            <a:pPr marL="457200" lvl="1" indent="0">
              <a:buNone/>
            </a:pPr>
            <a:r>
              <a:rPr lang="en-US" dirty="0"/>
              <a:t>Requirements:</a:t>
            </a:r>
          </a:p>
          <a:p>
            <a:pPr marL="914400" lvl="2" indent="0">
              <a:buNone/>
            </a:pPr>
            <a:r>
              <a:rPr lang="en-US" dirty="0"/>
              <a:t>- Username and password are mandatory</a:t>
            </a:r>
          </a:p>
          <a:p>
            <a:pPr marL="914400" lvl="2" indent="0">
              <a:buNone/>
            </a:pPr>
            <a:r>
              <a:rPr lang="en-US" dirty="0"/>
              <a:t>- Lock account after 5 failed attempts</a:t>
            </a:r>
          </a:p>
          <a:p>
            <a:pPr marL="914400" lvl="2" indent="0">
              <a:buNone/>
            </a:pPr>
            <a:r>
              <a:rPr lang="en-US" dirty="0"/>
              <a:t>- Remember Me is optional</a:t>
            </a:r>
          </a:p>
          <a:p>
            <a:endParaRPr lang="en-US" dirty="0"/>
          </a:p>
          <a:p>
            <a:endParaRPr lang="en-GB" dirty="0"/>
          </a:p>
        </p:txBody>
      </p:sp>
    </p:spTree>
    <p:extLst>
      <p:ext uri="{BB962C8B-B14F-4D97-AF65-F5344CB8AC3E}">
        <p14:creationId xmlns:p14="http://schemas.microsoft.com/office/powerpoint/2010/main" val="4542350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F079A-3CBA-3775-AC7A-ABE9CAC0B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3366F-ABBA-248E-168D-224B85156004}"/>
              </a:ext>
            </a:extLst>
          </p:cNvPr>
          <p:cNvSpPr>
            <a:spLocks noGrp="1"/>
          </p:cNvSpPr>
          <p:nvPr>
            <p:ph type="title"/>
          </p:nvPr>
        </p:nvSpPr>
        <p:spPr>
          <a:xfrm>
            <a:off x="838200" y="97723"/>
            <a:ext cx="10515600" cy="635193"/>
          </a:xfrm>
        </p:spPr>
        <p:txBody>
          <a:bodyPr>
            <a:normAutofit fontScale="90000"/>
          </a:bodyPr>
          <a:lstStyle/>
          <a:p>
            <a:r>
              <a:rPr lang="en-IN" dirty="0"/>
              <a:t>One Skill – One Subdirectory</a:t>
            </a:r>
            <a:endParaRPr lang="en-GB" dirty="0"/>
          </a:p>
        </p:txBody>
      </p:sp>
      <p:sp>
        <p:nvSpPr>
          <p:cNvPr id="3" name="Content Placeholder 2">
            <a:extLst>
              <a:ext uri="{FF2B5EF4-FFF2-40B4-BE49-F238E27FC236}">
                <a16:creationId xmlns:a16="http://schemas.microsoft.com/office/drawing/2014/main" id="{DE70D805-CCE0-921A-0F32-39056ACAC3F6}"/>
              </a:ext>
            </a:extLst>
          </p:cNvPr>
          <p:cNvSpPr>
            <a:spLocks noGrp="1"/>
          </p:cNvSpPr>
          <p:nvPr>
            <p:ph idx="1"/>
          </p:nvPr>
        </p:nvSpPr>
        <p:spPr>
          <a:xfrm>
            <a:off x="838200" y="781777"/>
            <a:ext cx="10515600" cy="5978500"/>
          </a:xfrm>
        </p:spPr>
        <p:txBody>
          <a:bodyPr>
            <a:normAutofit fontScale="92500" lnSpcReduction="10000"/>
          </a:bodyPr>
          <a:lstStyle/>
          <a:p>
            <a:r>
              <a:rPr lang="en-GB" sz="1000" dirty="0"/>
              <a:t>.</a:t>
            </a:r>
            <a:r>
              <a:rPr lang="en-GB" sz="1000" dirty="0" err="1"/>
              <a:t>claude</a:t>
            </a:r>
            <a:r>
              <a:rPr lang="en-GB" sz="1000" dirty="0"/>
              <a:t>/</a:t>
            </a:r>
          </a:p>
          <a:p>
            <a:r>
              <a:rPr lang="en-GB" sz="1000" dirty="0"/>
              <a:t>└── skills/</a:t>
            </a:r>
          </a:p>
          <a:p>
            <a:r>
              <a:rPr lang="en-GB" sz="1000" dirty="0"/>
              <a:t>    ├── security-review/</a:t>
            </a:r>
          </a:p>
          <a:p>
            <a:r>
              <a:rPr lang="en-GB" sz="1000" dirty="0"/>
              <a:t>    │   └── SKILL.md</a:t>
            </a:r>
          </a:p>
          <a:p>
            <a:r>
              <a:rPr lang="en-GB" sz="1000" dirty="0"/>
              <a:t>    │</a:t>
            </a:r>
          </a:p>
          <a:p>
            <a:r>
              <a:rPr lang="en-GB" sz="1000" dirty="0"/>
              <a:t>    ├── </a:t>
            </a:r>
            <a:r>
              <a:rPr lang="en-GB" sz="1000" dirty="0" err="1"/>
              <a:t>sql</a:t>
            </a:r>
            <a:r>
              <a:rPr lang="en-GB" sz="1000" dirty="0"/>
              <a:t>-optimizer/</a:t>
            </a:r>
          </a:p>
          <a:p>
            <a:r>
              <a:rPr lang="en-GB" sz="1000" dirty="0"/>
              <a:t>    │   └── SKILL.md</a:t>
            </a:r>
          </a:p>
          <a:p>
            <a:r>
              <a:rPr lang="en-GB" sz="1000" dirty="0"/>
              <a:t>    │</a:t>
            </a:r>
          </a:p>
          <a:p>
            <a:r>
              <a:rPr lang="en-GB" sz="1000" dirty="0"/>
              <a:t>    ├── </a:t>
            </a:r>
            <a:r>
              <a:rPr lang="en-GB" sz="1000" dirty="0" err="1"/>
              <a:t>api</a:t>
            </a:r>
            <a:r>
              <a:rPr lang="en-GB" sz="1000" dirty="0"/>
              <a:t>-documentation/</a:t>
            </a:r>
          </a:p>
          <a:p>
            <a:r>
              <a:rPr lang="en-GB" sz="1000" dirty="0"/>
              <a:t>    │   └── SKILL.md</a:t>
            </a:r>
          </a:p>
          <a:p>
            <a:r>
              <a:rPr lang="en-GB" sz="1000" dirty="0"/>
              <a:t>    │</a:t>
            </a:r>
          </a:p>
          <a:p>
            <a:r>
              <a:rPr lang="en-GB" sz="1000" dirty="0"/>
              <a:t>    ├── test-case-generator/</a:t>
            </a:r>
          </a:p>
          <a:p>
            <a:r>
              <a:rPr lang="en-GB" sz="1000" dirty="0"/>
              <a:t>    │   └── SKILL.md</a:t>
            </a:r>
          </a:p>
          <a:p>
            <a:r>
              <a:rPr lang="en-GB" sz="1000" dirty="0"/>
              <a:t>    │</a:t>
            </a:r>
          </a:p>
          <a:p>
            <a:r>
              <a:rPr lang="en-GB" sz="1000" dirty="0"/>
              <a:t>    ├── regression-checklist/</a:t>
            </a:r>
          </a:p>
          <a:p>
            <a:r>
              <a:rPr lang="en-GB" sz="1000" dirty="0"/>
              <a:t>    │   └── SKILL.md</a:t>
            </a:r>
          </a:p>
          <a:p>
            <a:r>
              <a:rPr lang="en-GB" sz="1000" dirty="0"/>
              <a:t>    │</a:t>
            </a:r>
          </a:p>
          <a:p>
            <a:r>
              <a:rPr lang="en-GB" sz="1000" dirty="0"/>
              <a:t>    ├── user-story-generator/</a:t>
            </a:r>
          </a:p>
          <a:p>
            <a:r>
              <a:rPr lang="en-GB" sz="1000" dirty="0"/>
              <a:t>    │   └── SKILL.md</a:t>
            </a:r>
          </a:p>
          <a:p>
            <a:r>
              <a:rPr lang="en-GB" sz="1000" dirty="0"/>
              <a:t>    │</a:t>
            </a:r>
          </a:p>
          <a:p>
            <a:r>
              <a:rPr lang="en-GB" sz="1000" dirty="0"/>
              <a:t>    ├── acceptance-criteria/</a:t>
            </a:r>
          </a:p>
          <a:p>
            <a:r>
              <a:rPr lang="en-GB" sz="1000" dirty="0"/>
              <a:t>    │   └── SKILL.md</a:t>
            </a:r>
          </a:p>
          <a:p>
            <a:r>
              <a:rPr lang="en-GB" sz="1000" dirty="0"/>
              <a:t>    │</a:t>
            </a:r>
          </a:p>
          <a:p>
            <a:r>
              <a:rPr lang="en-GB" sz="1000" dirty="0"/>
              <a:t>    └── release-notes/</a:t>
            </a:r>
          </a:p>
          <a:p>
            <a:r>
              <a:rPr lang="en-GB" sz="1000" dirty="0"/>
              <a:t>        └── SKILL.md</a:t>
            </a:r>
          </a:p>
        </p:txBody>
      </p:sp>
    </p:spTree>
    <p:extLst>
      <p:ext uri="{BB962C8B-B14F-4D97-AF65-F5344CB8AC3E}">
        <p14:creationId xmlns:p14="http://schemas.microsoft.com/office/powerpoint/2010/main" val="14171494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A67C-88FC-F8DA-2D3D-8A9F2E2B8A1C}"/>
              </a:ext>
            </a:extLst>
          </p:cNvPr>
          <p:cNvSpPr>
            <a:spLocks noGrp="1"/>
          </p:cNvSpPr>
          <p:nvPr>
            <p:ph type="title"/>
          </p:nvPr>
        </p:nvSpPr>
        <p:spPr/>
        <p:txBody>
          <a:bodyPr/>
          <a:lstStyle/>
          <a:p>
            <a:r>
              <a:rPr lang="en-IN" dirty="0"/>
              <a:t>Asking Claude Code to Create a Skill – Security Review</a:t>
            </a:r>
            <a:endParaRPr lang="en-GB" dirty="0"/>
          </a:p>
        </p:txBody>
      </p:sp>
      <p:sp>
        <p:nvSpPr>
          <p:cNvPr id="3" name="Content Placeholder 2">
            <a:extLst>
              <a:ext uri="{FF2B5EF4-FFF2-40B4-BE49-F238E27FC236}">
                <a16:creationId xmlns:a16="http://schemas.microsoft.com/office/drawing/2014/main" id="{6D4BB29B-6269-7189-BB0D-85268BE7131D}"/>
              </a:ext>
            </a:extLst>
          </p:cNvPr>
          <p:cNvSpPr>
            <a:spLocks noGrp="1"/>
          </p:cNvSpPr>
          <p:nvPr>
            <p:ph idx="1"/>
          </p:nvPr>
        </p:nvSpPr>
        <p:spPr/>
        <p:txBody>
          <a:bodyPr/>
          <a:lstStyle/>
          <a:p>
            <a:r>
              <a:rPr lang="en-US" dirty="0"/>
              <a:t>Create a Claude Code skill named "security-review".</a:t>
            </a:r>
          </a:p>
          <a:p>
            <a:endParaRPr lang="en-US" dirty="0"/>
          </a:p>
          <a:p>
            <a:r>
              <a:rPr lang="en-US" dirty="0"/>
              <a:t>The skill should:</a:t>
            </a:r>
          </a:p>
          <a:p>
            <a:pPr lvl="1"/>
            <a:r>
              <a:rPr lang="en-US" dirty="0"/>
              <a:t>- Review code for OWASP Top 10 vulnerabilities.</a:t>
            </a:r>
          </a:p>
          <a:p>
            <a:pPr lvl="1"/>
            <a:r>
              <a:rPr lang="en-US" dirty="0"/>
              <a:t>- Identify insecure coding practices.</a:t>
            </a:r>
          </a:p>
          <a:p>
            <a:pPr lvl="1"/>
            <a:r>
              <a:rPr lang="en-US" dirty="0"/>
              <a:t>- Suggest secure alternatives.</a:t>
            </a:r>
          </a:p>
          <a:p>
            <a:pPr lvl="1"/>
            <a:r>
              <a:rPr lang="en-US" dirty="0"/>
              <a:t>- Prioritize findings by severity.</a:t>
            </a:r>
            <a:endParaRPr lang="en-GB" dirty="0"/>
          </a:p>
        </p:txBody>
      </p:sp>
    </p:spTree>
    <p:extLst>
      <p:ext uri="{BB962C8B-B14F-4D97-AF65-F5344CB8AC3E}">
        <p14:creationId xmlns:p14="http://schemas.microsoft.com/office/powerpoint/2010/main" val="36232476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E09C9-8D45-8797-9ED0-B66E161BD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386FF-D1F5-BBE9-EBD1-DEA5117E24B3}"/>
              </a:ext>
            </a:extLst>
          </p:cNvPr>
          <p:cNvSpPr>
            <a:spLocks noGrp="1"/>
          </p:cNvSpPr>
          <p:nvPr>
            <p:ph type="title"/>
          </p:nvPr>
        </p:nvSpPr>
        <p:spPr/>
        <p:txBody>
          <a:bodyPr/>
          <a:lstStyle/>
          <a:p>
            <a:r>
              <a:rPr lang="en-IN" dirty="0"/>
              <a:t>Asking Claude Code to Create a Skill – User Stories</a:t>
            </a:r>
            <a:endParaRPr lang="en-GB" dirty="0"/>
          </a:p>
        </p:txBody>
      </p:sp>
      <p:sp>
        <p:nvSpPr>
          <p:cNvPr id="3" name="Content Placeholder 2">
            <a:extLst>
              <a:ext uri="{FF2B5EF4-FFF2-40B4-BE49-F238E27FC236}">
                <a16:creationId xmlns:a16="http://schemas.microsoft.com/office/drawing/2014/main" id="{10DF503C-C0AE-41E3-F131-8928E187ECA8}"/>
              </a:ext>
            </a:extLst>
          </p:cNvPr>
          <p:cNvSpPr>
            <a:spLocks noGrp="1"/>
          </p:cNvSpPr>
          <p:nvPr>
            <p:ph idx="1"/>
          </p:nvPr>
        </p:nvSpPr>
        <p:spPr/>
        <p:txBody>
          <a:bodyPr/>
          <a:lstStyle/>
          <a:p>
            <a:r>
              <a:rPr lang="en-US" dirty="0"/>
              <a:t>Create a Claude Code skill named "user-story-generator".</a:t>
            </a:r>
          </a:p>
          <a:p>
            <a:endParaRPr lang="en-US" dirty="0"/>
          </a:p>
          <a:p>
            <a:r>
              <a:rPr lang="en-US" dirty="0"/>
              <a:t>The skill should convert business requirements into:</a:t>
            </a:r>
          </a:p>
          <a:p>
            <a:pPr lvl="1"/>
            <a:r>
              <a:rPr lang="en-US" dirty="0"/>
              <a:t>- User stories</a:t>
            </a:r>
          </a:p>
          <a:p>
            <a:pPr lvl="1"/>
            <a:r>
              <a:rPr lang="en-US" dirty="0"/>
              <a:t>- Acceptance criteria</a:t>
            </a:r>
          </a:p>
          <a:p>
            <a:pPr lvl="1"/>
            <a:r>
              <a:rPr lang="en-US" dirty="0"/>
              <a:t>- Edge cases</a:t>
            </a:r>
          </a:p>
          <a:p>
            <a:pPr lvl="1"/>
            <a:r>
              <a:rPr lang="en-US" dirty="0"/>
              <a:t>- Assumptions</a:t>
            </a:r>
            <a:endParaRPr lang="en-GB" dirty="0"/>
          </a:p>
        </p:txBody>
      </p:sp>
    </p:spTree>
    <p:extLst>
      <p:ext uri="{BB962C8B-B14F-4D97-AF65-F5344CB8AC3E}">
        <p14:creationId xmlns:p14="http://schemas.microsoft.com/office/powerpoint/2010/main" val="11878634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EB65-2A79-991C-E16E-43B7906D07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326A6-714D-607C-BA1C-924D97E8918A}"/>
              </a:ext>
            </a:extLst>
          </p:cNvPr>
          <p:cNvSpPr>
            <a:spLocks noGrp="1"/>
          </p:cNvSpPr>
          <p:nvPr>
            <p:ph type="title"/>
          </p:nvPr>
        </p:nvSpPr>
        <p:spPr/>
        <p:txBody>
          <a:bodyPr/>
          <a:lstStyle/>
          <a:p>
            <a:r>
              <a:rPr lang="en-IN" dirty="0"/>
              <a:t>Asking Claude Code to Create a Skill – API Documentation</a:t>
            </a:r>
            <a:endParaRPr lang="en-GB" dirty="0"/>
          </a:p>
        </p:txBody>
      </p:sp>
      <p:sp>
        <p:nvSpPr>
          <p:cNvPr id="3" name="Content Placeholder 2">
            <a:extLst>
              <a:ext uri="{FF2B5EF4-FFF2-40B4-BE49-F238E27FC236}">
                <a16:creationId xmlns:a16="http://schemas.microsoft.com/office/drawing/2014/main" id="{3D641491-4EA1-2734-CC82-EDAE4E6B1BA1}"/>
              </a:ext>
            </a:extLst>
          </p:cNvPr>
          <p:cNvSpPr>
            <a:spLocks noGrp="1"/>
          </p:cNvSpPr>
          <p:nvPr>
            <p:ph idx="1"/>
          </p:nvPr>
        </p:nvSpPr>
        <p:spPr/>
        <p:txBody>
          <a:bodyPr/>
          <a:lstStyle/>
          <a:p>
            <a:r>
              <a:rPr lang="en-US" dirty="0"/>
              <a:t>Create a Claude Code skill named "</a:t>
            </a:r>
            <a:r>
              <a:rPr lang="en-US" dirty="0" err="1"/>
              <a:t>api</a:t>
            </a:r>
            <a:r>
              <a:rPr lang="en-US" dirty="0"/>
              <a:t>-documentation".</a:t>
            </a:r>
          </a:p>
          <a:p>
            <a:endParaRPr lang="en-US" dirty="0"/>
          </a:p>
          <a:p>
            <a:r>
              <a:rPr lang="en-US" dirty="0"/>
              <a:t>The skill should:</a:t>
            </a:r>
          </a:p>
          <a:p>
            <a:pPr lvl="1"/>
            <a:r>
              <a:rPr lang="en-US" dirty="0"/>
              <a:t>- Read REST API code.</a:t>
            </a:r>
          </a:p>
          <a:p>
            <a:pPr lvl="1"/>
            <a:r>
              <a:rPr lang="en-US" dirty="0"/>
              <a:t>- Generate endpoint documentation.</a:t>
            </a:r>
          </a:p>
          <a:p>
            <a:pPr lvl="1"/>
            <a:r>
              <a:rPr lang="en-US" dirty="0"/>
              <a:t>- Include request parameters, responses, status codes, and examples.</a:t>
            </a:r>
            <a:endParaRPr lang="en-GB" dirty="0"/>
          </a:p>
        </p:txBody>
      </p:sp>
    </p:spTree>
    <p:extLst>
      <p:ext uri="{BB962C8B-B14F-4D97-AF65-F5344CB8AC3E}">
        <p14:creationId xmlns:p14="http://schemas.microsoft.com/office/powerpoint/2010/main" val="22326638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E49E7-8135-F276-7874-895AF8AF3104}"/>
              </a:ext>
            </a:extLst>
          </p:cNvPr>
          <p:cNvSpPr>
            <a:spLocks noGrp="1"/>
          </p:cNvSpPr>
          <p:nvPr>
            <p:ph type="title"/>
          </p:nvPr>
        </p:nvSpPr>
        <p:spPr/>
        <p:txBody>
          <a:bodyPr/>
          <a:lstStyle/>
          <a:p>
            <a:r>
              <a:rPr lang="en-IN" dirty="0"/>
              <a:t>Reusable Skill</a:t>
            </a:r>
            <a:endParaRPr lang="en-GB" dirty="0"/>
          </a:p>
        </p:txBody>
      </p:sp>
      <p:sp>
        <p:nvSpPr>
          <p:cNvPr id="3" name="Content Placeholder 2">
            <a:extLst>
              <a:ext uri="{FF2B5EF4-FFF2-40B4-BE49-F238E27FC236}">
                <a16:creationId xmlns:a16="http://schemas.microsoft.com/office/drawing/2014/main" id="{F80A06DC-7F6B-CB21-4801-B08459BC0717}"/>
              </a:ext>
            </a:extLst>
          </p:cNvPr>
          <p:cNvSpPr>
            <a:spLocks noGrp="1"/>
          </p:cNvSpPr>
          <p:nvPr>
            <p:ph idx="1"/>
          </p:nvPr>
        </p:nvSpPr>
        <p:spPr/>
        <p:txBody>
          <a:bodyPr>
            <a:normAutofit fontScale="85000" lnSpcReduction="20000"/>
          </a:bodyPr>
          <a:lstStyle/>
          <a:p>
            <a:r>
              <a:rPr lang="en-GB" dirty="0"/>
              <a:t>Create a reusable Claude Code Skill.</a:t>
            </a:r>
          </a:p>
          <a:p>
            <a:endParaRPr lang="en-GB" dirty="0"/>
          </a:p>
          <a:p>
            <a:r>
              <a:rPr lang="en-GB" dirty="0"/>
              <a:t>Requirements:</a:t>
            </a:r>
          </a:p>
          <a:p>
            <a:pPr lvl="1"/>
            <a:r>
              <a:rPr lang="en-GB" dirty="0"/>
              <a:t>- Create the appropriate directory under .</a:t>
            </a:r>
            <a:r>
              <a:rPr lang="en-GB" dirty="0" err="1"/>
              <a:t>claude</a:t>
            </a:r>
            <a:r>
              <a:rPr lang="en-GB" dirty="0"/>
              <a:t>/skills.</a:t>
            </a:r>
          </a:p>
          <a:p>
            <a:pPr lvl="1"/>
            <a:r>
              <a:rPr lang="en-GB" dirty="0"/>
              <a:t>- Generate a complete SKILL.md.</a:t>
            </a:r>
          </a:p>
          <a:p>
            <a:pPr lvl="1"/>
            <a:r>
              <a:rPr lang="en-GB" dirty="0"/>
              <a:t>- Add a meaningful name and description.</a:t>
            </a:r>
          </a:p>
          <a:p>
            <a:pPr lvl="1"/>
            <a:r>
              <a:rPr lang="en-GB" dirty="0"/>
              <a:t>- Write clear instructions for Claude.</a:t>
            </a:r>
          </a:p>
          <a:p>
            <a:pPr lvl="1"/>
            <a:r>
              <a:rPr lang="en-GB" dirty="0"/>
              <a:t>- Include example usage.</a:t>
            </a:r>
          </a:p>
          <a:p>
            <a:pPr lvl="1"/>
            <a:r>
              <a:rPr lang="en-GB" dirty="0"/>
              <a:t>- Follow Claude Code best practices for Skills.</a:t>
            </a:r>
          </a:p>
          <a:p>
            <a:endParaRPr lang="en-GB" dirty="0"/>
          </a:p>
          <a:p>
            <a:r>
              <a:rPr lang="en-GB" dirty="0"/>
              <a:t>Then simply append something like</a:t>
            </a:r>
          </a:p>
          <a:p>
            <a:pPr lvl="1"/>
            <a:r>
              <a:rPr lang="en-US" dirty="0"/>
              <a:t>The skill should generate regression test checklists for web applications.	OR</a:t>
            </a:r>
          </a:p>
          <a:p>
            <a:pPr lvl="1"/>
            <a:r>
              <a:rPr lang="en-US" dirty="0"/>
              <a:t>The skill should review SQL queries and suggest performance optimizations.</a:t>
            </a:r>
            <a:endParaRPr lang="en-GB" dirty="0"/>
          </a:p>
        </p:txBody>
      </p:sp>
    </p:spTree>
    <p:extLst>
      <p:ext uri="{BB962C8B-B14F-4D97-AF65-F5344CB8AC3E}">
        <p14:creationId xmlns:p14="http://schemas.microsoft.com/office/powerpoint/2010/main" val="32105332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7C25-4C6D-0AA0-9B75-AA208E8DB985}"/>
              </a:ext>
            </a:extLst>
          </p:cNvPr>
          <p:cNvSpPr>
            <a:spLocks noGrp="1"/>
          </p:cNvSpPr>
          <p:nvPr>
            <p:ph type="title"/>
          </p:nvPr>
        </p:nvSpPr>
        <p:spPr/>
        <p:txBody>
          <a:bodyPr/>
          <a:lstStyle/>
          <a:p>
            <a:r>
              <a:rPr lang="en-IN" dirty="0"/>
              <a:t>Subagents</a:t>
            </a:r>
            <a:endParaRPr lang="en-GB" dirty="0"/>
          </a:p>
        </p:txBody>
      </p:sp>
      <p:sp>
        <p:nvSpPr>
          <p:cNvPr id="3" name="Content Placeholder 2">
            <a:extLst>
              <a:ext uri="{FF2B5EF4-FFF2-40B4-BE49-F238E27FC236}">
                <a16:creationId xmlns:a16="http://schemas.microsoft.com/office/drawing/2014/main" id="{BDE2E3A0-8120-197B-7BCF-EF618B3F0211}"/>
              </a:ext>
            </a:extLst>
          </p:cNvPr>
          <p:cNvSpPr>
            <a:spLocks noGrp="1"/>
          </p:cNvSpPr>
          <p:nvPr>
            <p:ph idx="1"/>
          </p:nvPr>
        </p:nvSpPr>
        <p:spPr/>
        <p:txBody>
          <a:bodyPr>
            <a:normAutofit fontScale="92500" lnSpcReduction="20000"/>
          </a:bodyPr>
          <a:lstStyle/>
          <a:p>
            <a:r>
              <a:rPr lang="en-GB" dirty="0"/>
              <a:t>Some tasks require multiple perspectives</a:t>
            </a:r>
          </a:p>
          <a:p>
            <a:r>
              <a:rPr lang="en-GB" dirty="0"/>
              <a:t>Example: Review a Pull Request</a:t>
            </a:r>
          </a:p>
          <a:p>
            <a:r>
              <a:rPr lang="en-GB" dirty="0"/>
              <a:t>Need: Code Quality, Security, Performance, Testing, Documentation </a:t>
            </a:r>
          </a:p>
          <a:p>
            <a:r>
              <a:rPr lang="en-GB" dirty="0"/>
              <a:t>Doing them one after another is slow</a:t>
            </a:r>
          </a:p>
          <a:p>
            <a:r>
              <a:rPr lang="en-GB" dirty="0"/>
              <a:t>Need: Parallel analysis</a:t>
            </a:r>
          </a:p>
          <a:p>
            <a:r>
              <a:rPr lang="en-GB" dirty="0"/>
              <a:t>Solution: </a:t>
            </a:r>
            <a:r>
              <a:rPr lang="en-GB" b="1" dirty="0"/>
              <a:t>Subagents</a:t>
            </a:r>
          </a:p>
          <a:p>
            <a:r>
              <a:rPr lang="en-GB" dirty="0"/>
              <a:t>Benefits</a:t>
            </a:r>
          </a:p>
          <a:p>
            <a:pPr lvl="1"/>
            <a:r>
              <a:rPr lang="en-GB" dirty="0"/>
              <a:t>Parallel analysis </a:t>
            </a:r>
          </a:p>
          <a:p>
            <a:pPr lvl="1"/>
            <a:r>
              <a:rPr lang="en-GB" dirty="0"/>
              <a:t>Specialized expertise </a:t>
            </a:r>
          </a:p>
          <a:p>
            <a:pPr lvl="1"/>
            <a:r>
              <a:rPr lang="en-GB" dirty="0"/>
              <a:t>Faster reviews </a:t>
            </a:r>
          </a:p>
          <a:p>
            <a:pPr lvl="1"/>
            <a:r>
              <a:rPr lang="en-GB" dirty="0"/>
              <a:t>Better coverage</a:t>
            </a:r>
          </a:p>
        </p:txBody>
      </p:sp>
    </p:spTree>
    <p:extLst>
      <p:ext uri="{BB962C8B-B14F-4D97-AF65-F5344CB8AC3E}">
        <p14:creationId xmlns:p14="http://schemas.microsoft.com/office/powerpoint/2010/main" val="27410290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DCF34-805F-6BF4-5FF8-7FA1EFA95D28}"/>
              </a:ext>
            </a:extLst>
          </p:cNvPr>
          <p:cNvSpPr>
            <a:spLocks noGrp="1"/>
          </p:cNvSpPr>
          <p:nvPr>
            <p:ph type="title"/>
          </p:nvPr>
        </p:nvSpPr>
        <p:spPr>
          <a:xfrm>
            <a:off x="838200" y="62822"/>
            <a:ext cx="10515600" cy="698016"/>
          </a:xfrm>
        </p:spPr>
        <p:txBody>
          <a:bodyPr/>
          <a:lstStyle/>
          <a:p>
            <a:r>
              <a:rPr lang="en-IN" dirty="0"/>
              <a:t>Subagents</a:t>
            </a:r>
            <a:endParaRPr lang="en-GB" dirty="0"/>
          </a:p>
        </p:txBody>
      </p:sp>
      <p:sp>
        <p:nvSpPr>
          <p:cNvPr id="3" name="Content Placeholder 2">
            <a:extLst>
              <a:ext uri="{FF2B5EF4-FFF2-40B4-BE49-F238E27FC236}">
                <a16:creationId xmlns:a16="http://schemas.microsoft.com/office/drawing/2014/main" id="{657D9A97-A642-F64A-273A-FAD34357BFA3}"/>
              </a:ext>
            </a:extLst>
          </p:cNvPr>
          <p:cNvSpPr>
            <a:spLocks noGrp="1"/>
          </p:cNvSpPr>
          <p:nvPr>
            <p:ph idx="1"/>
          </p:nvPr>
        </p:nvSpPr>
        <p:spPr>
          <a:xfrm>
            <a:off x="838200" y="858559"/>
            <a:ext cx="10515600" cy="5318404"/>
          </a:xfrm>
        </p:spPr>
        <p:txBody>
          <a:bodyPr>
            <a:normAutofit lnSpcReduction="10000"/>
          </a:bodyPr>
          <a:lstStyle/>
          <a:p>
            <a:r>
              <a:rPr lang="en-GB" b="1" dirty="0"/>
              <a:t>Subagent</a:t>
            </a:r>
            <a:r>
              <a:rPr lang="en-GB" dirty="0"/>
              <a:t>: A specialized Claude instance assigned a focused task</a:t>
            </a:r>
          </a:p>
          <a:p>
            <a:r>
              <a:rPr lang="en-GB" dirty="0"/>
              <a:t>Each subagent works independently</a:t>
            </a:r>
          </a:p>
          <a:p>
            <a:endParaRPr lang="en-GB" dirty="0"/>
          </a:p>
          <a:p>
            <a:pPr marL="0" indent="0">
              <a:buNone/>
            </a:pPr>
            <a:r>
              <a:rPr lang="en-GB" dirty="0"/>
              <a:t>Review Pull Request</a:t>
            </a:r>
          </a:p>
          <a:p>
            <a:pPr marL="0" indent="0">
              <a:buNone/>
            </a:pPr>
            <a:r>
              <a:rPr lang="en-GB" dirty="0"/>
              <a:t>                             │</a:t>
            </a:r>
          </a:p>
          <a:p>
            <a:pPr marL="0" indent="0">
              <a:buNone/>
            </a:pPr>
            <a:r>
              <a:rPr lang="en-GB" dirty="0"/>
              <a:t> ┌──────┼─────────┬─────────┐</a:t>
            </a:r>
          </a:p>
          <a:p>
            <a:pPr marL="0" indent="0">
              <a:buNone/>
            </a:pPr>
            <a:r>
              <a:rPr lang="en-GB" dirty="0"/>
              <a:t>Security   Performance   Testing   Documentation</a:t>
            </a:r>
          </a:p>
          <a:p>
            <a:pPr marL="0" indent="0">
              <a:buNone/>
            </a:pPr>
            <a:r>
              <a:rPr lang="en-GB" dirty="0"/>
              <a:t>                              │</a:t>
            </a:r>
          </a:p>
          <a:p>
            <a:pPr marL="0" indent="0">
              <a:buNone/>
            </a:pPr>
            <a:r>
              <a:rPr lang="en-GB" dirty="0"/>
              <a:t>                    Merge findings</a:t>
            </a:r>
          </a:p>
          <a:p>
            <a:pPr marL="0" indent="0">
              <a:buNone/>
            </a:pPr>
            <a:r>
              <a:rPr lang="en-GB" dirty="0"/>
              <a:t>                              │</a:t>
            </a:r>
          </a:p>
          <a:p>
            <a:pPr marL="0" indent="0">
              <a:buNone/>
            </a:pPr>
            <a:r>
              <a:rPr lang="en-GB" dirty="0"/>
              <a:t>                        Final report</a:t>
            </a:r>
          </a:p>
          <a:p>
            <a:pPr marL="0" indent="0">
              <a:buNone/>
            </a:pPr>
            <a:endParaRPr lang="en-GB" dirty="0"/>
          </a:p>
        </p:txBody>
      </p:sp>
    </p:spTree>
    <p:extLst>
      <p:ext uri="{BB962C8B-B14F-4D97-AF65-F5344CB8AC3E}">
        <p14:creationId xmlns:p14="http://schemas.microsoft.com/office/powerpoint/2010/main" val="332650947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6A914-DFDE-C0C7-DE55-CCF235D06CEA}"/>
              </a:ext>
            </a:extLst>
          </p:cNvPr>
          <p:cNvSpPr>
            <a:spLocks noGrp="1"/>
          </p:cNvSpPr>
          <p:nvPr>
            <p:ph type="title"/>
          </p:nvPr>
        </p:nvSpPr>
        <p:spPr/>
        <p:txBody>
          <a:bodyPr/>
          <a:lstStyle/>
          <a:p>
            <a:r>
              <a:rPr lang="en-IN" dirty="0"/>
              <a:t>Subagent Example</a:t>
            </a:r>
            <a:endParaRPr lang="en-GB" dirty="0"/>
          </a:p>
        </p:txBody>
      </p:sp>
      <p:sp>
        <p:nvSpPr>
          <p:cNvPr id="3" name="Content Placeholder 2">
            <a:extLst>
              <a:ext uri="{FF2B5EF4-FFF2-40B4-BE49-F238E27FC236}">
                <a16:creationId xmlns:a16="http://schemas.microsoft.com/office/drawing/2014/main" id="{91DFA064-F1EF-5CBD-4226-C4C1BDB4AE0D}"/>
              </a:ext>
            </a:extLst>
          </p:cNvPr>
          <p:cNvSpPr>
            <a:spLocks noGrp="1"/>
          </p:cNvSpPr>
          <p:nvPr>
            <p:ph idx="1"/>
          </p:nvPr>
        </p:nvSpPr>
        <p:spPr/>
        <p:txBody>
          <a:bodyPr>
            <a:normAutofit/>
          </a:bodyPr>
          <a:lstStyle/>
          <a:p>
            <a:r>
              <a:rPr lang="en-GB" dirty="0"/>
              <a:t>Lead Management feature</a:t>
            </a:r>
          </a:p>
          <a:p>
            <a:r>
              <a:rPr lang="en-GB" dirty="0"/>
              <a:t>Subagents</a:t>
            </a:r>
          </a:p>
          <a:p>
            <a:pPr lvl="1"/>
            <a:r>
              <a:rPr lang="en-GB" dirty="0"/>
              <a:t>Developer: Review implementation </a:t>
            </a:r>
          </a:p>
          <a:p>
            <a:pPr lvl="1"/>
            <a:r>
              <a:rPr lang="en-GB" dirty="0"/>
              <a:t>QA: Generate tests </a:t>
            </a:r>
          </a:p>
          <a:p>
            <a:pPr lvl="1"/>
            <a:r>
              <a:rPr lang="en-GB" dirty="0"/>
              <a:t>Security: Check authentication, Validate input </a:t>
            </a:r>
          </a:p>
          <a:p>
            <a:pPr lvl="1"/>
            <a:r>
              <a:rPr lang="en-GB" dirty="0"/>
              <a:t>Database: Review queries </a:t>
            </a:r>
          </a:p>
          <a:p>
            <a:pPr lvl="1"/>
            <a:r>
              <a:rPr lang="en-GB" dirty="0"/>
              <a:t>Documentation: Update API documentation </a:t>
            </a:r>
          </a:p>
          <a:p>
            <a:r>
              <a:rPr lang="en-GB" dirty="0"/>
              <a:t>Claude combines all findings into a single report</a:t>
            </a:r>
          </a:p>
          <a:p>
            <a:endParaRPr lang="en-GB" dirty="0"/>
          </a:p>
        </p:txBody>
      </p:sp>
    </p:spTree>
    <p:extLst>
      <p:ext uri="{BB962C8B-B14F-4D97-AF65-F5344CB8AC3E}">
        <p14:creationId xmlns:p14="http://schemas.microsoft.com/office/powerpoint/2010/main" val="31310152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E8DA-3692-CD08-99B7-F3FEEA741E44}"/>
              </a:ext>
            </a:extLst>
          </p:cNvPr>
          <p:cNvSpPr>
            <a:spLocks noGrp="1"/>
          </p:cNvSpPr>
          <p:nvPr>
            <p:ph type="title"/>
          </p:nvPr>
        </p:nvSpPr>
        <p:spPr/>
        <p:txBody>
          <a:bodyPr/>
          <a:lstStyle/>
          <a:p>
            <a:r>
              <a:rPr lang="en-IN" dirty="0"/>
              <a:t>Creating Subagents</a:t>
            </a:r>
            <a:endParaRPr lang="en-GB" dirty="0"/>
          </a:p>
        </p:txBody>
      </p:sp>
      <p:sp>
        <p:nvSpPr>
          <p:cNvPr id="3" name="Content Placeholder 2">
            <a:extLst>
              <a:ext uri="{FF2B5EF4-FFF2-40B4-BE49-F238E27FC236}">
                <a16:creationId xmlns:a16="http://schemas.microsoft.com/office/drawing/2014/main" id="{F260F24E-13B7-394A-3939-0D386ED05865}"/>
              </a:ext>
            </a:extLst>
          </p:cNvPr>
          <p:cNvSpPr>
            <a:spLocks noGrp="1"/>
          </p:cNvSpPr>
          <p:nvPr>
            <p:ph idx="1"/>
          </p:nvPr>
        </p:nvSpPr>
        <p:spPr/>
        <p:txBody>
          <a:bodyPr>
            <a:normAutofit fontScale="92500" lnSpcReduction="20000"/>
          </a:bodyPr>
          <a:lstStyle/>
          <a:p>
            <a:r>
              <a:rPr lang="en-US" dirty="0"/>
              <a:t>Review the Lead Management feature.</a:t>
            </a:r>
          </a:p>
          <a:p>
            <a:endParaRPr lang="en-US" dirty="0"/>
          </a:p>
          <a:p>
            <a:r>
              <a:rPr lang="en-US" dirty="0"/>
              <a:t>Use specialized subagents for:</a:t>
            </a:r>
          </a:p>
          <a:p>
            <a:pPr lvl="1"/>
            <a:r>
              <a:rPr lang="en-US" dirty="0"/>
              <a:t>Code review</a:t>
            </a:r>
          </a:p>
          <a:p>
            <a:pPr lvl="1"/>
            <a:r>
              <a:rPr lang="en-US" dirty="0"/>
              <a:t>Test generation</a:t>
            </a:r>
          </a:p>
          <a:p>
            <a:pPr lvl="1"/>
            <a:r>
              <a:rPr lang="en-US" dirty="0"/>
              <a:t>Security review</a:t>
            </a:r>
          </a:p>
          <a:p>
            <a:pPr lvl="1"/>
            <a:r>
              <a:rPr lang="en-US" dirty="0"/>
              <a:t>SQL review</a:t>
            </a:r>
          </a:p>
          <a:p>
            <a:pPr lvl="1"/>
            <a:r>
              <a:rPr lang="en-US" dirty="0"/>
              <a:t>API documentation</a:t>
            </a:r>
          </a:p>
          <a:p>
            <a:endParaRPr lang="en-US" dirty="0"/>
          </a:p>
          <a:p>
            <a:r>
              <a:rPr lang="en-US" dirty="0"/>
              <a:t>Work in parallel and combine all findings into one report.</a:t>
            </a:r>
          </a:p>
          <a:p>
            <a:endParaRPr lang="en-US" dirty="0"/>
          </a:p>
          <a:p>
            <a:r>
              <a:rPr lang="en-US" dirty="0"/>
              <a:t>Result: Claude will create subagents and run them</a:t>
            </a:r>
            <a:endParaRPr lang="en-GB" dirty="0"/>
          </a:p>
        </p:txBody>
      </p:sp>
    </p:spTree>
    <p:extLst>
      <p:ext uri="{BB962C8B-B14F-4D97-AF65-F5344CB8AC3E}">
        <p14:creationId xmlns:p14="http://schemas.microsoft.com/office/powerpoint/2010/main" val="165039086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94C36-4A8F-E583-5A4F-9CA36FF5F5C2}"/>
              </a:ext>
            </a:extLst>
          </p:cNvPr>
          <p:cNvSpPr>
            <a:spLocks noGrp="1"/>
          </p:cNvSpPr>
          <p:nvPr>
            <p:ph type="title"/>
          </p:nvPr>
        </p:nvSpPr>
        <p:spPr/>
        <p:txBody>
          <a:bodyPr/>
          <a:lstStyle/>
          <a:p>
            <a:r>
              <a:rPr lang="en-IN" dirty="0"/>
              <a:t>Skills versus Subagents</a:t>
            </a:r>
            <a:endParaRPr lang="en-GB" dirty="0"/>
          </a:p>
        </p:txBody>
      </p:sp>
      <p:sp>
        <p:nvSpPr>
          <p:cNvPr id="3" name="Content Placeholder 2">
            <a:extLst>
              <a:ext uri="{FF2B5EF4-FFF2-40B4-BE49-F238E27FC236}">
                <a16:creationId xmlns:a16="http://schemas.microsoft.com/office/drawing/2014/main" id="{2B9E4DF4-9363-B445-83D6-480B41F33D94}"/>
              </a:ext>
            </a:extLst>
          </p:cNvPr>
          <p:cNvSpPr>
            <a:spLocks noGrp="1"/>
          </p:cNvSpPr>
          <p:nvPr>
            <p:ph idx="1"/>
          </p:nvPr>
        </p:nvSpPr>
        <p:spPr/>
        <p:txBody>
          <a:bodyPr>
            <a:normAutofit/>
          </a:bodyPr>
          <a:lstStyle/>
          <a:p>
            <a:r>
              <a:rPr lang="en-GB" dirty="0"/>
              <a:t>Unlike Skills, you do not create subagents as folders</a:t>
            </a:r>
          </a:p>
          <a:p>
            <a:r>
              <a:rPr lang="en-GB" dirty="0"/>
              <a:t>Claude creates them dynamically for the current task</a:t>
            </a:r>
          </a:p>
          <a:p>
            <a:r>
              <a:rPr lang="en-GB" dirty="0"/>
              <a:t>You simply ask</a:t>
            </a:r>
          </a:p>
          <a:p>
            <a:pPr lvl="1"/>
            <a:r>
              <a:rPr lang="en-GB" dirty="0"/>
              <a:t>"Use subagents..."</a:t>
            </a:r>
          </a:p>
          <a:p>
            <a:r>
              <a:rPr lang="en-GB" dirty="0"/>
              <a:t>or</a:t>
            </a:r>
          </a:p>
          <a:p>
            <a:pPr lvl="1"/>
            <a:r>
              <a:rPr lang="en-GB" dirty="0"/>
              <a:t>"Spawn specialized agents..."</a:t>
            </a:r>
          </a:p>
          <a:p>
            <a:r>
              <a:rPr lang="en-GB" dirty="0"/>
              <a:t>or</a:t>
            </a:r>
          </a:p>
          <a:p>
            <a:pPr lvl="1"/>
            <a:r>
              <a:rPr lang="en-GB" dirty="0"/>
              <a:t>"</a:t>
            </a:r>
            <a:r>
              <a:rPr lang="en-GB" dirty="0" err="1"/>
              <a:t>Analyze</a:t>
            </a:r>
            <a:r>
              <a:rPr lang="en-GB" dirty="0"/>
              <a:t> this in parallel."</a:t>
            </a:r>
          </a:p>
          <a:p>
            <a:r>
              <a:rPr lang="en-GB" dirty="0"/>
              <a:t>Claude decides how many subagents are needed</a:t>
            </a:r>
          </a:p>
        </p:txBody>
      </p:sp>
    </p:spTree>
    <p:extLst>
      <p:ext uri="{BB962C8B-B14F-4D97-AF65-F5344CB8AC3E}">
        <p14:creationId xmlns:p14="http://schemas.microsoft.com/office/powerpoint/2010/main" val="6693465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03AE5-23E7-22F5-DA5B-F86E34CDE9D8}"/>
              </a:ext>
            </a:extLst>
          </p:cNvPr>
          <p:cNvSpPr>
            <a:spLocks noGrp="1"/>
          </p:cNvSpPr>
          <p:nvPr>
            <p:ph type="title"/>
          </p:nvPr>
        </p:nvSpPr>
        <p:spPr/>
        <p:txBody>
          <a:bodyPr/>
          <a:lstStyle/>
          <a:p>
            <a:r>
              <a:rPr lang="en-IN" dirty="0"/>
              <a:t>Skills and Subagents Comparison</a:t>
            </a:r>
            <a:endParaRPr lang="en-GB" dirty="0"/>
          </a:p>
        </p:txBody>
      </p:sp>
      <p:graphicFrame>
        <p:nvGraphicFramePr>
          <p:cNvPr id="4" name="Content Placeholder 3">
            <a:extLst>
              <a:ext uri="{FF2B5EF4-FFF2-40B4-BE49-F238E27FC236}">
                <a16:creationId xmlns:a16="http://schemas.microsoft.com/office/drawing/2014/main" id="{20C91647-908F-F9A6-64A2-CEF57811726E}"/>
              </a:ext>
            </a:extLst>
          </p:cNvPr>
          <p:cNvGraphicFramePr>
            <a:graphicFrameLocks noGrp="1"/>
          </p:cNvGraphicFramePr>
          <p:nvPr>
            <p:ph idx="1"/>
            <p:extLst>
              <p:ext uri="{D42A27DB-BD31-4B8C-83A1-F6EECF244321}">
                <p14:modId xmlns:p14="http://schemas.microsoft.com/office/powerpoint/2010/main" val="1777181722"/>
              </p:ext>
            </p:extLst>
          </p:nvPr>
        </p:nvGraphicFramePr>
        <p:xfrm>
          <a:off x="838200" y="2904014"/>
          <a:ext cx="10515600" cy="2194560"/>
        </p:xfrm>
        <a:graphic>
          <a:graphicData uri="http://schemas.openxmlformats.org/drawingml/2006/table">
            <a:tbl>
              <a:tblPr firstRow="1">
                <a:tableStyleId>{7E9639D4-E3E2-4D34-9284-5A2195B3D0D7}</a:tableStyleId>
              </a:tblPr>
              <a:tblGrid>
                <a:gridCol w="5257800">
                  <a:extLst>
                    <a:ext uri="{9D8B030D-6E8A-4147-A177-3AD203B41FA5}">
                      <a16:colId xmlns:a16="http://schemas.microsoft.com/office/drawing/2014/main" val="2454825572"/>
                    </a:ext>
                  </a:extLst>
                </a:gridCol>
                <a:gridCol w="5257800">
                  <a:extLst>
                    <a:ext uri="{9D8B030D-6E8A-4147-A177-3AD203B41FA5}">
                      <a16:colId xmlns:a16="http://schemas.microsoft.com/office/drawing/2014/main" val="2348477349"/>
                    </a:ext>
                  </a:extLst>
                </a:gridCol>
              </a:tblGrid>
              <a:tr h="0">
                <a:tc>
                  <a:txBody>
                    <a:bodyPr/>
                    <a:lstStyle/>
                    <a:p>
                      <a:pPr>
                        <a:buNone/>
                      </a:pPr>
                      <a:r>
                        <a:rPr lang="en-GB" dirty="0"/>
                        <a:t>Skills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Subagents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1163359"/>
                  </a:ext>
                </a:extLst>
              </a:tr>
              <a:tr h="0">
                <a:tc>
                  <a:txBody>
                    <a:bodyPr/>
                    <a:lstStyle/>
                    <a:p>
                      <a:pPr>
                        <a:buNone/>
                      </a:pPr>
                      <a:r>
                        <a:rPr lang="en-GB"/>
                        <a:t>Reusable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Temporary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57543"/>
                  </a:ext>
                </a:extLst>
              </a:tr>
              <a:tr h="0">
                <a:tc>
                  <a:txBody>
                    <a:bodyPr/>
                    <a:lstStyle/>
                    <a:p>
                      <a:pPr>
                        <a:buNone/>
                      </a:pPr>
                      <a:r>
                        <a:rPr lang="en-GB"/>
                        <a:t>Stored on disk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Created for one task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6915614"/>
                  </a:ext>
                </a:extLst>
              </a:tr>
              <a:tr h="0">
                <a:tc>
                  <a:txBody>
                    <a:bodyPr/>
                    <a:lstStyle/>
                    <a:p>
                      <a:pPr>
                        <a:buNone/>
                      </a:pPr>
                      <a:r>
                        <a:rPr lang="en-GB"/>
                        <a:t>Invoked with /skill-name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Requested in the prompt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0538128"/>
                  </a:ext>
                </a:extLst>
              </a:tr>
              <a:tr h="0">
                <a:tc>
                  <a:txBody>
                    <a:bodyPr/>
                    <a:lstStyle/>
                    <a:p>
                      <a:pPr>
                        <a:buNone/>
                      </a:pPr>
                      <a:r>
                        <a:rPr lang="en-GB"/>
                        <a:t>Standardize repetitive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a:t>Parallelize complex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3481716"/>
                  </a:ext>
                </a:extLst>
              </a:tr>
              <a:tr h="0">
                <a:tc>
                  <a:txBody>
                    <a:bodyPr/>
                    <a:lstStyle/>
                    <a:p>
                      <a:pPr>
                        <a:buNone/>
                      </a:pPr>
                      <a:r>
                        <a:rPr lang="en-GB"/>
                        <a:t>Usually one specialist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dirty="0"/>
                        <a:t>Multiple specialists at once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3495675"/>
                  </a:ext>
                </a:extLst>
              </a:tr>
            </a:tbl>
          </a:graphicData>
        </a:graphic>
      </p:graphicFrame>
    </p:spTree>
    <p:extLst>
      <p:ext uri="{BB962C8B-B14F-4D97-AF65-F5344CB8AC3E}">
        <p14:creationId xmlns:p14="http://schemas.microsoft.com/office/powerpoint/2010/main" val="253334376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75769-5877-01E4-2BD5-B07ED6F70C37}"/>
              </a:ext>
            </a:extLst>
          </p:cNvPr>
          <p:cNvSpPr>
            <a:spLocks noGrp="1"/>
          </p:cNvSpPr>
          <p:nvPr>
            <p:ph type="title"/>
          </p:nvPr>
        </p:nvSpPr>
        <p:spPr/>
        <p:txBody>
          <a:bodyPr/>
          <a:lstStyle/>
          <a:p>
            <a:r>
              <a:rPr lang="en-IN" dirty="0"/>
              <a:t>Hooks – Because People Forget</a:t>
            </a:r>
            <a:endParaRPr lang="en-GB" dirty="0"/>
          </a:p>
        </p:txBody>
      </p:sp>
      <p:sp>
        <p:nvSpPr>
          <p:cNvPr id="3" name="Content Placeholder 2">
            <a:extLst>
              <a:ext uri="{FF2B5EF4-FFF2-40B4-BE49-F238E27FC236}">
                <a16:creationId xmlns:a16="http://schemas.microsoft.com/office/drawing/2014/main" id="{7363C260-9908-C9D6-8DDB-D3299202F3C1}"/>
              </a:ext>
            </a:extLst>
          </p:cNvPr>
          <p:cNvSpPr>
            <a:spLocks noGrp="1"/>
          </p:cNvSpPr>
          <p:nvPr>
            <p:ph idx="1"/>
          </p:nvPr>
        </p:nvSpPr>
        <p:spPr/>
        <p:txBody>
          <a:bodyPr>
            <a:normAutofit lnSpcReduction="10000"/>
          </a:bodyPr>
          <a:lstStyle/>
          <a:p>
            <a:r>
              <a:rPr lang="en-GB" dirty="0"/>
              <a:t>Developer forgets to</a:t>
            </a:r>
          </a:p>
          <a:p>
            <a:pPr lvl="1"/>
            <a:r>
              <a:rPr lang="en-GB" dirty="0"/>
              <a:t>Run tests </a:t>
            </a:r>
          </a:p>
          <a:p>
            <a:pPr lvl="1"/>
            <a:r>
              <a:rPr lang="en-GB" dirty="0"/>
              <a:t>Format code </a:t>
            </a:r>
          </a:p>
          <a:p>
            <a:pPr lvl="1"/>
            <a:r>
              <a:rPr lang="en-GB" dirty="0"/>
              <a:t>Update documentation </a:t>
            </a:r>
          </a:p>
          <a:p>
            <a:pPr lvl="1"/>
            <a:r>
              <a:rPr lang="en-GB" dirty="0"/>
              <a:t>Check security </a:t>
            </a:r>
          </a:p>
          <a:p>
            <a:pPr lvl="1"/>
            <a:r>
              <a:rPr lang="en-GB" dirty="0"/>
              <a:t>Update changelog </a:t>
            </a:r>
          </a:p>
          <a:p>
            <a:r>
              <a:rPr lang="en-GB" dirty="0"/>
              <a:t>Manual reviews catch mistakes late</a:t>
            </a:r>
          </a:p>
          <a:p>
            <a:r>
              <a:rPr lang="en-GB" dirty="0"/>
              <a:t>Need: Automatic enforcement</a:t>
            </a:r>
          </a:p>
          <a:p>
            <a:r>
              <a:rPr lang="en-GB" dirty="0"/>
              <a:t>Solution: </a:t>
            </a:r>
            <a:r>
              <a:rPr lang="en-GB" b="1" dirty="0"/>
              <a:t>Hooks</a:t>
            </a:r>
          </a:p>
          <a:p>
            <a:r>
              <a:rPr lang="en-GB" dirty="0"/>
              <a:t>Hooks run automatically</a:t>
            </a:r>
          </a:p>
          <a:p>
            <a:endParaRPr lang="en-GB" dirty="0"/>
          </a:p>
        </p:txBody>
      </p:sp>
    </p:spTree>
    <p:extLst>
      <p:ext uri="{BB962C8B-B14F-4D97-AF65-F5344CB8AC3E}">
        <p14:creationId xmlns:p14="http://schemas.microsoft.com/office/powerpoint/2010/main" val="207126135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443B1-C75E-18A5-447E-65B7EF7616FB}"/>
              </a:ext>
            </a:extLst>
          </p:cNvPr>
          <p:cNvSpPr>
            <a:spLocks noGrp="1"/>
          </p:cNvSpPr>
          <p:nvPr>
            <p:ph type="title"/>
          </p:nvPr>
        </p:nvSpPr>
        <p:spPr/>
        <p:txBody>
          <a:bodyPr/>
          <a:lstStyle/>
          <a:p>
            <a:r>
              <a:rPr lang="en-IN" dirty="0"/>
              <a:t>Hooks</a:t>
            </a:r>
            <a:endParaRPr lang="en-GB" dirty="0"/>
          </a:p>
        </p:txBody>
      </p:sp>
      <p:sp>
        <p:nvSpPr>
          <p:cNvPr id="3" name="Content Placeholder 2">
            <a:extLst>
              <a:ext uri="{FF2B5EF4-FFF2-40B4-BE49-F238E27FC236}">
                <a16:creationId xmlns:a16="http://schemas.microsoft.com/office/drawing/2014/main" id="{E2F19469-2729-2E95-BBCE-129D5224F386}"/>
              </a:ext>
            </a:extLst>
          </p:cNvPr>
          <p:cNvSpPr>
            <a:spLocks noGrp="1"/>
          </p:cNvSpPr>
          <p:nvPr>
            <p:ph idx="1"/>
          </p:nvPr>
        </p:nvSpPr>
        <p:spPr/>
        <p:txBody>
          <a:bodyPr>
            <a:normAutofit fontScale="77500" lnSpcReduction="20000"/>
          </a:bodyPr>
          <a:lstStyle/>
          <a:p>
            <a:r>
              <a:rPr lang="en-GB" dirty="0"/>
              <a:t>Hooks automatically execute actions when specific events occur</a:t>
            </a:r>
          </a:p>
          <a:p>
            <a:r>
              <a:rPr lang="en-GB" dirty="0"/>
              <a:t>Examples</a:t>
            </a:r>
          </a:p>
          <a:p>
            <a:pPr lvl="1"/>
            <a:r>
              <a:rPr lang="en-GB" dirty="0"/>
              <a:t>Before Commit</a:t>
            </a:r>
          </a:p>
          <a:p>
            <a:pPr lvl="2"/>
            <a:r>
              <a:rPr lang="en-GB" dirty="0"/>
              <a:t>Run formatter </a:t>
            </a:r>
          </a:p>
          <a:p>
            <a:pPr lvl="2"/>
            <a:r>
              <a:rPr lang="en-GB" dirty="0"/>
              <a:t>Run tests </a:t>
            </a:r>
          </a:p>
          <a:p>
            <a:pPr lvl="2"/>
            <a:r>
              <a:rPr lang="en-GB" dirty="0"/>
              <a:t>Scan secrets </a:t>
            </a:r>
          </a:p>
          <a:p>
            <a:pPr lvl="1"/>
            <a:r>
              <a:rPr lang="en-GB" dirty="0"/>
              <a:t>After Commit</a:t>
            </a:r>
          </a:p>
          <a:p>
            <a:pPr lvl="2"/>
            <a:r>
              <a:rPr lang="en-GB" dirty="0"/>
              <a:t>Generate summary </a:t>
            </a:r>
          </a:p>
          <a:p>
            <a:pPr lvl="2"/>
            <a:r>
              <a:rPr lang="en-GB" dirty="0"/>
              <a:t>Update documentation </a:t>
            </a:r>
          </a:p>
          <a:p>
            <a:pPr lvl="1"/>
            <a:r>
              <a:rPr lang="en-GB" dirty="0"/>
              <a:t>Before Merge</a:t>
            </a:r>
          </a:p>
          <a:p>
            <a:pPr lvl="2"/>
            <a:r>
              <a:rPr lang="en-GB" dirty="0"/>
              <a:t>Security scan </a:t>
            </a:r>
          </a:p>
          <a:p>
            <a:pPr lvl="2"/>
            <a:r>
              <a:rPr lang="en-GB" dirty="0"/>
              <a:t>Quality checks </a:t>
            </a:r>
          </a:p>
          <a:p>
            <a:r>
              <a:rPr lang="en-GB" dirty="0"/>
              <a:t>Benefits</a:t>
            </a:r>
          </a:p>
          <a:p>
            <a:pPr lvl="1"/>
            <a:r>
              <a:rPr lang="en-GB" dirty="0"/>
              <a:t>Consistency </a:t>
            </a:r>
          </a:p>
          <a:p>
            <a:pPr lvl="1"/>
            <a:r>
              <a:rPr lang="en-GB" dirty="0"/>
              <a:t>Automation </a:t>
            </a:r>
          </a:p>
          <a:p>
            <a:pPr lvl="1"/>
            <a:r>
              <a:rPr lang="en-GB" dirty="0"/>
              <a:t>Reduced human error</a:t>
            </a:r>
          </a:p>
        </p:txBody>
      </p:sp>
    </p:spTree>
    <p:extLst>
      <p:ext uri="{BB962C8B-B14F-4D97-AF65-F5344CB8AC3E}">
        <p14:creationId xmlns:p14="http://schemas.microsoft.com/office/powerpoint/2010/main" val="37949545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E6AC3-BC88-20CD-339C-ECB46FAC3628}"/>
              </a:ext>
            </a:extLst>
          </p:cNvPr>
          <p:cNvSpPr>
            <a:spLocks noGrp="1"/>
          </p:cNvSpPr>
          <p:nvPr>
            <p:ph type="title"/>
          </p:nvPr>
        </p:nvSpPr>
        <p:spPr/>
        <p:txBody>
          <a:bodyPr/>
          <a:lstStyle/>
          <a:p>
            <a:r>
              <a:rPr lang="en-IN" dirty="0"/>
              <a:t>Creating a Hook – Notes App</a:t>
            </a:r>
            <a:endParaRPr lang="en-GB" dirty="0"/>
          </a:p>
        </p:txBody>
      </p:sp>
      <p:sp>
        <p:nvSpPr>
          <p:cNvPr id="3" name="Content Placeholder 2">
            <a:extLst>
              <a:ext uri="{FF2B5EF4-FFF2-40B4-BE49-F238E27FC236}">
                <a16:creationId xmlns:a16="http://schemas.microsoft.com/office/drawing/2014/main" id="{2FD62E5C-B920-24E3-6C3A-3931A94DB418}"/>
              </a:ext>
            </a:extLst>
          </p:cNvPr>
          <p:cNvSpPr>
            <a:spLocks noGrp="1"/>
          </p:cNvSpPr>
          <p:nvPr>
            <p:ph idx="1"/>
          </p:nvPr>
        </p:nvSpPr>
        <p:spPr/>
        <p:txBody>
          <a:bodyPr>
            <a:normAutofit fontScale="92500" lnSpcReduction="20000"/>
          </a:bodyPr>
          <a:lstStyle/>
          <a:p>
            <a:r>
              <a:rPr lang="en-IN" dirty="0"/>
              <a:t>Open the notes app</a:t>
            </a:r>
          </a:p>
          <a:p>
            <a:endParaRPr lang="en-IN" dirty="0"/>
          </a:p>
          <a:p>
            <a:r>
              <a:rPr lang="en-IN" dirty="0"/>
              <a:t>Ask Claude Code</a:t>
            </a:r>
          </a:p>
          <a:p>
            <a:pPr lvl="1"/>
            <a:r>
              <a:rPr lang="en-US" dirty="0"/>
              <a:t>Create Claude Code hooks for this project.</a:t>
            </a:r>
          </a:p>
          <a:p>
            <a:pPr lvl="1"/>
            <a:endParaRPr lang="en-US" dirty="0"/>
          </a:p>
          <a:p>
            <a:pPr lvl="1"/>
            <a:r>
              <a:rPr lang="en-US" dirty="0"/>
              <a:t>Whenever Python files are modified:</a:t>
            </a:r>
          </a:p>
          <a:p>
            <a:pPr marL="1371600" lvl="2" indent="-457200">
              <a:buFont typeface="+mj-lt"/>
              <a:buAutoNum type="arabicPeriod"/>
            </a:pPr>
            <a:r>
              <a:rPr lang="en-US" dirty="0"/>
              <a:t>Format the code.</a:t>
            </a:r>
          </a:p>
          <a:p>
            <a:pPr marL="1371600" lvl="2" indent="-457200">
              <a:buFont typeface="+mj-lt"/>
              <a:buAutoNum type="arabicPeriod"/>
            </a:pPr>
            <a:r>
              <a:rPr lang="en-US" dirty="0"/>
              <a:t>Run all unit tests.</a:t>
            </a:r>
          </a:p>
          <a:p>
            <a:pPr marL="1371600" lvl="2" indent="-457200">
              <a:buFont typeface="+mj-lt"/>
              <a:buAutoNum type="arabicPeriod"/>
            </a:pPr>
            <a:r>
              <a:rPr lang="en-US" dirty="0"/>
              <a:t>If tests pass, generate or update API documentation.</a:t>
            </a:r>
          </a:p>
          <a:p>
            <a:pPr marL="1371600" lvl="2" indent="-457200">
              <a:buFont typeface="+mj-lt"/>
              <a:buAutoNum type="arabicPeriod"/>
            </a:pPr>
            <a:r>
              <a:rPr lang="en-US" dirty="0"/>
              <a:t>If tests fail, stop and report the errors.</a:t>
            </a:r>
          </a:p>
          <a:p>
            <a:r>
              <a:rPr lang="en-US" dirty="0"/>
              <a:t>Then modify the application: Add a Search Notes feature</a:t>
            </a:r>
          </a:p>
          <a:p>
            <a:r>
              <a:rPr lang="en-US" dirty="0"/>
              <a:t>See what happens</a:t>
            </a:r>
            <a:endParaRPr lang="en-GB" dirty="0"/>
          </a:p>
        </p:txBody>
      </p:sp>
    </p:spTree>
    <p:extLst>
      <p:ext uri="{BB962C8B-B14F-4D97-AF65-F5344CB8AC3E}">
        <p14:creationId xmlns:p14="http://schemas.microsoft.com/office/powerpoint/2010/main" val="142219941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4F32A-856A-04A7-5BD9-84C7A195D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6CA5B-55A0-3898-A48D-40B738F43B0F}"/>
              </a:ext>
            </a:extLst>
          </p:cNvPr>
          <p:cNvSpPr>
            <a:spLocks noGrp="1"/>
          </p:cNvSpPr>
          <p:nvPr>
            <p:ph type="title"/>
          </p:nvPr>
        </p:nvSpPr>
        <p:spPr/>
        <p:txBody>
          <a:bodyPr/>
          <a:lstStyle/>
          <a:p>
            <a:r>
              <a:rPr lang="en-IN" dirty="0"/>
              <a:t>Creating a Hook – CRM App</a:t>
            </a:r>
            <a:endParaRPr lang="en-GB" dirty="0"/>
          </a:p>
        </p:txBody>
      </p:sp>
      <p:sp>
        <p:nvSpPr>
          <p:cNvPr id="3" name="Content Placeholder 2">
            <a:extLst>
              <a:ext uri="{FF2B5EF4-FFF2-40B4-BE49-F238E27FC236}">
                <a16:creationId xmlns:a16="http://schemas.microsoft.com/office/drawing/2014/main" id="{FDC46A21-A97A-6BB6-0923-7E967D58CD52}"/>
              </a:ext>
            </a:extLst>
          </p:cNvPr>
          <p:cNvSpPr>
            <a:spLocks noGrp="1"/>
          </p:cNvSpPr>
          <p:nvPr>
            <p:ph idx="1"/>
          </p:nvPr>
        </p:nvSpPr>
        <p:spPr/>
        <p:txBody>
          <a:bodyPr>
            <a:normAutofit fontScale="85000" lnSpcReduction="20000"/>
          </a:bodyPr>
          <a:lstStyle/>
          <a:p>
            <a:r>
              <a:rPr lang="en-IN" dirty="0"/>
              <a:t>Open the CRM app</a:t>
            </a:r>
          </a:p>
          <a:p>
            <a:endParaRPr lang="en-IN" dirty="0"/>
          </a:p>
          <a:p>
            <a:r>
              <a:rPr lang="en-IN" dirty="0"/>
              <a:t>Ask Claude Code</a:t>
            </a:r>
          </a:p>
          <a:p>
            <a:pPr lvl="1"/>
            <a:r>
              <a:rPr lang="en-US" dirty="0"/>
              <a:t>Create Claude Code hooks for this CRM project.</a:t>
            </a:r>
          </a:p>
          <a:p>
            <a:pPr lvl="1"/>
            <a:endParaRPr lang="en-US" dirty="0"/>
          </a:p>
          <a:p>
            <a:pPr lvl="1"/>
            <a:r>
              <a:rPr lang="en-US" dirty="0"/>
              <a:t>Whenever Lead Management code changes:</a:t>
            </a:r>
          </a:p>
          <a:p>
            <a:pPr marL="1371600" lvl="2" indent="-457200">
              <a:buFont typeface="+mj-lt"/>
              <a:buAutoNum type="arabicPeriod"/>
            </a:pPr>
            <a:r>
              <a:rPr lang="en-US" dirty="0"/>
              <a:t>Run unit tests.</a:t>
            </a:r>
          </a:p>
          <a:p>
            <a:pPr marL="1371600" lvl="2" indent="-457200">
              <a:buFont typeface="+mj-lt"/>
              <a:buAutoNum type="arabicPeriod"/>
            </a:pPr>
            <a:r>
              <a:rPr lang="en-US" dirty="0"/>
              <a:t>Validate coding standards.</a:t>
            </a:r>
          </a:p>
          <a:p>
            <a:pPr marL="1371600" lvl="2" indent="-457200">
              <a:buFont typeface="+mj-lt"/>
              <a:buAutoNum type="arabicPeriod"/>
            </a:pPr>
            <a:r>
              <a:rPr lang="en-US" dirty="0"/>
              <a:t>Check for SQL injection vulnerabilities.</a:t>
            </a:r>
          </a:p>
          <a:p>
            <a:pPr marL="1371600" lvl="2" indent="-457200">
              <a:buFont typeface="+mj-lt"/>
              <a:buAutoNum type="arabicPeriod"/>
            </a:pPr>
            <a:r>
              <a:rPr lang="en-US" dirty="0"/>
              <a:t>Update API documentation if endpoints changed.</a:t>
            </a:r>
          </a:p>
          <a:p>
            <a:pPr marL="1371600" lvl="2" indent="-457200">
              <a:buFont typeface="+mj-lt"/>
              <a:buAutoNum type="arabicPeriod"/>
            </a:pPr>
            <a:r>
              <a:rPr lang="en-US" dirty="0"/>
              <a:t>Generate a summary of modified files.</a:t>
            </a:r>
          </a:p>
          <a:p>
            <a:pPr lvl="1"/>
            <a:endParaRPr lang="en-US" dirty="0"/>
          </a:p>
          <a:p>
            <a:pPr lvl="1"/>
            <a:r>
              <a:rPr lang="en-US" dirty="0"/>
              <a:t>Stop immediately if any security issue is found.</a:t>
            </a:r>
          </a:p>
          <a:p>
            <a:r>
              <a:rPr lang="en-GB" dirty="0"/>
              <a:t>Add Lead Assignment functionality</a:t>
            </a:r>
          </a:p>
        </p:txBody>
      </p:sp>
    </p:spTree>
    <p:extLst>
      <p:ext uri="{BB962C8B-B14F-4D97-AF65-F5344CB8AC3E}">
        <p14:creationId xmlns:p14="http://schemas.microsoft.com/office/powerpoint/2010/main" val="33641091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8DFF8-3B39-EE3E-8F5F-17C66CBF2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42A29-0C0B-CDB9-817F-DC40B9DF0297}"/>
              </a:ext>
            </a:extLst>
          </p:cNvPr>
          <p:cNvSpPr>
            <a:spLocks noGrp="1"/>
          </p:cNvSpPr>
          <p:nvPr>
            <p:ph type="title"/>
          </p:nvPr>
        </p:nvSpPr>
        <p:spPr/>
        <p:txBody>
          <a:bodyPr/>
          <a:lstStyle/>
          <a:p>
            <a:r>
              <a:rPr lang="en-IN" dirty="0"/>
              <a:t>Ensuring the Hook Works</a:t>
            </a:r>
            <a:endParaRPr lang="en-GB" dirty="0"/>
          </a:p>
        </p:txBody>
      </p:sp>
      <p:sp>
        <p:nvSpPr>
          <p:cNvPr id="3" name="Content Placeholder 2">
            <a:extLst>
              <a:ext uri="{FF2B5EF4-FFF2-40B4-BE49-F238E27FC236}">
                <a16:creationId xmlns:a16="http://schemas.microsoft.com/office/drawing/2014/main" id="{537EA87E-6529-AA13-84B1-E6650C6A5425}"/>
              </a:ext>
            </a:extLst>
          </p:cNvPr>
          <p:cNvSpPr>
            <a:spLocks noGrp="1"/>
          </p:cNvSpPr>
          <p:nvPr>
            <p:ph idx="1"/>
          </p:nvPr>
        </p:nvSpPr>
        <p:spPr/>
        <p:txBody>
          <a:bodyPr>
            <a:normAutofit/>
          </a:bodyPr>
          <a:lstStyle/>
          <a:p>
            <a:r>
              <a:rPr lang="en-IN" dirty="0"/>
              <a:t>Ask Claude Code</a:t>
            </a:r>
          </a:p>
          <a:p>
            <a:pPr lvl="1"/>
            <a:r>
              <a:rPr lang="en-US" dirty="0"/>
              <a:t>Modify the login API by concatenating SQL strings</a:t>
            </a:r>
          </a:p>
          <a:p>
            <a:r>
              <a:rPr lang="en-US" dirty="0"/>
              <a:t>Hook should stop us saying possible SQL injection</a:t>
            </a:r>
          </a:p>
          <a:p>
            <a:pPr lvl="1"/>
            <a:endParaRPr lang="en-GB" dirty="0"/>
          </a:p>
        </p:txBody>
      </p:sp>
    </p:spTree>
    <p:extLst>
      <p:ext uri="{BB962C8B-B14F-4D97-AF65-F5344CB8AC3E}">
        <p14:creationId xmlns:p14="http://schemas.microsoft.com/office/powerpoint/2010/main" val="93095066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A5A574-27C7-C92F-D157-C7C6C02E9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0"/>
            <a:ext cx="4572000" cy="6858000"/>
          </a:xfrm>
          <a:prstGeom prst="rect">
            <a:avLst/>
          </a:prstGeom>
        </p:spPr>
      </p:pic>
    </p:spTree>
    <p:extLst>
      <p:ext uri="{BB962C8B-B14F-4D97-AF65-F5344CB8AC3E}">
        <p14:creationId xmlns:p14="http://schemas.microsoft.com/office/powerpoint/2010/main" val="348618932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3F80D4-4F8E-6C64-296F-C1E1C0978A5E}"/>
              </a:ext>
            </a:extLst>
          </p:cNvPr>
          <p:cNvSpPr>
            <a:spLocks noGrp="1"/>
          </p:cNvSpPr>
          <p:nvPr>
            <p:ph type="title"/>
          </p:nvPr>
        </p:nvSpPr>
        <p:spPr/>
        <p:txBody>
          <a:bodyPr/>
          <a:lstStyle/>
          <a:p>
            <a:r>
              <a:rPr lang="en-IN" dirty="0"/>
              <a:t>Part 9: MCP</a:t>
            </a:r>
            <a:endParaRPr lang="en-GB" dirty="0"/>
          </a:p>
        </p:txBody>
      </p:sp>
      <p:sp>
        <p:nvSpPr>
          <p:cNvPr id="5" name="Text Placeholder 4">
            <a:extLst>
              <a:ext uri="{FF2B5EF4-FFF2-40B4-BE49-F238E27FC236}">
                <a16:creationId xmlns:a16="http://schemas.microsoft.com/office/drawing/2014/main" id="{20FDA844-033B-9843-4516-544CC3FF9DA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8448321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291DAB-01E6-0765-4936-076D00739F9F}"/>
              </a:ext>
            </a:extLst>
          </p:cNvPr>
          <p:cNvSpPr>
            <a:spLocks noGrp="1"/>
          </p:cNvSpPr>
          <p:nvPr>
            <p:ph idx="1"/>
          </p:nvPr>
        </p:nvSpPr>
        <p:spPr>
          <a:xfrm>
            <a:off x="838200" y="141928"/>
            <a:ext cx="10515600" cy="6035036"/>
          </a:xfrm>
        </p:spPr>
        <p:txBody>
          <a:bodyPr>
            <a:normAutofit/>
          </a:bodyPr>
          <a:lstStyle/>
          <a:p>
            <a:r>
              <a:rPr lang="en-US" sz="2400" b="1" noProof="0" dirty="0"/>
              <a:t>Model Context Protocol (MCP)</a:t>
            </a:r>
            <a:r>
              <a:rPr lang="en-US" sz="2400" noProof="0" dirty="0"/>
              <a:t>: An open standard that allows AI models/apps to talk to external tools, data sources or APIs in a structured, secure, and consistent manner</a:t>
            </a:r>
          </a:p>
        </p:txBody>
      </p:sp>
      <p:sp>
        <p:nvSpPr>
          <p:cNvPr id="2" name="TextBox 1">
            <a:extLst>
              <a:ext uri="{FF2B5EF4-FFF2-40B4-BE49-F238E27FC236}">
                <a16:creationId xmlns:a16="http://schemas.microsoft.com/office/drawing/2014/main" id="{B8733480-B74E-DCD1-F617-32BE9522A649}"/>
              </a:ext>
            </a:extLst>
          </p:cNvPr>
          <p:cNvSpPr txBox="1"/>
          <p:nvPr/>
        </p:nvSpPr>
        <p:spPr>
          <a:xfrm>
            <a:off x="934760" y="2481049"/>
            <a:ext cx="732916" cy="369332"/>
          </a:xfrm>
          <a:prstGeom prst="rect">
            <a:avLst/>
          </a:prstGeom>
          <a:solidFill>
            <a:schemeClr val="accent4">
              <a:lumMod val="60000"/>
              <a:lumOff val="40000"/>
            </a:schemeClr>
          </a:solidFill>
        </p:spPr>
        <p:txBody>
          <a:bodyPr wrap="square" rtlCol="0">
            <a:spAutoFit/>
          </a:bodyPr>
          <a:lstStyle/>
          <a:p>
            <a:pPr algn="ctr"/>
            <a:r>
              <a:rPr lang="en-US" b="1" noProof="0" dirty="0"/>
              <a:t>Host</a:t>
            </a:r>
          </a:p>
        </p:txBody>
      </p:sp>
      <p:sp>
        <p:nvSpPr>
          <p:cNvPr id="3" name="TextBox 2">
            <a:extLst>
              <a:ext uri="{FF2B5EF4-FFF2-40B4-BE49-F238E27FC236}">
                <a16:creationId xmlns:a16="http://schemas.microsoft.com/office/drawing/2014/main" id="{CC386F6C-551B-429C-79E5-18CF304104D7}"/>
              </a:ext>
            </a:extLst>
          </p:cNvPr>
          <p:cNvSpPr txBox="1"/>
          <p:nvPr/>
        </p:nvSpPr>
        <p:spPr>
          <a:xfrm>
            <a:off x="2406991" y="2488030"/>
            <a:ext cx="732916" cy="369332"/>
          </a:xfrm>
          <a:prstGeom prst="rect">
            <a:avLst/>
          </a:prstGeom>
          <a:solidFill>
            <a:schemeClr val="accent4">
              <a:lumMod val="60000"/>
              <a:lumOff val="40000"/>
            </a:schemeClr>
          </a:solidFill>
        </p:spPr>
        <p:txBody>
          <a:bodyPr wrap="square" rtlCol="0">
            <a:spAutoFit/>
          </a:bodyPr>
          <a:lstStyle/>
          <a:p>
            <a:pPr algn="ctr"/>
            <a:r>
              <a:rPr lang="en-US" b="1" noProof="0" dirty="0"/>
              <a:t>Client</a:t>
            </a:r>
          </a:p>
        </p:txBody>
      </p:sp>
      <p:sp>
        <p:nvSpPr>
          <p:cNvPr id="6" name="TextBox 5">
            <a:extLst>
              <a:ext uri="{FF2B5EF4-FFF2-40B4-BE49-F238E27FC236}">
                <a16:creationId xmlns:a16="http://schemas.microsoft.com/office/drawing/2014/main" id="{9C4C0915-AFD3-30D1-08C2-CCF78959144C}"/>
              </a:ext>
            </a:extLst>
          </p:cNvPr>
          <p:cNvSpPr txBox="1"/>
          <p:nvPr/>
        </p:nvSpPr>
        <p:spPr>
          <a:xfrm>
            <a:off x="4001771" y="1684514"/>
            <a:ext cx="1112172" cy="646331"/>
          </a:xfrm>
          <a:prstGeom prst="rect">
            <a:avLst/>
          </a:prstGeom>
          <a:solidFill>
            <a:schemeClr val="accent6">
              <a:lumMod val="40000"/>
              <a:lumOff val="60000"/>
            </a:schemeClr>
          </a:solidFill>
        </p:spPr>
        <p:txBody>
          <a:bodyPr wrap="square" rtlCol="0">
            <a:spAutoFit/>
          </a:bodyPr>
          <a:lstStyle/>
          <a:p>
            <a:pPr algn="ctr"/>
            <a:r>
              <a:rPr lang="en-US" b="1" noProof="0" dirty="0"/>
              <a:t>MCP Server A</a:t>
            </a:r>
          </a:p>
        </p:txBody>
      </p:sp>
      <p:sp>
        <p:nvSpPr>
          <p:cNvPr id="7" name="TextBox 6">
            <a:extLst>
              <a:ext uri="{FF2B5EF4-FFF2-40B4-BE49-F238E27FC236}">
                <a16:creationId xmlns:a16="http://schemas.microsoft.com/office/drawing/2014/main" id="{5682FE6F-205B-873D-A662-9E65D7B37DD7}"/>
              </a:ext>
            </a:extLst>
          </p:cNvPr>
          <p:cNvSpPr txBox="1"/>
          <p:nvPr/>
        </p:nvSpPr>
        <p:spPr>
          <a:xfrm>
            <a:off x="3978757" y="2379548"/>
            <a:ext cx="1112172" cy="646331"/>
          </a:xfrm>
          <a:prstGeom prst="rect">
            <a:avLst/>
          </a:prstGeom>
          <a:solidFill>
            <a:schemeClr val="accent6">
              <a:lumMod val="40000"/>
              <a:lumOff val="60000"/>
            </a:schemeClr>
          </a:solidFill>
        </p:spPr>
        <p:txBody>
          <a:bodyPr wrap="square" rtlCol="0">
            <a:spAutoFit/>
          </a:bodyPr>
          <a:lstStyle/>
          <a:p>
            <a:pPr algn="ctr"/>
            <a:r>
              <a:rPr lang="en-US" b="1" noProof="0" dirty="0"/>
              <a:t>MCP Server B</a:t>
            </a:r>
          </a:p>
        </p:txBody>
      </p:sp>
      <p:sp>
        <p:nvSpPr>
          <p:cNvPr id="8" name="TextBox 7">
            <a:extLst>
              <a:ext uri="{FF2B5EF4-FFF2-40B4-BE49-F238E27FC236}">
                <a16:creationId xmlns:a16="http://schemas.microsoft.com/office/drawing/2014/main" id="{E120FA17-212F-065F-F02D-F6BE63AAB1CC}"/>
              </a:ext>
            </a:extLst>
          </p:cNvPr>
          <p:cNvSpPr txBox="1"/>
          <p:nvPr/>
        </p:nvSpPr>
        <p:spPr>
          <a:xfrm>
            <a:off x="3978757" y="3097474"/>
            <a:ext cx="1112172" cy="646331"/>
          </a:xfrm>
          <a:prstGeom prst="rect">
            <a:avLst/>
          </a:prstGeom>
          <a:solidFill>
            <a:schemeClr val="accent6">
              <a:lumMod val="40000"/>
              <a:lumOff val="60000"/>
            </a:schemeClr>
          </a:solidFill>
        </p:spPr>
        <p:txBody>
          <a:bodyPr wrap="square" rtlCol="0">
            <a:spAutoFit/>
          </a:bodyPr>
          <a:lstStyle/>
          <a:p>
            <a:pPr algn="ctr"/>
            <a:r>
              <a:rPr lang="en-US" b="1" noProof="0" dirty="0"/>
              <a:t>MCP Server C</a:t>
            </a:r>
          </a:p>
        </p:txBody>
      </p:sp>
      <p:sp>
        <p:nvSpPr>
          <p:cNvPr id="9" name="Cylinder 8">
            <a:extLst>
              <a:ext uri="{FF2B5EF4-FFF2-40B4-BE49-F238E27FC236}">
                <a16:creationId xmlns:a16="http://schemas.microsoft.com/office/drawing/2014/main" id="{90C18386-C139-B56F-82E6-C38AB5979343}"/>
              </a:ext>
            </a:extLst>
          </p:cNvPr>
          <p:cNvSpPr/>
          <p:nvPr/>
        </p:nvSpPr>
        <p:spPr>
          <a:xfrm>
            <a:off x="5514319" y="1420812"/>
            <a:ext cx="1340773" cy="930027"/>
          </a:xfrm>
          <a:prstGeom prst="ca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Local Data Source A</a:t>
            </a:r>
          </a:p>
        </p:txBody>
      </p:sp>
      <p:sp>
        <p:nvSpPr>
          <p:cNvPr id="10" name="Cylinder 9">
            <a:extLst>
              <a:ext uri="{FF2B5EF4-FFF2-40B4-BE49-F238E27FC236}">
                <a16:creationId xmlns:a16="http://schemas.microsoft.com/office/drawing/2014/main" id="{D7171984-341D-D647-910F-73B9A765353F}"/>
              </a:ext>
            </a:extLst>
          </p:cNvPr>
          <p:cNvSpPr/>
          <p:nvPr/>
        </p:nvSpPr>
        <p:spPr>
          <a:xfrm>
            <a:off x="5538095" y="2524318"/>
            <a:ext cx="1340773" cy="930027"/>
          </a:xfrm>
          <a:prstGeom prst="ca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Local Data Source B</a:t>
            </a:r>
          </a:p>
        </p:txBody>
      </p:sp>
      <p:sp>
        <p:nvSpPr>
          <p:cNvPr id="12" name="TextBox 11">
            <a:extLst>
              <a:ext uri="{FF2B5EF4-FFF2-40B4-BE49-F238E27FC236}">
                <a16:creationId xmlns:a16="http://schemas.microsoft.com/office/drawing/2014/main" id="{93708351-85C1-4845-733B-0944A2187709}"/>
              </a:ext>
            </a:extLst>
          </p:cNvPr>
          <p:cNvSpPr txBox="1"/>
          <p:nvPr/>
        </p:nvSpPr>
        <p:spPr>
          <a:xfrm>
            <a:off x="306799" y="1245396"/>
            <a:ext cx="7265795" cy="2862322"/>
          </a:xfrm>
          <a:prstGeom prst="rect">
            <a:avLst/>
          </a:prstGeom>
          <a:noFill/>
          <a:ln w="28575">
            <a:solidFill>
              <a:schemeClr val="accent2">
                <a:lumMod val="75000"/>
              </a:schemeClr>
            </a:solidFill>
          </a:ln>
        </p:spPr>
        <p:txBody>
          <a:bodyPr wrap="square" rtlCol="0">
            <a:spAutoFit/>
          </a:bodyPr>
          <a:lstStyle/>
          <a:p>
            <a:r>
              <a:rPr lang="en-US" b="1" noProof="0" dirty="0">
                <a:solidFill>
                  <a:srgbClr val="FF0000"/>
                </a:solidFill>
              </a:rPr>
              <a:t>Our computer</a:t>
            </a:r>
          </a:p>
          <a:p>
            <a:endParaRPr lang="en-US" b="1" noProof="0" dirty="0">
              <a:solidFill>
                <a:srgbClr val="FF0000"/>
              </a:solidFill>
            </a:endParaRP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p:txBody>
      </p:sp>
      <p:cxnSp>
        <p:nvCxnSpPr>
          <p:cNvPr id="17" name="Straight Arrow Connector 16">
            <a:extLst>
              <a:ext uri="{FF2B5EF4-FFF2-40B4-BE49-F238E27FC236}">
                <a16:creationId xmlns:a16="http://schemas.microsoft.com/office/drawing/2014/main" id="{21405446-3A0A-F655-8420-D7C3EB0ECACC}"/>
              </a:ext>
            </a:extLst>
          </p:cNvPr>
          <p:cNvCxnSpPr>
            <a:cxnSpLocks/>
            <a:endCxn id="7" idx="1"/>
          </p:cNvCxnSpPr>
          <p:nvPr/>
        </p:nvCxnSpPr>
        <p:spPr>
          <a:xfrm>
            <a:off x="3149213" y="2695895"/>
            <a:ext cx="829544" cy="6819"/>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6DDC1A7-1838-49A4-2F50-4BFADF0CF4A9}"/>
              </a:ext>
            </a:extLst>
          </p:cNvPr>
          <p:cNvCxnSpPr>
            <a:cxnSpLocks/>
            <a:endCxn id="8" idx="1"/>
          </p:cNvCxnSpPr>
          <p:nvPr/>
        </p:nvCxnSpPr>
        <p:spPr>
          <a:xfrm flipV="1">
            <a:off x="3144559" y="3420640"/>
            <a:ext cx="834198" cy="2266"/>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7B8CA11-D53D-9B02-92A1-122F90A0DD60}"/>
              </a:ext>
            </a:extLst>
          </p:cNvPr>
          <p:cNvCxnSpPr>
            <a:cxnSpLocks/>
          </p:cNvCxnSpPr>
          <p:nvPr/>
        </p:nvCxnSpPr>
        <p:spPr>
          <a:xfrm flipV="1">
            <a:off x="6670993" y="5238532"/>
            <a:ext cx="553758" cy="176357"/>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38CEF14-497A-2E34-93B9-EADE660E3681}"/>
              </a:ext>
            </a:extLst>
          </p:cNvPr>
          <p:cNvCxnSpPr>
            <a:cxnSpLocks/>
            <a:endCxn id="10" idx="2"/>
          </p:cNvCxnSpPr>
          <p:nvPr/>
        </p:nvCxnSpPr>
        <p:spPr>
          <a:xfrm>
            <a:off x="5078062" y="2499636"/>
            <a:ext cx="460033" cy="489696"/>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graphicFrame>
        <p:nvGraphicFramePr>
          <p:cNvPr id="29" name="Content Placeholder 3">
            <a:extLst>
              <a:ext uri="{FF2B5EF4-FFF2-40B4-BE49-F238E27FC236}">
                <a16:creationId xmlns:a16="http://schemas.microsoft.com/office/drawing/2014/main" id="{9407FD90-3F74-84BD-4AE4-E9BD1230F91F}"/>
              </a:ext>
            </a:extLst>
          </p:cNvPr>
          <p:cNvGraphicFramePr>
            <a:graphicFrameLocks/>
          </p:cNvGraphicFramePr>
          <p:nvPr/>
        </p:nvGraphicFramePr>
        <p:xfrm>
          <a:off x="7866050" y="1486779"/>
          <a:ext cx="3921684" cy="4340328"/>
        </p:xfrm>
        <a:graphic>
          <a:graphicData uri="http://schemas.openxmlformats.org/drawingml/2006/table">
            <a:tbl>
              <a:tblPr firstRow="1" bandRow="1">
                <a:tableStyleId>{69012ECD-51FC-41F1-AA8D-1B2483CD663E}</a:tableStyleId>
              </a:tblPr>
              <a:tblGrid>
                <a:gridCol w="1484448">
                  <a:extLst>
                    <a:ext uri="{9D8B030D-6E8A-4147-A177-3AD203B41FA5}">
                      <a16:colId xmlns:a16="http://schemas.microsoft.com/office/drawing/2014/main" val="59571921"/>
                    </a:ext>
                  </a:extLst>
                </a:gridCol>
                <a:gridCol w="2437236">
                  <a:extLst>
                    <a:ext uri="{9D8B030D-6E8A-4147-A177-3AD203B41FA5}">
                      <a16:colId xmlns:a16="http://schemas.microsoft.com/office/drawing/2014/main" val="565566842"/>
                    </a:ext>
                  </a:extLst>
                </a:gridCol>
              </a:tblGrid>
              <a:tr h="285283">
                <a:tc>
                  <a:txBody>
                    <a:bodyPr/>
                    <a:lstStyle/>
                    <a:p>
                      <a:r>
                        <a:rPr lang="en-US" sz="1600" noProof="0" dirty="0"/>
                        <a:t>Component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noProof="0" dirty="0"/>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103123"/>
                  </a:ext>
                </a:extLst>
              </a:tr>
              <a:tr h="713208">
                <a:tc>
                  <a:txBody>
                    <a:bodyPr/>
                    <a:lstStyle/>
                    <a:p>
                      <a:r>
                        <a:rPr lang="en-US" sz="1600" b="1" noProof="0" dirty="0"/>
                        <a:t>MCP Host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noProof="0" dirty="0"/>
                        <a:t>An application (Claude Desktop, IDE, Custom app) that uses MCP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719826"/>
                  </a:ext>
                </a:extLst>
              </a:tr>
              <a:tr h="499246">
                <a:tc>
                  <a:txBody>
                    <a:bodyPr/>
                    <a:lstStyle/>
                    <a:p>
                      <a:r>
                        <a:rPr lang="en-US" sz="1600" b="1" noProof="0" dirty="0"/>
                        <a:t>MCP Client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noProof="0" dirty="0"/>
                        <a:t>Built into the host, Maintains a 1:1 connection with a server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2055082"/>
                  </a:ext>
                </a:extLst>
              </a:tr>
              <a:tr h="713208">
                <a:tc>
                  <a:txBody>
                    <a:bodyPr/>
                    <a:lstStyle/>
                    <a:p>
                      <a:r>
                        <a:rPr lang="en-US" sz="1600" b="1" noProof="0" dirty="0"/>
                        <a:t>MCP server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noProof="0" dirty="0"/>
                        <a:t>Exposes specific capabilities through the standard MCP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7443538"/>
                  </a:ext>
                </a:extLst>
              </a:tr>
              <a:tr h="713208">
                <a:tc>
                  <a:txBody>
                    <a:bodyPr/>
                    <a:lstStyle/>
                    <a:p>
                      <a:r>
                        <a:rPr lang="en-US" sz="1600" b="1" noProof="0" dirty="0"/>
                        <a:t>Local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noProof="0" dirty="0"/>
                        <a:t>Files, databases, applications, services on the local computer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7620691"/>
                  </a:ext>
                </a:extLst>
              </a:tr>
              <a:tr h="713208">
                <a:tc>
                  <a:txBody>
                    <a:bodyPr/>
                    <a:lstStyle/>
                    <a:p>
                      <a:r>
                        <a:rPr lang="en-US" sz="1600" b="1" noProof="0" dirty="0"/>
                        <a:t>Remote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noProof="0" dirty="0"/>
                        <a:t>Internet APIs and services accessed by an MCP server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1152791"/>
                  </a:ext>
                </a:extLst>
              </a:tr>
            </a:tbl>
          </a:graphicData>
        </a:graphic>
      </p:graphicFrame>
      <p:sp>
        <p:nvSpPr>
          <p:cNvPr id="13" name="TextBox 12">
            <a:extLst>
              <a:ext uri="{FF2B5EF4-FFF2-40B4-BE49-F238E27FC236}">
                <a16:creationId xmlns:a16="http://schemas.microsoft.com/office/drawing/2014/main" id="{56FBB4C3-2F40-DE53-B205-2DE2024101B3}"/>
              </a:ext>
            </a:extLst>
          </p:cNvPr>
          <p:cNvSpPr txBox="1"/>
          <p:nvPr/>
        </p:nvSpPr>
        <p:spPr>
          <a:xfrm>
            <a:off x="1319249" y="5121997"/>
            <a:ext cx="732916" cy="369332"/>
          </a:xfrm>
          <a:prstGeom prst="rect">
            <a:avLst/>
          </a:prstGeom>
          <a:solidFill>
            <a:schemeClr val="accent4">
              <a:lumMod val="60000"/>
              <a:lumOff val="40000"/>
            </a:schemeClr>
          </a:solidFill>
        </p:spPr>
        <p:txBody>
          <a:bodyPr wrap="square" rtlCol="0">
            <a:spAutoFit/>
          </a:bodyPr>
          <a:lstStyle/>
          <a:p>
            <a:pPr algn="ctr"/>
            <a:r>
              <a:rPr lang="en-US" b="1" noProof="0" dirty="0"/>
              <a:t>Host</a:t>
            </a:r>
          </a:p>
        </p:txBody>
      </p:sp>
      <p:sp>
        <p:nvSpPr>
          <p:cNvPr id="16" name="TextBox 15">
            <a:extLst>
              <a:ext uri="{FF2B5EF4-FFF2-40B4-BE49-F238E27FC236}">
                <a16:creationId xmlns:a16="http://schemas.microsoft.com/office/drawing/2014/main" id="{011C29C0-184F-793B-BC5B-86EE15E754EB}"/>
              </a:ext>
            </a:extLst>
          </p:cNvPr>
          <p:cNvSpPr txBox="1"/>
          <p:nvPr/>
        </p:nvSpPr>
        <p:spPr>
          <a:xfrm>
            <a:off x="2411643" y="5831128"/>
            <a:ext cx="732916" cy="369332"/>
          </a:xfrm>
          <a:prstGeom prst="rect">
            <a:avLst/>
          </a:prstGeom>
          <a:solidFill>
            <a:schemeClr val="accent4">
              <a:lumMod val="60000"/>
              <a:lumOff val="40000"/>
            </a:schemeClr>
          </a:solidFill>
        </p:spPr>
        <p:txBody>
          <a:bodyPr wrap="square" rtlCol="0">
            <a:spAutoFit/>
          </a:bodyPr>
          <a:lstStyle/>
          <a:p>
            <a:pPr algn="ctr"/>
            <a:r>
              <a:rPr lang="en-US" b="1" noProof="0" dirty="0"/>
              <a:t>Client</a:t>
            </a:r>
          </a:p>
        </p:txBody>
      </p:sp>
      <p:cxnSp>
        <p:nvCxnSpPr>
          <p:cNvPr id="30" name="Straight Arrow Connector 29">
            <a:extLst>
              <a:ext uri="{FF2B5EF4-FFF2-40B4-BE49-F238E27FC236}">
                <a16:creationId xmlns:a16="http://schemas.microsoft.com/office/drawing/2014/main" id="{DF64F534-4501-BD91-B6A4-F5FCAEFED675}"/>
              </a:ext>
            </a:extLst>
          </p:cNvPr>
          <p:cNvCxnSpPr>
            <a:cxnSpLocks/>
            <a:endCxn id="46" idx="1"/>
          </p:cNvCxnSpPr>
          <p:nvPr/>
        </p:nvCxnSpPr>
        <p:spPr>
          <a:xfrm flipV="1">
            <a:off x="2027806" y="4771230"/>
            <a:ext cx="383837" cy="373220"/>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03E2AED-089F-44CE-8483-6295F78E13DE}"/>
              </a:ext>
            </a:extLst>
          </p:cNvPr>
          <p:cNvCxnSpPr>
            <a:cxnSpLocks/>
          </p:cNvCxnSpPr>
          <p:nvPr/>
        </p:nvCxnSpPr>
        <p:spPr>
          <a:xfrm flipV="1">
            <a:off x="5053193" y="3171035"/>
            <a:ext cx="494684" cy="166373"/>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2A78E6B-4697-F50C-1AE3-D2F2D68D1C1E}"/>
              </a:ext>
            </a:extLst>
          </p:cNvPr>
          <p:cNvCxnSpPr>
            <a:cxnSpLocks/>
          </p:cNvCxnSpPr>
          <p:nvPr/>
        </p:nvCxnSpPr>
        <p:spPr>
          <a:xfrm>
            <a:off x="3115619" y="4750795"/>
            <a:ext cx="3183387" cy="0"/>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98446FA-E8E6-8B76-8373-BA441D23AA97}"/>
              </a:ext>
            </a:extLst>
          </p:cNvPr>
          <p:cNvSpPr txBox="1"/>
          <p:nvPr/>
        </p:nvSpPr>
        <p:spPr>
          <a:xfrm>
            <a:off x="6299006" y="4519921"/>
            <a:ext cx="1112172" cy="923330"/>
          </a:xfrm>
          <a:prstGeom prst="rect">
            <a:avLst/>
          </a:prstGeom>
          <a:solidFill>
            <a:schemeClr val="accent6">
              <a:lumMod val="40000"/>
              <a:lumOff val="60000"/>
            </a:schemeClr>
          </a:solidFill>
        </p:spPr>
        <p:txBody>
          <a:bodyPr wrap="square" rtlCol="0">
            <a:spAutoFit/>
          </a:bodyPr>
          <a:lstStyle/>
          <a:p>
            <a:pPr algn="ctr"/>
            <a:r>
              <a:rPr lang="en-US" b="1" noProof="0" dirty="0"/>
              <a:t>External MCP Server</a:t>
            </a:r>
          </a:p>
        </p:txBody>
      </p:sp>
      <p:sp>
        <p:nvSpPr>
          <p:cNvPr id="41" name="TextBox 40">
            <a:extLst>
              <a:ext uri="{FF2B5EF4-FFF2-40B4-BE49-F238E27FC236}">
                <a16:creationId xmlns:a16="http://schemas.microsoft.com/office/drawing/2014/main" id="{43773AA5-1B0C-CAF4-8BB5-4397185257B3}"/>
              </a:ext>
            </a:extLst>
          </p:cNvPr>
          <p:cNvSpPr txBox="1"/>
          <p:nvPr/>
        </p:nvSpPr>
        <p:spPr>
          <a:xfrm>
            <a:off x="6299006" y="5491329"/>
            <a:ext cx="1112172" cy="923330"/>
          </a:xfrm>
          <a:prstGeom prst="rect">
            <a:avLst/>
          </a:prstGeom>
          <a:solidFill>
            <a:schemeClr val="tx2">
              <a:lumMod val="75000"/>
            </a:schemeClr>
          </a:solidFill>
        </p:spPr>
        <p:txBody>
          <a:bodyPr wrap="square" rtlCol="0">
            <a:spAutoFit/>
          </a:bodyPr>
          <a:lstStyle/>
          <a:p>
            <a:pPr algn="ctr"/>
            <a:r>
              <a:rPr lang="en-US" b="1" noProof="0" dirty="0">
                <a:solidFill>
                  <a:schemeClr val="bg1"/>
                </a:solidFill>
              </a:rPr>
              <a:t>External API / Services</a:t>
            </a:r>
          </a:p>
        </p:txBody>
      </p:sp>
      <p:cxnSp>
        <p:nvCxnSpPr>
          <p:cNvPr id="42" name="Straight Arrow Connector 41">
            <a:extLst>
              <a:ext uri="{FF2B5EF4-FFF2-40B4-BE49-F238E27FC236}">
                <a16:creationId xmlns:a16="http://schemas.microsoft.com/office/drawing/2014/main" id="{AE889B73-C1DC-57F9-3FBE-B19FE6252ADA}"/>
              </a:ext>
            </a:extLst>
          </p:cNvPr>
          <p:cNvCxnSpPr>
            <a:cxnSpLocks/>
          </p:cNvCxnSpPr>
          <p:nvPr/>
        </p:nvCxnSpPr>
        <p:spPr>
          <a:xfrm>
            <a:off x="3135435" y="6041494"/>
            <a:ext cx="866336" cy="0"/>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B960CE1-9809-29CE-DF5F-397E183458E1}"/>
              </a:ext>
            </a:extLst>
          </p:cNvPr>
          <p:cNvCxnSpPr>
            <a:cxnSpLocks/>
          </p:cNvCxnSpPr>
          <p:nvPr/>
        </p:nvCxnSpPr>
        <p:spPr>
          <a:xfrm>
            <a:off x="5078062" y="5994206"/>
            <a:ext cx="1240721" cy="0"/>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C2C7955-6A07-5B14-1009-95523D8B7298}"/>
              </a:ext>
            </a:extLst>
          </p:cNvPr>
          <p:cNvSpPr txBox="1"/>
          <p:nvPr/>
        </p:nvSpPr>
        <p:spPr>
          <a:xfrm>
            <a:off x="322178" y="4214795"/>
            <a:ext cx="4910827" cy="2585323"/>
          </a:xfrm>
          <a:prstGeom prst="rect">
            <a:avLst/>
          </a:prstGeom>
          <a:noFill/>
          <a:ln w="28575">
            <a:solidFill>
              <a:schemeClr val="accent2">
                <a:lumMod val="75000"/>
              </a:schemeClr>
            </a:solidFill>
          </a:ln>
        </p:spPr>
        <p:txBody>
          <a:bodyPr wrap="square" rtlCol="0">
            <a:spAutoFit/>
          </a:bodyPr>
          <a:lstStyle/>
          <a:p>
            <a:r>
              <a:rPr lang="en-US" b="1" noProof="0" dirty="0">
                <a:solidFill>
                  <a:srgbClr val="FF0000"/>
                </a:solidFill>
              </a:rPr>
              <a:t>Our computer</a:t>
            </a:r>
          </a:p>
          <a:p>
            <a:endParaRPr lang="en-US" b="1" noProof="0" dirty="0">
              <a:solidFill>
                <a:srgbClr val="FF0000"/>
              </a:solidFill>
            </a:endParaRPr>
          </a:p>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p:txBody>
      </p:sp>
      <p:sp>
        <p:nvSpPr>
          <p:cNvPr id="45" name="TextBox 44">
            <a:extLst>
              <a:ext uri="{FF2B5EF4-FFF2-40B4-BE49-F238E27FC236}">
                <a16:creationId xmlns:a16="http://schemas.microsoft.com/office/drawing/2014/main" id="{4884F477-0A3B-B722-E8F3-3B7408034A16}"/>
              </a:ext>
            </a:extLst>
          </p:cNvPr>
          <p:cNvSpPr txBox="1"/>
          <p:nvPr/>
        </p:nvSpPr>
        <p:spPr>
          <a:xfrm>
            <a:off x="5317422" y="4219289"/>
            <a:ext cx="2255172" cy="2585323"/>
          </a:xfrm>
          <a:prstGeom prst="rect">
            <a:avLst/>
          </a:prstGeom>
          <a:noFill/>
          <a:ln w="28575">
            <a:solidFill>
              <a:schemeClr val="accent2">
                <a:lumMod val="75000"/>
              </a:schemeClr>
            </a:solidFill>
          </a:ln>
        </p:spPr>
        <p:txBody>
          <a:bodyPr wrap="square" rtlCol="0">
            <a:spAutoFit/>
          </a:bodyPr>
          <a:lstStyle/>
          <a:p>
            <a:endParaRPr lang="en-US" noProof="0" dirty="0"/>
          </a:p>
          <a:p>
            <a:endParaRPr lang="en-US" noProof="0" dirty="0"/>
          </a:p>
          <a:p>
            <a:endParaRPr lang="en-US" noProof="0" dirty="0"/>
          </a:p>
          <a:p>
            <a:endParaRPr lang="en-US" noProof="0" dirty="0"/>
          </a:p>
          <a:p>
            <a:endParaRPr lang="en-US" noProof="0" dirty="0"/>
          </a:p>
          <a:p>
            <a:endParaRPr lang="en-US" noProof="0" dirty="0"/>
          </a:p>
          <a:p>
            <a:endParaRPr lang="en-US" noProof="0" dirty="0"/>
          </a:p>
          <a:p>
            <a:r>
              <a:rPr lang="en-US" b="1" noProof="0" dirty="0">
                <a:solidFill>
                  <a:srgbClr val="FF0000"/>
                </a:solidFill>
              </a:rPr>
              <a:t>Internet</a:t>
            </a:r>
          </a:p>
          <a:p>
            <a:endParaRPr lang="en-US" b="1" noProof="0" dirty="0">
              <a:solidFill>
                <a:srgbClr val="FF0000"/>
              </a:solidFill>
            </a:endParaRPr>
          </a:p>
        </p:txBody>
      </p:sp>
      <p:sp>
        <p:nvSpPr>
          <p:cNvPr id="46" name="TextBox 45">
            <a:extLst>
              <a:ext uri="{FF2B5EF4-FFF2-40B4-BE49-F238E27FC236}">
                <a16:creationId xmlns:a16="http://schemas.microsoft.com/office/drawing/2014/main" id="{860CD06C-4772-3C1F-973D-42AD5F8200A0}"/>
              </a:ext>
            </a:extLst>
          </p:cNvPr>
          <p:cNvSpPr txBox="1"/>
          <p:nvPr/>
        </p:nvSpPr>
        <p:spPr>
          <a:xfrm>
            <a:off x="2411643" y="4586564"/>
            <a:ext cx="732916" cy="369332"/>
          </a:xfrm>
          <a:prstGeom prst="rect">
            <a:avLst/>
          </a:prstGeom>
          <a:solidFill>
            <a:schemeClr val="accent4">
              <a:lumMod val="60000"/>
              <a:lumOff val="40000"/>
            </a:schemeClr>
          </a:solidFill>
        </p:spPr>
        <p:txBody>
          <a:bodyPr wrap="square" rtlCol="0">
            <a:spAutoFit/>
          </a:bodyPr>
          <a:lstStyle/>
          <a:p>
            <a:pPr algn="ctr"/>
            <a:r>
              <a:rPr lang="en-US" b="1" noProof="0" dirty="0"/>
              <a:t>Client</a:t>
            </a:r>
          </a:p>
        </p:txBody>
      </p:sp>
      <p:sp>
        <p:nvSpPr>
          <p:cNvPr id="53" name="TextBox 52">
            <a:extLst>
              <a:ext uri="{FF2B5EF4-FFF2-40B4-BE49-F238E27FC236}">
                <a16:creationId xmlns:a16="http://schemas.microsoft.com/office/drawing/2014/main" id="{7B341ED4-096C-E641-7104-36AEDBDF8D19}"/>
              </a:ext>
            </a:extLst>
          </p:cNvPr>
          <p:cNvSpPr txBox="1"/>
          <p:nvPr/>
        </p:nvSpPr>
        <p:spPr>
          <a:xfrm>
            <a:off x="3969380" y="5627617"/>
            <a:ext cx="1112172" cy="923330"/>
          </a:xfrm>
          <a:prstGeom prst="rect">
            <a:avLst/>
          </a:prstGeom>
          <a:solidFill>
            <a:schemeClr val="accent6">
              <a:lumMod val="40000"/>
              <a:lumOff val="60000"/>
            </a:schemeClr>
          </a:solidFill>
        </p:spPr>
        <p:txBody>
          <a:bodyPr wrap="square" rtlCol="0">
            <a:spAutoFit/>
          </a:bodyPr>
          <a:lstStyle/>
          <a:p>
            <a:pPr algn="ctr"/>
            <a:r>
              <a:rPr lang="en-US" b="1" noProof="0" dirty="0"/>
              <a:t>Local</a:t>
            </a:r>
          </a:p>
          <a:p>
            <a:pPr algn="ctr"/>
            <a:r>
              <a:rPr lang="en-US" b="1" noProof="0" dirty="0"/>
              <a:t>MCP Server</a:t>
            </a:r>
          </a:p>
        </p:txBody>
      </p:sp>
      <p:cxnSp>
        <p:nvCxnSpPr>
          <p:cNvPr id="61" name="Straight Arrow Connector 60">
            <a:extLst>
              <a:ext uri="{FF2B5EF4-FFF2-40B4-BE49-F238E27FC236}">
                <a16:creationId xmlns:a16="http://schemas.microsoft.com/office/drawing/2014/main" id="{2FECD04D-AA51-6900-5671-AEEE0B01E8CE}"/>
              </a:ext>
            </a:extLst>
          </p:cNvPr>
          <p:cNvCxnSpPr>
            <a:cxnSpLocks/>
          </p:cNvCxnSpPr>
          <p:nvPr/>
        </p:nvCxnSpPr>
        <p:spPr>
          <a:xfrm>
            <a:off x="2048093" y="5469765"/>
            <a:ext cx="363550" cy="673427"/>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3F149A8-371F-686E-EB4C-45CA3E1860F2}"/>
              </a:ext>
            </a:extLst>
          </p:cNvPr>
          <p:cNvCxnSpPr>
            <a:cxnSpLocks/>
          </p:cNvCxnSpPr>
          <p:nvPr/>
        </p:nvCxnSpPr>
        <p:spPr>
          <a:xfrm flipV="1">
            <a:off x="5108458" y="1870353"/>
            <a:ext cx="439419" cy="115306"/>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B8FFC2C-3D3D-0838-D566-D69DFC93B755}"/>
              </a:ext>
            </a:extLst>
          </p:cNvPr>
          <p:cNvSpPr txBox="1"/>
          <p:nvPr/>
        </p:nvSpPr>
        <p:spPr>
          <a:xfrm>
            <a:off x="2411643" y="1773375"/>
            <a:ext cx="732916" cy="369332"/>
          </a:xfrm>
          <a:prstGeom prst="rect">
            <a:avLst/>
          </a:prstGeom>
          <a:solidFill>
            <a:schemeClr val="accent4">
              <a:lumMod val="60000"/>
              <a:lumOff val="40000"/>
            </a:schemeClr>
          </a:solidFill>
        </p:spPr>
        <p:txBody>
          <a:bodyPr wrap="square" rtlCol="0">
            <a:spAutoFit/>
          </a:bodyPr>
          <a:lstStyle/>
          <a:p>
            <a:pPr algn="ctr"/>
            <a:r>
              <a:rPr lang="en-US" b="1" noProof="0" dirty="0"/>
              <a:t>Client</a:t>
            </a:r>
          </a:p>
        </p:txBody>
      </p:sp>
      <p:sp>
        <p:nvSpPr>
          <p:cNvPr id="20" name="TextBox 19">
            <a:extLst>
              <a:ext uri="{FF2B5EF4-FFF2-40B4-BE49-F238E27FC236}">
                <a16:creationId xmlns:a16="http://schemas.microsoft.com/office/drawing/2014/main" id="{0DD2FD08-2B51-33B6-72C6-B5F116D2C231}"/>
              </a:ext>
            </a:extLst>
          </p:cNvPr>
          <p:cNvSpPr txBox="1"/>
          <p:nvPr/>
        </p:nvSpPr>
        <p:spPr>
          <a:xfrm>
            <a:off x="2443589" y="3233653"/>
            <a:ext cx="732916" cy="369332"/>
          </a:xfrm>
          <a:prstGeom prst="rect">
            <a:avLst/>
          </a:prstGeom>
          <a:solidFill>
            <a:schemeClr val="accent4">
              <a:lumMod val="60000"/>
              <a:lumOff val="40000"/>
            </a:schemeClr>
          </a:solidFill>
        </p:spPr>
        <p:txBody>
          <a:bodyPr wrap="square" rtlCol="0">
            <a:spAutoFit/>
          </a:bodyPr>
          <a:lstStyle/>
          <a:p>
            <a:pPr algn="ctr"/>
            <a:r>
              <a:rPr lang="en-US" b="1" noProof="0" dirty="0"/>
              <a:t>Client</a:t>
            </a:r>
          </a:p>
        </p:txBody>
      </p:sp>
      <p:cxnSp>
        <p:nvCxnSpPr>
          <p:cNvPr id="22" name="Straight Arrow Connector 21">
            <a:extLst>
              <a:ext uri="{FF2B5EF4-FFF2-40B4-BE49-F238E27FC236}">
                <a16:creationId xmlns:a16="http://schemas.microsoft.com/office/drawing/2014/main" id="{86D4AABF-D2A1-F9ED-A11A-5E3FC07EEFBC}"/>
              </a:ext>
            </a:extLst>
          </p:cNvPr>
          <p:cNvCxnSpPr/>
          <p:nvPr/>
        </p:nvCxnSpPr>
        <p:spPr>
          <a:xfrm>
            <a:off x="2038495" y="1958041"/>
            <a:ext cx="382745" cy="0"/>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9673E9B-91CF-BF32-0B17-E18D075C539B}"/>
              </a:ext>
            </a:extLst>
          </p:cNvPr>
          <p:cNvCxnSpPr/>
          <p:nvPr/>
        </p:nvCxnSpPr>
        <p:spPr>
          <a:xfrm>
            <a:off x="2078049" y="3424562"/>
            <a:ext cx="382745" cy="0"/>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2784D01-0CC5-5E6B-8B8E-13D2E5C32D59}"/>
              </a:ext>
            </a:extLst>
          </p:cNvPr>
          <p:cNvCxnSpPr/>
          <p:nvPr/>
        </p:nvCxnSpPr>
        <p:spPr>
          <a:xfrm>
            <a:off x="2048093" y="1951061"/>
            <a:ext cx="29956" cy="149630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A0FADF4-1DFF-F7C8-09E5-4DD46C17E8B7}"/>
              </a:ext>
            </a:extLst>
          </p:cNvPr>
          <p:cNvCxnSpPr>
            <a:cxnSpLocks/>
            <a:endCxn id="3" idx="1"/>
          </p:cNvCxnSpPr>
          <p:nvPr/>
        </p:nvCxnSpPr>
        <p:spPr>
          <a:xfrm>
            <a:off x="1660696" y="2672695"/>
            <a:ext cx="746295" cy="1"/>
          </a:xfrm>
          <a:prstGeom prst="line">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52507803-B3DB-A7E2-8E35-3CB80A6BF3A8}"/>
              </a:ext>
            </a:extLst>
          </p:cNvPr>
          <p:cNvCxnSpPr>
            <a:cxnSpLocks/>
          </p:cNvCxnSpPr>
          <p:nvPr/>
        </p:nvCxnSpPr>
        <p:spPr>
          <a:xfrm>
            <a:off x="3153831" y="1981378"/>
            <a:ext cx="829544" cy="6819"/>
          </a:xfrm>
          <a:prstGeom prst="straightConnector1">
            <a:avLst/>
          </a:prstGeom>
          <a:ln w="19050">
            <a:solidFill>
              <a:srgbClr val="002060"/>
            </a:solidFill>
            <a:tailEnd type="triangle" w="sm"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66710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B017-96D0-A889-EA41-32D7770B8894}"/>
              </a:ext>
            </a:extLst>
          </p:cNvPr>
          <p:cNvSpPr>
            <a:spLocks noGrp="1"/>
          </p:cNvSpPr>
          <p:nvPr>
            <p:ph type="title"/>
          </p:nvPr>
        </p:nvSpPr>
        <p:spPr/>
        <p:txBody>
          <a:bodyPr/>
          <a:lstStyle/>
          <a:p>
            <a:r>
              <a:rPr lang="en-IN" dirty="0"/>
              <a:t>Model Context Protocol (MCP)</a:t>
            </a:r>
            <a:endParaRPr lang="en-GB" dirty="0"/>
          </a:p>
        </p:txBody>
      </p:sp>
      <p:sp>
        <p:nvSpPr>
          <p:cNvPr id="3" name="Content Placeholder 2">
            <a:extLst>
              <a:ext uri="{FF2B5EF4-FFF2-40B4-BE49-F238E27FC236}">
                <a16:creationId xmlns:a16="http://schemas.microsoft.com/office/drawing/2014/main" id="{B75F68E6-EFEA-E8B2-E92C-FDF29A5F0AD4}"/>
              </a:ext>
            </a:extLst>
          </p:cNvPr>
          <p:cNvSpPr>
            <a:spLocks noGrp="1"/>
          </p:cNvSpPr>
          <p:nvPr>
            <p:ph idx="1"/>
          </p:nvPr>
        </p:nvSpPr>
        <p:spPr/>
        <p:txBody>
          <a:bodyPr>
            <a:normAutofit fontScale="92500" lnSpcReduction="10000"/>
          </a:bodyPr>
          <a:lstStyle/>
          <a:p>
            <a:r>
              <a:rPr lang="en-GB" dirty="0"/>
              <a:t>Claude can generate excellent code</a:t>
            </a:r>
          </a:p>
          <a:p>
            <a:r>
              <a:rPr lang="en-GB" dirty="0"/>
              <a:t>But real software development requires access to external systems</a:t>
            </a:r>
          </a:p>
          <a:p>
            <a:r>
              <a:rPr lang="en-GB" dirty="0"/>
              <a:t>Examples</a:t>
            </a:r>
          </a:p>
          <a:p>
            <a:pPr lvl="1"/>
            <a:r>
              <a:rPr lang="en-GB" dirty="0"/>
              <a:t>Source code </a:t>
            </a:r>
          </a:p>
          <a:p>
            <a:pPr lvl="1"/>
            <a:r>
              <a:rPr lang="en-GB" dirty="0"/>
              <a:t>Issue trackers </a:t>
            </a:r>
          </a:p>
          <a:p>
            <a:pPr lvl="1"/>
            <a:r>
              <a:rPr lang="en-GB" dirty="0"/>
              <a:t>Databases </a:t>
            </a:r>
          </a:p>
          <a:p>
            <a:pPr lvl="1"/>
            <a:r>
              <a:rPr lang="en-GB" dirty="0"/>
              <a:t>Documentation </a:t>
            </a:r>
          </a:p>
          <a:p>
            <a:pPr lvl="1"/>
            <a:r>
              <a:rPr lang="en-GB" dirty="0"/>
              <a:t>Files </a:t>
            </a:r>
          </a:p>
          <a:p>
            <a:pPr lvl="1"/>
            <a:r>
              <a:rPr lang="en-GB" dirty="0"/>
              <a:t>Browsers </a:t>
            </a:r>
          </a:p>
          <a:p>
            <a:pPr lvl="1"/>
            <a:r>
              <a:rPr lang="en-GB" dirty="0"/>
              <a:t>Internal tools </a:t>
            </a:r>
          </a:p>
          <a:p>
            <a:r>
              <a:rPr lang="en-GB" dirty="0"/>
              <a:t>This is where </a:t>
            </a:r>
            <a:r>
              <a:rPr lang="en-GB" b="1" dirty="0"/>
              <a:t>MCP</a:t>
            </a:r>
            <a:r>
              <a:rPr lang="en-GB" dirty="0"/>
              <a:t> comes in</a:t>
            </a:r>
          </a:p>
          <a:p>
            <a:endParaRPr lang="en-GB" dirty="0"/>
          </a:p>
        </p:txBody>
      </p:sp>
    </p:spTree>
    <p:extLst>
      <p:ext uri="{BB962C8B-B14F-4D97-AF65-F5344CB8AC3E}">
        <p14:creationId xmlns:p14="http://schemas.microsoft.com/office/powerpoint/2010/main" val="14293492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F2CBD-2C37-CC59-FCC4-23CFF7D38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46F0C-C98C-2117-EB30-8030A8DEFC9A}"/>
              </a:ext>
            </a:extLst>
          </p:cNvPr>
          <p:cNvSpPr>
            <a:spLocks noGrp="1"/>
          </p:cNvSpPr>
          <p:nvPr>
            <p:ph type="title"/>
          </p:nvPr>
        </p:nvSpPr>
        <p:spPr/>
        <p:txBody>
          <a:bodyPr/>
          <a:lstStyle/>
          <a:p>
            <a:r>
              <a:rPr lang="en-IN" dirty="0"/>
              <a:t>What Problem MCP Solves?</a:t>
            </a:r>
            <a:endParaRPr lang="en-GB" dirty="0"/>
          </a:p>
        </p:txBody>
      </p:sp>
      <p:sp>
        <p:nvSpPr>
          <p:cNvPr id="3" name="Content Placeholder 2">
            <a:extLst>
              <a:ext uri="{FF2B5EF4-FFF2-40B4-BE49-F238E27FC236}">
                <a16:creationId xmlns:a16="http://schemas.microsoft.com/office/drawing/2014/main" id="{57A3345E-7EB3-0A77-BA16-E8E770D23051}"/>
              </a:ext>
            </a:extLst>
          </p:cNvPr>
          <p:cNvSpPr>
            <a:spLocks noGrp="1"/>
          </p:cNvSpPr>
          <p:nvPr>
            <p:ph idx="1"/>
          </p:nvPr>
        </p:nvSpPr>
        <p:spPr/>
        <p:txBody>
          <a:bodyPr>
            <a:normAutofit/>
          </a:bodyPr>
          <a:lstStyle/>
          <a:p>
            <a:r>
              <a:rPr lang="en-GB" dirty="0"/>
              <a:t>Without MCP</a:t>
            </a:r>
          </a:p>
          <a:p>
            <a:pPr lvl="1"/>
            <a:r>
              <a:rPr lang="en-GB" dirty="0"/>
              <a:t>Developer -&gt; Copy issue from Jira -&gt; Copy logs -&gt; Copy GitHub code -&gt; Paste into Claude -&gt; Repeat...</a:t>
            </a:r>
          </a:p>
          <a:p>
            <a:pPr lvl="1"/>
            <a:r>
              <a:rPr lang="en-GB" dirty="0"/>
              <a:t>Manual, slow, error-prone</a:t>
            </a:r>
          </a:p>
          <a:p>
            <a:r>
              <a:rPr lang="en-GB" dirty="0"/>
              <a:t>With MCP</a:t>
            </a:r>
          </a:p>
          <a:p>
            <a:pPr lvl="1"/>
            <a:r>
              <a:rPr lang="en-GB" dirty="0"/>
              <a:t>Developer -&gt; Claude -&gt; Jira, GitHub, Database, Browser, Filesystem, Slack</a:t>
            </a:r>
          </a:p>
          <a:p>
            <a:pPr lvl="1"/>
            <a:r>
              <a:rPr lang="en-GB" dirty="0"/>
              <a:t>Claude directly receives information from connected systems</a:t>
            </a:r>
          </a:p>
          <a:p>
            <a:pPr lvl="1"/>
            <a:endParaRPr lang="en-GB" dirty="0"/>
          </a:p>
        </p:txBody>
      </p:sp>
    </p:spTree>
    <p:extLst>
      <p:ext uri="{BB962C8B-B14F-4D97-AF65-F5344CB8AC3E}">
        <p14:creationId xmlns:p14="http://schemas.microsoft.com/office/powerpoint/2010/main" val="28230107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C6668-1A8A-A665-BD57-5520F6BF97B5}"/>
              </a:ext>
            </a:extLst>
          </p:cNvPr>
          <p:cNvSpPr>
            <a:spLocks noGrp="1"/>
          </p:cNvSpPr>
          <p:nvPr>
            <p:ph type="title"/>
          </p:nvPr>
        </p:nvSpPr>
        <p:spPr/>
        <p:txBody>
          <a:bodyPr/>
          <a:lstStyle/>
          <a:p>
            <a:r>
              <a:rPr lang="en-IN" dirty="0"/>
              <a:t>MCP Example – SQLite </a:t>
            </a:r>
            <a:endParaRPr lang="en-GB" dirty="0"/>
          </a:p>
        </p:txBody>
      </p:sp>
      <p:sp>
        <p:nvSpPr>
          <p:cNvPr id="3" name="Content Placeholder 2">
            <a:extLst>
              <a:ext uri="{FF2B5EF4-FFF2-40B4-BE49-F238E27FC236}">
                <a16:creationId xmlns:a16="http://schemas.microsoft.com/office/drawing/2014/main" id="{340C3DD4-228C-D713-3E7F-45546578BC05}"/>
              </a:ext>
            </a:extLst>
          </p:cNvPr>
          <p:cNvSpPr>
            <a:spLocks noGrp="1"/>
          </p:cNvSpPr>
          <p:nvPr>
            <p:ph idx="1"/>
          </p:nvPr>
        </p:nvSpPr>
        <p:spPr/>
        <p:txBody>
          <a:bodyPr>
            <a:normAutofit fontScale="77500" lnSpcReduction="20000"/>
          </a:bodyPr>
          <a:lstStyle/>
          <a:p>
            <a:r>
              <a:rPr lang="en-IN" dirty="0"/>
              <a:t>Create a new directory and open it in CMD</a:t>
            </a:r>
          </a:p>
          <a:p>
            <a:r>
              <a:rPr lang="en-IN" dirty="0"/>
              <a:t>Install SQLite</a:t>
            </a:r>
          </a:p>
          <a:p>
            <a:pPr lvl="1"/>
            <a:r>
              <a:rPr lang="en-IN" b="1" dirty="0" err="1"/>
              <a:t>winget</a:t>
            </a:r>
            <a:r>
              <a:rPr lang="en-IN" b="1" dirty="0"/>
              <a:t> install </a:t>
            </a:r>
            <a:r>
              <a:rPr lang="en-IN" b="1" dirty="0" err="1"/>
              <a:t>SQLite.SQLite</a:t>
            </a:r>
            <a:endParaRPr lang="en-IN" b="1" dirty="0"/>
          </a:p>
          <a:p>
            <a:pPr lvl="1"/>
            <a:r>
              <a:rPr lang="en-GB" b="1" dirty="0"/>
              <a:t>sqlite3 --version</a:t>
            </a:r>
          </a:p>
          <a:p>
            <a:r>
              <a:rPr lang="en-GB" dirty="0"/>
              <a:t>Create database</a:t>
            </a:r>
          </a:p>
          <a:p>
            <a:pPr lvl="1"/>
            <a:r>
              <a:rPr lang="en-GB" b="1" dirty="0"/>
              <a:t>sqlite3 </a:t>
            </a:r>
            <a:r>
              <a:rPr lang="en-GB" b="1" dirty="0" err="1"/>
              <a:t>realestate.db</a:t>
            </a:r>
            <a:r>
              <a:rPr lang="en-GB" b="1" dirty="0"/>
              <a:t> &lt; </a:t>
            </a:r>
            <a:r>
              <a:rPr lang="en-GB" b="1" dirty="0" err="1"/>
              <a:t>schema.sql</a:t>
            </a:r>
            <a:endParaRPr lang="en-GB" b="1" dirty="0"/>
          </a:p>
          <a:p>
            <a:r>
              <a:rPr lang="en-GB" dirty="0"/>
              <a:t>Insert data</a:t>
            </a:r>
          </a:p>
          <a:p>
            <a:pPr lvl="1"/>
            <a:r>
              <a:rPr lang="en-GB" b="1" dirty="0"/>
              <a:t>sqlite3 </a:t>
            </a:r>
            <a:r>
              <a:rPr lang="en-GB" b="1" dirty="0" err="1"/>
              <a:t>realestate.db</a:t>
            </a:r>
            <a:r>
              <a:rPr lang="en-GB" b="1" dirty="0"/>
              <a:t> &lt; </a:t>
            </a:r>
            <a:r>
              <a:rPr lang="en-GB" b="1" dirty="0" err="1"/>
              <a:t>sample_data.sql</a:t>
            </a:r>
            <a:endParaRPr lang="en-GB" b="1" dirty="0"/>
          </a:p>
          <a:p>
            <a:r>
              <a:rPr lang="en-GB" dirty="0"/>
              <a:t>Add SQLite database server</a:t>
            </a:r>
          </a:p>
          <a:p>
            <a:pPr lvl="1"/>
            <a:r>
              <a:rPr lang="en-GB" b="1" dirty="0" err="1"/>
              <a:t>claude</a:t>
            </a:r>
            <a:r>
              <a:rPr lang="en-GB" b="1" dirty="0"/>
              <a:t> </a:t>
            </a:r>
            <a:r>
              <a:rPr lang="en-GB" b="1" dirty="0" err="1"/>
              <a:t>mcp</a:t>
            </a:r>
            <a:r>
              <a:rPr lang="en-GB" b="1" dirty="0"/>
              <a:t> add </a:t>
            </a:r>
            <a:r>
              <a:rPr lang="en-GB" b="1" dirty="0" err="1"/>
              <a:t>sqlite</a:t>
            </a:r>
            <a:r>
              <a:rPr lang="en-GB" b="1" dirty="0"/>
              <a:t> -- </a:t>
            </a:r>
            <a:r>
              <a:rPr lang="en-GB" b="1" dirty="0" err="1"/>
              <a:t>npx</a:t>
            </a:r>
            <a:r>
              <a:rPr lang="en-GB" b="1" dirty="0"/>
              <a:t> -y </a:t>
            </a:r>
            <a:r>
              <a:rPr lang="en-GB" b="1" dirty="0" err="1"/>
              <a:t>mcp</a:t>
            </a:r>
            <a:r>
              <a:rPr lang="en-GB" b="1" dirty="0"/>
              <a:t>-server-</a:t>
            </a:r>
            <a:r>
              <a:rPr lang="en-GB" b="1" dirty="0" err="1"/>
              <a:t>sqlite</a:t>
            </a:r>
            <a:r>
              <a:rPr lang="en-GB" b="1" dirty="0"/>
              <a:t>-</a:t>
            </a:r>
            <a:r>
              <a:rPr lang="en-GB" b="1" dirty="0" err="1"/>
              <a:t>npx</a:t>
            </a:r>
            <a:r>
              <a:rPr lang="en-GB" b="1" dirty="0"/>
              <a:t> </a:t>
            </a:r>
            <a:r>
              <a:rPr lang="en-GB" b="1" dirty="0" err="1"/>
              <a:t>realestate.db</a:t>
            </a:r>
            <a:endParaRPr lang="en-GB" b="1" dirty="0"/>
          </a:p>
          <a:p>
            <a:r>
              <a:rPr lang="en-GB" dirty="0"/>
              <a:t>Verify MCP list</a:t>
            </a:r>
          </a:p>
          <a:p>
            <a:pPr lvl="1"/>
            <a:r>
              <a:rPr lang="en-GB" b="1" dirty="0" err="1"/>
              <a:t>claude</a:t>
            </a:r>
            <a:r>
              <a:rPr lang="en-GB" b="1" dirty="0"/>
              <a:t> </a:t>
            </a:r>
            <a:r>
              <a:rPr lang="en-GB" b="1" dirty="0" err="1"/>
              <a:t>mcp</a:t>
            </a:r>
            <a:r>
              <a:rPr lang="en-GB" b="1" dirty="0"/>
              <a:t> list</a:t>
            </a:r>
          </a:p>
          <a:p>
            <a:r>
              <a:rPr lang="en-GB" dirty="0"/>
              <a:t>If SQLite MCP is installed successfully, type any of the questions in the next slides in the format: </a:t>
            </a:r>
            <a:r>
              <a:rPr lang="en-GB" b="1" dirty="0" err="1"/>
              <a:t>claude</a:t>
            </a:r>
            <a:r>
              <a:rPr lang="en-GB" b="1" dirty="0"/>
              <a:t> “question in natural/</a:t>
            </a:r>
            <a:r>
              <a:rPr lang="en-GB" b="1"/>
              <a:t>English language”</a:t>
            </a:r>
            <a:endParaRPr lang="en-GB" dirty="0"/>
          </a:p>
          <a:p>
            <a:endParaRPr lang="en-GB" dirty="0"/>
          </a:p>
        </p:txBody>
      </p:sp>
    </p:spTree>
    <p:extLst>
      <p:ext uri="{BB962C8B-B14F-4D97-AF65-F5344CB8AC3E}">
        <p14:creationId xmlns:p14="http://schemas.microsoft.com/office/powerpoint/2010/main" val="19852622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AD52F-D1B0-320A-A60F-16B9BED18920}"/>
              </a:ext>
            </a:extLst>
          </p:cNvPr>
          <p:cNvSpPr>
            <a:spLocks noGrp="1"/>
          </p:cNvSpPr>
          <p:nvPr>
            <p:ph type="title"/>
          </p:nvPr>
        </p:nvSpPr>
        <p:spPr/>
        <p:txBody>
          <a:bodyPr/>
          <a:lstStyle/>
          <a:p>
            <a:r>
              <a:rPr lang="en-IN" dirty="0"/>
              <a:t>MCP Example – BA – Lead Analysis</a:t>
            </a:r>
            <a:endParaRPr lang="en-GB" dirty="0"/>
          </a:p>
        </p:txBody>
      </p:sp>
      <p:sp>
        <p:nvSpPr>
          <p:cNvPr id="3" name="Content Placeholder 2">
            <a:extLst>
              <a:ext uri="{FF2B5EF4-FFF2-40B4-BE49-F238E27FC236}">
                <a16:creationId xmlns:a16="http://schemas.microsoft.com/office/drawing/2014/main" id="{DDC2E8E6-6F0C-F115-69A5-91B29AF04BB8}"/>
              </a:ext>
            </a:extLst>
          </p:cNvPr>
          <p:cNvSpPr>
            <a:spLocks noGrp="1"/>
          </p:cNvSpPr>
          <p:nvPr>
            <p:ph idx="1"/>
          </p:nvPr>
        </p:nvSpPr>
        <p:spPr/>
        <p:txBody>
          <a:bodyPr/>
          <a:lstStyle/>
          <a:p>
            <a:r>
              <a:rPr lang="en-GB" dirty="0"/>
              <a:t>Show all leads created this month</a:t>
            </a:r>
          </a:p>
          <a:p>
            <a:r>
              <a:rPr lang="en-GB" dirty="0"/>
              <a:t>Which projects are getting the highest number of enquiries? </a:t>
            </a:r>
          </a:p>
          <a:p>
            <a:r>
              <a:rPr lang="en-GB" dirty="0"/>
              <a:t>Show customers whose budget exceeds ₹1 crore</a:t>
            </a:r>
          </a:p>
          <a:p>
            <a:r>
              <a:rPr lang="en-GB" dirty="0"/>
              <a:t>Which lead sources generate the most enquiries? </a:t>
            </a:r>
          </a:p>
          <a:p>
            <a:r>
              <a:rPr lang="en-GB" dirty="0"/>
              <a:t>How many enquiries came from Facebook? </a:t>
            </a:r>
          </a:p>
          <a:p>
            <a:r>
              <a:rPr lang="en-GB" dirty="0"/>
              <a:t>List customers who visited a site but haven't booked</a:t>
            </a:r>
          </a:p>
          <a:p>
            <a:r>
              <a:rPr lang="en-GB" dirty="0"/>
              <a:t>Which executive is handling the most leads? </a:t>
            </a:r>
          </a:p>
          <a:p>
            <a:r>
              <a:rPr lang="en-GB" dirty="0"/>
              <a:t>Show average customer budget by project</a:t>
            </a:r>
          </a:p>
        </p:txBody>
      </p:sp>
    </p:spTree>
    <p:extLst>
      <p:ext uri="{BB962C8B-B14F-4D97-AF65-F5344CB8AC3E}">
        <p14:creationId xmlns:p14="http://schemas.microsoft.com/office/powerpoint/2010/main" val="40589838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C03F5-170B-A03D-FF1B-B020A7BC4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1D9C8-46B4-56AD-1CF7-DC5334BA4D5F}"/>
              </a:ext>
            </a:extLst>
          </p:cNvPr>
          <p:cNvSpPr>
            <a:spLocks noGrp="1"/>
          </p:cNvSpPr>
          <p:nvPr>
            <p:ph type="title"/>
          </p:nvPr>
        </p:nvSpPr>
        <p:spPr/>
        <p:txBody>
          <a:bodyPr/>
          <a:lstStyle/>
          <a:p>
            <a:r>
              <a:rPr lang="en-IN" dirty="0"/>
              <a:t>MCP Example – BA – Sales Analysis</a:t>
            </a:r>
            <a:endParaRPr lang="en-GB" dirty="0"/>
          </a:p>
        </p:txBody>
      </p:sp>
      <p:sp>
        <p:nvSpPr>
          <p:cNvPr id="3" name="Content Placeholder 2">
            <a:extLst>
              <a:ext uri="{FF2B5EF4-FFF2-40B4-BE49-F238E27FC236}">
                <a16:creationId xmlns:a16="http://schemas.microsoft.com/office/drawing/2014/main" id="{0F3056B1-41EB-D779-C1E1-169C3678A9A6}"/>
              </a:ext>
            </a:extLst>
          </p:cNvPr>
          <p:cNvSpPr>
            <a:spLocks noGrp="1"/>
          </p:cNvSpPr>
          <p:nvPr>
            <p:ph idx="1"/>
          </p:nvPr>
        </p:nvSpPr>
        <p:spPr/>
        <p:txBody>
          <a:bodyPr/>
          <a:lstStyle/>
          <a:p>
            <a:r>
              <a:rPr lang="en-GB" dirty="0"/>
              <a:t>Show all available 2 BHK units</a:t>
            </a:r>
          </a:p>
          <a:p>
            <a:r>
              <a:rPr lang="en-GB" dirty="0"/>
              <a:t>Which projects have sold-out inventory? </a:t>
            </a:r>
          </a:p>
          <a:p>
            <a:r>
              <a:rPr lang="en-GB" dirty="0"/>
              <a:t>Show bookings made during January</a:t>
            </a:r>
          </a:p>
          <a:p>
            <a:r>
              <a:rPr lang="en-GB" dirty="0"/>
              <a:t>Which customers have pending payments? </a:t>
            </a:r>
          </a:p>
          <a:p>
            <a:r>
              <a:rPr lang="en-GB" dirty="0"/>
              <a:t>Calculate total booking value project-wise</a:t>
            </a:r>
          </a:p>
          <a:p>
            <a:r>
              <a:rPr lang="en-GB" dirty="0"/>
              <a:t>Which project generated the highest revenue? </a:t>
            </a:r>
          </a:p>
          <a:p>
            <a:r>
              <a:rPr lang="en-GB" dirty="0"/>
              <a:t>List cancelled bookings</a:t>
            </a:r>
          </a:p>
          <a:p>
            <a:r>
              <a:rPr lang="en-GB" dirty="0"/>
              <a:t>Show units available under ₹90 lakh</a:t>
            </a:r>
          </a:p>
        </p:txBody>
      </p:sp>
    </p:spTree>
    <p:extLst>
      <p:ext uri="{BB962C8B-B14F-4D97-AF65-F5344CB8AC3E}">
        <p14:creationId xmlns:p14="http://schemas.microsoft.com/office/powerpoint/2010/main" val="34776715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7EA92-477D-BF5F-355A-8E878F5FF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57F70-0BC1-F299-7410-9A8E54616CFA}"/>
              </a:ext>
            </a:extLst>
          </p:cNvPr>
          <p:cNvSpPr>
            <a:spLocks noGrp="1"/>
          </p:cNvSpPr>
          <p:nvPr>
            <p:ph type="title"/>
          </p:nvPr>
        </p:nvSpPr>
        <p:spPr/>
        <p:txBody>
          <a:bodyPr/>
          <a:lstStyle/>
          <a:p>
            <a:r>
              <a:rPr lang="en-IN" dirty="0"/>
              <a:t>MCP Example – BA – Customer Analysis</a:t>
            </a:r>
            <a:endParaRPr lang="en-GB" dirty="0"/>
          </a:p>
        </p:txBody>
      </p:sp>
      <p:sp>
        <p:nvSpPr>
          <p:cNvPr id="3" name="Content Placeholder 2">
            <a:extLst>
              <a:ext uri="{FF2B5EF4-FFF2-40B4-BE49-F238E27FC236}">
                <a16:creationId xmlns:a16="http://schemas.microsoft.com/office/drawing/2014/main" id="{3A811B73-B109-E67D-592C-7F76A40B4B4E}"/>
              </a:ext>
            </a:extLst>
          </p:cNvPr>
          <p:cNvSpPr>
            <a:spLocks noGrp="1"/>
          </p:cNvSpPr>
          <p:nvPr>
            <p:ph idx="1"/>
          </p:nvPr>
        </p:nvSpPr>
        <p:spPr/>
        <p:txBody>
          <a:bodyPr/>
          <a:lstStyle/>
          <a:p>
            <a:r>
              <a:rPr lang="en-GB" dirty="0"/>
              <a:t>Which customers have open support tickets? </a:t>
            </a:r>
          </a:p>
          <a:p>
            <a:r>
              <a:rPr lang="en-GB" dirty="0"/>
              <a:t>Show customers from Pune</a:t>
            </a:r>
          </a:p>
          <a:p>
            <a:r>
              <a:rPr lang="en-GB" dirty="0"/>
              <a:t>List high-income customers</a:t>
            </a:r>
          </a:p>
          <a:p>
            <a:r>
              <a:rPr lang="en-GB" dirty="0"/>
              <a:t>Which occupation buys the most apartments? </a:t>
            </a:r>
          </a:p>
          <a:p>
            <a:r>
              <a:rPr lang="en-GB" dirty="0"/>
              <a:t>Show repeat customers</a:t>
            </a:r>
          </a:p>
          <a:p>
            <a:r>
              <a:rPr lang="en-GB" dirty="0"/>
              <a:t>Which customers have never visited a project?</a:t>
            </a:r>
          </a:p>
        </p:txBody>
      </p:sp>
    </p:spTree>
    <p:extLst>
      <p:ext uri="{BB962C8B-B14F-4D97-AF65-F5344CB8AC3E}">
        <p14:creationId xmlns:p14="http://schemas.microsoft.com/office/powerpoint/2010/main" val="279511020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25E90-1FC0-9516-152C-494DC3B0B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B4EF1-A49E-4EEE-0F49-2050176CC568}"/>
              </a:ext>
            </a:extLst>
          </p:cNvPr>
          <p:cNvSpPr>
            <a:spLocks noGrp="1"/>
          </p:cNvSpPr>
          <p:nvPr>
            <p:ph type="title"/>
          </p:nvPr>
        </p:nvSpPr>
        <p:spPr/>
        <p:txBody>
          <a:bodyPr/>
          <a:lstStyle/>
          <a:p>
            <a:r>
              <a:rPr lang="en-IN" dirty="0"/>
              <a:t>MCP Example – QA</a:t>
            </a:r>
            <a:endParaRPr lang="en-GB" dirty="0"/>
          </a:p>
        </p:txBody>
      </p:sp>
      <p:sp>
        <p:nvSpPr>
          <p:cNvPr id="3" name="Content Placeholder 2">
            <a:extLst>
              <a:ext uri="{FF2B5EF4-FFF2-40B4-BE49-F238E27FC236}">
                <a16:creationId xmlns:a16="http://schemas.microsoft.com/office/drawing/2014/main" id="{A7964119-8CA0-3345-68D5-944FCCBD3766}"/>
              </a:ext>
            </a:extLst>
          </p:cNvPr>
          <p:cNvSpPr>
            <a:spLocks noGrp="1"/>
          </p:cNvSpPr>
          <p:nvPr>
            <p:ph idx="1"/>
          </p:nvPr>
        </p:nvSpPr>
        <p:spPr/>
        <p:txBody>
          <a:bodyPr>
            <a:normAutofit fontScale="55000" lnSpcReduction="20000"/>
          </a:bodyPr>
          <a:lstStyle/>
          <a:p>
            <a:r>
              <a:rPr lang="en-GB" dirty="0"/>
              <a:t>Verify no booking exists without a customer</a:t>
            </a:r>
          </a:p>
          <a:p>
            <a:r>
              <a:rPr lang="en-GB" dirty="0"/>
              <a:t>Check for orphan payment records</a:t>
            </a:r>
          </a:p>
          <a:p>
            <a:r>
              <a:rPr lang="en-GB" dirty="0"/>
              <a:t>Find duplicate customer email addresses</a:t>
            </a:r>
          </a:p>
          <a:p>
            <a:r>
              <a:rPr lang="en-GB" dirty="0"/>
              <a:t>Are there any units marked both Available and Booked? </a:t>
            </a:r>
          </a:p>
          <a:p>
            <a:r>
              <a:rPr lang="en-GB" dirty="0"/>
              <a:t>Find leads with invalid budgets (negative values)</a:t>
            </a:r>
          </a:p>
          <a:p>
            <a:r>
              <a:rPr lang="en-GB" dirty="0"/>
              <a:t>Show customers without phone numbers</a:t>
            </a:r>
          </a:p>
          <a:p>
            <a:r>
              <a:rPr lang="en-GB" dirty="0"/>
              <a:t>Verify every booking has a corresponding unit</a:t>
            </a:r>
          </a:p>
          <a:p>
            <a:r>
              <a:rPr lang="en-GB" dirty="0"/>
              <a:t>Find support tickets older than 30 days</a:t>
            </a:r>
          </a:p>
          <a:p>
            <a:r>
              <a:rPr lang="en-GB" dirty="0"/>
              <a:t>Check whether every site visit belongs to a valid lead</a:t>
            </a:r>
          </a:p>
          <a:p>
            <a:r>
              <a:rPr lang="en-GB" dirty="0"/>
              <a:t>Find projects without any units</a:t>
            </a:r>
          </a:p>
          <a:p>
            <a:r>
              <a:rPr lang="en-GB" dirty="0"/>
              <a:t>Identify bookings without payments</a:t>
            </a:r>
          </a:p>
          <a:p>
            <a:r>
              <a:rPr lang="en-GB" dirty="0"/>
              <a:t>Verify every payment amount is greater than zero</a:t>
            </a:r>
          </a:p>
          <a:p>
            <a:r>
              <a:rPr lang="en-GB" dirty="0"/>
              <a:t>Find bookings for units still marked Available</a:t>
            </a:r>
          </a:p>
          <a:p>
            <a:r>
              <a:rPr lang="en-GB" dirty="0"/>
              <a:t>Detect duplicate unit numbers within a project</a:t>
            </a:r>
          </a:p>
          <a:p>
            <a:r>
              <a:rPr lang="en-GB" dirty="0"/>
              <a:t>Show leads assigned to non-existent sales executives</a:t>
            </a:r>
          </a:p>
        </p:txBody>
      </p:sp>
    </p:spTree>
    <p:extLst>
      <p:ext uri="{BB962C8B-B14F-4D97-AF65-F5344CB8AC3E}">
        <p14:creationId xmlns:p14="http://schemas.microsoft.com/office/powerpoint/2010/main" val="197706242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9821C-C9E8-1DC9-5D3E-98ECD8AE0843}"/>
              </a:ext>
            </a:extLst>
          </p:cNvPr>
          <p:cNvSpPr>
            <a:spLocks noGrp="1"/>
          </p:cNvSpPr>
          <p:nvPr>
            <p:ph type="title"/>
          </p:nvPr>
        </p:nvSpPr>
        <p:spPr/>
        <p:txBody>
          <a:bodyPr/>
          <a:lstStyle/>
          <a:p>
            <a:r>
              <a:rPr lang="en-IN" dirty="0"/>
              <a:t>MCP Example</a:t>
            </a:r>
            <a:endParaRPr lang="en-GB" dirty="0"/>
          </a:p>
        </p:txBody>
      </p:sp>
      <p:sp>
        <p:nvSpPr>
          <p:cNvPr id="3" name="Content Placeholder 2">
            <a:extLst>
              <a:ext uri="{FF2B5EF4-FFF2-40B4-BE49-F238E27FC236}">
                <a16:creationId xmlns:a16="http://schemas.microsoft.com/office/drawing/2014/main" id="{ED1FBD44-8F45-2A13-38F9-9EB78310AF79}"/>
              </a:ext>
            </a:extLst>
          </p:cNvPr>
          <p:cNvSpPr>
            <a:spLocks noGrp="1"/>
          </p:cNvSpPr>
          <p:nvPr>
            <p:ph idx="1"/>
          </p:nvPr>
        </p:nvSpPr>
        <p:spPr/>
        <p:txBody>
          <a:bodyPr>
            <a:normAutofit/>
          </a:bodyPr>
          <a:lstStyle/>
          <a:p>
            <a:r>
              <a:rPr lang="en-GB" dirty="0"/>
              <a:t>Customer reports: Unable to book a property</a:t>
            </a:r>
          </a:p>
          <a:p>
            <a:r>
              <a:rPr lang="en-GB" dirty="0"/>
              <a:t>Claude can</a:t>
            </a:r>
          </a:p>
          <a:p>
            <a:pPr lvl="1"/>
            <a:r>
              <a:rPr lang="en-GB" dirty="0"/>
              <a:t>Read the Jira ticket </a:t>
            </a:r>
          </a:p>
          <a:p>
            <a:pPr lvl="1"/>
            <a:r>
              <a:rPr lang="en-GB" dirty="0"/>
              <a:t>Find related GitHub commits </a:t>
            </a:r>
          </a:p>
          <a:p>
            <a:pPr lvl="1"/>
            <a:r>
              <a:rPr lang="en-GB" dirty="0"/>
              <a:t>Check recent Pull Requests </a:t>
            </a:r>
          </a:p>
          <a:p>
            <a:pPr lvl="1"/>
            <a:r>
              <a:rPr lang="en-GB" dirty="0"/>
              <a:t>Search application logs </a:t>
            </a:r>
          </a:p>
          <a:p>
            <a:pPr lvl="1"/>
            <a:r>
              <a:rPr lang="en-GB" dirty="0" err="1"/>
              <a:t>Analyze</a:t>
            </a:r>
            <a:r>
              <a:rPr lang="en-GB" dirty="0"/>
              <a:t> database records </a:t>
            </a:r>
          </a:p>
          <a:p>
            <a:pPr lvl="1"/>
            <a:r>
              <a:rPr lang="en-GB" dirty="0"/>
              <a:t>Suggest the root cause </a:t>
            </a:r>
          </a:p>
          <a:p>
            <a:r>
              <a:rPr lang="en-GB" dirty="0"/>
              <a:t>All within one workflow</a:t>
            </a:r>
          </a:p>
        </p:txBody>
      </p:sp>
    </p:spTree>
    <p:extLst>
      <p:ext uri="{BB962C8B-B14F-4D97-AF65-F5344CB8AC3E}">
        <p14:creationId xmlns:p14="http://schemas.microsoft.com/office/powerpoint/2010/main" val="45083187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7CF7-C9D6-3D03-CA7A-E2463F100721}"/>
              </a:ext>
            </a:extLst>
          </p:cNvPr>
          <p:cNvSpPr>
            <a:spLocks noGrp="1"/>
          </p:cNvSpPr>
          <p:nvPr>
            <p:ph type="title"/>
          </p:nvPr>
        </p:nvSpPr>
        <p:spPr/>
        <p:txBody>
          <a:bodyPr/>
          <a:lstStyle/>
          <a:p>
            <a:r>
              <a:rPr lang="en-IN" dirty="0"/>
              <a:t>Demo</a:t>
            </a:r>
            <a:endParaRPr lang="en-GB" dirty="0"/>
          </a:p>
        </p:txBody>
      </p:sp>
      <p:sp>
        <p:nvSpPr>
          <p:cNvPr id="3" name="Content Placeholder 2">
            <a:extLst>
              <a:ext uri="{FF2B5EF4-FFF2-40B4-BE49-F238E27FC236}">
                <a16:creationId xmlns:a16="http://schemas.microsoft.com/office/drawing/2014/main" id="{AA3FCD4E-8B26-1D72-C672-A78B97239FF5}"/>
              </a:ext>
            </a:extLst>
          </p:cNvPr>
          <p:cNvSpPr>
            <a:spLocks noGrp="1"/>
          </p:cNvSpPr>
          <p:nvPr>
            <p:ph idx="1"/>
          </p:nvPr>
        </p:nvSpPr>
        <p:spPr/>
        <p:txBody>
          <a:bodyPr>
            <a:normAutofit lnSpcReduction="10000"/>
          </a:bodyPr>
          <a:lstStyle/>
          <a:p>
            <a:pPr marL="514350" indent="-514350">
              <a:buFont typeface="+mj-lt"/>
              <a:buAutoNum type="arabicPeriod"/>
            </a:pPr>
            <a:r>
              <a:rPr lang="en-GB" dirty="0"/>
              <a:t>Customer reports a booking issue</a:t>
            </a:r>
          </a:p>
          <a:p>
            <a:pPr marL="514350" indent="-514350">
              <a:buFont typeface="+mj-lt"/>
              <a:buAutoNum type="arabicPeriod"/>
            </a:pPr>
            <a:r>
              <a:rPr lang="en-GB" dirty="0"/>
              <a:t>Claude queries </a:t>
            </a:r>
            <a:r>
              <a:rPr lang="en-GB" b="1" dirty="0"/>
              <a:t>Jira</a:t>
            </a:r>
            <a:r>
              <a:rPr lang="en-GB" dirty="0"/>
              <a:t> for the defect </a:t>
            </a:r>
          </a:p>
          <a:p>
            <a:pPr marL="514350" indent="-514350">
              <a:buFont typeface="+mj-lt"/>
              <a:buAutoNum type="arabicPeriod"/>
            </a:pPr>
            <a:r>
              <a:rPr lang="en-GB" dirty="0"/>
              <a:t>Claude inspects </a:t>
            </a:r>
            <a:r>
              <a:rPr lang="en-GB" b="1" dirty="0"/>
              <a:t>GitHub</a:t>
            </a:r>
            <a:r>
              <a:rPr lang="en-GB" dirty="0"/>
              <a:t> commits related to the booking module</a:t>
            </a:r>
          </a:p>
          <a:p>
            <a:pPr marL="514350" indent="-514350">
              <a:buFont typeface="+mj-lt"/>
              <a:buAutoNum type="arabicPeriod"/>
            </a:pPr>
            <a:r>
              <a:rPr lang="en-GB" dirty="0"/>
              <a:t>Claude searches the </a:t>
            </a:r>
            <a:r>
              <a:rPr lang="en-GB" b="1" dirty="0"/>
              <a:t>filesystem</a:t>
            </a:r>
            <a:r>
              <a:rPr lang="en-GB" dirty="0"/>
              <a:t> for relevant code and configuration</a:t>
            </a:r>
          </a:p>
          <a:p>
            <a:pPr marL="514350" indent="-514350">
              <a:buFont typeface="+mj-lt"/>
              <a:buAutoNum type="arabicPeriod"/>
            </a:pPr>
            <a:r>
              <a:rPr lang="en-GB" dirty="0"/>
              <a:t>Claude queries the </a:t>
            </a:r>
            <a:r>
              <a:rPr lang="en-GB" b="1" dirty="0"/>
              <a:t>database</a:t>
            </a:r>
            <a:r>
              <a:rPr lang="en-GB" dirty="0"/>
              <a:t> to verify booking records</a:t>
            </a:r>
          </a:p>
          <a:p>
            <a:pPr marL="514350" indent="-514350">
              <a:buFont typeface="+mj-lt"/>
              <a:buAutoNum type="arabicPeriod"/>
            </a:pPr>
            <a:r>
              <a:rPr lang="en-GB" dirty="0"/>
              <a:t>Claude launches the </a:t>
            </a:r>
            <a:r>
              <a:rPr lang="en-GB" b="1" dirty="0"/>
              <a:t>browser</a:t>
            </a:r>
            <a:r>
              <a:rPr lang="en-GB" dirty="0"/>
              <a:t> to reproduce the issue</a:t>
            </a:r>
          </a:p>
          <a:p>
            <a:pPr marL="514350" indent="-514350">
              <a:buFont typeface="+mj-lt"/>
              <a:buAutoNum type="arabicPeriod"/>
            </a:pPr>
            <a:r>
              <a:rPr lang="en-GB" dirty="0"/>
              <a:t>Claude fixes the bug and creates a </a:t>
            </a:r>
            <a:r>
              <a:rPr lang="en-GB" b="1" dirty="0"/>
              <a:t>Pull Request</a:t>
            </a:r>
            <a:endParaRPr lang="en-GB" dirty="0"/>
          </a:p>
          <a:p>
            <a:pPr marL="514350" indent="-514350">
              <a:buFont typeface="+mj-lt"/>
              <a:buAutoNum type="arabicPeriod"/>
            </a:pPr>
            <a:r>
              <a:rPr lang="en-GB" dirty="0"/>
              <a:t>Claude updates the </a:t>
            </a:r>
            <a:r>
              <a:rPr lang="en-GB" b="1" dirty="0"/>
              <a:t>Jira</a:t>
            </a:r>
            <a:r>
              <a:rPr lang="en-GB" dirty="0"/>
              <a:t> ticket with the investigation summary and links to </a:t>
            </a:r>
            <a:r>
              <a:rPr lang="en-GB"/>
              <a:t>the PR</a:t>
            </a:r>
            <a:endParaRPr lang="en-GB" dirty="0"/>
          </a:p>
          <a:p>
            <a:pPr marL="514350" indent="-514350">
              <a:buFont typeface="+mj-lt"/>
              <a:buAutoNum type="arabicPeriod"/>
            </a:pPr>
            <a:endParaRPr lang="en-GB" dirty="0"/>
          </a:p>
        </p:txBody>
      </p:sp>
    </p:spTree>
    <p:extLst>
      <p:ext uri="{BB962C8B-B14F-4D97-AF65-F5344CB8AC3E}">
        <p14:creationId xmlns:p14="http://schemas.microsoft.com/office/powerpoint/2010/main" val="249997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4223</TotalTime>
  <Words>7079</Words>
  <Application>Microsoft Office PowerPoint</Application>
  <PresentationFormat>Widescreen</PresentationFormat>
  <Paragraphs>1322</Paragraphs>
  <Slides>120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120</vt:i4>
      </vt:variant>
    </vt:vector>
  </HeadingPairs>
  <TitlesOfParts>
    <vt:vector size="124" baseType="lpstr">
      <vt:lpstr>Arial</vt:lpstr>
      <vt:lpstr>Calibri</vt:lpstr>
      <vt:lpstr>Calibri Light</vt:lpstr>
      <vt:lpstr>Office Theme</vt:lpstr>
      <vt:lpstr>Claude Code</vt:lpstr>
      <vt:lpstr>Agenda</vt:lpstr>
      <vt:lpstr>Part 1: What is Claude Code?</vt:lpstr>
      <vt:lpstr>What is Claude Code</vt:lpstr>
      <vt:lpstr>Claude AI vs Claude Code</vt:lpstr>
      <vt:lpstr>Agentic Coding</vt:lpstr>
      <vt:lpstr>How Claude Code Thinks and Works</vt:lpstr>
      <vt:lpstr>Demo</vt:lpstr>
      <vt:lpstr>Permissions</vt:lpstr>
      <vt:lpstr>Permissions – Best Practices</vt:lpstr>
      <vt:lpstr>Installation and Setup</vt:lpstr>
      <vt:lpstr>Hands-on: Create a Notes App</vt:lpstr>
      <vt:lpstr>Hands-on</vt:lpstr>
      <vt:lpstr>Part 2: Understanding an Existing Project</vt:lpstr>
      <vt:lpstr>What to Explore?</vt:lpstr>
      <vt:lpstr>Sample Questions We Can Ask Claude Code</vt:lpstr>
      <vt:lpstr>Reading Unfamiliar Code</vt:lpstr>
      <vt:lpstr>Understanding Architecture</vt:lpstr>
      <vt:lpstr>Finding Features</vt:lpstr>
      <vt:lpstr>Tracing Workflows</vt:lpstr>
      <vt:lpstr>Explaining Code in Simple Language</vt:lpstr>
      <vt:lpstr>Hands-on – PM/BA</vt:lpstr>
      <vt:lpstr>Hands-on – Testing/QA</vt:lpstr>
      <vt:lpstr>Part 3: Working with Claude Code</vt:lpstr>
      <vt:lpstr>Planning before Coding</vt:lpstr>
      <vt:lpstr>Good Prompting</vt:lpstr>
      <vt:lpstr>Task-First Thinking</vt:lpstr>
      <vt:lpstr>Reviewing Plans</vt:lpstr>
      <vt:lpstr>Making Small Changes</vt:lpstr>
      <vt:lpstr>Running Commands</vt:lpstr>
      <vt:lpstr>Testing</vt:lpstr>
      <vt:lpstr>Reviewing Changes</vt:lpstr>
      <vt:lpstr>Explaining Changes</vt:lpstr>
      <vt:lpstr>Role-based Examples</vt:lpstr>
      <vt:lpstr>Part 4: Prompt Engineering for Software Teams</vt:lpstr>
      <vt:lpstr>Weak versus Strong Prompts</vt:lpstr>
      <vt:lpstr>Context</vt:lpstr>
      <vt:lpstr>Scope</vt:lpstr>
      <vt:lpstr>Constraints</vt:lpstr>
      <vt:lpstr>Verification</vt:lpstr>
      <vt:lpstr>Planning Prompts</vt:lpstr>
      <vt:lpstr>Investigation Prompts</vt:lpstr>
      <vt:lpstr>Reporting Prompts</vt:lpstr>
      <vt:lpstr>Use a Prompt Formula</vt:lpstr>
      <vt:lpstr>Part 5: Building a Real Estate CRM using Claude Code</vt:lpstr>
      <vt:lpstr>Stage 1: Understand the Requirements</vt:lpstr>
      <vt:lpstr>Stage 2: Plan the Project</vt:lpstr>
      <vt:lpstr>Stage 3: Create the Project</vt:lpstr>
      <vt:lpstr>Stage 4: Database Design</vt:lpstr>
      <vt:lpstr>Stage 5: Build the First Feature</vt:lpstr>
      <vt:lpstr>Stage 6: QA with Claude Code</vt:lpstr>
      <vt:lpstr>Stage 7: Change Request</vt:lpstr>
      <vt:lpstr>Stage 8: Documentation</vt:lpstr>
      <vt:lpstr>Stage 9: Code Review</vt:lpstr>
      <vt:lpstr>Stage 10: Repeat for another Workflow</vt:lpstr>
      <vt:lpstr>Part 6: Project Instructions (CLAUDE.md File)</vt:lpstr>
      <vt:lpstr>CLAUDE.md File</vt:lpstr>
      <vt:lpstr>What is CLAUDE.md File?</vt:lpstr>
      <vt:lpstr>What should be there in CLAUDE.md?</vt:lpstr>
      <vt:lpstr>Good Practices</vt:lpstr>
      <vt:lpstr>Example – Developer’s CLAUDE.md</vt:lpstr>
      <vt:lpstr>Example – QA’s CLAUDE.md</vt:lpstr>
      <vt:lpstr>Example – BA’s CLAUDE.md</vt:lpstr>
      <vt:lpstr>Example – PM’s CLAUDE.md</vt:lpstr>
      <vt:lpstr>Methods for Creating CLAUDE.md </vt:lpstr>
      <vt:lpstr>Method 1 – Ask Claude Code (Use when code base is available)</vt:lpstr>
      <vt:lpstr>Method 2 – Ask ChatGPT (When only RS/BRD is available)</vt:lpstr>
      <vt:lpstr>CRM Project Exercise</vt:lpstr>
      <vt:lpstr>Part 7: Technical Foundations</vt:lpstr>
      <vt:lpstr>Basic Idea</vt:lpstr>
      <vt:lpstr>Why Needed?</vt:lpstr>
      <vt:lpstr>Sessions</vt:lpstr>
      <vt:lpstr>Sessions</vt:lpstr>
      <vt:lpstr>Example Session</vt:lpstr>
      <vt:lpstr>Context Window</vt:lpstr>
      <vt:lpstr>Good Context Practices</vt:lpstr>
      <vt:lpstr>/ Commands for Context Management</vt:lpstr>
      <vt:lpstr>Planning</vt:lpstr>
      <vt:lpstr>Planning Prompt Example</vt:lpstr>
      <vt:lpstr>Permission Modes</vt:lpstr>
      <vt:lpstr>Permission Modes</vt:lpstr>
      <vt:lpstr>Slash Commands</vt:lpstr>
      <vt:lpstr>Configuration</vt:lpstr>
      <vt:lpstr>Example Configuration</vt:lpstr>
      <vt:lpstr>Part 8: Advanced Collaboration</vt:lpstr>
      <vt:lpstr>Collaboration Need</vt:lpstr>
      <vt:lpstr>Problem 1: Repeating the Same Instructions</vt:lpstr>
      <vt:lpstr>Skill </vt:lpstr>
      <vt:lpstr>Skill Example – CRM Application </vt:lpstr>
      <vt:lpstr>Creating Skills</vt:lpstr>
      <vt:lpstr>Creating Skills – Example: Test Case Generator</vt:lpstr>
      <vt:lpstr>Running Skills – Various Methods</vt:lpstr>
      <vt:lpstr>One Skill – One Subdirectory</vt:lpstr>
      <vt:lpstr>Asking Claude Code to Create a Skill – Security Review</vt:lpstr>
      <vt:lpstr>Asking Claude Code to Create a Skill – User Stories</vt:lpstr>
      <vt:lpstr>Asking Claude Code to Create a Skill – API Documentation</vt:lpstr>
      <vt:lpstr>Reusable Skill</vt:lpstr>
      <vt:lpstr>Subagents</vt:lpstr>
      <vt:lpstr>Subagents</vt:lpstr>
      <vt:lpstr>Subagent Example</vt:lpstr>
      <vt:lpstr>Creating Subagents</vt:lpstr>
      <vt:lpstr>Skills versus Subagents</vt:lpstr>
      <vt:lpstr>Skills and Subagents Comparison</vt:lpstr>
      <vt:lpstr>Hooks – Because People Forget</vt:lpstr>
      <vt:lpstr>Hooks</vt:lpstr>
      <vt:lpstr>Creating a Hook – Notes App</vt:lpstr>
      <vt:lpstr>Creating a Hook – CRM App</vt:lpstr>
      <vt:lpstr>Ensuring the Hook Works</vt:lpstr>
      <vt:lpstr>PowerPoint Presentation</vt:lpstr>
      <vt:lpstr>Part 9: MCP</vt:lpstr>
      <vt:lpstr>PowerPoint Presentation</vt:lpstr>
      <vt:lpstr>Model Context Protocol (MCP)</vt:lpstr>
      <vt:lpstr>What Problem MCP Solves?</vt:lpstr>
      <vt:lpstr>MCP Example – SQLite </vt:lpstr>
      <vt:lpstr>MCP Example – BA – Lead Analysis</vt:lpstr>
      <vt:lpstr>MCP Example – BA – Sales Analysis</vt:lpstr>
      <vt:lpstr>MCP Example – BA – Customer Analysis</vt:lpstr>
      <vt:lpstr>MCP Example – QA</vt:lpstr>
      <vt:lpstr>MCP Example</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Kahate</dc:creator>
  <cp:lastModifiedBy>Atul Kahate</cp:lastModifiedBy>
  <cp:revision>91</cp:revision>
  <dcterms:created xsi:type="dcterms:W3CDTF">2026-07-07T11:43:15Z</dcterms:created>
  <dcterms:modified xsi:type="dcterms:W3CDTF">2026-07-24T10:11:48Z</dcterms:modified>
</cp:coreProperties>
</file>