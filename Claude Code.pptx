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01" r:id="rId3"/>
    <p:sldId id="257" r:id="rId4"/>
    <p:sldId id="289" r:id="rId5"/>
    <p:sldId id="290" r:id="rId6"/>
    <p:sldId id="291" r:id="rId7"/>
    <p:sldId id="292" r:id="rId8"/>
    <p:sldId id="451" r:id="rId9"/>
    <p:sldId id="293" r:id="rId10"/>
    <p:sldId id="294" r:id="rId11"/>
    <p:sldId id="295" r:id="rId12"/>
    <p:sldId id="296" r:id="rId13"/>
    <p:sldId id="297" r:id="rId14"/>
    <p:sldId id="452" r:id="rId15"/>
    <p:sldId id="298" r:id="rId16"/>
    <p:sldId id="299" r:id="rId17"/>
    <p:sldId id="258" r:id="rId18"/>
    <p:sldId id="300" r:id="rId19"/>
    <p:sldId id="453" r:id="rId20"/>
    <p:sldId id="351" r:id="rId21"/>
    <p:sldId id="352" r:id="rId22"/>
    <p:sldId id="353" r:id="rId23"/>
    <p:sldId id="302" r:id="rId24"/>
    <p:sldId id="303" r:id="rId25"/>
    <p:sldId id="304" r:id="rId26"/>
    <p:sldId id="305" r:id="rId27"/>
    <p:sldId id="306" r:id="rId28"/>
    <p:sldId id="307" r:id="rId29"/>
    <p:sldId id="308" r:id="rId30"/>
    <p:sldId id="309" r:id="rId31"/>
    <p:sldId id="310" r:id="rId32"/>
    <p:sldId id="311" r:id="rId33"/>
    <p:sldId id="312" r:id="rId34"/>
    <p:sldId id="313" r:id="rId35"/>
    <p:sldId id="314" r:id="rId36"/>
    <p:sldId id="315" r:id="rId37"/>
    <p:sldId id="316" r:id="rId38"/>
    <p:sldId id="317" r:id="rId39"/>
    <p:sldId id="318" r:id="rId40"/>
    <p:sldId id="319" r:id="rId41"/>
    <p:sldId id="320" r:id="rId42"/>
    <p:sldId id="321" r:id="rId43"/>
    <p:sldId id="322" r:id="rId44"/>
    <p:sldId id="323" r:id="rId45"/>
    <p:sldId id="324" r:id="rId46"/>
    <p:sldId id="325" r:id="rId47"/>
    <p:sldId id="326" r:id="rId48"/>
    <p:sldId id="327" r:id="rId49"/>
    <p:sldId id="328" r:id="rId50"/>
    <p:sldId id="329" r:id="rId51"/>
    <p:sldId id="330" r:id="rId52"/>
    <p:sldId id="331" r:id="rId53"/>
    <p:sldId id="332" r:id="rId54"/>
    <p:sldId id="333" r:id="rId55"/>
    <p:sldId id="335" r:id="rId56"/>
    <p:sldId id="334" r:id="rId57"/>
    <p:sldId id="336" r:id="rId58"/>
    <p:sldId id="337" r:id="rId59"/>
    <p:sldId id="338" r:id="rId60"/>
    <p:sldId id="339" r:id="rId61"/>
    <p:sldId id="414" r:id="rId62"/>
    <p:sldId id="415" r:id="rId63"/>
    <p:sldId id="340" r:id="rId64"/>
    <p:sldId id="341" r:id="rId65"/>
    <p:sldId id="269" r:id="rId66"/>
    <p:sldId id="270" r:id="rId67"/>
    <p:sldId id="271" r:id="rId68"/>
    <p:sldId id="470" r:id="rId69"/>
    <p:sldId id="461" r:id="rId70"/>
    <p:sldId id="462" r:id="rId71"/>
    <p:sldId id="463" r:id="rId72"/>
    <p:sldId id="464" r:id="rId73"/>
    <p:sldId id="465" r:id="rId74"/>
    <p:sldId id="466" r:id="rId75"/>
    <p:sldId id="467" r:id="rId76"/>
    <p:sldId id="468" r:id="rId77"/>
    <p:sldId id="469" r:id="rId78"/>
    <p:sldId id="347" r:id="rId79"/>
    <p:sldId id="261" r:id="rId80"/>
    <p:sldId id="416" r:id="rId81"/>
    <p:sldId id="262" r:id="rId82"/>
    <p:sldId id="263" r:id="rId83"/>
    <p:sldId id="264" r:id="rId84"/>
    <p:sldId id="417" r:id="rId85"/>
    <p:sldId id="265" r:id="rId86"/>
    <p:sldId id="266" r:id="rId87"/>
    <p:sldId id="267" r:id="rId88"/>
    <p:sldId id="418" r:id="rId89"/>
    <p:sldId id="419" r:id="rId90"/>
    <p:sldId id="420" r:id="rId91"/>
    <p:sldId id="421" r:id="rId92"/>
    <p:sldId id="422" r:id="rId93"/>
    <p:sldId id="268" r:id="rId94"/>
    <p:sldId id="272" r:id="rId95"/>
    <p:sldId id="273" r:id="rId96"/>
    <p:sldId id="348" r:id="rId97"/>
    <p:sldId id="274" r:id="rId98"/>
    <p:sldId id="275" r:id="rId99"/>
    <p:sldId id="276" r:id="rId100"/>
    <p:sldId id="277" r:id="rId101"/>
    <p:sldId id="278" r:id="rId102"/>
    <p:sldId id="423" r:id="rId103"/>
    <p:sldId id="424" r:id="rId104"/>
    <p:sldId id="425" r:id="rId105"/>
    <p:sldId id="426" r:id="rId106"/>
    <p:sldId id="427" r:id="rId107"/>
    <p:sldId id="428" r:id="rId108"/>
    <p:sldId id="279" r:id="rId109"/>
    <p:sldId id="280" r:id="rId110"/>
    <p:sldId id="281" r:id="rId111"/>
    <p:sldId id="429" r:id="rId112"/>
    <p:sldId id="430" r:id="rId113"/>
    <p:sldId id="431" r:id="rId114"/>
    <p:sldId id="432" r:id="rId115"/>
    <p:sldId id="433" r:id="rId116"/>
    <p:sldId id="434" r:id="rId117"/>
    <p:sldId id="435" r:id="rId118"/>
    <p:sldId id="436" r:id="rId119"/>
    <p:sldId id="437" r:id="rId120"/>
    <p:sldId id="438" r:id="rId121"/>
    <p:sldId id="439" r:id="rId122"/>
    <p:sldId id="440" r:id="rId123"/>
    <p:sldId id="441" r:id="rId124"/>
    <p:sldId id="282" r:id="rId125"/>
    <p:sldId id="442" r:id="rId126"/>
    <p:sldId id="443" r:id="rId127"/>
    <p:sldId id="349" r:id="rId128"/>
    <p:sldId id="283" r:id="rId129"/>
    <p:sldId id="284" r:id="rId130"/>
    <p:sldId id="285" r:id="rId131"/>
    <p:sldId id="286" r:id="rId132"/>
    <p:sldId id="412" r:id="rId133"/>
    <p:sldId id="413" r:id="rId134"/>
    <p:sldId id="444" r:id="rId135"/>
    <p:sldId id="445" r:id="rId136"/>
    <p:sldId id="446" r:id="rId137"/>
    <p:sldId id="447" r:id="rId138"/>
    <p:sldId id="350" r:id="rId139"/>
    <p:sldId id="287" r:id="rId140"/>
    <p:sldId id="288" r:id="rId141"/>
    <p:sldId id="448" r:id="rId142"/>
    <p:sldId id="449" r:id="rId143"/>
    <p:sldId id="450" r:id="rId144"/>
    <p:sldId id="342" r:id="rId145"/>
    <p:sldId id="360" r:id="rId146"/>
    <p:sldId id="343" r:id="rId147"/>
    <p:sldId id="344" r:id="rId148"/>
    <p:sldId id="345" r:id="rId149"/>
    <p:sldId id="346" r:id="rId150"/>
    <p:sldId id="259" r:id="rId151"/>
    <p:sldId id="260" r:id="rId152"/>
    <p:sldId id="355" r:id="rId153"/>
    <p:sldId id="356" r:id="rId154"/>
    <p:sldId id="357" r:id="rId155"/>
    <p:sldId id="358" r:id="rId156"/>
    <p:sldId id="359" r:id="rId157"/>
    <p:sldId id="361" r:id="rId158"/>
    <p:sldId id="381" r:id="rId159"/>
    <p:sldId id="382" r:id="rId160"/>
    <p:sldId id="383" r:id="rId161"/>
    <p:sldId id="384" r:id="rId162"/>
    <p:sldId id="385" r:id="rId163"/>
    <p:sldId id="386" r:id="rId164"/>
    <p:sldId id="387" r:id="rId165"/>
    <p:sldId id="388" r:id="rId166"/>
    <p:sldId id="389" r:id="rId167"/>
    <p:sldId id="390" r:id="rId168"/>
    <p:sldId id="391" r:id="rId169"/>
    <p:sldId id="392" r:id="rId170"/>
    <p:sldId id="393" r:id="rId171"/>
    <p:sldId id="394" r:id="rId172"/>
    <p:sldId id="395" r:id="rId173"/>
    <p:sldId id="396" r:id="rId174"/>
    <p:sldId id="397" r:id="rId175"/>
    <p:sldId id="398" r:id="rId176"/>
    <p:sldId id="399" r:id="rId177"/>
    <p:sldId id="362" r:id="rId178"/>
    <p:sldId id="363" r:id="rId179"/>
    <p:sldId id="364" r:id="rId180"/>
    <p:sldId id="365" r:id="rId181"/>
    <p:sldId id="366" r:id="rId182"/>
    <p:sldId id="367" r:id="rId183"/>
    <p:sldId id="368" r:id="rId184"/>
    <p:sldId id="369" r:id="rId185"/>
    <p:sldId id="370" r:id="rId186"/>
    <p:sldId id="371" r:id="rId187"/>
    <p:sldId id="372" r:id="rId188"/>
    <p:sldId id="373" r:id="rId189"/>
    <p:sldId id="374" r:id="rId190"/>
    <p:sldId id="375" r:id="rId191"/>
    <p:sldId id="376" r:id="rId192"/>
    <p:sldId id="377" r:id="rId193"/>
    <p:sldId id="378" r:id="rId194"/>
    <p:sldId id="379" r:id="rId195"/>
    <p:sldId id="380" r:id="rId196"/>
    <p:sldId id="400" r:id="rId197"/>
    <p:sldId id="401" r:id="rId198"/>
    <p:sldId id="402" r:id="rId199"/>
    <p:sldId id="403" r:id="rId200"/>
    <p:sldId id="404" r:id="rId201"/>
    <p:sldId id="405" r:id="rId202"/>
    <p:sldId id="406" r:id="rId203"/>
    <p:sldId id="407" r:id="rId204"/>
    <p:sldId id="408" r:id="rId205"/>
    <p:sldId id="409" r:id="rId206"/>
    <p:sldId id="410" r:id="rId207"/>
    <p:sldId id="411" r:id="rId208"/>
    <p:sldId id="454" r:id="rId209"/>
    <p:sldId id="455" r:id="rId210"/>
    <p:sldId id="456" r:id="rId211"/>
    <p:sldId id="457" r:id="rId212"/>
    <p:sldId id="459" r:id="rId213"/>
    <p:sldId id="460"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00" autoAdjust="0"/>
    <p:restoredTop sz="94660"/>
  </p:normalViewPr>
  <p:slideViewPr>
    <p:cSldViewPr snapToGrid="0">
      <p:cViewPr varScale="1">
        <p:scale>
          <a:sx n="91" d="100"/>
          <a:sy n="91" d="100"/>
        </p:scale>
        <p:origin x="808" y="44"/>
      </p:cViewPr>
      <p:guideLst/>
    </p:cSldViewPr>
  </p:slideViewPr>
  <p:notesTextViewPr>
    <p:cViewPr>
      <p:scale>
        <a:sx n="1" d="1"/>
        <a:sy n="1" d="1"/>
      </p:scale>
      <p:origin x="0" y="0"/>
    </p:cViewPr>
  </p:notesTextViewPr>
  <p:sorterViewPr>
    <p:cViewPr varScale="1">
      <p:scale>
        <a:sx n="100" d="100"/>
        <a:sy n="100" d="100"/>
      </p:scale>
      <p:origin x="0" y="-3203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theme" Target="theme/theme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presProps" Target="presProps.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38731-A90A-1364-CA69-512D46149B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F6E2163F-242E-11F6-1556-3A645A39F0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8B47DECB-5770-8D4A-F7A7-1AAE228E3441}"/>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5" name="Footer Placeholder 4">
            <a:extLst>
              <a:ext uri="{FF2B5EF4-FFF2-40B4-BE49-F238E27FC236}">
                <a16:creationId xmlns:a16="http://schemas.microsoft.com/office/drawing/2014/main" id="{B2947E91-C6B1-3BC6-6547-77744C82ABE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ECD4077-9B9B-E839-4C90-6DCA8924905D}"/>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929742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33EDC2-85DC-A723-2CE7-C0B33AAEF12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BC6D81E-F0A6-BDCE-B21E-7897FA5432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7AFD678-9C92-1B62-209E-A8AF83E11891}"/>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5" name="Footer Placeholder 4">
            <a:extLst>
              <a:ext uri="{FF2B5EF4-FFF2-40B4-BE49-F238E27FC236}">
                <a16:creationId xmlns:a16="http://schemas.microsoft.com/office/drawing/2014/main" id="{6DBA3C85-B0B2-A32B-3A14-973C6BF98B0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E9A7C7C-92D2-3ADE-4FC1-8E5DD1E8BA68}"/>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23747360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5DCCD-F4A6-5DAC-F827-E5AF12EF91F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94813D4-1411-EE4B-1E7F-410CBF2D69A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F02A991-7E92-B074-EBF8-B0F38F635D51}"/>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5" name="Footer Placeholder 4">
            <a:extLst>
              <a:ext uri="{FF2B5EF4-FFF2-40B4-BE49-F238E27FC236}">
                <a16:creationId xmlns:a16="http://schemas.microsoft.com/office/drawing/2014/main" id="{52C95BAC-DE4D-A32F-254D-A1842199B1F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E293634-09AE-2089-09DC-A1C94513E8CD}"/>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4365406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71172B-61C0-AF56-69F8-E13FF7765F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8624AC-2F90-3913-A39D-18744C64A8A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61E65AA-01AA-F3E0-CC2C-395BF60AE8E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EF8E616-0B99-2D38-4E21-B844802E4658}"/>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6" name="Footer Placeholder 5">
            <a:extLst>
              <a:ext uri="{FF2B5EF4-FFF2-40B4-BE49-F238E27FC236}">
                <a16:creationId xmlns:a16="http://schemas.microsoft.com/office/drawing/2014/main" id="{5A6CCFB3-1F11-E82E-9B4E-2EB7794E532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9E20D10-BA12-7CEC-325A-C25CB6B2E298}"/>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1633599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61380C-0183-C1E0-9070-97CCEE5ABA19}"/>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AC9A903-F7A6-846F-7BFB-FB7A437404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36F7151-35F5-DD87-4F12-6028E6A6CA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F584B518-BDA0-FF80-9489-F054A3B5439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439DAA-0BAE-B510-F179-5D6154F312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501588-53E6-854A-3143-B7669C092DBE}"/>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8" name="Footer Placeholder 7">
            <a:extLst>
              <a:ext uri="{FF2B5EF4-FFF2-40B4-BE49-F238E27FC236}">
                <a16:creationId xmlns:a16="http://schemas.microsoft.com/office/drawing/2014/main" id="{327B415A-3B2F-EC58-47F8-7F5A213EE45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7BAAA833-0A96-1F83-CA6C-3F5B6E48F28A}"/>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2259283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C82EC-7445-D21B-6AFC-74D122B42B3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1C503CA5-8525-7EAF-0C7E-67EC1AFBD6CB}"/>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4" name="Footer Placeholder 3">
            <a:extLst>
              <a:ext uri="{FF2B5EF4-FFF2-40B4-BE49-F238E27FC236}">
                <a16:creationId xmlns:a16="http://schemas.microsoft.com/office/drawing/2014/main" id="{B5EE4C72-43F7-8660-D4B4-A72CC616A9E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D63FFE0-2995-EF3B-AF64-78A4A461AB41}"/>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33787853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B9673FB-5AEB-B2AA-3943-88EB51F8CDB1}"/>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3" name="Footer Placeholder 2">
            <a:extLst>
              <a:ext uri="{FF2B5EF4-FFF2-40B4-BE49-F238E27FC236}">
                <a16:creationId xmlns:a16="http://schemas.microsoft.com/office/drawing/2014/main" id="{BCCEC795-C400-F334-124E-400775B8395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5B93F1FE-F09E-05AE-5779-5EB5DFB45AFB}"/>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36543497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7926C4-E56B-F546-0CC6-217EF4E197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A50D5AF-5FF1-EE20-A42E-AA5464D45D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2F3D637-DB18-445B-0DC3-D9817F83A9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7DE0E8-9C54-1CCD-7488-CBF52516C306}"/>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6" name="Footer Placeholder 5">
            <a:extLst>
              <a:ext uri="{FF2B5EF4-FFF2-40B4-BE49-F238E27FC236}">
                <a16:creationId xmlns:a16="http://schemas.microsoft.com/office/drawing/2014/main" id="{8FC62237-8AC1-CEAE-AFEB-7401965A5F4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8DF59D0-58DF-14E3-0DEC-DFCB0CD1A3A6}"/>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38546986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7D0E8F-DB2C-0A42-BA37-B60AE6B9E58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8B77B2F-6932-8795-A4F2-4F3EDE2AF3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CA7E2CF-FB43-8B28-7F22-C592F743F2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36F55E-C446-CED2-0185-27079C2B8287}"/>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6" name="Footer Placeholder 5">
            <a:extLst>
              <a:ext uri="{FF2B5EF4-FFF2-40B4-BE49-F238E27FC236}">
                <a16:creationId xmlns:a16="http://schemas.microsoft.com/office/drawing/2014/main" id="{02405C41-F482-B156-1FF0-219F15554BB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C21961B-4BF9-B97B-0A75-B57996B3FC65}"/>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2696918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402A4-58AA-5C4B-B0E4-011C82D9F834}"/>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41BFEBA-D59F-3BE8-61CF-BB01EF9A574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E9783C2-F1FB-9DBB-5A4D-E0ECF9983883}"/>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5" name="Footer Placeholder 4">
            <a:extLst>
              <a:ext uri="{FF2B5EF4-FFF2-40B4-BE49-F238E27FC236}">
                <a16:creationId xmlns:a16="http://schemas.microsoft.com/office/drawing/2014/main" id="{3EA68558-FECD-478A-9204-CB96EBDE86B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550F54D-BFC8-3DA3-3BD5-D438B524FC6C}"/>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3419196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20DA87-488D-16FA-64F4-D9E4C4EF4EB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4F403AB-AC3C-C783-BD59-3710B0B9E9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BE4737-922D-CF4C-4208-5C4A46F9ECB4}"/>
              </a:ext>
            </a:extLst>
          </p:cNvPr>
          <p:cNvSpPr>
            <a:spLocks noGrp="1"/>
          </p:cNvSpPr>
          <p:nvPr>
            <p:ph type="dt" sz="half" idx="10"/>
          </p:nvPr>
        </p:nvSpPr>
        <p:spPr/>
        <p:txBody>
          <a:bodyPr/>
          <a:lstStyle/>
          <a:p>
            <a:fld id="{1ADA95EA-A3CB-4ADD-8CF1-507BDE9185DD}" type="datetimeFigureOut">
              <a:rPr lang="en-GB" smtClean="0"/>
              <a:t>17/07/2026</a:t>
            </a:fld>
            <a:endParaRPr lang="en-GB"/>
          </a:p>
        </p:txBody>
      </p:sp>
      <p:sp>
        <p:nvSpPr>
          <p:cNvPr id="5" name="Footer Placeholder 4">
            <a:extLst>
              <a:ext uri="{FF2B5EF4-FFF2-40B4-BE49-F238E27FC236}">
                <a16:creationId xmlns:a16="http://schemas.microsoft.com/office/drawing/2014/main" id="{CCFECFB1-2EE2-40E4-564B-F15FD72466D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269AB4C-C57B-D471-760E-C6DEF2E81CBE}"/>
              </a:ext>
            </a:extLst>
          </p:cNvPr>
          <p:cNvSpPr>
            <a:spLocks noGrp="1"/>
          </p:cNvSpPr>
          <p:nvPr>
            <p:ph type="sldNum" sz="quarter" idx="12"/>
          </p:nvPr>
        </p:nvSpPr>
        <p:spPr/>
        <p:txBody>
          <a:bodyPr/>
          <a:lstStyle/>
          <a:p>
            <a:fld id="{B0242E8F-57A2-421F-8AF2-F5F1077C4C0F}" type="slidenum">
              <a:rPr lang="en-GB" smtClean="0"/>
              <a:t>‹#›</a:t>
            </a:fld>
            <a:endParaRPr lang="en-GB"/>
          </a:p>
        </p:txBody>
      </p:sp>
    </p:spTree>
    <p:extLst>
      <p:ext uri="{BB962C8B-B14F-4D97-AF65-F5344CB8AC3E}">
        <p14:creationId xmlns:p14="http://schemas.microsoft.com/office/powerpoint/2010/main" val="22059316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FEFE82-7BF8-AF55-90F9-79D1EF27F2B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7C101D3-EA05-F1FD-5426-187144F188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8F58D2D-52A3-9AC1-9712-B618231C334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ADA95EA-A3CB-4ADD-8CF1-507BDE9185DD}" type="datetimeFigureOut">
              <a:rPr lang="en-GB" smtClean="0"/>
              <a:t>17/07/2026</a:t>
            </a:fld>
            <a:endParaRPr lang="en-GB"/>
          </a:p>
        </p:txBody>
      </p:sp>
      <p:sp>
        <p:nvSpPr>
          <p:cNvPr id="5" name="Footer Placeholder 4">
            <a:extLst>
              <a:ext uri="{FF2B5EF4-FFF2-40B4-BE49-F238E27FC236}">
                <a16:creationId xmlns:a16="http://schemas.microsoft.com/office/drawing/2014/main" id="{5BCD57C2-ADDA-D9ED-7029-8C4BCF26F9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76CDD86-0C3A-4EB3-94D1-D3437ED177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0242E8F-57A2-421F-8AF2-F5F1077C4C0F}" type="slidenum">
              <a:rPr lang="en-GB" smtClean="0"/>
              <a:t>‹#›</a:t>
            </a:fld>
            <a:endParaRPr lang="en-GB"/>
          </a:p>
        </p:txBody>
      </p:sp>
    </p:spTree>
    <p:extLst>
      <p:ext uri="{BB962C8B-B14F-4D97-AF65-F5344CB8AC3E}">
        <p14:creationId xmlns:p14="http://schemas.microsoft.com/office/powerpoint/2010/main" val="4151660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hyperlink" Target="https://github.com/atulkahatecdac/login_bug.git" TargetMode="Externa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hyperlink" Target="https://github.com/shopizer-ecommerce/shopizer.git" TargetMode="Externa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hyperlink" Target="https://www.kaggle.com/datasets/yeanzc/telco-customer-churn-ibm-dataset" TargetMode="Externa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3DC7D-703D-5BE3-ABA2-28B896B8A8D2}"/>
              </a:ext>
            </a:extLst>
          </p:cNvPr>
          <p:cNvSpPr>
            <a:spLocks noGrp="1"/>
          </p:cNvSpPr>
          <p:nvPr>
            <p:ph type="ctrTitle"/>
          </p:nvPr>
        </p:nvSpPr>
        <p:spPr/>
        <p:txBody>
          <a:bodyPr/>
          <a:lstStyle/>
          <a:p>
            <a:r>
              <a:rPr lang="en-IN" noProof="0" dirty="0"/>
              <a:t>Claude Code</a:t>
            </a:r>
          </a:p>
        </p:txBody>
      </p:sp>
      <p:sp>
        <p:nvSpPr>
          <p:cNvPr id="3" name="Subtitle 2">
            <a:extLst>
              <a:ext uri="{FF2B5EF4-FFF2-40B4-BE49-F238E27FC236}">
                <a16:creationId xmlns:a16="http://schemas.microsoft.com/office/drawing/2014/main" id="{98B4A7A7-E5D4-12B1-308D-3144F9BAC35E}"/>
              </a:ext>
            </a:extLst>
          </p:cNvPr>
          <p:cNvSpPr>
            <a:spLocks noGrp="1"/>
          </p:cNvSpPr>
          <p:nvPr>
            <p:ph type="subTitle" idx="1"/>
          </p:nvPr>
        </p:nvSpPr>
        <p:spPr/>
        <p:txBody>
          <a:bodyPr/>
          <a:lstStyle/>
          <a:p>
            <a:r>
              <a:rPr lang="en-IN" noProof="0" dirty="0"/>
              <a:t>Atul Kahate</a:t>
            </a:r>
          </a:p>
        </p:txBody>
      </p:sp>
    </p:spTree>
    <p:extLst>
      <p:ext uri="{BB962C8B-B14F-4D97-AF65-F5344CB8AC3E}">
        <p14:creationId xmlns:p14="http://schemas.microsoft.com/office/powerpoint/2010/main" val="22028250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3B75C4F-1699-737B-8D04-98C5F38C4473}"/>
              </a:ext>
            </a:extLst>
          </p:cNvPr>
          <p:cNvSpPr>
            <a:spLocks noGrp="1"/>
          </p:cNvSpPr>
          <p:nvPr>
            <p:ph type="title"/>
          </p:nvPr>
        </p:nvSpPr>
        <p:spPr/>
        <p:txBody>
          <a:bodyPr/>
          <a:lstStyle/>
          <a:p>
            <a:r>
              <a:rPr lang="en-IN" dirty="0"/>
              <a:t>Section 1: What is Claude Code?</a:t>
            </a:r>
            <a:endParaRPr lang="en-GB" dirty="0"/>
          </a:p>
        </p:txBody>
      </p:sp>
      <p:sp>
        <p:nvSpPr>
          <p:cNvPr id="5" name="Text Placeholder 4">
            <a:extLst>
              <a:ext uri="{FF2B5EF4-FFF2-40B4-BE49-F238E27FC236}">
                <a16:creationId xmlns:a16="http://schemas.microsoft.com/office/drawing/2014/main" id="{7FB53F70-D94F-9489-5EDA-2D82CF95525A}"/>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21435926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A3BC12-B0DE-B666-3481-FA9DE8E3ACD4}"/>
              </a:ext>
            </a:extLst>
          </p:cNvPr>
          <p:cNvSpPr>
            <a:spLocks noGrp="1"/>
          </p:cNvSpPr>
          <p:nvPr>
            <p:ph type="title"/>
          </p:nvPr>
        </p:nvSpPr>
        <p:spPr/>
        <p:txBody>
          <a:bodyPr/>
          <a:lstStyle/>
          <a:p>
            <a:r>
              <a:rPr lang="en-IN" noProof="0" dirty="0"/>
              <a:t>What is Claude Code</a:t>
            </a:r>
          </a:p>
        </p:txBody>
      </p:sp>
      <p:sp>
        <p:nvSpPr>
          <p:cNvPr id="3" name="Content Placeholder 2">
            <a:extLst>
              <a:ext uri="{FF2B5EF4-FFF2-40B4-BE49-F238E27FC236}">
                <a16:creationId xmlns:a16="http://schemas.microsoft.com/office/drawing/2014/main" id="{31CCBF9B-04EF-EA05-0283-458A4D0D6DAB}"/>
              </a:ext>
            </a:extLst>
          </p:cNvPr>
          <p:cNvSpPr>
            <a:spLocks noGrp="1"/>
          </p:cNvSpPr>
          <p:nvPr>
            <p:ph idx="1"/>
          </p:nvPr>
        </p:nvSpPr>
        <p:spPr/>
        <p:txBody>
          <a:bodyPr/>
          <a:lstStyle/>
          <a:p>
            <a:r>
              <a:rPr lang="en-IN" noProof="0" dirty="0"/>
              <a:t>Agentic coding tool – Not autocomplete tool or “Give me this code” tool</a:t>
            </a:r>
          </a:p>
          <a:p>
            <a:r>
              <a:rPr lang="en-IN" noProof="0" dirty="0"/>
              <a:t>We can give it a goal and it works around it – Reads files, Runs commands, Edits code, Runs tests, Observers what happens, Decides what to do next – Till the goal is accomplished</a:t>
            </a:r>
          </a:p>
          <a:p>
            <a:r>
              <a:rPr lang="en-IN" noProof="0" dirty="0"/>
              <a:t>Understands our whole project, not just a code snippet</a:t>
            </a:r>
          </a:p>
          <a:p>
            <a:r>
              <a:rPr lang="en-IN" noProof="0" dirty="0"/>
              <a:t>Example: If we tell “fix authentication bug”, it will scan the entire project for relevant files and does whatever is necessary</a:t>
            </a:r>
          </a:p>
          <a:p>
            <a:endParaRPr lang="en-IN" noProof="0" dirty="0"/>
          </a:p>
        </p:txBody>
      </p:sp>
    </p:spTree>
    <p:extLst>
      <p:ext uri="{BB962C8B-B14F-4D97-AF65-F5344CB8AC3E}">
        <p14:creationId xmlns:p14="http://schemas.microsoft.com/office/powerpoint/2010/main" val="9852450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79B9E-169F-68CD-513E-FD8DBB09B070}"/>
              </a:ext>
            </a:extLst>
          </p:cNvPr>
          <p:cNvSpPr>
            <a:spLocks noGrp="1"/>
          </p:cNvSpPr>
          <p:nvPr>
            <p:ph type="title"/>
          </p:nvPr>
        </p:nvSpPr>
        <p:spPr/>
        <p:txBody>
          <a:bodyPr/>
          <a:lstStyle/>
          <a:p>
            <a:r>
              <a:rPr lang="en-IN" dirty="0"/>
              <a:t>What is Claude Code? – Objectives</a:t>
            </a:r>
            <a:endParaRPr lang="en-GB" dirty="0"/>
          </a:p>
        </p:txBody>
      </p:sp>
      <p:graphicFrame>
        <p:nvGraphicFramePr>
          <p:cNvPr id="4" name="Content Placeholder 3">
            <a:extLst>
              <a:ext uri="{FF2B5EF4-FFF2-40B4-BE49-F238E27FC236}">
                <a16:creationId xmlns:a16="http://schemas.microsoft.com/office/drawing/2014/main" id="{0DC00019-8D1E-99DC-08AE-996F27D34FB3}"/>
              </a:ext>
            </a:extLst>
          </p:cNvPr>
          <p:cNvGraphicFramePr>
            <a:graphicFrameLocks noGrp="1"/>
          </p:cNvGraphicFramePr>
          <p:nvPr>
            <p:ph idx="1"/>
            <p:extLst>
              <p:ext uri="{D42A27DB-BD31-4B8C-83A1-F6EECF244321}">
                <p14:modId xmlns:p14="http://schemas.microsoft.com/office/powerpoint/2010/main" val="1798778482"/>
              </p:ext>
            </p:extLst>
          </p:nvPr>
        </p:nvGraphicFramePr>
        <p:xfrm>
          <a:off x="1375209" y="1825625"/>
          <a:ext cx="9441582" cy="4771600"/>
        </p:xfrm>
        <a:graphic>
          <a:graphicData uri="http://schemas.openxmlformats.org/drawingml/2006/table">
            <a:tbl>
              <a:tblPr firstRow="1">
                <a:tableStyleId>{9DCAF9ED-07DC-4A11-8D7F-57B35C25682E}</a:tableStyleId>
              </a:tblPr>
              <a:tblGrid>
                <a:gridCol w="3503918">
                  <a:extLst>
                    <a:ext uri="{9D8B030D-6E8A-4147-A177-3AD203B41FA5}">
                      <a16:colId xmlns:a16="http://schemas.microsoft.com/office/drawing/2014/main" val="2673065592"/>
                    </a:ext>
                  </a:extLst>
                </a:gridCol>
                <a:gridCol w="5937664">
                  <a:extLst>
                    <a:ext uri="{9D8B030D-6E8A-4147-A177-3AD203B41FA5}">
                      <a16:colId xmlns:a16="http://schemas.microsoft.com/office/drawing/2014/main" val="2127991406"/>
                    </a:ext>
                  </a:extLst>
                </a:gridCol>
              </a:tblGrid>
              <a:tr h="328403">
                <a:tc>
                  <a:txBody>
                    <a:bodyPr/>
                    <a:lstStyle/>
                    <a:p>
                      <a:pPr>
                        <a:buNone/>
                      </a:pPr>
                      <a:r>
                        <a:rPr lang="en-GB" sz="1800" b="1"/>
                        <a:t>Learning Objective</a:t>
                      </a:r>
                      <a:endParaRPr lang="en-GB" sz="18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b="1"/>
                        <a:t>Description</a:t>
                      </a:r>
                      <a:endParaRPr lang="en-GB" sz="18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8256024"/>
                  </a:ext>
                </a:extLst>
              </a:tr>
              <a:tr h="574705">
                <a:tc>
                  <a:txBody>
                    <a:bodyPr/>
                    <a:lstStyle/>
                    <a:p>
                      <a:pPr>
                        <a:buNone/>
                      </a:pPr>
                      <a:r>
                        <a:rPr lang="en-GB" sz="1800" dirty="0"/>
                        <a:t>Understand Claude Code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Explain what Claude Code is and why it matters for software development.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40229490"/>
                  </a:ext>
                </a:extLst>
              </a:tr>
              <a:tr h="574705">
                <a:tc>
                  <a:txBody>
                    <a:bodyPr/>
                    <a:lstStyle/>
                    <a:p>
                      <a:pPr>
                        <a:buNone/>
                      </a:pPr>
                      <a:r>
                        <a:rPr lang="en-GB" sz="1800"/>
                        <a:t>Compare Claude AI and Claude Code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Describe the difference between chatting with Claude and using Claude Code in a project.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96833805"/>
                  </a:ext>
                </a:extLst>
              </a:tr>
              <a:tr h="574705">
                <a:tc>
                  <a:txBody>
                    <a:bodyPr/>
                    <a:lstStyle/>
                    <a:p>
                      <a:pPr>
                        <a:buNone/>
                      </a:pPr>
                      <a:r>
                        <a:rPr lang="en-GB" sz="1800"/>
                        <a:t>Understand agentic coding</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Explain what makes Claude Code more than a normal code suggestion tool.</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40679121"/>
                  </a:ext>
                </a:extLst>
              </a:tr>
              <a:tr h="574705">
                <a:tc>
                  <a:txBody>
                    <a:bodyPr/>
                    <a:lstStyle/>
                    <a:p>
                      <a:pPr>
                        <a:buNone/>
                      </a:pPr>
                      <a:r>
                        <a:rPr lang="en-GB" sz="1800"/>
                        <a:t>Understand project awareness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Describe how Claude Code can inspect, understand, and edit project files.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14270974"/>
                  </a:ext>
                </a:extLst>
              </a:tr>
              <a:tr h="574705">
                <a:tc>
                  <a:txBody>
                    <a:bodyPr/>
                    <a:lstStyle/>
                    <a:p>
                      <a:pPr>
                        <a:buNone/>
                      </a:pPr>
                      <a:r>
                        <a:rPr lang="en-GB" sz="1800"/>
                        <a:t>Identify beginner use cases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List practical ways beginners can use Claude Code to learn and build.</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32334023"/>
                  </a:ext>
                </a:extLst>
              </a:tr>
              <a:tr h="574705">
                <a:tc>
                  <a:txBody>
                    <a:bodyPr/>
                    <a:lstStyle/>
                    <a:p>
                      <a:pPr>
                        <a:buNone/>
                      </a:pPr>
                      <a:r>
                        <a:rPr lang="en-GB" sz="1800"/>
                        <a:t>Recognize limitations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Explain what Claude Code cannot safely or reliably do without human review.</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72608846"/>
                  </a:ext>
                </a:extLst>
              </a:tr>
              <a:tr h="574705">
                <a:tc>
                  <a:txBody>
                    <a:bodyPr/>
                    <a:lstStyle/>
                    <a:p>
                      <a:pPr>
                        <a:buNone/>
                      </a:pPr>
                      <a:r>
                        <a:rPr lang="en-GB" sz="1800"/>
                        <a:t>Start safely</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dirty="0"/>
                        <a:t>Prepare for a first simple Claude Code conversation inside a project.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1090503"/>
                  </a:ext>
                </a:extLst>
              </a:tr>
            </a:tbl>
          </a:graphicData>
        </a:graphic>
      </p:graphicFrame>
    </p:spTree>
    <p:extLst>
      <p:ext uri="{BB962C8B-B14F-4D97-AF65-F5344CB8AC3E}">
        <p14:creationId xmlns:p14="http://schemas.microsoft.com/office/powerpoint/2010/main" val="27374700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677FB-0297-5F82-0D95-5632C1B1E874}"/>
              </a:ext>
            </a:extLst>
          </p:cNvPr>
          <p:cNvSpPr>
            <a:spLocks noGrp="1"/>
          </p:cNvSpPr>
          <p:nvPr>
            <p:ph type="title"/>
          </p:nvPr>
        </p:nvSpPr>
        <p:spPr/>
        <p:txBody>
          <a:bodyPr/>
          <a:lstStyle/>
          <a:p>
            <a:r>
              <a:rPr lang="en-IN" dirty="0"/>
              <a:t>Understand Claude Code</a:t>
            </a:r>
            <a:endParaRPr lang="en-GB" dirty="0"/>
          </a:p>
        </p:txBody>
      </p:sp>
      <p:sp>
        <p:nvSpPr>
          <p:cNvPr id="3" name="Content Placeholder 2">
            <a:extLst>
              <a:ext uri="{FF2B5EF4-FFF2-40B4-BE49-F238E27FC236}">
                <a16:creationId xmlns:a16="http://schemas.microsoft.com/office/drawing/2014/main" id="{17D376F0-4880-0AB6-9774-751AA1452ABE}"/>
              </a:ext>
            </a:extLst>
          </p:cNvPr>
          <p:cNvSpPr>
            <a:spLocks noGrp="1"/>
          </p:cNvSpPr>
          <p:nvPr>
            <p:ph idx="1"/>
          </p:nvPr>
        </p:nvSpPr>
        <p:spPr/>
        <p:txBody>
          <a:bodyPr>
            <a:normAutofit fontScale="92500" lnSpcReduction="20000"/>
          </a:bodyPr>
          <a:lstStyle/>
          <a:p>
            <a:r>
              <a:rPr lang="en-US" dirty="0"/>
              <a:t>An AI coding assistant designed to help with software development tasks</a:t>
            </a:r>
          </a:p>
          <a:p>
            <a:r>
              <a:rPr lang="en-US" dirty="0"/>
              <a:t>Allows a developer to work with Claude in a coding environment instead of only asking questions in a normal chat window</a:t>
            </a:r>
          </a:p>
          <a:p>
            <a:r>
              <a:rPr lang="en-US" dirty="0"/>
              <a:t>Result: Claude Code can help with real project work, such as reading files, understanding project structure, suggesting changes, editing code, explaining errors, writing tests, and helping organize development tasks</a:t>
            </a:r>
          </a:p>
          <a:p>
            <a:r>
              <a:rPr lang="en-US" dirty="0"/>
              <a:t>Think of it as an AI pair programmer</a:t>
            </a:r>
          </a:p>
          <a:p>
            <a:r>
              <a:rPr lang="en-US" dirty="0"/>
              <a:t>A human pair programmer sits with you while you code - They can look at your files, discuss the problem, suggest improvements, help you debug, and review your work</a:t>
            </a:r>
          </a:p>
          <a:p>
            <a:r>
              <a:rPr lang="en-US" dirty="0"/>
              <a:t>Claude Code plays a similar role, but as an AI assistant</a:t>
            </a:r>
          </a:p>
          <a:p>
            <a:r>
              <a:rPr lang="en-US" dirty="0"/>
              <a:t>Connects learning with doing</a:t>
            </a:r>
            <a:endParaRPr lang="en-GB" dirty="0"/>
          </a:p>
        </p:txBody>
      </p:sp>
    </p:spTree>
    <p:extLst>
      <p:ext uri="{BB962C8B-B14F-4D97-AF65-F5344CB8AC3E}">
        <p14:creationId xmlns:p14="http://schemas.microsoft.com/office/powerpoint/2010/main" val="1041174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9F9C9-D87E-4E5E-9129-3DBB6DF77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133C90-8FA9-624C-E93D-68C3927E9C8E}"/>
              </a:ext>
            </a:extLst>
          </p:cNvPr>
          <p:cNvSpPr>
            <a:spLocks noGrp="1"/>
          </p:cNvSpPr>
          <p:nvPr>
            <p:ph type="title"/>
          </p:nvPr>
        </p:nvSpPr>
        <p:spPr/>
        <p:txBody>
          <a:bodyPr/>
          <a:lstStyle/>
          <a:p>
            <a:r>
              <a:rPr lang="en-IN" dirty="0"/>
              <a:t>Understand Claude Code</a:t>
            </a:r>
            <a:endParaRPr lang="en-GB" dirty="0"/>
          </a:p>
        </p:txBody>
      </p:sp>
      <p:sp>
        <p:nvSpPr>
          <p:cNvPr id="3" name="Content Placeholder 2">
            <a:extLst>
              <a:ext uri="{FF2B5EF4-FFF2-40B4-BE49-F238E27FC236}">
                <a16:creationId xmlns:a16="http://schemas.microsoft.com/office/drawing/2014/main" id="{B7367709-2324-1A6E-559F-168294C9D020}"/>
              </a:ext>
            </a:extLst>
          </p:cNvPr>
          <p:cNvSpPr>
            <a:spLocks noGrp="1"/>
          </p:cNvSpPr>
          <p:nvPr>
            <p:ph idx="1"/>
          </p:nvPr>
        </p:nvSpPr>
        <p:spPr/>
        <p:txBody>
          <a:bodyPr>
            <a:normAutofit/>
          </a:bodyPr>
          <a:lstStyle/>
          <a:p>
            <a:r>
              <a:rPr lang="en-IN" dirty="0"/>
              <a:t>Instead of learning programming by reading, we can build small projects and ask Claude Code to explain what we do not understand</a:t>
            </a:r>
          </a:p>
          <a:p>
            <a:pPr lvl="1"/>
            <a:r>
              <a:rPr lang="en-US" dirty="0"/>
              <a:t>Explain this project folder to me like I am new to coding. Tell me what each file does and which file I should open first. </a:t>
            </a:r>
          </a:p>
          <a:p>
            <a:pPr lvl="1"/>
            <a:r>
              <a:rPr lang="en-US" dirty="0"/>
              <a:t>I am trying to build a simple task manager app. Please inspect the project and suggest the smallest next step. Do not edit files yet. First explain your plan.</a:t>
            </a:r>
          </a:p>
          <a:p>
            <a:endParaRPr lang="en-GB" dirty="0"/>
          </a:p>
        </p:txBody>
      </p:sp>
      <p:graphicFrame>
        <p:nvGraphicFramePr>
          <p:cNvPr id="4" name="Table 3">
            <a:extLst>
              <a:ext uri="{FF2B5EF4-FFF2-40B4-BE49-F238E27FC236}">
                <a16:creationId xmlns:a16="http://schemas.microsoft.com/office/drawing/2014/main" id="{4E3B79AA-B4A5-B30E-D6D2-2C3C94ED6E3C}"/>
              </a:ext>
            </a:extLst>
          </p:cNvPr>
          <p:cNvGraphicFramePr>
            <a:graphicFrameLocks noGrp="1"/>
          </p:cNvGraphicFramePr>
          <p:nvPr>
            <p:extLst>
              <p:ext uri="{D42A27DB-BD31-4B8C-83A1-F6EECF244321}">
                <p14:modId xmlns:p14="http://schemas.microsoft.com/office/powerpoint/2010/main" val="58678194"/>
              </p:ext>
            </p:extLst>
          </p:nvPr>
        </p:nvGraphicFramePr>
        <p:xfrm>
          <a:off x="894042" y="4547840"/>
          <a:ext cx="10515600" cy="213360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2306424895"/>
                    </a:ext>
                  </a:extLst>
                </a:gridCol>
                <a:gridCol w="5257800">
                  <a:extLst>
                    <a:ext uri="{9D8B030D-6E8A-4147-A177-3AD203B41FA5}">
                      <a16:colId xmlns:a16="http://schemas.microsoft.com/office/drawing/2014/main" val="556450087"/>
                    </a:ext>
                  </a:extLst>
                </a:gridCol>
              </a:tblGrid>
              <a:tr h="0">
                <a:tc>
                  <a:txBody>
                    <a:bodyPr/>
                    <a:lstStyle/>
                    <a:p>
                      <a:pPr>
                        <a:buNone/>
                      </a:pPr>
                      <a:r>
                        <a:rPr lang="en-GB" sz="1400" b="1"/>
                        <a:t>Beginner Problem</a:t>
                      </a:r>
                      <a:endParaRPr lang="en-GB"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400" b="1"/>
                        <a:t>How Claude Code Helps</a:t>
                      </a:r>
                      <a:endParaRPr lang="en-GB" sz="14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92976341"/>
                  </a:ext>
                </a:extLst>
              </a:tr>
              <a:tr h="0">
                <a:tc>
                  <a:txBody>
                    <a:bodyPr/>
                    <a:lstStyle/>
                    <a:p>
                      <a:pPr>
                        <a:buNone/>
                      </a:pPr>
                      <a:r>
                        <a:rPr lang="en-GB" sz="1400"/>
                        <a:t>I do not understand this folder.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400"/>
                        <a:t>Claude Code can explain the project structure.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47412421"/>
                  </a:ext>
                </a:extLst>
              </a:tr>
              <a:tr h="0">
                <a:tc>
                  <a:txBody>
                    <a:bodyPr/>
                    <a:lstStyle/>
                    <a:p>
                      <a:pPr>
                        <a:buNone/>
                      </a:pPr>
                      <a:r>
                        <a:rPr lang="en-GB" sz="1400"/>
                        <a:t>I do not know where the error 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400" dirty="0"/>
                        <a:t>Claude Code can inspect files and error messages.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992973"/>
                  </a:ext>
                </a:extLst>
              </a:tr>
              <a:tr h="0">
                <a:tc>
                  <a:txBody>
                    <a:bodyPr/>
                    <a:lstStyle/>
                    <a:p>
                      <a:pPr>
                        <a:buNone/>
                      </a:pPr>
                      <a:r>
                        <a:rPr lang="en-GB" sz="1400"/>
                        <a:t>I do not know what to build next.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400"/>
                        <a:t>Claude Code can help break the project into steps.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5332069"/>
                  </a:ext>
                </a:extLst>
              </a:tr>
              <a:tr h="0">
                <a:tc>
                  <a:txBody>
                    <a:bodyPr/>
                    <a:lstStyle/>
                    <a:p>
                      <a:pPr>
                        <a:buNone/>
                      </a:pPr>
                      <a:r>
                        <a:rPr lang="en-GB" sz="1400"/>
                        <a:t>My code works but looks messy.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400"/>
                        <a:t>Claude Code can suggest refactoring.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41419966"/>
                  </a:ext>
                </a:extLst>
              </a:tr>
              <a:tr h="0">
                <a:tc>
                  <a:txBody>
                    <a:bodyPr/>
                    <a:lstStyle/>
                    <a:p>
                      <a:pPr>
                        <a:buNone/>
                      </a:pPr>
                      <a:r>
                        <a:rPr lang="en-GB" sz="1400"/>
                        <a:t>I do not know how to test my code.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400"/>
                        <a:t>Claude Code can suggest and write beginner-friendly tests.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89696024"/>
                  </a:ext>
                </a:extLst>
              </a:tr>
              <a:tr h="0">
                <a:tc>
                  <a:txBody>
                    <a:bodyPr/>
                    <a:lstStyle/>
                    <a:p>
                      <a:pPr>
                        <a:buNone/>
                      </a:pPr>
                      <a:r>
                        <a:rPr lang="en-GB" sz="1400"/>
                        <a:t>I am scared of breaking everything.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400" dirty="0"/>
                        <a:t>Claude Code can propose changes for review before applying them.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02799289"/>
                  </a:ext>
                </a:extLst>
              </a:tr>
            </a:tbl>
          </a:graphicData>
        </a:graphic>
      </p:graphicFrame>
    </p:spTree>
    <p:extLst>
      <p:ext uri="{BB962C8B-B14F-4D97-AF65-F5344CB8AC3E}">
        <p14:creationId xmlns:p14="http://schemas.microsoft.com/office/powerpoint/2010/main" val="13621603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01972-34F9-1F54-E72D-E33250F448ED}"/>
              </a:ext>
            </a:extLst>
          </p:cNvPr>
          <p:cNvSpPr>
            <a:spLocks noGrp="1"/>
          </p:cNvSpPr>
          <p:nvPr>
            <p:ph type="title"/>
          </p:nvPr>
        </p:nvSpPr>
        <p:spPr/>
        <p:txBody>
          <a:bodyPr/>
          <a:lstStyle/>
          <a:p>
            <a:r>
              <a:rPr lang="en-IN" dirty="0"/>
              <a:t>Compare Claude AI and Claude Code</a:t>
            </a:r>
            <a:endParaRPr lang="en-GB" dirty="0"/>
          </a:p>
        </p:txBody>
      </p:sp>
      <p:graphicFrame>
        <p:nvGraphicFramePr>
          <p:cNvPr id="4" name="Content Placeholder 3">
            <a:extLst>
              <a:ext uri="{FF2B5EF4-FFF2-40B4-BE49-F238E27FC236}">
                <a16:creationId xmlns:a16="http://schemas.microsoft.com/office/drawing/2014/main" id="{EEE010C4-3F38-7663-BF4C-61A408B4AA7B}"/>
              </a:ext>
            </a:extLst>
          </p:cNvPr>
          <p:cNvGraphicFramePr>
            <a:graphicFrameLocks noGrp="1"/>
          </p:cNvGraphicFramePr>
          <p:nvPr>
            <p:ph idx="1"/>
            <p:extLst>
              <p:ext uri="{D42A27DB-BD31-4B8C-83A1-F6EECF244321}">
                <p14:modId xmlns:p14="http://schemas.microsoft.com/office/powerpoint/2010/main" val="1632710501"/>
              </p:ext>
            </p:extLst>
          </p:nvPr>
        </p:nvGraphicFramePr>
        <p:xfrm>
          <a:off x="838200" y="2081054"/>
          <a:ext cx="10515600" cy="3840480"/>
        </p:xfrm>
        <a:graphic>
          <a:graphicData uri="http://schemas.openxmlformats.org/drawingml/2006/table">
            <a:tbl>
              <a:tblPr firstRow="1">
                <a:tableStyleId>{7E9639D4-E3E2-4D34-9284-5A2195B3D0D7}</a:tableStyleId>
              </a:tblPr>
              <a:tblGrid>
                <a:gridCol w="3505200">
                  <a:extLst>
                    <a:ext uri="{9D8B030D-6E8A-4147-A177-3AD203B41FA5}">
                      <a16:colId xmlns:a16="http://schemas.microsoft.com/office/drawing/2014/main" val="807622187"/>
                    </a:ext>
                  </a:extLst>
                </a:gridCol>
                <a:gridCol w="3505200">
                  <a:extLst>
                    <a:ext uri="{9D8B030D-6E8A-4147-A177-3AD203B41FA5}">
                      <a16:colId xmlns:a16="http://schemas.microsoft.com/office/drawing/2014/main" val="411098905"/>
                    </a:ext>
                  </a:extLst>
                </a:gridCol>
                <a:gridCol w="3505200">
                  <a:extLst>
                    <a:ext uri="{9D8B030D-6E8A-4147-A177-3AD203B41FA5}">
                      <a16:colId xmlns:a16="http://schemas.microsoft.com/office/drawing/2014/main" val="1281375526"/>
                    </a:ext>
                  </a:extLst>
                </a:gridCol>
              </a:tblGrid>
              <a:tr h="0">
                <a:tc>
                  <a:txBody>
                    <a:bodyPr/>
                    <a:lstStyle/>
                    <a:p>
                      <a:pPr>
                        <a:buNone/>
                      </a:pPr>
                      <a:r>
                        <a:rPr lang="en-GB" b="1"/>
                        <a:t>Feature</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b="1"/>
                        <a:t>Claude AI</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b="1"/>
                        <a:t>Claude Code</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66553859"/>
                  </a:ext>
                </a:extLst>
              </a:tr>
              <a:tr h="0">
                <a:tc>
                  <a:txBody>
                    <a:bodyPr/>
                    <a:lstStyle/>
                    <a:p>
                      <a:pPr>
                        <a:buNone/>
                      </a:pPr>
                      <a:r>
                        <a:rPr lang="en-GB" dirty="0"/>
                        <a:t>General conversation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Limited to coding workflow context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5487282"/>
                  </a:ext>
                </a:extLst>
              </a:tr>
              <a:tr h="0">
                <a:tc>
                  <a:txBody>
                    <a:bodyPr/>
                    <a:lstStyle/>
                    <a:p>
                      <a:pPr>
                        <a:buNone/>
                      </a:pPr>
                      <a:r>
                        <a:rPr lang="en-GB"/>
                        <a:t>Writing and brainstorming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Not the main purpose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6334154"/>
                  </a:ext>
                </a:extLst>
              </a:tr>
              <a:tr h="0">
                <a:tc>
                  <a:txBody>
                    <a:bodyPr/>
                    <a:lstStyle/>
                    <a:p>
                      <a:pPr>
                        <a:buNone/>
                      </a:pPr>
                      <a:r>
                        <a:rPr lang="en-GB"/>
                        <a:t>Explaining programming concepts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94755"/>
                  </a:ext>
                </a:extLst>
              </a:tr>
              <a:tr h="0">
                <a:tc>
                  <a:txBody>
                    <a:bodyPr/>
                    <a:lstStyle/>
                    <a:p>
                      <a:pPr>
                        <a:buNone/>
                      </a:pPr>
                      <a:r>
                        <a:rPr lang="en-GB"/>
                        <a:t>Reading a project folder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Only if files are provided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Yes, when connected to the project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9269494"/>
                  </a:ext>
                </a:extLst>
              </a:tr>
              <a:tr h="0">
                <a:tc>
                  <a:txBody>
                    <a:bodyPr/>
                    <a:lstStyle/>
                    <a:p>
                      <a:pPr>
                        <a:buNone/>
                      </a:pPr>
                      <a:r>
                        <a:rPr lang="en-GB"/>
                        <a:t>Editing project files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Not directly in normal chat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Yes, with appropriate permissions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7451612"/>
                  </a:ext>
                </a:extLst>
              </a:tr>
              <a:tr h="0">
                <a:tc>
                  <a:txBody>
                    <a:bodyPr/>
                    <a:lstStyle/>
                    <a:p>
                      <a:pPr>
                        <a:buNone/>
                      </a:pPr>
                      <a:r>
                        <a:rPr lang="en-GB"/>
                        <a:t>Running commands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Not usually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Yes, depending on environment and approval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43740603"/>
                  </a:ext>
                </a:extLst>
              </a:tr>
              <a:tr h="0">
                <a:tc>
                  <a:txBody>
                    <a:bodyPr/>
                    <a:lstStyle/>
                    <a:p>
                      <a:pPr>
                        <a:buNone/>
                      </a:pPr>
                      <a:r>
                        <a:rPr lang="en-GB"/>
                        <a:t>Debugging from full project context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Limited unless context is pasted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Stronger because it can inspect files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721498"/>
                  </a:ext>
                </a:extLst>
              </a:tr>
              <a:tr h="0">
                <a:tc>
                  <a:txBody>
                    <a:bodyPr/>
                    <a:lstStyle/>
                    <a:p>
                      <a:pPr>
                        <a:buNone/>
                      </a:pPr>
                      <a:r>
                        <a:rPr lang="en-GB"/>
                        <a:t>Best use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General AI help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Real coding workflow assistance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7161062"/>
                  </a:ext>
                </a:extLst>
              </a:tr>
            </a:tbl>
          </a:graphicData>
        </a:graphic>
      </p:graphicFrame>
    </p:spTree>
    <p:extLst>
      <p:ext uri="{BB962C8B-B14F-4D97-AF65-F5344CB8AC3E}">
        <p14:creationId xmlns:p14="http://schemas.microsoft.com/office/powerpoint/2010/main" val="9587581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64D09-0B0A-5DC6-62F8-7F529E551407}"/>
              </a:ext>
            </a:extLst>
          </p:cNvPr>
          <p:cNvSpPr>
            <a:spLocks noGrp="1"/>
          </p:cNvSpPr>
          <p:nvPr>
            <p:ph type="title"/>
          </p:nvPr>
        </p:nvSpPr>
        <p:spPr/>
        <p:txBody>
          <a:bodyPr/>
          <a:lstStyle/>
          <a:p>
            <a:r>
              <a:rPr lang="en-IN" dirty="0"/>
              <a:t>Exercise: Compare Claude and Claude Code</a:t>
            </a:r>
            <a:endParaRPr lang="en-GB" dirty="0"/>
          </a:p>
        </p:txBody>
      </p:sp>
      <p:sp>
        <p:nvSpPr>
          <p:cNvPr id="3" name="Content Placeholder 2">
            <a:extLst>
              <a:ext uri="{FF2B5EF4-FFF2-40B4-BE49-F238E27FC236}">
                <a16:creationId xmlns:a16="http://schemas.microsoft.com/office/drawing/2014/main" id="{1EE40935-09B0-397A-3142-8B15EEA57BF3}"/>
              </a:ext>
            </a:extLst>
          </p:cNvPr>
          <p:cNvSpPr>
            <a:spLocks noGrp="1"/>
          </p:cNvSpPr>
          <p:nvPr>
            <p:ph idx="1"/>
          </p:nvPr>
        </p:nvSpPr>
        <p:spPr/>
        <p:txBody>
          <a:bodyPr/>
          <a:lstStyle/>
          <a:p>
            <a:r>
              <a:rPr lang="en-IN" dirty="0"/>
              <a:t>Goal: </a:t>
            </a:r>
            <a:r>
              <a:rPr lang="en-GB" dirty="0"/>
              <a:t>Make the table's abstract distinction concrete before moving on</a:t>
            </a:r>
          </a:p>
          <a:p>
            <a:pPr marL="514350" indent="-514350">
              <a:buFont typeface="+mj-lt"/>
              <a:buAutoNum type="arabicPeriod"/>
            </a:pPr>
            <a:r>
              <a:rPr lang="en-GB" dirty="0"/>
              <a:t>Open a normal Claude chat and ask: </a:t>
            </a:r>
            <a:r>
              <a:rPr lang="en-GB" i="1" dirty="0"/>
              <a:t>"What does this project do?"</a:t>
            </a:r>
            <a:r>
              <a:rPr lang="en-GB" dirty="0"/>
              <a:t> — with nothing attached. Note what it says (it should ask you to paste something, or answer generically). </a:t>
            </a:r>
          </a:p>
          <a:p>
            <a:pPr marL="514350" indent="-514350">
              <a:buFont typeface="+mj-lt"/>
              <a:buAutoNum type="arabicPeriod"/>
            </a:pPr>
            <a:r>
              <a:rPr lang="en-GB" dirty="0"/>
              <a:t>Open a terminal, cd into any existing project folder, and run </a:t>
            </a:r>
            <a:r>
              <a:rPr lang="en-GB" i="1" dirty="0" err="1"/>
              <a:t>claude</a:t>
            </a:r>
            <a:endParaRPr lang="en-GB" i="1" dirty="0"/>
          </a:p>
          <a:p>
            <a:pPr marL="514350" indent="-514350">
              <a:buFont typeface="+mj-lt"/>
              <a:buAutoNum type="arabicPeriod"/>
            </a:pPr>
            <a:r>
              <a:rPr lang="en-GB" dirty="0"/>
              <a:t>Ask the same question: </a:t>
            </a:r>
            <a:r>
              <a:rPr lang="en-GB" i="1" dirty="0"/>
              <a:t>"What does this project do?"</a:t>
            </a:r>
            <a:r>
              <a:rPr lang="en-GB" dirty="0"/>
              <a:t> </a:t>
            </a:r>
          </a:p>
          <a:p>
            <a:pPr marL="514350" indent="-514350">
              <a:buFont typeface="+mj-lt"/>
              <a:buAutoNum type="arabicPeriod"/>
            </a:pPr>
            <a:r>
              <a:rPr lang="en-GB" dirty="0"/>
              <a:t>Compare the two answers side by side against the earlier table— specifically the "Reading a project folder" row</a:t>
            </a:r>
          </a:p>
        </p:txBody>
      </p:sp>
    </p:spTree>
    <p:extLst>
      <p:ext uri="{BB962C8B-B14F-4D97-AF65-F5344CB8AC3E}">
        <p14:creationId xmlns:p14="http://schemas.microsoft.com/office/powerpoint/2010/main" val="2680305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4ADAD-E471-0061-A32C-689F0301418E}"/>
              </a:ext>
            </a:extLst>
          </p:cNvPr>
          <p:cNvSpPr>
            <a:spLocks noGrp="1"/>
          </p:cNvSpPr>
          <p:nvPr>
            <p:ph type="title"/>
          </p:nvPr>
        </p:nvSpPr>
        <p:spPr/>
        <p:txBody>
          <a:bodyPr/>
          <a:lstStyle/>
          <a:p>
            <a:r>
              <a:rPr lang="en-IN" dirty="0"/>
              <a:t>Understand Agentic Coding</a:t>
            </a:r>
            <a:endParaRPr lang="en-GB" dirty="0"/>
          </a:p>
        </p:txBody>
      </p:sp>
      <p:sp>
        <p:nvSpPr>
          <p:cNvPr id="3" name="Content Placeholder 2">
            <a:extLst>
              <a:ext uri="{FF2B5EF4-FFF2-40B4-BE49-F238E27FC236}">
                <a16:creationId xmlns:a16="http://schemas.microsoft.com/office/drawing/2014/main" id="{857D00BE-B08F-B500-1952-DD5724DE2E04}"/>
              </a:ext>
            </a:extLst>
          </p:cNvPr>
          <p:cNvSpPr>
            <a:spLocks noGrp="1"/>
          </p:cNvSpPr>
          <p:nvPr>
            <p:ph idx="1"/>
          </p:nvPr>
        </p:nvSpPr>
        <p:spPr/>
        <p:txBody>
          <a:bodyPr/>
          <a:lstStyle/>
          <a:p>
            <a:r>
              <a:rPr lang="en-IN" dirty="0"/>
              <a:t>Agentic: AI can do more than answer a single question</a:t>
            </a:r>
          </a:p>
          <a:p>
            <a:r>
              <a:rPr lang="en-IN" dirty="0"/>
              <a:t>Standard Coding Prompt</a:t>
            </a:r>
          </a:p>
          <a:p>
            <a:pPr lvl="1"/>
            <a:r>
              <a:rPr lang="en-US" dirty="0"/>
              <a:t>Write a JavaScript function that adds two numbers</a:t>
            </a:r>
          </a:p>
          <a:p>
            <a:r>
              <a:rPr lang="en-US" dirty="0"/>
              <a:t>Agentic Coding Prompt</a:t>
            </a:r>
          </a:p>
          <a:p>
            <a:pPr lvl="1"/>
            <a:r>
              <a:rPr lang="en-US" dirty="0"/>
              <a:t>Inspect this project and find where form validation is handled. Create a plan to add email validation. Do not edit files yet. Tell me which files will need changes and why.</a:t>
            </a:r>
            <a:endParaRPr lang="en-GB" dirty="0"/>
          </a:p>
        </p:txBody>
      </p:sp>
    </p:spTree>
    <p:extLst>
      <p:ext uri="{BB962C8B-B14F-4D97-AF65-F5344CB8AC3E}">
        <p14:creationId xmlns:p14="http://schemas.microsoft.com/office/powerpoint/2010/main" val="25889757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1CFA9-957D-1BF5-2CBB-B5A8E28619CE}"/>
              </a:ext>
            </a:extLst>
          </p:cNvPr>
          <p:cNvSpPr>
            <a:spLocks noGrp="1"/>
          </p:cNvSpPr>
          <p:nvPr>
            <p:ph type="title"/>
          </p:nvPr>
        </p:nvSpPr>
        <p:spPr/>
        <p:txBody>
          <a:bodyPr/>
          <a:lstStyle/>
          <a:p>
            <a:r>
              <a:rPr lang="en-IN" dirty="0"/>
              <a:t>Agentic Ability</a:t>
            </a:r>
            <a:endParaRPr lang="en-GB" dirty="0"/>
          </a:p>
        </p:txBody>
      </p:sp>
      <p:graphicFrame>
        <p:nvGraphicFramePr>
          <p:cNvPr id="4" name="Content Placeholder 3">
            <a:extLst>
              <a:ext uri="{FF2B5EF4-FFF2-40B4-BE49-F238E27FC236}">
                <a16:creationId xmlns:a16="http://schemas.microsoft.com/office/drawing/2014/main" id="{A26EB0BA-6C39-01BC-AF77-648C79435B29}"/>
              </a:ext>
            </a:extLst>
          </p:cNvPr>
          <p:cNvGraphicFramePr>
            <a:graphicFrameLocks noGrp="1"/>
          </p:cNvGraphicFramePr>
          <p:nvPr>
            <p:ph idx="1"/>
            <p:extLst>
              <p:ext uri="{D42A27DB-BD31-4B8C-83A1-F6EECF244321}">
                <p14:modId xmlns:p14="http://schemas.microsoft.com/office/powerpoint/2010/main" val="360003180"/>
              </p:ext>
            </p:extLst>
          </p:nvPr>
        </p:nvGraphicFramePr>
        <p:xfrm>
          <a:off x="838200" y="2035334"/>
          <a:ext cx="10515600" cy="3931920"/>
        </p:xfrm>
        <a:graphic>
          <a:graphicData uri="http://schemas.openxmlformats.org/drawingml/2006/table">
            <a:tbl>
              <a:tblPr firstRow="1">
                <a:tableStyleId>{69012ECD-51FC-41F1-AA8D-1B2483CD663E}</a:tableStyleId>
              </a:tblPr>
              <a:tblGrid>
                <a:gridCol w="3505200">
                  <a:extLst>
                    <a:ext uri="{9D8B030D-6E8A-4147-A177-3AD203B41FA5}">
                      <a16:colId xmlns:a16="http://schemas.microsoft.com/office/drawing/2014/main" val="4200393982"/>
                    </a:ext>
                  </a:extLst>
                </a:gridCol>
                <a:gridCol w="3505200">
                  <a:extLst>
                    <a:ext uri="{9D8B030D-6E8A-4147-A177-3AD203B41FA5}">
                      <a16:colId xmlns:a16="http://schemas.microsoft.com/office/drawing/2014/main" val="724372230"/>
                    </a:ext>
                  </a:extLst>
                </a:gridCol>
                <a:gridCol w="3505200">
                  <a:extLst>
                    <a:ext uri="{9D8B030D-6E8A-4147-A177-3AD203B41FA5}">
                      <a16:colId xmlns:a16="http://schemas.microsoft.com/office/drawing/2014/main" val="2601571950"/>
                    </a:ext>
                  </a:extLst>
                </a:gridCol>
              </a:tblGrid>
              <a:tr h="0">
                <a:tc>
                  <a:txBody>
                    <a:bodyPr/>
                    <a:lstStyle/>
                    <a:p>
                      <a:pPr>
                        <a:buNone/>
                      </a:pPr>
                      <a:r>
                        <a:rPr lang="en-GB" b="1"/>
                        <a:t>Agentic Ability</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b="1" dirty="0"/>
                        <a:t>What It Means</a:t>
                      </a:r>
                      <a:endParaRPr lang="en-GB"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b="1"/>
                        <a:t>Beginner Safety Habit</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61602496"/>
                  </a:ext>
                </a:extLst>
              </a:tr>
              <a:tr h="0">
                <a:tc>
                  <a:txBody>
                    <a:bodyPr/>
                    <a:lstStyle/>
                    <a:p>
                      <a:pPr>
                        <a:buNone/>
                      </a:pPr>
                      <a:r>
                        <a:rPr lang="en-GB"/>
                        <a:t>Reads files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Claude Code can inspect project files.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Ask it to explain before editing.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7571853"/>
                  </a:ext>
                </a:extLst>
              </a:tr>
              <a:tr h="0">
                <a:tc>
                  <a:txBody>
                    <a:bodyPr/>
                    <a:lstStyle/>
                    <a:p>
                      <a:pPr>
                        <a:buNone/>
                      </a:pPr>
                      <a:r>
                        <a:rPr lang="en-GB"/>
                        <a:t>Plans steps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Claude Code can propose a sequence of actions.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Review the plan first.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26560748"/>
                  </a:ext>
                </a:extLst>
              </a:tr>
              <a:tr h="0">
                <a:tc>
                  <a:txBody>
                    <a:bodyPr/>
                    <a:lstStyle/>
                    <a:p>
                      <a:pPr>
                        <a:buNone/>
                      </a:pPr>
                      <a:r>
                        <a:rPr lang="en-GB"/>
                        <a:t>Edits code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Claude Code can change files.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Approve only small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91348439"/>
                  </a:ext>
                </a:extLst>
              </a:tr>
              <a:tr h="0">
                <a:tc>
                  <a:txBody>
                    <a:bodyPr/>
                    <a:lstStyle/>
                    <a:p>
                      <a:pPr>
                        <a:buNone/>
                      </a:pPr>
                      <a:r>
                        <a:rPr lang="en-GB"/>
                        <a:t>Runs commands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Claude Code may execute development commands.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Understand what the command does.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2624669"/>
                  </a:ext>
                </a:extLst>
              </a:tr>
              <a:tr h="0">
                <a:tc>
                  <a:txBody>
                    <a:bodyPr/>
                    <a:lstStyle/>
                    <a:p>
                      <a:pPr>
                        <a:buNone/>
                      </a:pPr>
                      <a:r>
                        <a:rPr lang="en-GB"/>
                        <a:t>Reviews output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Claude Code can interpret errors and results.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Ask for a plain-English explanation.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68300848"/>
                  </a:ext>
                </a:extLst>
              </a:tr>
              <a:tr h="0">
                <a:tc>
                  <a:txBody>
                    <a:bodyPr/>
                    <a:lstStyle/>
                    <a:p>
                      <a:pPr>
                        <a:buNone/>
                      </a:pPr>
                      <a:r>
                        <a:rPr lang="en-GB"/>
                        <a:t>Continues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Claude Code can proceed through multiple steps.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Pause at important checkpoints.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18006409"/>
                  </a:ext>
                </a:extLst>
              </a:tr>
            </a:tbl>
          </a:graphicData>
        </a:graphic>
      </p:graphicFrame>
    </p:spTree>
    <p:extLst>
      <p:ext uri="{BB962C8B-B14F-4D97-AF65-F5344CB8AC3E}">
        <p14:creationId xmlns:p14="http://schemas.microsoft.com/office/powerpoint/2010/main" val="5959190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40E42-599E-803F-4160-3DE908ED666D}"/>
              </a:ext>
            </a:extLst>
          </p:cNvPr>
          <p:cNvSpPr>
            <a:spLocks noGrp="1"/>
          </p:cNvSpPr>
          <p:nvPr>
            <p:ph type="title"/>
          </p:nvPr>
        </p:nvSpPr>
        <p:spPr/>
        <p:txBody>
          <a:bodyPr/>
          <a:lstStyle/>
          <a:p>
            <a:r>
              <a:rPr lang="en-IN" dirty="0"/>
              <a:t>Understand Project Awareness</a:t>
            </a:r>
            <a:endParaRPr lang="en-GB" dirty="0"/>
          </a:p>
        </p:txBody>
      </p:sp>
      <p:sp>
        <p:nvSpPr>
          <p:cNvPr id="3" name="Content Placeholder 2">
            <a:extLst>
              <a:ext uri="{FF2B5EF4-FFF2-40B4-BE49-F238E27FC236}">
                <a16:creationId xmlns:a16="http://schemas.microsoft.com/office/drawing/2014/main" id="{C4FF6090-287C-C37B-EED2-A45822DE1630}"/>
              </a:ext>
            </a:extLst>
          </p:cNvPr>
          <p:cNvSpPr>
            <a:spLocks noGrp="1"/>
          </p:cNvSpPr>
          <p:nvPr>
            <p:ph idx="1"/>
          </p:nvPr>
        </p:nvSpPr>
        <p:spPr>
          <a:xfrm>
            <a:off x="838200" y="1832605"/>
            <a:ext cx="10515600" cy="4351338"/>
          </a:xfrm>
        </p:spPr>
        <p:txBody>
          <a:bodyPr>
            <a:normAutofit fontScale="92500"/>
          </a:bodyPr>
          <a:lstStyle/>
          <a:p>
            <a:r>
              <a:rPr lang="en-US" dirty="0"/>
              <a:t>Claude Code helps by reading the project structure and identifying relationships between files</a:t>
            </a:r>
          </a:p>
          <a:p>
            <a:pPr lvl="1"/>
            <a:r>
              <a:rPr lang="en-US" dirty="0"/>
              <a:t>For example, it may explain that one file controls the page layout, another file controls styling, another file handles logic, and another file contains project settings</a:t>
            </a:r>
          </a:p>
          <a:p>
            <a:r>
              <a:rPr lang="en-US" dirty="0"/>
              <a:t>Beginner prompt</a:t>
            </a:r>
          </a:p>
          <a:p>
            <a:pPr lvl="1"/>
            <a:r>
              <a:rPr lang="en-US" dirty="0"/>
              <a:t>Inspect this project folder. Explain the purpose of each important file. Tell me which files are safe for a beginner to edit first. Do not change anything yet.</a:t>
            </a:r>
          </a:p>
          <a:p>
            <a:r>
              <a:rPr lang="en-US" dirty="0"/>
              <a:t>After understanding the project, Claude Code can suggest changes</a:t>
            </a:r>
          </a:p>
          <a:p>
            <a:r>
              <a:rPr lang="en-US" dirty="0"/>
              <a:t>For beginners, the safest pattern is to inspect, explain, plan, review, apply a small change, run the project, and then summarize what changed</a:t>
            </a:r>
          </a:p>
          <a:p>
            <a:endParaRPr lang="en-US" dirty="0"/>
          </a:p>
          <a:p>
            <a:endParaRPr lang="en-GB" dirty="0"/>
          </a:p>
        </p:txBody>
      </p:sp>
    </p:spTree>
    <p:extLst>
      <p:ext uri="{BB962C8B-B14F-4D97-AF65-F5344CB8AC3E}">
        <p14:creationId xmlns:p14="http://schemas.microsoft.com/office/powerpoint/2010/main" val="10724599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4C42B-5736-246D-F120-B7984571BFE1}"/>
              </a:ext>
            </a:extLst>
          </p:cNvPr>
          <p:cNvSpPr>
            <a:spLocks noGrp="1"/>
          </p:cNvSpPr>
          <p:nvPr>
            <p:ph type="title"/>
          </p:nvPr>
        </p:nvSpPr>
        <p:spPr/>
        <p:txBody>
          <a:bodyPr/>
          <a:lstStyle/>
          <a:p>
            <a:r>
              <a:rPr lang="en-IN" dirty="0"/>
              <a:t>Identify Beginner Use Cases</a:t>
            </a:r>
            <a:endParaRPr lang="en-GB" dirty="0"/>
          </a:p>
        </p:txBody>
      </p:sp>
      <p:sp>
        <p:nvSpPr>
          <p:cNvPr id="3" name="Content Placeholder 2">
            <a:extLst>
              <a:ext uri="{FF2B5EF4-FFF2-40B4-BE49-F238E27FC236}">
                <a16:creationId xmlns:a16="http://schemas.microsoft.com/office/drawing/2014/main" id="{EDEAC2A6-D09D-D268-2AE4-23E73B5F05E2}"/>
              </a:ext>
            </a:extLst>
          </p:cNvPr>
          <p:cNvSpPr>
            <a:spLocks noGrp="1"/>
          </p:cNvSpPr>
          <p:nvPr>
            <p:ph idx="1"/>
          </p:nvPr>
        </p:nvSpPr>
        <p:spPr/>
        <p:txBody>
          <a:bodyPr/>
          <a:lstStyle/>
          <a:p>
            <a:r>
              <a:rPr lang="en-US" dirty="0"/>
              <a:t>It can help you learn programming concepts, understand project files, build small apps, fix errors, improve design, write documentation, and test code</a:t>
            </a:r>
          </a:p>
          <a:p>
            <a:r>
              <a:rPr lang="en-US" dirty="0"/>
              <a:t>The most important benefit is that Claude Code helps reduce the gap between idea and implementation</a:t>
            </a:r>
          </a:p>
          <a:p>
            <a:r>
              <a:rPr lang="en-US" dirty="0"/>
              <a:t>Example</a:t>
            </a:r>
          </a:p>
          <a:p>
            <a:pPr lvl="1"/>
            <a:r>
              <a:rPr lang="en-US" dirty="0"/>
              <a:t>I want to build a beginner task manager app. Please break this idea into small steps. Use only HTML, CSS, and JavaScript for now. Do not write code yet. Give me a simple development plan.</a:t>
            </a:r>
            <a:endParaRPr lang="en-GB" dirty="0"/>
          </a:p>
        </p:txBody>
      </p:sp>
    </p:spTree>
    <p:extLst>
      <p:ext uri="{BB962C8B-B14F-4D97-AF65-F5344CB8AC3E}">
        <p14:creationId xmlns:p14="http://schemas.microsoft.com/office/powerpoint/2010/main" val="37005359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2556A4-B498-A642-A3CC-8F8A2D72AF58}"/>
              </a:ext>
            </a:extLst>
          </p:cNvPr>
          <p:cNvSpPr>
            <a:spLocks noGrp="1"/>
          </p:cNvSpPr>
          <p:nvPr>
            <p:ph type="title"/>
          </p:nvPr>
        </p:nvSpPr>
        <p:spPr/>
        <p:txBody>
          <a:bodyPr/>
          <a:lstStyle/>
          <a:p>
            <a:r>
              <a:rPr lang="en-IN" dirty="0"/>
              <a:t>More Beginner Use Cases</a:t>
            </a:r>
            <a:endParaRPr lang="en-GB" dirty="0"/>
          </a:p>
        </p:txBody>
      </p:sp>
      <p:graphicFrame>
        <p:nvGraphicFramePr>
          <p:cNvPr id="4" name="Content Placeholder 3">
            <a:extLst>
              <a:ext uri="{FF2B5EF4-FFF2-40B4-BE49-F238E27FC236}">
                <a16:creationId xmlns:a16="http://schemas.microsoft.com/office/drawing/2014/main" id="{19F59DA3-0F8F-0521-94CA-4A8C74E57048}"/>
              </a:ext>
            </a:extLst>
          </p:cNvPr>
          <p:cNvGraphicFramePr>
            <a:graphicFrameLocks noGrp="1"/>
          </p:cNvGraphicFramePr>
          <p:nvPr>
            <p:ph idx="1"/>
            <p:extLst>
              <p:ext uri="{D42A27DB-BD31-4B8C-83A1-F6EECF244321}">
                <p14:modId xmlns:p14="http://schemas.microsoft.com/office/powerpoint/2010/main" val="2950739678"/>
              </p:ext>
            </p:extLst>
          </p:nvPr>
        </p:nvGraphicFramePr>
        <p:xfrm>
          <a:off x="649153" y="1780986"/>
          <a:ext cx="11279928" cy="5094944"/>
        </p:xfrm>
        <a:graphic>
          <a:graphicData uri="http://schemas.openxmlformats.org/drawingml/2006/table">
            <a:tbl>
              <a:tblPr firstRow="1">
                <a:tableStyleId>{69012ECD-51FC-41F1-AA8D-1B2483CD663E}</a:tableStyleId>
              </a:tblPr>
              <a:tblGrid>
                <a:gridCol w="2338352">
                  <a:extLst>
                    <a:ext uri="{9D8B030D-6E8A-4147-A177-3AD203B41FA5}">
                      <a16:colId xmlns:a16="http://schemas.microsoft.com/office/drawing/2014/main" val="2880345673"/>
                    </a:ext>
                  </a:extLst>
                </a:gridCol>
                <a:gridCol w="8941576">
                  <a:extLst>
                    <a:ext uri="{9D8B030D-6E8A-4147-A177-3AD203B41FA5}">
                      <a16:colId xmlns:a16="http://schemas.microsoft.com/office/drawing/2014/main" val="2654771048"/>
                    </a:ext>
                  </a:extLst>
                </a:gridCol>
              </a:tblGrid>
              <a:tr h="238429">
                <a:tc>
                  <a:txBody>
                    <a:bodyPr/>
                    <a:lstStyle/>
                    <a:p>
                      <a:pPr>
                        <a:buNone/>
                      </a:pPr>
                      <a:r>
                        <a:rPr lang="en-GB" sz="2000" b="1"/>
                        <a:t>Beginner Use Case</a:t>
                      </a:r>
                      <a:endParaRPr lang="en-GB" sz="200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Example Prompt</a:t>
                      </a:r>
                      <a:endParaRPr lang="en-GB" sz="200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74901008"/>
                  </a:ext>
                </a:extLst>
              </a:tr>
              <a:tr h="774896">
                <a:tc>
                  <a:txBody>
                    <a:bodyPr/>
                    <a:lstStyle/>
                    <a:p>
                      <a:pPr>
                        <a:buNone/>
                      </a:pPr>
                      <a:r>
                        <a:rPr lang="en-GB" sz="2000" b="1" dirty="0"/>
                        <a:t>1. Understanding Code</a:t>
                      </a:r>
                      <a:endParaRPr lang="en-GB" sz="2000" dirty="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Explain this file line by line in simple language. Assume I am new to programming. After the explanation, summarize the main idea of the file in five sentences.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270643"/>
                  </a:ext>
                </a:extLst>
              </a:tr>
              <a:tr h="774896">
                <a:tc>
                  <a:txBody>
                    <a:bodyPr/>
                    <a:lstStyle/>
                    <a:p>
                      <a:pPr>
                        <a:buNone/>
                      </a:pPr>
                      <a:r>
                        <a:rPr lang="en-GB" sz="2000" b="1"/>
                        <a:t>2. Building a Small Feature</a:t>
                      </a:r>
                      <a:endParaRPr lang="en-GB" sz="200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I want to add a button that clears all completed tasks. First inspect the current task logic. Then explain where the new feature should be added. Do not edit until I approve your plan.</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48660939"/>
                  </a:ext>
                </a:extLst>
              </a:tr>
              <a:tr h="774896">
                <a:tc>
                  <a:txBody>
                    <a:bodyPr/>
                    <a:lstStyle/>
                    <a:p>
                      <a:pPr>
                        <a:buNone/>
                      </a:pPr>
                      <a:r>
                        <a:rPr lang="en-GB" sz="2000" b="1"/>
                        <a:t>3. Debugging an Error</a:t>
                      </a:r>
                      <a:endParaRPr lang="en-GB" sz="200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The app gives this error when I click the save button. Please inspect the related files and explain the likely cause. Suggest the smallest safe fix. Do not change unrelated code.</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48271669"/>
                  </a:ext>
                </a:extLst>
              </a:tr>
              <a:tr h="596074">
                <a:tc>
                  <a:txBody>
                    <a:bodyPr/>
                    <a:lstStyle/>
                    <a:p>
                      <a:pPr>
                        <a:buNone/>
                      </a:pPr>
                      <a:r>
                        <a:rPr lang="en-GB" sz="2000" b="1"/>
                        <a:t>4. Refactoring Messy Code</a:t>
                      </a:r>
                      <a:endParaRPr lang="en-GB" sz="200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This file works, but it is hard to read. Please suggest a beginner-friendly refactor. Keep the behavior the same. Explain each change before applying it.</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90832755"/>
                  </a:ext>
                </a:extLst>
              </a:tr>
              <a:tr h="596074">
                <a:tc>
                  <a:txBody>
                    <a:bodyPr/>
                    <a:lstStyle/>
                    <a:p>
                      <a:pPr>
                        <a:buNone/>
                      </a:pPr>
                      <a:r>
                        <a:rPr lang="en-GB" sz="2000" b="1"/>
                        <a:t>5. Writing Tests</a:t>
                      </a:r>
                      <a:endParaRPr lang="en-GB" sz="200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Please write simple tests for the task creation function. Explain what each test checks. Use beginner-friendly language.</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6993041"/>
                  </a:ext>
                </a:extLst>
              </a:tr>
              <a:tr h="596074">
                <a:tc>
                  <a:txBody>
                    <a:bodyPr/>
                    <a:lstStyle/>
                    <a:p>
                      <a:pPr>
                        <a:buNone/>
                      </a:pPr>
                      <a:r>
                        <a:rPr lang="en-GB" sz="2000" b="1"/>
                        <a:t>6. Creating Documentation</a:t>
                      </a:r>
                      <a:endParaRPr lang="en-GB" sz="2000"/>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Create a simple README file for this project. Include: what the project does, how to run it, main files, beginner notes, and next improvement ideas.</a:t>
                      </a:r>
                    </a:p>
                  </a:txBody>
                  <a:tcPr marL="59607" marR="59607" marT="29804" marB="298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5608210"/>
                  </a:ext>
                </a:extLst>
              </a:tr>
            </a:tbl>
          </a:graphicData>
        </a:graphic>
      </p:graphicFrame>
    </p:spTree>
    <p:extLst>
      <p:ext uri="{BB962C8B-B14F-4D97-AF65-F5344CB8AC3E}">
        <p14:creationId xmlns:p14="http://schemas.microsoft.com/office/powerpoint/2010/main" val="144969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56CF5-40CC-1CA4-8F58-7AAFCC6BE791}"/>
              </a:ext>
            </a:extLst>
          </p:cNvPr>
          <p:cNvSpPr>
            <a:spLocks noGrp="1"/>
          </p:cNvSpPr>
          <p:nvPr>
            <p:ph type="title"/>
          </p:nvPr>
        </p:nvSpPr>
        <p:spPr/>
        <p:txBody>
          <a:bodyPr/>
          <a:lstStyle/>
          <a:p>
            <a:r>
              <a:rPr lang="en-IN" dirty="0"/>
              <a:t>Exercise: Using Claude for Various Situations </a:t>
            </a:r>
            <a:endParaRPr lang="en-GB" dirty="0"/>
          </a:p>
        </p:txBody>
      </p:sp>
      <p:sp>
        <p:nvSpPr>
          <p:cNvPr id="3" name="Content Placeholder 2">
            <a:extLst>
              <a:ext uri="{FF2B5EF4-FFF2-40B4-BE49-F238E27FC236}">
                <a16:creationId xmlns:a16="http://schemas.microsoft.com/office/drawing/2014/main" id="{E60C20FA-0176-92F5-BDA9-96C6E249CA15}"/>
              </a:ext>
            </a:extLst>
          </p:cNvPr>
          <p:cNvSpPr>
            <a:spLocks noGrp="1"/>
          </p:cNvSpPr>
          <p:nvPr>
            <p:ph idx="1"/>
          </p:nvPr>
        </p:nvSpPr>
        <p:spPr/>
        <p:txBody>
          <a:bodyPr>
            <a:normAutofit fontScale="85000" lnSpcReduction="20000"/>
          </a:bodyPr>
          <a:lstStyle/>
          <a:p>
            <a:r>
              <a:rPr lang="en-GB" dirty="0"/>
              <a:t>Goal: Run three of the six use cases from the table, rather than only reading them</a:t>
            </a:r>
          </a:p>
          <a:p>
            <a:r>
              <a:rPr lang="en-GB" dirty="0"/>
              <a:t>Setup:</a:t>
            </a:r>
          </a:p>
          <a:p>
            <a:pPr lvl="1"/>
            <a:r>
              <a:rPr lang="en-US" dirty="0"/>
              <a:t>cd sample-project     (trainer provides a small pre-built folder)</a:t>
            </a:r>
          </a:p>
          <a:p>
            <a:pPr lvl="1"/>
            <a:r>
              <a:rPr lang="en-US" dirty="0" err="1"/>
              <a:t>claude</a:t>
            </a:r>
            <a:endParaRPr lang="en-US" dirty="0"/>
          </a:p>
          <a:p>
            <a:r>
              <a:rPr lang="en-GB" dirty="0"/>
              <a:t>Use Case 1 (Understanding Code) -&gt; </a:t>
            </a:r>
            <a:r>
              <a:rPr lang="en-GB" i="1" dirty="0"/>
              <a:t>"Explain this project's main file line by line in simple language. Assume I am new to programming. Summarize the main idea in five sentences."</a:t>
            </a:r>
            <a:endParaRPr lang="en-GB" dirty="0"/>
          </a:p>
          <a:p>
            <a:r>
              <a:rPr lang="en-GB" dirty="0"/>
              <a:t>Use Case 6 (Creating Documentation): </a:t>
            </a:r>
            <a:r>
              <a:rPr lang="en-GB" i="1" dirty="0"/>
              <a:t>"Create a simple README file for this project. Include: what the project does, how to run it, main files, beginner notes, and next improvement ideas."</a:t>
            </a:r>
            <a:r>
              <a:rPr lang="en-GB" dirty="0"/>
              <a:t> </a:t>
            </a:r>
          </a:p>
          <a:p>
            <a:r>
              <a:rPr lang="en-GB" dirty="0"/>
              <a:t>Use Case 3 (Debugging an Error) — Plant one obvious, harmless error in the sample project beforehand: </a:t>
            </a:r>
            <a:r>
              <a:rPr lang="en-GB" i="1" dirty="0"/>
              <a:t>"The app gives this error: [paste error]. Please inspect the related files and explain the likely cause. Suggest the smallest safe fix. Do not change unrelated code."</a:t>
            </a:r>
            <a:endParaRPr lang="en-GB" dirty="0"/>
          </a:p>
        </p:txBody>
      </p:sp>
    </p:spTree>
    <p:extLst>
      <p:ext uri="{BB962C8B-B14F-4D97-AF65-F5344CB8AC3E}">
        <p14:creationId xmlns:p14="http://schemas.microsoft.com/office/powerpoint/2010/main" val="12978925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67B3D3-4A58-F637-3770-58CD782F1158}"/>
              </a:ext>
            </a:extLst>
          </p:cNvPr>
          <p:cNvSpPr>
            <a:spLocks noGrp="1"/>
          </p:cNvSpPr>
          <p:nvPr>
            <p:ph type="title"/>
          </p:nvPr>
        </p:nvSpPr>
        <p:spPr/>
        <p:txBody>
          <a:bodyPr/>
          <a:lstStyle/>
          <a:p>
            <a:r>
              <a:rPr lang="en-IN" dirty="0"/>
              <a:t>Recognize Limitations</a:t>
            </a:r>
            <a:endParaRPr lang="en-GB" dirty="0"/>
          </a:p>
        </p:txBody>
      </p:sp>
      <p:graphicFrame>
        <p:nvGraphicFramePr>
          <p:cNvPr id="4" name="Content Placeholder 3">
            <a:extLst>
              <a:ext uri="{FF2B5EF4-FFF2-40B4-BE49-F238E27FC236}">
                <a16:creationId xmlns:a16="http://schemas.microsoft.com/office/drawing/2014/main" id="{C235E742-47F3-9CAB-3C09-AE08EA096CE0}"/>
              </a:ext>
            </a:extLst>
          </p:cNvPr>
          <p:cNvGraphicFramePr>
            <a:graphicFrameLocks noGrp="1"/>
          </p:cNvGraphicFramePr>
          <p:nvPr>
            <p:ph idx="1"/>
            <p:extLst>
              <p:ext uri="{D42A27DB-BD31-4B8C-83A1-F6EECF244321}">
                <p14:modId xmlns:p14="http://schemas.microsoft.com/office/powerpoint/2010/main" val="3096826534"/>
              </p:ext>
            </p:extLst>
          </p:nvPr>
        </p:nvGraphicFramePr>
        <p:xfrm>
          <a:off x="838200" y="1494155"/>
          <a:ext cx="10515600" cy="4998720"/>
        </p:xfrm>
        <a:graphic>
          <a:graphicData uri="http://schemas.openxmlformats.org/drawingml/2006/table">
            <a:tbl>
              <a:tblPr firstRow="1">
                <a:tableStyleId>{72833802-FEF1-4C79-8D5D-14CF1EAF98D9}</a:tableStyleId>
              </a:tblPr>
              <a:tblGrid>
                <a:gridCol w="3505200">
                  <a:extLst>
                    <a:ext uri="{9D8B030D-6E8A-4147-A177-3AD203B41FA5}">
                      <a16:colId xmlns:a16="http://schemas.microsoft.com/office/drawing/2014/main" val="2018804507"/>
                    </a:ext>
                  </a:extLst>
                </a:gridCol>
                <a:gridCol w="3505200">
                  <a:extLst>
                    <a:ext uri="{9D8B030D-6E8A-4147-A177-3AD203B41FA5}">
                      <a16:colId xmlns:a16="http://schemas.microsoft.com/office/drawing/2014/main" val="2456001001"/>
                    </a:ext>
                  </a:extLst>
                </a:gridCol>
                <a:gridCol w="3505200">
                  <a:extLst>
                    <a:ext uri="{9D8B030D-6E8A-4147-A177-3AD203B41FA5}">
                      <a16:colId xmlns:a16="http://schemas.microsoft.com/office/drawing/2014/main" val="2261847444"/>
                    </a:ext>
                  </a:extLst>
                </a:gridCol>
              </a:tblGrid>
              <a:tr h="0">
                <a:tc>
                  <a:txBody>
                    <a:bodyPr/>
                    <a:lstStyle/>
                    <a:p>
                      <a:pPr>
                        <a:buNone/>
                      </a:pPr>
                      <a:r>
                        <a:rPr lang="en-GB" sz="2000" b="1"/>
                        <a:t>Limitation</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What It Means</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What You Should Do</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86962495"/>
                  </a:ext>
                </a:extLst>
              </a:tr>
              <a:tr h="0">
                <a:tc>
                  <a:txBody>
                    <a:bodyPr/>
                    <a:lstStyle/>
                    <a:p>
                      <a:pPr>
                        <a:buNone/>
                      </a:pPr>
                      <a:r>
                        <a:rPr lang="en-GB" sz="2000" dirty="0"/>
                        <a:t>It can make mistakes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The answer may be wrong or incomplete.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Verify and test.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9448678"/>
                  </a:ext>
                </a:extLst>
              </a:tr>
              <a:tr h="0">
                <a:tc>
                  <a:txBody>
                    <a:bodyPr/>
                    <a:lstStyle/>
                    <a:p>
                      <a:pPr>
                        <a:buNone/>
                      </a:pPr>
                      <a:r>
                        <a:rPr lang="en-GB" sz="2000"/>
                        <a:t>It may misunderstand context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It may miss important project details.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Give clear instructions.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04649025"/>
                  </a:ext>
                </a:extLst>
              </a:tr>
              <a:tr h="0">
                <a:tc>
                  <a:txBody>
                    <a:bodyPr/>
                    <a:lstStyle/>
                    <a:p>
                      <a:pPr>
                        <a:buNone/>
                      </a:pPr>
                      <a:r>
                        <a:rPr lang="en-GB" sz="2000"/>
                        <a:t>It may over-edit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It may change more than needed.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Request small scoped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80753936"/>
                  </a:ext>
                </a:extLst>
              </a:tr>
              <a:tr h="0">
                <a:tc>
                  <a:txBody>
                    <a:bodyPr/>
                    <a:lstStyle/>
                    <a:p>
                      <a:pPr>
                        <a:buNone/>
                      </a:pPr>
                      <a:r>
                        <a:rPr lang="en-GB" sz="2000"/>
                        <a:t>It cannot replace learning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You still need to understand your code.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Ask for explanations.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98755848"/>
                  </a:ext>
                </a:extLst>
              </a:tr>
              <a:tr h="0">
                <a:tc>
                  <a:txBody>
                    <a:bodyPr/>
                    <a:lstStyle/>
                    <a:p>
                      <a:pPr>
                        <a:buNone/>
                      </a:pPr>
                      <a:r>
                        <a:rPr lang="en-GB" sz="2000"/>
                        <a:t>It cannot guarantee security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Suggested code may have risks.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Review sensitive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43407383"/>
                  </a:ext>
                </a:extLst>
              </a:tr>
              <a:tr h="0">
                <a:tc>
                  <a:txBody>
                    <a:bodyPr/>
                    <a:lstStyle/>
                    <a:p>
                      <a:pPr>
                        <a:buNone/>
                      </a:pPr>
                      <a:r>
                        <a:rPr lang="en-GB" sz="2000"/>
                        <a:t>It cannot know your goals automatically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It needs project context.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Explain the purpose clearly.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5944953"/>
                  </a:ext>
                </a:extLst>
              </a:tr>
              <a:tr h="0">
                <a:tc>
                  <a:txBody>
                    <a:bodyPr/>
                    <a:lstStyle/>
                    <a:p>
                      <a:pPr>
                        <a:buNone/>
                      </a:pPr>
                      <a:r>
                        <a:rPr lang="en-GB" sz="2000"/>
                        <a:t>It cannot replace human judgment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Final decisions are yours.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Approve carefully.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58201873"/>
                  </a:ext>
                </a:extLst>
              </a:tr>
            </a:tbl>
          </a:graphicData>
        </a:graphic>
      </p:graphicFrame>
    </p:spTree>
    <p:extLst>
      <p:ext uri="{BB962C8B-B14F-4D97-AF65-F5344CB8AC3E}">
        <p14:creationId xmlns:p14="http://schemas.microsoft.com/office/powerpoint/2010/main" val="3570242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24EE5-8D25-4A45-AD2D-2B4E5A528240}"/>
              </a:ext>
            </a:extLst>
          </p:cNvPr>
          <p:cNvSpPr>
            <a:spLocks noGrp="1"/>
          </p:cNvSpPr>
          <p:nvPr>
            <p:ph type="title"/>
          </p:nvPr>
        </p:nvSpPr>
        <p:spPr/>
        <p:txBody>
          <a:bodyPr/>
          <a:lstStyle/>
          <a:p>
            <a:r>
              <a:rPr lang="en-IN" dirty="0"/>
              <a:t>Start Safely</a:t>
            </a:r>
            <a:endParaRPr lang="en-GB" dirty="0"/>
          </a:p>
        </p:txBody>
      </p:sp>
      <p:graphicFrame>
        <p:nvGraphicFramePr>
          <p:cNvPr id="4" name="Content Placeholder 3">
            <a:extLst>
              <a:ext uri="{FF2B5EF4-FFF2-40B4-BE49-F238E27FC236}">
                <a16:creationId xmlns:a16="http://schemas.microsoft.com/office/drawing/2014/main" id="{7836C7DA-7274-6312-DA01-40E5F4C36BC5}"/>
              </a:ext>
            </a:extLst>
          </p:cNvPr>
          <p:cNvGraphicFramePr>
            <a:graphicFrameLocks noGrp="1"/>
          </p:cNvGraphicFramePr>
          <p:nvPr>
            <p:ph idx="1"/>
            <p:extLst>
              <p:ext uri="{D42A27DB-BD31-4B8C-83A1-F6EECF244321}">
                <p14:modId xmlns:p14="http://schemas.microsoft.com/office/powerpoint/2010/main" val="3252258880"/>
              </p:ext>
            </p:extLst>
          </p:nvPr>
        </p:nvGraphicFramePr>
        <p:xfrm>
          <a:off x="1091961" y="1825626"/>
          <a:ext cx="10008078" cy="4351336"/>
        </p:xfrm>
        <a:graphic>
          <a:graphicData uri="http://schemas.openxmlformats.org/drawingml/2006/table">
            <a:tbl>
              <a:tblPr firstRow="1">
                <a:tableStyleId>{69012ECD-51FC-41F1-AA8D-1B2483CD663E}</a:tableStyleId>
              </a:tblPr>
              <a:tblGrid>
                <a:gridCol w="5004039">
                  <a:extLst>
                    <a:ext uri="{9D8B030D-6E8A-4147-A177-3AD203B41FA5}">
                      <a16:colId xmlns:a16="http://schemas.microsoft.com/office/drawing/2014/main" val="1447416082"/>
                    </a:ext>
                  </a:extLst>
                </a:gridCol>
                <a:gridCol w="5004039">
                  <a:extLst>
                    <a:ext uri="{9D8B030D-6E8A-4147-A177-3AD203B41FA5}">
                      <a16:colId xmlns:a16="http://schemas.microsoft.com/office/drawing/2014/main" val="1686514197"/>
                    </a:ext>
                  </a:extLst>
                </a:gridCol>
              </a:tblGrid>
              <a:tr h="348107">
                <a:tc>
                  <a:txBody>
                    <a:bodyPr/>
                    <a:lstStyle/>
                    <a:p>
                      <a:pPr>
                        <a:buNone/>
                      </a:pPr>
                      <a:r>
                        <a:rPr lang="en-GB" sz="1700" b="1"/>
                        <a:t>Myth</a:t>
                      </a:r>
                      <a:endParaRPr lang="en-GB" sz="170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b="1"/>
                        <a:t>Better Mindset</a:t>
                      </a:r>
                      <a:endParaRPr lang="en-GB" sz="170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80601924"/>
                  </a:ext>
                </a:extLst>
              </a:tr>
              <a:tr h="609187">
                <a:tc>
                  <a:txBody>
                    <a:bodyPr/>
                    <a:lstStyle/>
                    <a:p>
                      <a:pPr>
                        <a:buNone/>
                      </a:pPr>
                      <a:r>
                        <a:rPr lang="en-GB" sz="1700" b="1" dirty="0"/>
                        <a:t>1. Claude Code means I do not need to learn programming.</a:t>
                      </a:r>
                      <a:endParaRPr lang="en-GB" sz="1700" dirty="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Claude Code will help me understand programming while I build real projects.</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7140905"/>
                  </a:ext>
                </a:extLst>
              </a:tr>
              <a:tr h="609187">
                <a:tc>
                  <a:txBody>
                    <a:bodyPr/>
                    <a:lstStyle/>
                    <a:p>
                      <a:pPr>
                        <a:buNone/>
                      </a:pPr>
                      <a:r>
                        <a:rPr lang="en-GB" sz="1700" b="1"/>
                        <a:t>2. AI-generated code is always correct.</a:t>
                      </a:r>
                      <a:endParaRPr lang="en-GB" sz="170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Claude Code can suggest a solution, but I must test and verify it.</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9819725"/>
                  </a:ext>
                </a:extLst>
              </a:tr>
              <a:tr h="609187">
                <a:tc>
                  <a:txBody>
                    <a:bodyPr/>
                    <a:lstStyle/>
                    <a:p>
                      <a:pPr>
                        <a:buNone/>
                      </a:pPr>
                      <a:r>
                        <a:rPr lang="en-GB" sz="1700" b="1"/>
                        <a:t>3. Only expert developers can use Claude Code.</a:t>
                      </a:r>
                      <a:endParaRPr lang="en-GB" sz="170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As a beginner, I will use Claude Code for learning, planning, small changes, and explanations.</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86498284"/>
                  </a:ext>
                </a:extLst>
              </a:tr>
              <a:tr h="609187">
                <a:tc>
                  <a:txBody>
                    <a:bodyPr/>
                    <a:lstStyle/>
                    <a:p>
                      <a:pPr>
                        <a:buNone/>
                      </a:pPr>
                      <a:r>
                        <a:rPr lang="en-GB" sz="1700" b="1"/>
                        <a:t>4. Claude Code can build any app from one prompt.</a:t>
                      </a:r>
                      <a:endParaRPr lang="en-GB" sz="170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Help me plan a simple beginner version first. Break the work into small learning steps.</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9873350"/>
                  </a:ext>
                </a:extLst>
              </a:tr>
              <a:tr h="609187">
                <a:tc>
                  <a:txBody>
                    <a:bodyPr/>
                    <a:lstStyle/>
                    <a:p>
                      <a:pPr>
                        <a:buNone/>
                      </a:pPr>
                      <a:r>
                        <a:rPr lang="en-GB" sz="1700" b="1"/>
                        <a:t>5. If the app runs, the code is good.</a:t>
                      </a:r>
                      <a:endParaRPr lang="en-GB" sz="170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Running code is the beginning of verification, not the end.</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54998530"/>
                  </a:ext>
                </a:extLst>
              </a:tr>
              <a:tr h="348107">
                <a:tc>
                  <a:txBody>
                    <a:bodyPr/>
                    <a:lstStyle/>
                    <a:p>
                      <a:pPr>
                        <a:buNone/>
                      </a:pPr>
                      <a:r>
                        <a:rPr lang="en-GB" sz="1700" b="1"/>
                        <a:t>6. AI coding removes the need for debugging.</a:t>
                      </a:r>
                      <a:endParaRPr lang="en-GB" sz="170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Claude Code helps me debug more intelligently.</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4591715"/>
                  </a:ext>
                </a:extLst>
              </a:tr>
              <a:tr h="609187">
                <a:tc>
                  <a:txBody>
                    <a:bodyPr/>
                    <a:lstStyle/>
                    <a:p>
                      <a:pPr>
                        <a:buNone/>
                      </a:pPr>
                      <a:r>
                        <a:rPr lang="en-GB" sz="1700" b="1"/>
                        <a:t>7. Agentic coding is dangerous by default.</a:t>
                      </a:r>
                      <a:endParaRPr lang="en-GB" sz="1700"/>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dirty="0"/>
                        <a:t>Agentic coding is safest when I define the task, limit the scope, and review the result.</a:t>
                      </a:r>
                    </a:p>
                  </a:txBody>
                  <a:tcPr marL="87027" marR="87027" marT="43513" marB="4351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0672088"/>
                  </a:ext>
                </a:extLst>
              </a:tr>
            </a:tbl>
          </a:graphicData>
        </a:graphic>
      </p:graphicFrame>
    </p:spTree>
    <p:extLst>
      <p:ext uri="{BB962C8B-B14F-4D97-AF65-F5344CB8AC3E}">
        <p14:creationId xmlns:p14="http://schemas.microsoft.com/office/powerpoint/2010/main" val="35285485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93EBCF-B7AE-B0B1-7E02-E103FB63FDFF}"/>
              </a:ext>
            </a:extLst>
          </p:cNvPr>
          <p:cNvSpPr>
            <a:spLocks noGrp="1"/>
          </p:cNvSpPr>
          <p:nvPr>
            <p:ph type="title"/>
          </p:nvPr>
        </p:nvSpPr>
        <p:spPr/>
        <p:txBody>
          <a:bodyPr/>
          <a:lstStyle/>
          <a:p>
            <a:r>
              <a:rPr lang="en-IN" noProof="0" dirty="0"/>
              <a:t>Installation and Setup</a:t>
            </a:r>
          </a:p>
        </p:txBody>
      </p:sp>
      <p:sp>
        <p:nvSpPr>
          <p:cNvPr id="3" name="Content Placeholder 2">
            <a:extLst>
              <a:ext uri="{FF2B5EF4-FFF2-40B4-BE49-F238E27FC236}">
                <a16:creationId xmlns:a16="http://schemas.microsoft.com/office/drawing/2014/main" id="{FF45EA40-3ED8-D95D-CC0C-10095E5E406C}"/>
              </a:ext>
            </a:extLst>
          </p:cNvPr>
          <p:cNvSpPr>
            <a:spLocks noGrp="1"/>
          </p:cNvSpPr>
          <p:nvPr>
            <p:ph idx="1"/>
          </p:nvPr>
        </p:nvSpPr>
        <p:spPr/>
        <p:txBody>
          <a:bodyPr/>
          <a:lstStyle/>
          <a:p>
            <a:r>
              <a:rPr lang="en-IN" noProof="0" dirty="0"/>
              <a:t>Installation </a:t>
            </a:r>
          </a:p>
          <a:p>
            <a:pPr lvl="1"/>
            <a:r>
              <a:rPr lang="en-IN" noProof="0" dirty="0"/>
              <a:t>Linux/Mac: </a:t>
            </a:r>
            <a:r>
              <a:rPr lang="en-IN" b="1" noProof="0" dirty="0"/>
              <a:t>curl -</a:t>
            </a:r>
            <a:r>
              <a:rPr lang="en-IN" b="1" noProof="0" dirty="0" err="1"/>
              <a:t>fsSL</a:t>
            </a:r>
            <a:r>
              <a:rPr lang="en-IN" b="1" noProof="0" dirty="0"/>
              <a:t> https://claude.ai/install.sh | bash</a:t>
            </a:r>
          </a:p>
          <a:p>
            <a:pPr lvl="1"/>
            <a:r>
              <a:rPr lang="en-IN" noProof="0" dirty="0"/>
              <a:t>Windows </a:t>
            </a:r>
            <a:r>
              <a:rPr lang="en-IN" noProof="0" dirty="0" err="1"/>
              <a:t>Powershell</a:t>
            </a:r>
            <a:r>
              <a:rPr lang="en-IN" noProof="0" dirty="0"/>
              <a:t>: </a:t>
            </a:r>
            <a:r>
              <a:rPr lang="en-IN" b="1" noProof="0" dirty="0" err="1"/>
              <a:t>irm</a:t>
            </a:r>
            <a:r>
              <a:rPr lang="en-IN" b="1" noProof="0" dirty="0"/>
              <a:t> https://claude.ai/install.ps1 | </a:t>
            </a:r>
            <a:r>
              <a:rPr lang="en-IN" b="1" noProof="0" dirty="0" err="1"/>
              <a:t>iex</a:t>
            </a:r>
            <a:endParaRPr lang="en-IN" b="1" noProof="0" dirty="0"/>
          </a:p>
          <a:p>
            <a:r>
              <a:rPr lang="en-IN" noProof="0" dirty="0"/>
              <a:t>Signing in</a:t>
            </a:r>
          </a:p>
          <a:p>
            <a:pPr lvl="1"/>
            <a:r>
              <a:rPr lang="en-IN" noProof="0" dirty="0"/>
              <a:t>Open terminal and type </a:t>
            </a:r>
            <a:r>
              <a:rPr lang="en-IN" b="1" noProof="0" dirty="0" err="1"/>
              <a:t>claude</a:t>
            </a:r>
            <a:endParaRPr lang="en-IN" noProof="0" dirty="0"/>
          </a:p>
          <a:p>
            <a:pPr lvl="1"/>
            <a:r>
              <a:rPr lang="en-IN" noProof="0" dirty="0"/>
              <a:t>Authenticate through the browser on the first use</a:t>
            </a:r>
          </a:p>
          <a:p>
            <a:pPr lvl="1"/>
            <a:r>
              <a:rPr lang="en-IN" noProof="0" dirty="0"/>
              <a:t>Follow according to your account type</a:t>
            </a:r>
          </a:p>
          <a:p>
            <a:pPr lvl="1"/>
            <a:r>
              <a:rPr lang="en-IN" noProof="0" dirty="0"/>
              <a:t>No need to login later, but to switch, we can use </a:t>
            </a:r>
            <a:r>
              <a:rPr lang="en-IN" b="1" noProof="0" dirty="0"/>
              <a:t>/logout </a:t>
            </a:r>
            <a:r>
              <a:rPr lang="en-IN" noProof="0" dirty="0"/>
              <a:t>and </a:t>
            </a:r>
            <a:r>
              <a:rPr lang="en-IN" b="1" noProof="0" dirty="0"/>
              <a:t>/login </a:t>
            </a:r>
            <a:r>
              <a:rPr lang="en-IN" noProof="0" dirty="0"/>
              <a:t>commands or </a:t>
            </a:r>
            <a:r>
              <a:rPr lang="en-IN" b="1" noProof="0" dirty="0" err="1"/>
              <a:t>claude</a:t>
            </a:r>
            <a:r>
              <a:rPr lang="en-IN" b="1" noProof="0" dirty="0"/>
              <a:t> auth</a:t>
            </a:r>
            <a:r>
              <a:rPr lang="en-IN" noProof="0" dirty="0"/>
              <a:t> in terminal</a:t>
            </a:r>
          </a:p>
          <a:p>
            <a:endParaRPr lang="en-IN" noProof="0" dirty="0"/>
          </a:p>
          <a:p>
            <a:endParaRPr lang="en-IN" noProof="0" dirty="0"/>
          </a:p>
        </p:txBody>
      </p:sp>
    </p:spTree>
    <p:extLst>
      <p:ext uri="{BB962C8B-B14F-4D97-AF65-F5344CB8AC3E}">
        <p14:creationId xmlns:p14="http://schemas.microsoft.com/office/powerpoint/2010/main" val="1754663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4F517-4595-32C2-06DC-C5CE8D133424}"/>
              </a:ext>
            </a:extLst>
          </p:cNvPr>
          <p:cNvSpPr>
            <a:spLocks noGrp="1"/>
          </p:cNvSpPr>
          <p:nvPr>
            <p:ph type="title"/>
          </p:nvPr>
        </p:nvSpPr>
        <p:spPr/>
        <p:txBody>
          <a:bodyPr/>
          <a:lstStyle/>
          <a:p>
            <a:r>
              <a:rPr lang="en-IN" dirty="0"/>
              <a:t>Exercise – Coding</a:t>
            </a:r>
            <a:endParaRPr lang="en-GB" dirty="0"/>
          </a:p>
        </p:txBody>
      </p:sp>
      <p:sp>
        <p:nvSpPr>
          <p:cNvPr id="3" name="Content Placeholder 2">
            <a:extLst>
              <a:ext uri="{FF2B5EF4-FFF2-40B4-BE49-F238E27FC236}">
                <a16:creationId xmlns:a16="http://schemas.microsoft.com/office/drawing/2014/main" id="{AE577ECA-3E96-E36A-C372-EEB6E5B69E95}"/>
              </a:ext>
            </a:extLst>
          </p:cNvPr>
          <p:cNvSpPr>
            <a:spLocks noGrp="1"/>
          </p:cNvSpPr>
          <p:nvPr>
            <p:ph idx="1"/>
          </p:nvPr>
        </p:nvSpPr>
        <p:spPr/>
        <p:txBody>
          <a:bodyPr>
            <a:normAutofit fontScale="85000" lnSpcReduction="20000"/>
          </a:bodyPr>
          <a:lstStyle/>
          <a:p>
            <a:r>
              <a:rPr lang="en-IN" dirty="0"/>
              <a:t>Step 1: Create a safe practice directory</a:t>
            </a:r>
          </a:p>
          <a:p>
            <a:pPr lvl="1"/>
            <a:r>
              <a:rPr lang="en-IN" dirty="0" err="1"/>
              <a:t>mkdir</a:t>
            </a:r>
            <a:r>
              <a:rPr lang="en-IN" dirty="0"/>
              <a:t>  </a:t>
            </a:r>
            <a:r>
              <a:rPr lang="en-IN" dirty="0" err="1"/>
              <a:t>claude</a:t>
            </a:r>
            <a:r>
              <a:rPr lang="en-IN" dirty="0"/>
              <a:t>-code-practice</a:t>
            </a:r>
          </a:p>
          <a:p>
            <a:r>
              <a:rPr lang="en-IN" dirty="0"/>
              <a:t>Step 2: Start with understanding</a:t>
            </a:r>
          </a:p>
          <a:p>
            <a:pPr lvl="1"/>
            <a:r>
              <a:rPr lang="en-US" dirty="0"/>
              <a:t>I am new to Claude Code and beginner-level coding. Please explain how I should use you safely inside a coding project. Do not edit any files. Give me a simple beginner workflow I can follow.</a:t>
            </a:r>
          </a:p>
          <a:p>
            <a:r>
              <a:rPr lang="en-US" dirty="0"/>
              <a:t>Step 3: Ask for a project plan</a:t>
            </a:r>
          </a:p>
          <a:p>
            <a:pPr lvl="1"/>
            <a:r>
              <a:rPr lang="en-US" dirty="0"/>
              <a:t>I want to build a very simple personal profile webpage. Please create a beginner-friendly plan using HTML and CSS only. Break the plan into small steps. Do not write the full code yet.</a:t>
            </a:r>
          </a:p>
          <a:p>
            <a:r>
              <a:rPr lang="en-IN" dirty="0"/>
              <a:t>Step 4: Ask for a small first file</a:t>
            </a:r>
          </a:p>
          <a:p>
            <a:pPr lvl="1"/>
            <a:r>
              <a:rPr lang="en-US" dirty="0"/>
              <a:t>Create the first version of an index.html file for the personal profile webpage. Keep it simple. After creating it, explain every section of the file in beginner-friendly language.</a:t>
            </a:r>
          </a:p>
          <a:p>
            <a:r>
              <a:rPr lang="en-US" dirty="0"/>
              <a:t>Step 5: Ask for a change summary</a:t>
            </a:r>
          </a:p>
          <a:p>
            <a:pPr lvl="1"/>
            <a:r>
              <a:rPr lang="en-US" dirty="0"/>
              <a:t>Summarize what changed. Include: files created or edited, what each file does, how I can open or test the project, what I should learn from this step</a:t>
            </a:r>
            <a:endParaRPr lang="en-GB" dirty="0"/>
          </a:p>
        </p:txBody>
      </p:sp>
    </p:spTree>
    <p:extLst>
      <p:ext uri="{BB962C8B-B14F-4D97-AF65-F5344CB8AC3E}">
        <p14:creationId xmlns:p14="http://schemas.microsoft.com/office/powerpoint/2010/main" val="21524720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C45E8-8707-5A82-427E-ABD15CD8A8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218147-7452-C306-BFE3-D57710961AAA}"/>
              </a:ext>
            </a:extLst>
          </p:cNvPr>
          <p:cNvSpPr>
            <a:spLocks noGrp="1"/>
          </p:cNvSpPr>
          <p:nvPr>
            <p:ph type="title"/>
          </p:nvPr>
        </p:nvSpPr>
        <p:spPr/>
        <p:txBody>
          <a:bodyPr/>
          <a:lstStyle/>
          <a:p>
            <a:r>
              <a:rPr lang="en-IN" dirty="0"/>
              <a:t>Exercise – PM/BA</a:t>
            </a:r>
            <a:endParaRPr lang="en-GB" dirty="0"/>
          </a:p>
        </p:txBody>
      </p:sp>
      <p:sp>
        <p:nvSpPr>
          <p:cNvPr id="3" name="Content Placeholder 2">
            <a:extLst>
              <a:ext uri="{FF2B5EF4-FFF2-40B4-BE49-F238E27FC236}">
                <a16:creationId xmlns:a16="http://schemas.microsoft.com/office/drawing/2014/main" id="{53FD49B1-3045-FDE5-214C-62339110FED7}"/>
              </a:ext>
            </a:extLst>
          </p:cNvPr>
          <p:cNvSpPr>
            <a:spLocks noGrp="1"/>
          </p:cNvSpPr>
          <p:nvPr>
            <p:ph idx="1"/>
          </p:nvPr>
        </p:nvSpPr>
        <p:spPr/>
        <p:txBody>
          <a:bodyPr>
            <a:normAutofit fontScale="85000" lnSpcReduction="10000"/>
          </a:bodyPr>
          <a:lstStyle/>
          <a:p>
            <a:r>
              <a:rPr lang="en-GB" dirty="0"/>
              <a:t>Step 1 — safe start: </a:t>
            </a:r>
            <a:r>
              <a:rPr lang="en-GB" i="1" dirty="0"/>
              <a:t>"I am new to Claude Code and I am not a developer. Please explain how I should use you safely inside this project. Do not edit any files. Give me a simple workflow I can follow."</a:t>
            </a:r>
            <a:r>
              <a:rPr lang="en-GB" dirty="0"/>
              <a:t> </a:t>
            </a:r>
          </a:p>
          <a:p>
            <a:r>
              <a:rPr lang="en-GB" dirty="0"/>
              <a:t>Step 2 — understand, do not build: </a:t>
            </a:r>
            <a:r>
              <a:rPr lang="en-GB" i="1" dirty="0"/>
              <a:t>"Explain this project folder to me like I am new to coding. Tell me what each file does and which one I should look at first."</a:t>
            </a:r>
            <a:r>
              <a:rPr lang="en-GB" dirty="0"/>
              <a:t> </a:t>
            </a:r>
          </a:p>
          <a:p>
            <a:r>
              <a:rPr lang="en-GB" dirty="0"/>
              <a:t>Step 3 — ask a real-world question: </a:t>
            </a:r>
            <a:r>
              <a:rPr lang="en-GB" i="1" dirty="0"/>
              <a:t>"If I were reporting on this project to a manager who has never seen the code, what are the three most important things I should tell them?"</a:t>
            </a:r>
            <a:r>
              <a:rPr lang="en-GB" dirty="0"/>
              <a:t> </a:t>
            </a:r>
          </a:p>
          <a:p>
            <a:r>
              <a:rPr lang="en-GB" dirty="0"/>
              <a:t>Step 4 — request a written artifact: </a:t>
            </a:r>
            <a:r>
              <a:rPr lang="en-GB" i="1" dirty="0"/>
              <a:t>"Write a one-paragraph plain-language summary of this project I could paste into a status email. No technical terms."</a:t>
            </a:r>
            <a:r>
              <a:rPr lang="en-GB" dirty="0"/>
              <a:t> </a:t>
            </a:r>
          </a:p>
          <a:p>
            <a:r>
              <a:rPr lang="en-GB" dirty="0"/>
              <a:t>Step 5 — reflect: </a:t>
            </a:r>
            <a:r>
              <a:rPr lang="en-GB" i="1" dirty="0"/>
              <a:t>"Summarize what we just did together — what did I learn about this project without writing or editing a single line of code?"</a:t>
            </a:r>
            <a:endParaRPr lang="en-GB" dirty="0"/>
          </a:p>
        </p:txBody>
      </p:sp>
    </p:spTree>
    <p:extLst>
      <p:ext uri="{BB962C8B-B14F-4D97-AF65-F5344CB8AC3E}">
        <p14:creationId xmlns:p14="http://schemas.microsoft.com/office/powerpoint/2010/main" val="32167422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5CF3035-93B2-A6FC-A4C3-CC7A0CB1482E}"/>
              </a:ext>
            </a:extLst>
          </p:cNvPr>
          <p:cNvSpPr>
            <a:spLocks noGrp="1"/>
          </p:cNvSpPr>
          <p:nvPr>
            <p:ph type="title"/>
          </p:nvPr>
        </p:nvSpPr>
        <p:spPr/>
        <p:txBody>
          <a:bodyPr/>
          <a:lstStyle/>
          <a:p>
            <a:r>
              <a:rPr lang="en-US" noProof="0" dirty="0"/>
              <a:t>Configurations</a:t>
            </a:r>
          </a:p>
        </p:txBody>
      </p:sp>
      <p:sp>
        <p:nvSpPr>
          <p:cNvPr id="6" name="Content Placeholder 5">
            <a:extLst>
              <a:ext uri="{FF2B5EF4-FFF2-40B4-BE49-F238E27FC236}">
                <a16:creationId xmlns:a16="http://schemas.microsoft.com/office/drawing/2014/main" id="{A0E08A43-7771-CCD3-BE7B-0F5D21383C28}"/>
              </a:ext>
            </a:extLst>
          </p:cNvPr>
          <p:cNvSpPr>
            <a:spLocks noGrp="1"/>
          </p:cNvSpPr>
          <p:nvPr>
            <p:ph idx="1"/>
          </p:nvPr>
        </p:nvSpPr>
        <p:spPr/>
        <p:txBody>
          <a:bodyPr>
            <a:normAutofit fontScale="92500" lnSpcReduction="20000"/>
          </a:bodyPr>
          <a:lstStyle/>
          <a:p>
            <a:r>
              <a:rPr lang="en-US" noProof="0" dirty="0"/>
              <a:t>Option 1: In Claude terminal: </a:t>
            </a:r>
            <a:r>
              <a:rPr lang="en-US" b="1" noProof="0" dirty="0"/>
              <a:t>/config</a:t>
            </a:r>
          </a:p>
          <a:p>
            <a:r>
              <a:rPr lang="en-US" noProof="0" dirty="0"/>
              <a:t>Example: Change </a:t>
            </a:r>
            <a:r>
              <a:rPr lang="en-US" i="1" noProof="0" dirty="0"/>
              <a:t>thinking mode</a:t>
            </a:r>
            <a:r>
              <a:rPr lang="en-US" noProof="0" dirty="0"/>
              <a:t> on/off</a:t>
            </a:r>
          </a:p>
          <a:p>
            <a:endParaRPr lang="en-US" noProof="0" dirty="0"/>
          </a:p>
          <a:p>
            <a:r>
              <a:rPr lang="en-US" noProof="0" dirty="0"/>
              <a:t>Option 2: Edit file "C:\Users\akaha\.claude\settings.json“</a:t>
            </a:r>
          </a:p>
          <a:p>
            <a:endParaRPr lang="en-US" noProof="0" dirty="0"/>
          </a:p>
          <a:p>
            <a:r>
              <a:rPr lang="en-US" noProof="0" dirty="0"/>
              <a:t>Option 3: Inside VS Code/IDE</a:t>
            </a:r>
          </a:p>
          <a:p>
            <a:pPr lvl="1"/>
            <a:r>
              <a:rPr lang="en-US" noProof="0" dirty="0"/>
              <a:t>Create a directory .</a:t>
            </a:r>
            <a:r>
              <a:rPr lang="en-US" noProof="0" dirty="0" err="1"/>
              <a:t>claude</a:t>
            </a:r>
            <a:endParaRPr lang="en-US" noProof="0" dirty="0"/>
          </a:p>
          <a:p>
            <a:pPr lvl="1"/>
            <a:r>
              <a:rPr lang="en-US" noProof="0" dirty="0"/>
              <a:t>Inside, create a file </a:t>
            </a:r>
            <a:r>
              <a:rPr lang="en-US" noProof="0" dirty="0" err="1"/>
              <a:t>settings.json</a:t>
            </a:r>
            <a:endParaRPr lang="en-US" noProof="0" dirty="0"/>
          </a:p>
          <a:p>
            <a:pPr lvl="1"/>
            <a:r>
              <a:rPr lang="en-US" noProof="0" dirty="0"/>
              <a:t>This will overwrite Claude Code global settings, for this project</a:t>
            </a:r>
          </a:p>
          <a:p>
            <a:pPr lvl="1"/>
            <a:r>
              <a:rPr lang="en-US" noProof="0" dirty="0"/>
              <a:t>Another common practice: Also create a </a:t>
            </a:r>
            <a:r>
              <a:rPr lang="en-US" noProof="0" dirty="0" err="1"/>
              <a:t>settings.local.json</a:t>
            </a:r>
            <a:r>
              <a:rPr lang="en-US" noProof="0" dirty="0"/>
              <a:t> file for individual developer settings</a:t>
            </a:r>
          </a:p>
          <a:p>
            <a:pPr lvl="2"/>
            <a:r>
              <a:rPr lang="en-US" noProof="0" dirty="0"/>
              <a:t>Do not check in this file source control systems, so that individual user’s preferences remain local</a:t>
            </a:r>
          </a:p>
        </p:txBody>
      </p:sp>
    </p:spTree>
    <p:extLst>
      <p:ext uri="{BB962C8B-B14F-4D97-AF65-F5344CB8AC3E}">
        <p14:creationId xmlns:p14="http://schemas.microsoft.com/office/powerpoint/2010/main" val="3362894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CB528F-0C37-A2F2-3ADF-6DA867F1FE42}"/>
              </a:ext>
            </a:extLst>
          </p:cNvPr>
          <p:cNvSpPr>
            <a:spLocks noGrp="1"/>
          </p:cNvSpPr>
          <p:nvPr>
            <p:ph type="title"/>
          </p:nvPr>
        </p:nvSpPr>
        <p:spPr/>
        <p:txBody>
          <a:bodyPr/>
          <a:lstStyle/>
          <a:p>
            <a:r>
              <a:rPr lang="en-US" noProof="0" dirty="0"/>
              <a:t>Directly Running an Operation in the Terminal</a:t>
            </a:r>
          </a:p>
        </p:txBody>
      </p:sp>
      <p:sp>
        <p:nvSpPr>
          <p:cNvPr id="3" name="Content Placeholder 2">
            <a:extLst>
              <a:ext uri="{FF2B5EF4-FFF2-40B4-BE49-F238E27FC236}">
                <a16:creationId xmlns:a16="http://schemas.microsoft.com/office/drawing/2014/main" id="{8D4630BE-3F33-655C-5CEC-2F9A4FA79122}"/>
              </a:ext>
            </a:extLst>
          </p:cNvPr>
          <p:cNvSpPr>
            <a:spLocks noGrp="1"/>
          </p:cNvSpPr>
          <p:nvPr>
            <p:ph idx="1"/>
          </p:nvPr>
        </p:nvSpPr>
        <p:spPr/>
        <p:txBody>
          <a:bodyPr/>
          <a:lstStyle/>
          <a:p>
            <a:r>
              <a:rPr lang="en-US" b="1" noProof="0" dirty="0" err="1"/>
              <a:t>claude</a:t>
            </a:r>
            <a:r>
              <a:rPr lang="en-US" b="1" noProof="0" dirty="0"/>
              <a:t> “explain this project”</a:t>
            </a:r>
            <a:r>
              <a:rPr lang="en-US" noProof="0" dirty="0"/>
              <a:t>: Directly run the command without explicitly starting the Claude terminal</a:t>
            </a:r>
          </a:p>
          <a:p>
            <a:r>
              <a:rPr lang="en-US" b="1" noProof="0" dirty="0" err="1"/>
              <a:t>claude</a:t>
            </a:r>
            <a:r>
              <a:rPr lang="en-US" b="1" noProof="0" dirty="0"/>
              <a:t>  -p  “explain this project”</a:t>
            </a:r>
            <a:r>
              <a:rPr lang="en-US" noProof="0" dirty="0"/>
              <a:t>: Same, but just show the final output</a:t>
            </a:r>
          </a:p>
          <a:p>
            <a:r>
              <a:rPr lang="en-US" b="1" noProof="0" dirty="0" err="1"/>
              <a:t>claude</a:t>
            </a:r>
            <a:r>
              <a:rPr lang="en-US" b="1" noProof="0" dirty="0"/>
              <a:t>  -c</a:t>
            </a:r>
            <a:r>
              <a:rPr lang="en-US" noProof="0" dirty="0"/>
              <a:t>: Continue the previous Claude session when starting Claude</a:t>
            </a:r>
          </a:p>
          <a:p>
            <a:endParaRPr lang="en-US" b="1" noProof="0" dirty="0"/>
          </a:p>
        </p:txBody>
      </p:sp>
    </p:spTree>
    <p:extLst>
      <p:ext uri="{BB962C8B-B14F-4D97-AF65-F5344CB8AC3E}">
        <p14:creationId xmlns:p14="http://schemas.microsoft.com/office/powerpoint/2010/main" val="7995051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998B-DD39-EFC6-78A9-779AA9DA175F}"/>
              </a:ext>
            </a:extLst>
          </p:cNvPr>
          <p:cNvSpPr>
            <a:spLocks noGrp="1"/>
          </p:cNvSpPr>
          <p:nvPr>
            <p:ph type="title"/>
          </p:nvPr>
        </p:nvSpPr>
        <p:spPr/>
        <p:txBody>
          <a:bodyPr/>
          <a:lstStyle/>
          <a:p>
            <a:r>
              <a:rPr lang="en-US" noProof="0" dirty="0"/>
              <a:t>Permissions</a:t>
            </a:r>
          </a:p>
        </p:txBody>
      </p:sp>
      <p:sp>
        <p:nvSpPr>
          <p:cNvPr id="3" name="Content Placeholder 2">
            <a:extLst>
              <a:ext uri="{FF2B5EF4-FFF2-40B4-BE49-F238E27FC236}">
                <a16:creationId xmlns:a16="http://schemas.microsoft.com/office/drawing/2014/main" id="{79901186-DBCB-1743-4D9E-CB772A0A71DF}"/>
              </a:ext>
            </a:extLst>
          </p:cNvPr>
          <p:cNvSpPr>
            <a:spLocks noGrp="1"/>
          </p:cNvSpPr>
          <p:nvPr>
            <p:ph idx="1"/>
          </p:nvPr>
        </p:nvSpPr>
        <p:spPr/>
        <p:txBody>
          <a:bodyPr>
            <a:normAutofit fontScale="92500" lnSpcReduction="20000"/>
          </a:bodyPr>
          <a:lstStyle/>
          <a:p>
            <a:r>
              <a:rPr lang="en-US" noProof="0" dirty="0"/>
              <a:t>By Default Claude Code will always ask for permissions</a:t>
            </a:r>
          </a:p>
          <a:p>
            <a:r>
              <a:rPr lang="en-US" noProof="0" dirty="0"/>
              <a:t>To let it work inside a project without asking for permissions: </a:t>
            </a:r>
            <a:r>
              <a:rPr lang="en-US" b="1" noProof="0" dirty="0" err="1"/>
              <a:t>Shift+Tab</a:t>
            </a:r>
            <a:endParaRPr lang="en-US" b="1" noProof="0" dirty="0"/>
          </a:p>
          <a:p>
            <a:pPr lvl="1"/>
            <a:r>
              <a:rPr lang="en-US" noProof="0" dirty="0"/>
              <a:t>Claude will still ask for permissions outside of the folder</a:t>
            </a:r>
          </a:p>
          <a:p>
            <a:r>
              <a:rPr lang="en-US" noProof="0" dirty="0"/>
              <a:t>Give all permissions to Claude for a session: </a:t>
            </a:r>
            <a:r>
              <a:rPr lang="en-US" b="1" noProof="0" dirty="0" err="1"/>
              <a:t>claude</a:t>
            </a:r>
            <a:r>
              <a:rPr lang="en-US" b="1" noProof="0" dirty="0"/>
              <a:t>   --dangerously-skip-permissions</a:t>
            </a:r>
          </a:p>
          <a:p>
            <a:r>
              <a:rPr lang="en-US" noProof="0" dirty="0"/>
              <a:t>This can be dangerous, so we can instead run Claude inside Docker: </a:t>
            </a:r>
            <a:r>
              <a:rPr lang="en-US" b="1" noProof="0" dirty="0"/>
              <a:t>docker   run   </a:t>
            </a:r>
            <a:r>
              <a:rPr lang="en-US" b="1" noProof="0" dirty="0" err="1"/>
              <a:t>claude</a:t>
            </a:r>
            <a:endParaRPr lang="en-US" b="1" noProof="0" dirty="0"/>
          </a:p>
          <a:p>
            <a:pPr lvl="1"/>
            <a:r>
              <a:rPr lang="en-US" noProof="0" dirty="0"/>
              <a:t>Now Claude cannot access anything outside of our project</a:t>
            </a:r>
          </a:p>
          <a:p>
            <a:r>
              <a:rPr lang="en-US" noProof="0" dirty="0"/>
              <a:t>Alternative: Claude has its own sandbox – Inside Claude code terminal” </a:t>
            </a:r>
            <a:r>
              <a:rPr lang="en-US" b="1" noProof="0" dirty="0"/>
              <a:t>/sandbox</a:t>
            </a:r>
          </a:p>
          <a:p>
            <a:pPr lvl="1"/>
            <a:r>
              <a:rPr lang="en-US" noProof="0" dirty="0"/>
              <a:t>All future Claude Code sessions will start with the sandbox – If we wish to disable, we will need to edit the configuration file (Does not work in Windows)</a:t>
            </a:r>
          </a:p>
          <a:p>
            <a:endParaRPr lang="en-US" noProof="0" dirty="0"/>
          </a:p>
        </p:txBody>
      </p:sp>
    </p:spTree>
    <p:extLst>
      <p:ext uri="{BB962C8B-B14F-4D97-AF65-F5344CB8AC3E}">
        <p14:creationId xmlns:p14="http://schemas.microsoft.com/office/powerpoint/2010/main" val="38179268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C80C9-1C19-12E5-7BE1-092F3E62B80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05031D-87CB-5EE1-2C35-4CE1544659A5}"/>
              </a:ext>
            </a:extLst>
          </p:cNvPr>
          <p:cNvSpPr>
            <a:spLocks noGrp="1"/>
          </p:cNvSpPr>
          <p:nvPr>
            <p:ph type="title"/>
          </p:nvPr>
        </p:nvSpPr>
        <p:spPr/>
        <p:txBody>
          <a:bodyPr/>
          <a:lstStyle/>
          <a:p>
            <a:r>
              <a:rPr lang="en-IN" dirty="0"/>
              <a:t>Section 2: Agentic Coding for Beginners</a:t>
            </a:r>
            <a:endParaRPr lang="en-GB" dirty="0"/>
          </a:p>
        </p:txBody>
      </p:sp>
      <p:sp>
        <p:nvSpPr>
          <p:cNvPr id="5" name="Text Placeholder 4">
            <a:extLst>
              <a:ext uri="{FF2B5EF4-FFF2-40B4-BE49-F238E27FC236}">
                <a16:creationId xmlns:a16="http://schemas.microsoft.com/office/drawing/2014/main" id="{835D527A-9FC0-121C-FB4F-A38AA98F41D1}"/>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51964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54D26C4-0A74-BCE5-71D8-D3A2C1FF51D9}"/>
              </a:ext>
            </a:extLst>
          </p:cNvPr>
          <p:cNvSpPr>
            <a:spLocks noGrp="1"/>
          </p:cNvSpPr>
          <p:nvPr>
            <p:ph type="title"/>
          </p:nvPr>
        </p:nvSpPr>
        <p:spPr/>
        <p:txBody>
          <a:bodyPr/>
          <a:lstStyle/>
          <a:p>
            <a:r>
              <a:rPr lang="en-IN" dirty="0"/>
              <a:t>Agentic Coding Basics</a:t>
            </a:r>
            <a:endParaRPr lang="en-GB" dirty="0"/>
          </a:p>
        </p:txBody>
      </p:sp>
      <p:sp>
        <p:nvSpPr>
          <p:cNvPr id="5" name="Content Placeholder 4">
            <a:extLst>
              <a:ext uri="{FF2B5EF4-FFF2-40B4-BE49-F238E27FC236}">
                <a16:creationId xmlns:a16="http://schemas.microsoft.com/office/drawing/2014/main" id="{B18834F3-C6C0-6ABA-57EC-A9768D56A95A}"/>
              </a:ext>
            </a:extLst>
          </p:cNvPr>
          <p:cNvSpPr>
            <a:spLocks noGrp="1"/>
          </p:cNvSpPr>
          <p:nvPr>
            <p:ph idx="1"/>
          </p:nvPr>
        </p:nvSpPr>
        <p:spPr/>
        <p:txBody>
          <a:bodyPr>
            <a:normAutofit fontScale="85000" lnSpcReduction="10000"/>
          </a:bodyPr>
          <a:lstStyle/>
          <a:p>
            <a:r>
              <a:rPr lang="en-US" dirty="0"/>
              <a:t>Agentic coding is different from copying code from a tutorial</a:t>
            </a:r>
          </a:p>
          <a:p>
            <a:r>
              <a:rPr lang="en-US" dirty="0"/>
              <a:t>You are not only asking for snippets</a:t>
            </a:r>
          </a:p>
          <a:p>
            <a:r>
              <a:rPr lang="en-US" dirty="0"/>
              <a:t>You are describing a goal, giving context, asking for a plan, reviewing suggested actions, approving small changes, testing results, and learning from the process</a:t>
            </a:r>
          </a:p>
          <a:p>
            <a:r>
              <a:rPr lang="en-US" dirty="0"/>
              <a:t>This requires a task-first mindset rather than a syntax-first mindset</a:t>
            </a:r>
          </a:p>
          <a:p>
            <a:r>
              <a:rPr lang="en-US" dirty="0"/>
              <a:t>Syntax-first beginner</a:t>
            </a:r>
          </a:p>
          <a:p>
            <a:pPr lvl="1"/>
            <a:r>
              <a:rPr lang="en-US" dirty="0"/>
              <a:t>What code should I type?</a:t>
            </a:r>
          </a:p>
          <a:p>
            <a:r>
              <a:rPr lang="en-US" dirty="0"/>
              <a:t>Task-first beginner</a:t>
            </a:r>
          </a:p>
          <a:p>
            <a:pPr lvl="1"/>
            <a:r>
              <a:rPr lang="en-US" dirty="0"/>
              <a:t>What am I trying to make happen?</a:t>
            </a:r>
          </a:p>
          <a:p>
            <a:pPr lvl="1"/>
            <a:r>
              <a:rPr lang="en-US" dirty="0"/>
              <a:t>What files are involved?</a:t>
            </a:r>
          </a:p>
          <a:p>
            <a:pPr lvl="1"/>
            <a:r>
              <a:rPr lang="en-US" dirty="0"/>
              <a:t>What is the smallest safe change?</a:t>
            </a:r>
          </a:p>
          <a:p>
            <a:pPr lvl="1"/>
            <a:r>
              <a:rPr lang="en-US" dirty="0"/>
              <a:t>How will I ensure that it works?</a:t>
            </a:r>
            <a:endParaRPr lang="en-GB" dirty="0"/>
          </a:p>
        </p:txBody>
      </p:sp>
    </p:spTree>
    <p:extLst>
      <p:ext uri="{BB962C8B-B14F-4D97-AF65-F5344CB8AC3E}">
        <p14:creationId xmlns:p14="http://schemas.microsoft.com/office/powerpoint/2010/main" val="221727525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9D8DB-4C86-7909-60E9-1C0ACDE0D7E5}"/>
              </a:ext>
            </a:extLst>
          </p:cNvPr>
          <p:cNvSpPr>
            <a:spLocks noGrp="1"/>
          </p:cNvSpPr>
          <p:nvPr>
            <p:ph type="title"/>
          </p:nvPr>
        </p:nvSpPr>
        <p:spPr/>
        <p:txBody>
          <a:bodyPr/>
          <a:lstStyle/>
          <a:p>
            <a:r>
              <a:rPr lang="en-IN" dirty="0"/>
              <a:t>Agentic Coding Basics – Objectives</a:t>
            </a:r>
            <a:endParaRPr lang="en-GB" dirty="0"/>
          </a:p>
        </p:txBody>
      </p:sp>
      <p:graphicFrame>
        <p:nvGraphicFramePr>
          <p:cNvPr id="4" name="Content Placeholder 3">
            <a:extLst>
              <a:ext uri="{FF2B5EF4-FFF2-40B4-BE49-F238E27FC236}">
                <a16:creationId xmlns:a16="http://schemas.microsoft.com/office/drawing/2014/main" id="{CA953FD1-8B89-D740-BDBC-735DF5BB14D9}"/>
              </a:ext>
            </a:extLst>
          </p:cNvPr>
          <p:cNvGraphicFramePr>
            <a:graphicFrameLocks noGrp="1"/>
          </p:cNvGraphicFramePr>
          <p:nvPr>
            <p:ph idx="1"/>
            <p:extLst>
              <p:ext uri="{D42A27DB-BD31-4B8C-83A1-F6EECF244321}">
                <p14:modId xmlns:p14="http://schemas.microsoft.com/office/powerpoint/2010/main" val="3673156702"/>
              </p:ext>
            </p:extLst>
          </p:nvPr>
        </p:nvGraphicFramePr>
        <p:xfrm>
          <a:off x="1312387" y="1623200"/>
          <a:ext cx="9441582" cy="4994810"/>
        </p:xfrm>
        <a:graphic>
          <a:graphicData uri="http://schemas.openxmlformats.org/drawingml/2006/table">
            <a:tbl>
              <a:tblPr firstRow="1">
                <a:tableStyleId>{72833802-FEF1-4C79-8D5D-14CF1EAF98D9}</a:tableStyleId>
              </a:tblPr>
              <a:tblGrid>
                <a:gridCol w="2596498">
                  <a:extLst>
                    <a:ext uri="{9D8B030D-6E8A-4147-A177-3AD203B41FA5}">
                      <a16:colId xmlns:a16="http://schemas.microsoft.com/office/drawing/2014/main" val="2903333942"/>
                    </a:ext>
                  </a:extLst>
                </a:gridCol>
                <a:gridCol w="6845084">
                  <a:extLst>
                    <a:ext uri="{9D8B030D-6E8A-4147-A177-3AD203B41FA5}">
                      <a16:colId xmlns:a16="http://schemas.microsoft.com/office/drawing/2014/main" val="2623644712"/>
                    </a:ext>
                  </a:extLst>
                </a:gridCol>
              </a:tblGrid>
              <a:tr h="328403">
                <a:tc>
                  <a:txBody>
                    <a:bodyPr/>
                    <a:lstStyle/>
                    <a:p>
                      <a:pPr>
                        <a:buNone/>
                      </a:pPr>
                      <a:r>
                        <a:rPr lang="en-GB" sz="2000" b="1"/>
                        <a:t>Objective</a:t>
                      </a:r>
                      <a:endParaRPr lang="en-GB" sz="20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dirty="0"/>
                        <a:t>What You Should Be Able to Do</a:t>
                      </a:r>
                      <a:endParaRPr lang="en-GB" sz="2000" dirty="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9452418"/>
                  </a:ext>
                </a:extLst>
              </a:tr>
              <a:tr h="574705">
                <a:tc>
                  <a:txBody>
                    <a:bodyPr/>
                    <a:lstStyle/>
                    <a:p>
                      <a:pPr>
                        <a:buNone/>
                      </a:pPr>
                      <a:r>
                        <a:rPr lang="en-GB" sz="2000"/>
                        <a:t>Begin confidently</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Explain why beginners can start using Claude Code without being expert developers.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22166605"/>
                  </a:ext>
                </a:extLst>
              </a:tr>
              <a:tr h="574705">
                <a:tc>
                  <a:txBody>
                    <a:bodyPr/>
                    <a:lstStyle/>
                    <a:p>
                      <a:pPr>
                        <a:buNone/>
                      </a:pPr>
                      <a:r>
                        <a:rPr lang="en-GB" sz="2000"/>
                        <a:t>Learn differently</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Describe how AI changes the way beginners learn programming.</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7457220"/>
                  </a:ext>
                </a:extLst>
              </a:tr>
              <a:tr h="574705">
                <a:tc>
                  <a:txBody>
                    <a:bodyPr/>
                    <a:lstStyle/>
                    <a:p>
                      <a:pPr>
                        <a:buNone/>
                      </a:pPr>
                      <a:r>
                        <a:rPr lang="en-GB" sz="2000"/>
                        <a:t>Think in tasks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Convert a coding goal into clear tasks instead of only focusing on syntax.</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7549615"/>
                  </a:ext>
                </a:extLst>
              </a:tr>
              <a:tr h="574705">
                <a:tc>
                  <a:txBody>
                    <a:bodyPr/>
                    <a:lstStyle/>
                    <a:p>
                      <a:pPr>
                        <a:buNone/>
                      </a:pPr>
                      <a:r>
                        <a:rPr lang="en-GB" sz="2000"/>
                        <a:t>Break ideas down</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Turn a large app idea into small coding requests that Claude Code can handle safely.</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6942069"/>
                  </a:ext>
                </a:extLst>
              </a:tr>
              <a:tr h="574705">
                <a:tc>
                  <a:txBody>
                    <a:bodyPr/>
                    <a:lstStyle/>
                    <a:p>
                      <a:pPr>
                        <a:buNone/>
                      </a:pPr>
                      <a:r>
                        <a:rPr lang="en-GB" sz="2000"/>
                        <a:t>Collaborate well</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Understand the human-AI developer relationship and where responsibility belongs.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6770637"/>
                  </a:ext>
                </a:extLst>
              </a:tr>
              <a:tr h="574705">
                <a:tc>
                  <a:txBody>
                    <a:bodyPr/>
                    <a:lstStyle/>
                    <a:p>
                      <a:pPr>
                        <a:buNone/>
                      </a:pPr>
                      <a:r>
                        <a:rPr lang="en-GB" sz="2000"/>
                        <a:t>Avoid mistakes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Identify common beginner errors when using AI coding tools.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37365206"/>
                  </a:ext>
                </a:extLst>
              </a:tr>
              <a:tr h="574705">
                <a:tc>
                  <a:txBody>
                    <a:bodyPr/>
                    <a:lstStyle/>
                    <a:p>
                      <a:pPr>
                        <a:buNone/>
                      </a:pPr>
                      <a:r>
                        <a:rPr lang="en-GB" sz="2000"/>
                        <a:t>Practice planning</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Turn one app idea into a structured task list with safe Claude Code prompts.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6760446"/>
                  </a:ext>
                </a:extLst>
              </a:tr>
            </a:tbl>
          </a:graphicData>
        </a:graphic>
      </p:graphicFrame>
    </p:spTree>
    <p:extLst>
      <p:ext uri="{BB962C8B-B14F-4D97-AF65-F5344CB8AC3E}">
        <p14:creationId xmlns:p14="http://schemas.microsoft.com/office/powerpoint/2010/main" val="5424797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9D1DB-6354-1176-2A41-BCAB45DAAAAE}"/>
              </a:ext>
            </a:extLst>
          </p:cNvPr>
          <p:cNvSpPr>
            <a:spLocks noGrp="1"/>
          </p:cNvSpPr>
          <p:nvPr>
            <p:ph type="title"/>
          </p:nvPr>
        </p:nvSpPr>
        <p:spPr/>
        <p:txBody>
          <a:bodyPr/>
          <a:lstStyle/>
          <a:p>
            <a:r>
              <a:rPr lang="en-IN" dirty="0"/>
              <a:t>Begin Confidently</a:t>
            </a:r>
            <a:endParaRPr lang="en-GB" dirty="0"/>
          </a:p>
        </p:txBody>
      </p:sp>
      <p:sp>
        <p:nvSpPr>
          <p:cNvPr id="3" name="Content Placeholder 2">
            <a:extLst>
              <a:ext uri="{FF2B5EF4-FFF2-40B4-BE49-F238E27FC236}">
                <a16:creationId xmlns:a16="http://schemas.microsoft.com/office/drawing/2014/main" id="{AE097AD2-EA83-87EF-1EEA-B456818FCD36}"/>
              </a:ext>
            </a:extLst>
          </p:cNvPr>
          <p:cNvSpPr>
            <a:spLocks noGrp="1"/>
          </p:cNvSpPr>
          <p:nvPr>
            <p:ph idx="1"/>
          </p:nvPr>
        </p:nvSpPr>
        <p:spPr/>
        <p:txBody>
          <a:bodyPr>
            <a:normAutofit fontScale="77500" lnSpcReduction="20000"/>
          </a:bodyPr>
          <a:lstStyle/>
          <a:p>
            <a:r>
              <a:rPr lang="en-US" dirty="0"/>
              <a:t>You do not need to be an expert programmer before you begin using Claude Code</a:t>
            </a:r>
          </a:p>
          <a:p>
            <a:r>
              <a:rPr lang="en-US" dirty="0"/>
              <a:t>You do need patience, curiosity, and the willingness to review what the AI suggests</a:t>
            </a:r>
          </a:p>
          <a:p>
            <a:r>
              <a:rPr lang="en-US" dirty="0"/>
              <a:t>Claude Code can help you learn while building</a:t>
            </a:r>
          </a:p>
          <a:p>
            <a:r>
              <a:rPr lang="en-US" dirty="0"/>
              <a:t>Instead of studying ten unrelated concepts first, you can begin with a small project and ask Claude Code to explain the concepts as they appear</a:t>
            </a:r>
          </a:p>
          <a:p>
            <a:r>
              <a:rPr lang="en-US" dirty="0"/>
              <a:t>This is important because beginners often understand faster when knowledge is connected to something they are trying to create</a:t>
            </a:r>
          </a:p>
          <a:p>
            <a:r>
              <a:rPr lang="en-US" dirty="0"/>
              <a:t>For example, a beginner building a task list app may learn about HTML forms, JavaScript events, arrays, local storage, functions, and debugging in one small project</a:t>
            </a:r>
          </a:p>
          <a:p>
            <a:r>
              <a:rPr lang="en-US" dirty="0"/>
              <a:t>The project becomes the classroom, and Claude Code becomes the guide</a:t>
            </a:r>
          </a:p>
          <a:p>
            <a:pPr lvl="1"/>
            <a:r>
              <a:rPr lang="en-US" dirty="0"/>
              <a:t>Example: I am new to coding and I want to learn by building. Please help me create a small project plan that teaches one concept at a time. Do not write code yet. First explain what I should learn first and why.</a:t>
            </a:r>
            <a:endParaRPr lang="en-GB" dirty="0"/>
          </a:p>
        </p:txBody>
      </p:sp>
    </p:spTree>
    <p:extLst>
      <p:ext uri="{BB962C8B-B14F-4D97-AF65-F5344CB8AC3E}">
        <p14:creationId xmlns:p14="http://schemas.microsoft.com/office/powerpoint/2010/main" val="36300367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45BAE-4B88-DE78-CD8C-2E7B17EBB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B60015-4650-E16F-6ACC-A049E4F27622}"/>
              </a:ext>
            </a:extLst>
          </p:cNvPr>
          <p:cNvSpPr>
            <a:spLocks noGrp="1"/>
          </p:cNvSpPr>
          <p:nvPr>
            <p:ph type="title"/>
          </p:nvPr>
        </p:nvSpPr>
        <p:spPr/>
        <p:txBody>
          <a:bodyPr/>
          <a:lstStyle/>
          <a:p>
            <a:r>
              <a:rPr lang="en-IN" dirty="0"/>
              <a:t>Begin Confidently – Example</a:t>
            </a:r>
            <a:endParaRPr lang="en-GB" dirty="0"/>
          </a:p>
        </p:txBody>
      </p:sp>
      <p:sp>
        <p:nvSpPr>
          <p:cNvPr id="3" name="Content Placeholder 2">
            <a:extLst>
              <a:ext uri="{FF2B5EF4-FFF2-40B4-BE49-F238E27FC236}">
                <a16:creationId xmlns:a16="http://schemas.microsoft.com/office/drawing/2014/main" id="{1A0B676B-1313-1B65-9F58-D5D6FFC2E864}"/>
              </a:ext>
            </a:extLst>
          </p:cNvPr>
          <p:cNvSpPr>
            <a:spLocks noGrp="1"/>
          </p:cNvSpPr>
          <p:nvPr>
            <p:ph idx="1"/>
          </p:nvPr>
        </p:nvSpPr>
        <p:spPr/>
        <p:txBody>
          <a:bodyPr>
            <a:normAutofit/>
          </a:bodyPr>
          <a:lstStyle/>
          <a:p>
            <a:r>
              <a:rPr lang="en-US" dirty="0"/>
              <a:t>A beginner does not need to know everything before starting</a:t>
            </a:r>
          </a:p>
          <a:p>
            <a:r>
              <a:rPr lang="en-US" dirty="0"/>
              <a:t>A beginner needs to start small, ask clear questions, test carefully, and learn from every change</a:t>
            </a:r>
          </a:p>
          <a:p>
            <a:endParaRPr lang="en-GB" dirty="0"/>
          </a:p>
        </p:txBody>
      </p:sp>
      <p:graphicFrame>
        <p:nvGraphicFramePr>
          <p:cNvPr id="4" name="Table 3">
            <a:extLst>
              <a:ext uri="{FF2B5EF4-FFF2-40B4-BE49-F238E27FC236}">
                <a16:creationId xmlns:a16="http://schemas.microsoft.com/office/drawing/2014/main" id="{12609360-AAE7-F7D1-DF20-9C06AEAF8119}"/>
              </a:ext>
            </a:extLst>
          </p:cNvPr>
          <p:cNvGraphicFramePr>
            <a:graphicFrameLocks noGrp="1"/>
          </p:cNvGraphicFramePr>
          <p:nvPr>
            <p:extLst>
              <p:ext uri="{D42A27DB-BD31-4B8C-83A1-F6EECF244321}">
                <p14:modId xmlns:p14="http://schemas.microsoft.com/office/powerpoint/2010/main" val="3116906645"/>
              </p:ext>
            </p:extLst>
          </p:nvPr>
        </p:nvGraphicFramePr>
        <p:xfrm>
          <a:off x="901022" y="3254068"/>
          <a:ext cx="10515600" cy="2773680"/>
        </p:xfrm>
        <a:graphic>
          <a:graphicData uri="http://schemas.openxmlformats.org/drawingml/2006/table">
            <a:tbl>
              <a:tblPr firstRow="1">
                <a:tableStyleId>{69012ECD-51FC-41F1-AA8D-1B2483CD663E}</a:tableStyleId>
              </a:tblPr>
              <a:tblGrid>
                <a:gridCol w="4187509">
                  <a:extLst>
                    <a:ext uri="{9D8B030D-6E8A-4147-A177-3AD203B41FA5}">
                      <a16:colId xmlns:a16="http://schemas.microsoft.com/office/drawing/2014/main" val="1637403616"/>
                    </a:ext>
                  </a:extLst>
                </a:gridCol>
                <a:gridCol w="6328091">
                  <a:extLst>
                    <a:ext uri="{9D8B030D-6E8A-4147-A177-3AD203B41FA5}">
                      <a16:colId xmlns:a16="http://schemas.microsoft.com/office/drawing/2014/main" val="3030101445"/>
                    </a:ext>
                  </a:extLst>
                </a:gridCol>
              </a:tblGrid>
              <a:tr h="0">
                <a:tc>
                  <a:txBody>
                    <a:bodyPr/>
                    <a:lstStyle/>
                    <a:p>
                      <a:pPr>
                        <a:buNone/>
                      </a:pPr>
                      <a:r>
                        <a:rPr lang="en-GB" sz="2000" b="1"/>
                        <a:t>Expert Skill</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Beginner-Friendly Starting Point</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1261152"/>
                  </a:ext>
                </a:extLst>
              </a:tr>
              <a:tr h="0">
                <a:tc>
                  <a:txBody>
                    <a:bodyPr/>
                    <a:lstStyle/>
                    <a:p>
                      <a:pPr>
                        <a:buNone/>
                      </a:pPr>
                      <a:r>
                        <a:rPr lang="en-GB" sz="2000"/>
                        <a:t>Advanced JavaScript architecture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Create one working button and understand the click event.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7249586"/>
                  </a:ext>
                </a:extLst>
              </a:tr>
              <a:tr h="0">
                <a:tc>
                  <a:txBody>
                    <a:bodyPr/>
                    <a:lstStyle/>
                    <a:p>
                      <a:pPr>
                        <a:buNone/>
                      </a:pPr>
                      <a:r>
                        <a:rPr lang="en-GB" sz="2000"/>
                        <a:t>Full-stack application design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Build one simple page before adding a backend.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26409354"/>
                  </a:ext>
                </a:extLst>
              </a:tr>
              <a:tr h="0">
                <a:tc>
                  <a:txBody>
                    <a:bodyPr/>
                    <a:lstStyle/>
                    <a:p>
                      <a:pPr>
                        <a:buNone/>
                      </a:pPr>
                      <a:r>
                        <a:rPr lang="en-GB" sz="2000"/>
                        <a:t>Professional testing strategy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Write one test for one small function.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3638964"/>
                  </a:ext>
                </a:extLst>
              </a:tr>
              <a:tr h="0">
                <a:tc>
                  <a:txBody>
                    <a:bodyPr/>
                    <a:lstStyle/>
                    <a:p>
                      <a:pPr>
                        <a:buNone/>
                      </a:pPr>
                      <a:r>
                        <a:rPr lang="en-GB" sz="2000"/>
                        <a:t>Complex Git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Make one commit with a clear message.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4347756"/>
                  </a:ext>
                </a:extLst>
              </a:tr>
              <a:tr h="0">
                <a:tc>
                  <a:txBody>
                    <a:bodyPr/>
                    <a:lstStyle/>
                    <a:p>
                      <a:pPr>
                        <a:buNone/>
                      </a:pPr>
                      <a:r>
                        <a:rPr lang="en-GB" sz="2000"/>
                        <a:t>Production deployment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Run the project locally and verify the result.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916864"/>
                  </a:ext>
                </a:extLst>
              </a:tr>
              <a:tr h="0">
                <a:tc>
                  <a:txBody>
                    <a:bodyPr/>
                    <a:lstStyle/>
                    <a:p>
                      <a:pPr>
                        <a:buNone/>
                      </a:pPr>
                      <a:r>
                        <a:rPr lang="en-GB" sz="2000"/>
                        <a:t>Large refactoring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Improve one small section without changing </a:t>
                      </a:r>
                      <a:r>
                        <a:rPr lang="en-GB" sz="2000" dirty="0" err="1"/>
                        <a:t>behavior</a:t>
                      </a:r>
                      <a:r>
                        <a:rPr lang="en-GB" sz="2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9805411"/>
                  </a:ext>
                </a:extLst>
              </a:tr>
            </a:tbl>
          </a:graphicData>
        </a:graphic>
      </p:graphicFrame>
    </p:spTree>
    <p:extLst>
      <p:ext uri="{BB962C8B-B14F-4D97-AF65-F5344CB8AC3E}">
        <p14:creationId xmlns:p14="http://schemas.microsoft.com/office/powerpoint/2010/main" val="31943116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00AE4-B78E-9CAC-FF62-0DE2847DF0C7}"/>
              </a:ext>
            </a:extLst>
          </p:cNvPr>
          <p:cNvSpPr>
            <a:spLocks noGrp="1"/>
          </p:cNvSpPr>
          <p:nvPr>
            <p:ph type="title"/>
          </p:nvPr>
        </p:nvSpPr>
        <p:spPr/>
        <p:txBody>
          <a:bodyPr/>
          <a:lstStyle/>
          <a:p>
            <a:r>
              <a:rPr lang="en-IN" dirty="0"/>
              <a:t>Learn Differently</a:t>
            </a:r>
            <a:endParaRPr lang="en-GB" dirty="0"/>
          </a:p>
        </p:txBody>
      </p:sp>
      <p:sp>
        <p:nvSpPr>
          <p:cNvPr id="3" name="Content Placeholder 2">
            <a:extLst>
              <a:ext uri="{FF2B5EF4-FFF2-40B4-BE49-F238E27FC236}">
                <a16:creationId xmlns:a16="http://schemas.microsoft.com/office/drawing/2014/main" id="{D060BE29-CDE9-D3F2-651C-1B79B6E778CE}"/>
              </a:ext>
            </a:extLst>
          </p:cNvPr>
          <p:cNvSpPr>
            <a:spLocks noGrp="1"/>
          </p:cNvSpPr>
          <p:nvPr>
            <p:ph idx="1"/>
          </p:nvPr>
        </p:nvSpPr>
        <p:spPr/>
        <p:txBody>
          <a:bodyPr/>
          <a:lstStyle/>
          <a:p>
            <a:r>
              <a:rPr lang="en-US" dirty="0"/>
              <a:t>The biggest change is that beginners can now ask questions they might be embarrassed to ask a human teacher</a:t>
            </a:r>
          </a:p>
          <a:p>
            <a:r>
              <a:rPr lang="en-US" dirty="0"/>
              <a:t>You can ask Claude Code to explain the same concept again in simpler language</a:t>
            </a:r>
          </a:p>
          <a:p>
            <a:r>
              <a:rPr lang="en-US" dirty="0"/>
              <a:t>You can ask it to compare two files</a:t>
            </a:r>
          </a:p>
          <a:p>
            <a:r>
              <a:rPr lang="en-US" dirty="0"/>
              <a:t>You can ask it to tell you why a command failed</a:t>
            </a:r>
          </a:p>
          <a:p>
            <a:r>
              <a:rPr lang="en-US" dirty="0"/>
              <a:t>You can ask it to summarize a change after it edits a file</a:t>
            </a:r>
            <a:endParaRPr lang="en-GB" dirty="0"/>
          </a:p>
        </p:txBody>
      </p:sp>
    </p:spTree>
    <p:extLst>
      <p:ext uri="{BB962C8B-B14F-4D97-AF65-F5344CB8AC3E}">
        <p14:creationId xmlns:p14="http://schemas.microsoft.com/office/powerpoint/2010/main" val="2047632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99C6-1C5D-7F0E-CC7D-34B6C71B92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9BE1B-E379-C5A3-364F-DC085FEB9D8F}"/>
              </a:ext>
            </a:extLst>
          </p:cNvPr>
          <p:cNvSpPr>
            <a:spLocks noGrp="1"/>
          </p:cNvSpPr>
          <p:nvPr>
            <p:ph type="title"/>
          </p:nvPr>
        </p:nvSpPr>
        <p:spPr/>
        <p:txBody>
          <a:bodyPr/>
          <a:lstStyle/>
          <a:p>
            <a:r>
              <a:rPr lang="en-IN" dirty="0"/>
              <a:t>Learn Differently – Example</a:t>
            </a:r>
            <a:endParaRPr lang="en-GB" dirty="0"/>
          </a:p>
        </p:txBody>
      </p:sp>
      <p:sp>
        <p:nvSpPr>
          <p:cNvPr id="3" name="Content Placeholder 2">
            <a:extLst>
              <a:ext uri="{FF2B5EF4-FFF2-40B4-BE49-F238E27FC236}">
                <a16:creationId xmlns:a16="http://schemas.microsoft.com/office/drawing/2014/main" id="{DFCA43B8-BA75-A498-65F8-C521594D1556}"/>
              </a:ext>
            </a:extLst>
          </p:cNvPr>
          <p:cNvSpPr>
            <a:spLocks noGrp="1"/>
          </p:cNvSpPr>
          <p:nvPr>
            <p:ph idx="1"/>
          </p:nvPr>
        </p:nvSpPr>
        <p:spPr/>
        <p:txBody>
          <a:bodyPr/>
          <a:lstStyle/>
          <a:p>
            <a:r>
              <a:rPr lang="en-US" dirty="0"/>
              <a:t>Explain this error as if I am a beginner. Then show me which file is most likely causing it. Before suggesting a fix, explain the reason for the error in simple language.</a:t>
            </a:r>
            <a:endParaRPr lang="en-GB" dirty="0"/>
          </a:p>
        </p:txBody>
      </p:sp>
      <p:graphicFrame>
        <p:nvGraphicFramePr>
          <p:cNvPr id="4" name="Table 3">
            <a:extLst>
              <a:ext uri="{FF2B5EF4-FFF2-40B4-BE49-F238E27FC236}">
                <a16:creationId xmlns:a16="http://schemas.microsoft.com/office/drawing/2014/main" id="{437E6A5C-B61B-2A08-4B32-019BE3E9F16B}"/>
              </a:ext>
            </a:extLst>
          </p:cNvPr>
          <p:cNvGraphicFramePr>
            <a:graphicFrameLocks noGrp="1"/>
          </p:cNvGraphicFramePr>
          <p:nvPr>
            <p:extLst>
              <p:ext uri="{D42A27DB-BD31-4B8C-83A1-F6EECF244321}">
                <p14:modId xmlns:p14="http://schemas.microsoft.com/office/powerpoint/2010/main" val="3463062334"/>
              </p:ext>
            </p:extLst>
          </p:nvPr>
        </p:nvGraphicFramePr>
        <p:xfrm>
          <a:off x="838200" y="3176240"/>
          <a:ext cx="10515600" cy="2377440"/>
        </p:xfrm>
        <a:graphic>
          <a:graphicData uri="http://schemas.openxmlformats.org/drawingml/2006/table">
            <a:tbl>
              <a:tblPr firstRow="1">
                <a:tableStyleId>{69012ECD-51FC-41F1-AA8D-1B2483CD663E}</a:tableStyleId>
              </a:tblPr>
              <a:tblGrid>
                <a:gridCol w="4836664">
                  <a:extLst>
                    <a:ext uri="{9D8B030D-6E8A-4147-A177-3AD203B41FA5}">
                      <a16:colId xmlns:a16="http://schemas.microsoft.com/office/drawing/2014/main" val="1773095332"/>
                    </a:ext>
                  </a:extLst>
                </a:gridCol>
                <a:gridCol w="5678936">
                  <a:extLst>
                    <a:ext uri="{9D8B030D-6E8A-4147-A177-3AD203B41FA5}">
                      <a16:colId xmlns:a16="http://schemas.microsoft.com/office/drawing/2014/main" val="1727430036"/>
                    </a:ext>
                  </a:extLst>
                </a:gridCol>
              </a:tblGrid>
              <a:tr h="0">
                <a:tc>
                  <a:txBody>
                    <a:bodyPr/>
                    <a:lstStyle/>
                    <a:p>
                      <a:pPr>
                        <a:buNone/>
                      </a:pPr>
                      <a:r>
                        <a:rPr lang="en-GB" sz="2000" b="1"/>
                        <a:t>Old Learning Pattern</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AI-Guided Learning Pattern</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8534419"/>
                  </a:ext>
                </a:extLst>
              </a:tr>
              <a:tr h="0">
                <a:tc>
                  <a:txBody>
                    <a:bodyPr/>
                    <a:lstStyle/>
                    <a:p>
                      <a:pPr>
                        <a:buNone/>
                      </a:pPr>
                      <a:r>
                        <a:rPr lang="en-GB" sz="2000"/>
                        <a:t>Memorize many rules before building.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Build small features and learn rules as they appear.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36130525"/>
                  </a:ext>
                </a:extLst>
              </a:tr>
              <a:tr h="0">
                <a:tc>
                  <a:txBody>
                    <a:bodyPr/>
                    <a:lstStyle/>
                    <a:p>
                      <a:pPr>
                        <a:buNone/>
                      </a:pPr>
                      <a:r>
                        <a:rPr lang="en-GB" sz="2000"/>
                        <a:t>Search for generic answers.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Ask questions about your actual project.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26167858"/>
                  </a:ext>
                </a:extLst>
              </a:tr>
              <a:tr h="0">
                <a:tc>
                  <a:txBody>
                    <a:bodyPr/>
                    <a:lstStyle/>
                    <a:p>
                      <a:pPr>
                        <a:buNone/>
                      </a:pPr>
                      <a:r>
                        <a:rPr lang="en-GB" sz="2000"/>
                        <a:t>Copy code and hope it works.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Ask Claude Code to explain and adapt the code.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6346729"/>
                  </a:ext>
                </a:extLst>
              </a:tr>
              <a:tr h="0">
                <a:tc>
                  <a:txBody>
                    <a:bodyPr/>
                    <a:lstStyle/>
                    <a:p>
                      <a:pPr>
                        <a:buNone/>
                      </a:pPr>
                      <a:r>
                        <a:rPr lang="en-GB" sz="2000"/>
                        <a:t>Get stuck on unclear errors.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Ask for the root cause and the smallest safe fix.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5756423"/>
                  </a:ext>
                </a:extLst>
              </a:tr>
              <a:tr h="0">
                <a:tc>
                  <a:txBody>
                    <a:bodyPr/>
                    <a:lstStyle/>
                    <a:p>
                      <a:pPr>
                        <a:buNone/>
                      </a:pPr>
                      <a:r>
                        <a:rPr lang="en-GB" sz="2000"/>
                        <a:t>Move on without understanding.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Request a plain-language change summary.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1274115"/>
                  </a:ext>
                </a:extLst>
              </a:tr>
            </a:tbl>
          </a:graphicData>
        </a:graphic>
      </p:graphicFrame>
    </p:spTree>
    <p:extLst>
      <p:ext uri="{BB962C8B-B14F-4D97-AF65-F5344CB8AC3E}">
        <p14:creationId xmlns:p14="http://schemas.microsoft.com/office/powerpoint/2010/main" val="476331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9DF61-2669-4E86-908A-903A457A28BB}"/>
              </a:ext>
            </a:extLst>
          </p:cNvPr>
          <p:cNvSpPr>
            <a:spLocks noGrp="1"/>
          </p:cNvSpPr>
          <p:nvPr>
            <p:ph type="title"/>
          </p:nvPr>
        </p:nvSpPr>
        <p:spPr/>
        <p:txBody>
          <a:bodyPr/>
          <a:lstStyle/>
          <a:p>
            <a:r>
              <a:rPr lang="en-IN" dirty="0"/>
              <a:t>Think in Tasks</a:t>
            </a:r>
            <a:endParaRPr lang="en-GB" dirty="0"/>
          </a:p>
        </p:txBody>
      </p:sp>
      <p:sp>
        <p:nvSpPr>
          <p:cNvPr id="3" name="Content Placeholder 2">
            <a:extLst>
              <a:ext uri="{FF2B5EF4-FFF2-40B4-BE49-F238E27FC236}">
                <a16:creationId xmlns:a16="http://schemas.microsoft.com/office/drawing/2014/main" id="{143211C8-961A-FB19-6675-6BD31C9B53EB}"/>
              </a:ext>
            </a:extLst>
          </p:cNvPr>
          <p:cNvSpPr>
            <a:spLocks noGrp="1"/>
          </p:cNvSpPr>
          <p:nvPr>
            <p:ph idx="1"/>
          </p:nvPr>
        </p:nvSpPr>
        <p:spPr/>
        <p:txBody>
          <a:bodyPr>
            <a:normAutofit lnSpcReduction="10000"/>
          </a:bodyPr>
          <a:lstStyle/>
          <a:p>
            <a:r>
              <a:rPr lang="en-US" dirty="0"/>
              <a:t>Claude Code works best when you describe the task, not only the syntax</a:t>
            </a:r>
          </a:p>
          <a:p>
            <a:r>
              <a:rPr lang="en-US" dirty="0"/>
              <a:t>If you only ask for code, you may receive code that does not match your project</a:t>
            </a:r>
          </a:p>
          <a:p>
            <a:r>
              <a:rPr lang="en-US" dirty="0"/>
              <a:t>If you describe the task, the current context, the desired result, and the limits, Claude Code can give more useful help</a:t>
            </a:r>
          </a:p>
          <a:p>
            <a:r>
              <a:rPr lang="en-US" dirty="0"/>
              <a:t>Four important questions</a:t>
            </a:r>
          </a:p>
          <a:p>
            <a:pPr lvl="1"/>
            <a:r>
              <a:rPr lang="en-US" dirty="0"/>
              <a:t>What am I trying to accomplish? </a:t>
            </a:r>
          </a:p>
          <a:p>
            <a:pPr lvl="1"/>
            <a:r>
              <a:rPr lang="en-US" dirty="0"/>
              <a:t>What files or features are involved? </a:t>
            </a:r>
          </a:p>
          <a:p>
            <a:pPr lvl="1"/>
            <a:r>
              <a:rPr lang="en-US" dirty="0"/>
              <a:t>What is the smallest safe next step? </a:t>
            </a:r>
          </a:p>
          <a:p>
            <a:pPr lvl="1"/>
            <a:r>
              <a:rPr lang="en-US" dirty="0"/>
              <a:t>How will I know the step worked?</a:t>
            </a:r>
            <a:endParaRPr lang="en-GB" dirty="0"/>
          </a:p>
        </p:txBody>
      </p:sp>
    </p:spTree>
    <p:extLst>
      <p:ext uri="{BB962C8B-B14F-4D97-AF65-F5344CB8AC3E}">
        <p14:creationId xmlns:p14="http://schemas.microsoft.com/office/powerpoint/2010/main" val="40202103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43D53-4A2D-F724-45D8-11DF2CE12D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CE3B0-DC1E-A4B7-425B-C2CC4F0DBC74}"/>
              </a:ext>
            </a:extLst>
          </p:cNvPr>
          <p:cNvSpPr>
            <a:spLocks noGrp="1"/>
          </p:cNvSpPr>
          <p:nvPr>
            <p:ph type="title"/>
          </p:nvPr>
        </p:nvSpPr>
        <p:spPr/>
        <p:txBody>
          <a:bodyPr/>
          <a:lstStyle/>
          <a:p>
            <a:r>
              <a:rPr lang="en-IN" dirty="0"/>
              <a:t>Think in Tasks - Example</a:t>
            </a:r>
            <a:endParaRPr lang="en-GB" dirty="0"/>
          </a:p>
        </p:txBody>
      </p:sp>
      <p:sp>
        <p:nvSpPr>
          <p:cNvPr id="3" name="Content Placeholder 2">
            <a:extLst>
              <a:ext uri="{FF2B5EF4-FFF2-40B4-BE49-F238E27FC236}">
                <a16:creationId xmlns:a16="http://schemas.microsoft.com/office/drawing/2014/main" id="{F6764CCA-55B8-8CED-7145-FB0CC83CD44A}"/>
              </a:ext>
            </a:extLst>
          </p:cNvPr>
          <p:cNvSpPr>
            <a:spLocks noGrp="1"/>
          </p:cNvSpPr>
          <p:nvPr>
            <p:ph idx="1"/>
          </p:nvPr>
        </p:nvSpPr>
        <p:spPr/>
        <p:txBody>
          <a:bodyPr>
            <a:normAutofit/>
          </a:bodyPr>
          <a:lstStyle/>
          <a:p>
            <a:r>
              <a:rPr lang="en-US" dirty="0"/>
              <a:t>I want to add a search box to my notes app. First inspect the current files and identify where notes are stored and displayed. Then create a small implementation plan. Do not edit files until I approve the plan.</a:t>
            </a:r>
          </a:p>
          <a:p>
            <a:endParaRPr lang="en-GB" dirty="0"/>
          </a:p>
        </p:txBody>
      </p:sp>
      <p:graphicFrame>
        <p:nvGraphicFramePr>
          <p:cNvPr id="4" name="Table 3">
            <a:extLst>
              <a:ext uri="{FF2B5EF4-FFF2-40B4-BE49-F238E27FC236}">
                <a16:creationId xmlns:a16="http://schemas.microsoft.com/office/drawing/2014/main" id="{F2256FD0-8B8B-9B73-556B-21F3772A2C08}"/>
              </a:ext>
            </a:extLst>
          </p:cNvPr>
          <p:cNvGraphicFramePr>
            <a:graphicFrameLocks noGrp="1"/>
          </p:cNvGraphicFramePr>
          <p:nvPr>
            <p:extLst>
              <p:ext uri="{D42A27DB-BD31-4B8C-83A1-F6EECF244321}">
                <p14:modId xmlns:p14="http://schemas.microsoft.com/office/powerpoint/2010/main" val="3618757654"/>
              </p:ext>
            </p:extLst>
          </p:nvPr>
        </p:nvGraphicFramePr>
        <p:xfrm>
          <a:off x="942902" y="3248484"/>
          <a:ext cx="10515600" cy="298704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2589647837"/>
                    </a:ext>
                  </a:extLst>
                </a:gridCol>
                <a:gridCol w="5257800">
                  <a:extLst>
                    <a:ext uri="{9D8B030D-6E8A-4147-A177-3AD203B41FA5}">
                      <a16:colId xmlns:a16="http://schemas.microsoft.com/office/drawing/2014/main" val="452684955"/>
                    </a:ext>
                  </a:extLst>
                </a:gridCol>
              </a:tblGrid>
              <a:tr h="0">
                <a:tc>
                  <a:txBody>
                    <a:bodyPr/>
                    <a:lstStyle/>
                    <a:p>
                      <a:pPr>
                        <a:buNone/>
                      </a:pPr>
                      <a:r>
                        <a:rPr lang="en-GB" sz="2000" b="1"/>
                        <a:t>Syntax-First Thinking</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Task-First Thinking</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3233865"/>
                  </a:ext>
                </a:extLst>
              </a:tr>
              <a:tr h="0">
                <a:tc>
                  <a:txBody>
                    <a:bodyPr/>
                    <a:lstStyle/>
                    <a:p>
                      <a:pPr>
                        <a:buNone/>
                      </a:pPr>
                      <a:r>
                        <a:rPr lang="en-GB" sz="2000"/>
                        <a:t>How do I write a function?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What should this function do in the app?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3369431"/>
                  </a:ext>
                </a:extLst>
              </a:tr>
              <a:tr h="0">
                <a:tc>
                  <a:txBody>
                    <a:bodyPr/>
                    <a:lstStyle/>
                    <a:p>
                      <a:pPr>
                        <a:buNone/>
                      </a:pPr>
                      <a:r>
                        <a:rPr lang="en-GB" sz="2000"/>
                        <a:t>Give me HTML code.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Create the form section for adding one task.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59738536"/>
                  </a:ext>
                </a:extLst>
              </a:tr>
              <a:tr h="0">
                <a:tc>
                  <a:txBody>
                    <a:bodyPr/>
                    <a:lstStyle/>
                    <a:p>
                      <a:pPr>
                        <a:buNone/>
                      </a:pPr>
                      <a:r>
                        <a:rPr lang="en-GB" sz="2000"/>
                        <a:t>Fix this JavaScript.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Find why the save button does not add a task.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16320318"/>
                  </a:ext>
                </a:extLst>
              </a:tr>
              <a:tr h="0">
                <a:tc>
                  <a:txBody>
                    <a:bodyPr/>
                    <a:lstStyle/>
                    <a:p>
                      <a:pPr>
                        <a:buNone/>
                      </a:pPr>
                      <a:r>
                        <a:rPr lang="en-GB" sz="2000"/>
                        <a:t>Make the CSS better.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Improve spacing and readability without changing the layout structure.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2764989"/>
                  </a:ext>
                </a:extLst>
              </a:tr>
              <a:tr h="0">
                <a:tc>
                  <a:txBody>
                    <a:bodyPr/>
                    <a:lstStyle/>
                    <a:p>
                      <a:pPr>
                        <a:buNone/>
                      </a:pPr>
                      <a:r>
                        <a:rPr lang="en-GB" sz="2000"/>
                        <a:t>Write tests.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Write tests for task creation and task deletion 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835951"/>
                  </a:ext>
                </a:extLst>
              </a:tr>
            </a:tbl>
          </a:graphicData>
        </a:graphic>
      </p:graphicFrame>
    </p:spTree>
    <p:extLst>
      <p:ext uri="{BB962C8B-B14F-4D97-AF65-F5344CB8AC3E}">
        <p14:creationId xmlns:p14="http://schemas.microsoft.com/office/powerpoint/2010/main" val="24358653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E16D3-9A16-03D5-B2F5-A6C01BA5FDC1}"/>
              </a:ext>
            </a:extLst>
          </p:cNvPr>
          <p:cNvSpPr>
            <a:spLocks noGrp="1"/>
          </p:cNvSpPr>
          <p:nvPr>
            <p:ph type="title"/>
          </p:nvPr>
        </p:nvSpPr>
        <p:spPr/>
        <p:txBody>
          <a:bodyPr/>
          <a:lstStyle/>
          <a:p>
            <a:r>
              <a:rPr lang="en-IN" dirty="0"/>
              <a:t>Break Ideas Down</a:t>
            </a:r>
            <a:endParaRPr lang="en-GB" dirty="0"/>
          </a:p>
        </p:txBody>
      </p:sp>
      <p:sp>
        <p:nvSpPr>
          <p:cNvPr id="3" name="Content Placeholder 2">
            <a:extLst>
              <a:ext uri="{FF2B5EF4-FFF2-40B4-BE49-F238E27FC236}">
                <a16:creationId xmlns:a16="http://schemas.microsoft.com/office/drawing/2014/main" id="{35BB8E93-77F3-4DA5-7286-34B0934CAEA7}"/>
              </a:ext>
            </a:extLst>
          </p:cNvPr>
          <p:cNvSpPr>
            <a:spLocks noGrp="1"/>
          </p:cNvSpPr>
          <p:nvPr>
            <p:ph idx="1"/>
          </p:nvPr>
        </p:nvSpPr>
        <p:spPr/>
        <p:txBody>
          <a:bodyPr>
            <a:normAutofit fontScale="92500" lnSpcReduction="20000"/>
          </a:bodyPr>
          <a:lstStyle/>
          <a:p>
            <a:r>
              <a:rPr lang="en-US" dirty="0"/>
              <a:t>A big idea is exciting, but it can confuse both the beginner and the AI.</a:t>
            </a:r>
          </a:p>
          <a:p>
            <a:r>
              <a:rPr lang="en-US" dirty="0"/>
              <a:t>If you ask Claude Code to build a complete application from one instruction, you may get a large output that is difficult to understand, difficult to test, and difficult to fix</a:t>
            </a:r>
          </a:p>
          <a:p>
            <a:r>
              <a:rPr lang="en-US" dirty="0"/>
              <a:t>Small requests produce better learning and safer code</a:t>
            </a:r>
          </a:p>
          <a:p>
            <a:r>
              <a:rPr lang="en-US" dirty="0"/>
              <a:t>The correct approach is to break a big idea into layers</a:t>
            </a:r>
          </a:p>
          <a:p>
            <a:r>
              <a:rPr lang="en-US" dirty="0"/>
              <a:t>First define the purpose of the app</a:t>
            </a:r>
          </a:p>
          <a:p>
            <a:r>
              <a:rPr lang="en-US" dirty="0"/>
              <a:t>Then list the main features</a:t>
            </a:r>
          </a:p>
          <a:p>
            <a:r>
              <a:rPr lang="en-US" dirty="0"/>
              <a:t>Then choose the smallest feature to build first</a:t>
            </a:r>
          </a:p>
          <a:p>
            <a:r>
              <a:rPr lang="en-US" dirty="0"/>
              <a:t>Then turn that feature into one clear Claude Code request</a:t>
            </a:r>
          </a:p>
          <a:p>
            <a:r>
              <a:rPr lang="en-US" dirty="0"/>
              <a:t>After the request is completed, test it before moving to the next request</a:t>
            </a:r>
            <a:endParaRPr lang="en-GB" dirty="0"/>
          </a:p>
        </p:txBody>
      </p:sp>
    </p:spTree>
    <p:extLst>
      <p:ext uri="{BB962C8B-B14F-4D97-AF65-F5344CB8AC3E}">
        <p14:creationId xmlns:p14="http://schemas.microsoft.com/office/powerpoint/2010/main" val="8118738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B9768-A1C3-BA45-D4B8-825F6CEB11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12F15-8316-4311-6E62-89E1865CD78B}"/>
              </a:ext>
            </a:extLst>
          </p:cNvPr>
          <p:cNvSpPr>
            <a:spLocks noGrp="1"/>
          </p:cNvSpPr>
          <p:nvPr>
            <p:ph type="title"/>
          </p:nvPr>
        </p:nvSpPr>
        <p:spPr/>
        <p:txBody>
          <a:bodyPr/>
          <a:lstStyle/>
          <a:p>
            <a:r>
              <a:rPr lang="en-IN" dirty="0"/>
              <a:t>Break Ideas Down – Example</a:t>
            </a:r>
            <a:endParaRPr lang="en-GB" dirty="0"/>
          </a:p>
        </p:txBody>
      </p:sp>
      <p:sp>
        <p:nvSpPr>
          <p:cNvPr id="3" name="Content Placeholder 2">
            <a:extLst>
              <a:ext uri="{FF2B5EF4-FFF2-40B4-BE49-F238E27FC236}">
                <a16:creationId xmlns:a16="http://schemas.microsoft.com/office/drawing/2014/main" id="{B977B875-CB99-579E-B2C3-43B47DEE304C}"/>
              </a:ext>
            </a:extLst>
          </p:cNvPr>
          <p:cNvSpPr>
            <a:spLocks noGrp="1"/>
          </p:cNvSpPr>
          <p:nvPr>
            <p:ph idx="1"/>
          </p:nvPr>
        </p:nvSpPr>
        <p:spPr/>
        <p:txBody>
          <a:bodyPr>
            <a:normAutofit/>
          </a:bodyPr>
          <a:lstStyle/>
          <a:p>
            <a:r>
              <a:rPr lang="en-US" dirty="0"/>
              <a:t>I want to build a student study planner app. Do not write code yet. Break this idea into: purpose, main features, smallest first feature, files likely needed, and a safe first coding request.</a:t>
            </a:r>
            <a:endParaRPr lang="en-GB" dirty="0"/>
          </a:p>
        </p:txBody>
      </p:sp>
      <p:graphicFrame>
        <p:nvGraphicFramePr>
          <p:cNvPr id="4" name="Table 3">
            <a:extLst>
              <a:ext uri="{FF2B5EF4-FFF2-40B4-BE49-F238E27FC236}">
                <a16:creationId xmlns:a16="http://schemas.microsoft.com/office/drawing/2014/main" id="{0C6F98FF-28C3-E6AA-4BA3-D09BB7ADF84B}"/>
              </a:ext>
            </a:extLst>
          </p:cNvPr>
          <p:cNvGraphicFramePr>
            <a:graphicFrameLocks noGrp="1"/>
          </p:cNvGraphicFramePr>
          <p:nvPr>
            <p:extLst>
              <p:ext uri="{D42A27DB-BD31-4B8C-83A1-F6EECF244321}">
                <p14:modId xmlns:p14="http://schemas.microsoft.com/office/powerpoint/2010/main" val="3717853367"/>
              </p:ext>
            </p:extLst>
          </p:nvPr>
        </p:nvGraphicFramePr>
        <p:xfrm>
          <a:off x="894907" y="3177980"/>
          <a:ext cx="10515600" cy="2682240"/>
        </p:xfrm>
        <a:graphic>
          <a:graphicData uri="http://schemas.openxmlformats.org/drawingml/2006/table">
            <a:tbl>
              <a:tblPr firstRow="1">
                <a:tableStyleId>{69012ECD-51FC-41F1-AA8D-1B2483CD663E}</a:tableStyleId>
              </a:tblPr>
              <a:tblGrid>
                <a:gridCol w="4719084">
                  <a:extLst>
                    <a:ext uri="{9D8B030D-6E8A-4147-A177-3AD203B41FA5}">
                      <a16:colId xmlns:a16="http://schemas.microsoft.com/office/drawing/2014/main" val="3414536084"/>
                    </a:ext>
                  </a:extLst>
                </a:gridCol>
                <a:gridCol w="5796516">
                  <a:extLst>
                    <a:ext uri="{9D8B030D-6E8A-4147-A177-3AD203B41FA5}">
                      <a16:colId xmlns:a16="http://schemas.microsoft.com/office/drawing/2014/main" val="1189102418"/>
                    </a:ext>
                  </a:extLst>
                </a:gridCol>
              </a:tblGrid>
              <a:tr h="0">
                <a:tc>
                  <a:txBody>
                    <a:bodyPr/>
                    <a:lstStyle/>
                    <a:p>
                      <a:pPr>
                        <a:buNone/>
                      </a:pPr>
                      <a:r>
                        <a:rPr lang="en-GB" sz="2000" b="1"/>
                        <a:t>Too Big for First Request</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Better First Request</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4223777"/>
                  </a:ext>
                </a:extLst>
              </a:tr>
              <a:tr h="0">
                <a:tc>
                  <a:txBody>
                    <a:bodyPr/>
                    <a:lstStyle/>
                    <a:p>
                      <a:pPr>
                        <a:buNone/>
                      </a:pPr>
                      <a:r>
                        <a:rPr lang="en-GB" sz="2000"/>
                        <a:t>Build a complete ecommerce website.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Create the homepage hero section 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39779106"/>
                  </a:ext>
                </a:extLst>
              </a:tr>
              <a:tr h="0">
                <a:tc>
                  <a:txBody>
                    <a:bodyPr/>
                    <a:lstStyle/>
                    <a:p>
                      <a:pPr>
                        <a:buNone/>
                      </a:pPr>
                      <a:r>
                        <a:rPr lang="en-GB" sz="2000"/>
                        <a:t>Build a full social media app.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Create a form that adds one post to a list.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1882910"/>
                  </a:ext>
                </a:extLst>
              </a:tr>
              <a:tr h="0">
                <a:tc>
                  <a:txBody>
                    <a:bodyPr/>
                    <a:lstStyle/>
                    <a:p>
                      <a:pPr>
                        <a:buNone/>
                      </a:pPr>
                      <a:r>
                        <a:rPr lang="en-GB" sz="2000"/>
                        <a:t>Create a professional dashboard.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Create one summary card with placeholder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82904857"/>
                  </a:ext>
                </a:extLst>
              </a:tr>
              <a:tr h="0">
                <a:tc>
                  <a:txBody>
                    <a:bodyPr/>
                    <a:lstStyle/>
                    <a:p>
                      <a:pPr>
                        <a:buNone/>
                      </a:pPr>
                      <a:r>
                        <a:rPr lang="en-GB" sz="2000"/>
                        <a:t>Make a full authentication system.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Explain what authentication would require before coding.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81768981"/>
                  </a:ext>
                </a:extLst>
              </a:tr>
              <a:tr h="0">
                <a:tc>
                  <a:txBody>
                    <a:bodyPr/>
                    <a:lstStyle/>
                    <a:p>
                      <a:pPr>
                        <a:buNone/>
                      </a:pPr>
                      <a:r>
                        <a:rPr lang="en-GB" sz="2000"/>
                        <a:t>Deploy everything to production.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Run the app locally and document the steps.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2178480"/>
                  </a:ext>
                </a:extLst>
              </a:tr>
            </a:tbl>
          </a:graphicData>
        </a:graphic>
      </p:graphicFrame>
    </p:spTree>
    <p:extLst>
      <p:ext uri="{BB962C8B-B14F-4D97-AF65-F5344CB8AC3E}">
        <p14:creationId xmlns:p14="http://schemas.microsoft.com/office/powerpoint/2010/main" val="5995139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E703E-6199-35B9-9EEA-3D90747C1A01}"/>
              </a:ext>
            </a:extLst>
          </p:cNvPr>
          <p:cNvSpPr>
            <a:spLocks noGrp="1"/>
          </p:cNvSpPr>
          <p:nvPr>
            <p:ph type="title"/>
          </p:nvPr>
        </p:nvSpPr>
        <p:spPr/>
        <p:txBody>
          <a:bodyPr/>
          <a:lstStyle/>
          <a:p>
            <a:r>
              <a:rPr lang="en-IN" dirty="0"/>
              <a:t>Collaborate Well</a:t>
            </a:r>
            <a:endParaRPr lang="en-GB" dirty="0"/>
          </a:p>
        </p:txBody>
      </p:sp>
      <p:sp>
        <p:nvSpPr>
          <p:cNvPr id="3" name="Content Placeholder 2">
            <a:extLst>
              <a:ext uri="{FF2B5EF4-FFF2-40B4-BE49-F238E27FC236}">
                <a16:creationId xmlns:a16="http://schemas.microsoft.com/office/drawing/2014/main" id="{2272D1AD-B335-FD62-665B-B8D1CEED071B}"/>
              </a:ext>
            </a:extLst>
          </p:cNvPr>
          <p:cNvSpPr>
            <a:spLocks noGrp="1"/>
          </p:cNvSpPr>
          <p:nvPr>
            <p:ph idx="1"/>
          </p:nvPr>
        </p:nvSpPr>
        <p:spPr/>
        <p:txBody>
          <a:bodyPr/>
          <a:lstStyle/>
          <a:p>
            <a:r>
              <a:rPr lang="en-US" dirty="0"/>
              <a:t>Claude Code is not your boss, and it is not your employee in the normal human sense</a:t>
            </a:r>
          </a:p>
          <a:p>
            <a:r>
              <a:rPr lang="en-US" dirty="0"/>
              <a:t>It is a tool that can reason, suggest, edit, and explain within the limits of the context you provide</a:t>
            </a:r>
          </a:p>
          <a:p>
            <a:r>
              <a:rPr lang="en-US" dirty="0"/>
              <a:t>The human-AI developer relationship works best when the human defines the goal and the AI assists with the path</a:t>
            </a:r>
          </a:p>
          <a:p>
            <a:r>
              <a:rPr lang="en-US" dirty="0"/>
              <a:t>A healthy relationship with Claude Code has three parts</a:t>
            </a:r>
          </a:p>
          <a:p>
            <a:pPr lvl="1"/>
            <a:r>
              <a:rPr lang="en-US" dirty="0"/>
              <a:t>Instruction: Give clear goals and boundaries</a:t>
            </a:r>
          </a:p>
          <a:p>
            <a:pPr lvl="1"/>
            <a:r>
              <a:rPr lang="en-US" dirty="0"/>
              <a:t>Collaboration: Ask questions, review plans, and request explanations.</a:t>
            </a:r>
          </a:p>
          <a:p>
            <a:pPr lvl="1"/>
            <a:r>
              <a:rPr lang="en-US" dirty="0"/>
              <a:t>Verification: Run, test, and inspect the result before trusting it</a:t>
            </a:r>
            <a:endParaRPr lang="en-GB" dirty="0"/>
          </a:p>
        </p:txBody>
      </p:sp>
    </p:spTree>
    <p:extLst>
      <p:ext uri="{BB962C8B-B14F-4D97-AF65-F5344CB8AC3E}">
        <p14:creationId xmlns:p14="http://schemas.microsoft.com/office/powerpoint/2010/main" val="8171197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B4744-102A-09F8-EAC3-55228BBAE5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51EB87-E6AA-B8FF-3A9A-C31440E4EE56}"/>
              </a:ext>
            </a:extLst>
          </p:cNvPr>
          <p:cNvSpPr>
            <a:spLocks noGrp="1"/>
          </p:cNvSpPr>
          <p:nvPr>
            <p:ph type="title"/>
          </p:nvPr>
        </p:nvSpPr>
        <p:spPr/>
        <p:txBody>
          <a:bodyPr/>
          <a:lstStyle/>
          <a:p>
            <a:r>
              <a:rPr lang="en-IN" dirty="0"/>
              <a:t>Collaborate Well - Example</a:t>
            </a:r>
            <a:endParaRPr lang="en-GB" dirty="0"/>
          </a:p>
        </p:txBody>
      </p:sp>
      <p:sp>
        <p:nvSpPr>
          <p:cNvPr id="3" name="Content Placeholder 2">
            <a:extLst>
              <a:ext uri="{FF2B5EF4-FFF2-40B4-BE49-F238E27FC236}">
                <a16:creationId xmlns:a16="http://schemas.microsoft.com/office/drawing/2014/main" id="{B14F82C8-C99B-A206-88E4-109DD10ABA1A}"/>
              </a:ext>
            </a:extLst>
          </p:cNvPr>
          <p:cNvSpPr>
            <a:spLocks noGrp="1"/>
          </p:cNvSpPr>
          <p:nvPr>
            <p:ph idx="1"/>
          </p:nvPr>
        </p:nvSpPr>
        <p:spPr>
          <a:xfrm>
            <a:off x="838200" y="1811449"/>
            <a:ext cx="10515600" cy="4351338"/>
          </a:xfrm>
        </p:spPr>
        <p:txBody>
          <a:bodyPr/>
          <a:lstStyle/>
          <a:p>
            <a:r>
              <a:rPr lang="en-US" dirty="0"/>
              <a:t>Before making any changes, ask me three clarification questions about the feature. Then give me a short plan. Only after I approve the plan should you suggest edits.</a:t>
            </a:r>
            <a:endParaRPr lang="en-GB" dirty="0"/>
          </a:p>
        </p:txBody>
      </p:sp>
      <p:graphicFrame>
        <p:nvGraphicFramePr>
          <p:cNvPr id="4" name="Table 3">
            <a:extLst>
              <a:ext uri="{FF2B5EF4-FFF2-40B4-BE49-F238E27FC236}">
                <a16:creationId xmlns:a16="http://schemas.microsoft.com/office/drawing/2014/main" id="{A9572565-BE86-5630-D6BC-7ED43985B0C4}"/>
              </a:ext>
            </a:extLst>
          </p:cNvPr>
          <p:cNvGraphicFramePr>
            <a:graphicFrameLocks noGrp="1"/>
          </p:cNvGraphicFramePr>
          <p:nvPr>
            <p:extLst>
              <p:ext uri="{D42A27DB-BD31-4B8C-83A1-F6EECF244321}">
                <p14:modId xmlns:p14="http://schemas.microsoft.com/office/powerpoint/2010/main" val="49446844"/>
              </p:ext>
            </p:extLst>
          </p:nvPr>
        </p:nvGraphicFramePr>
        <p:xfrm>
          <a:off x="838200" y="3315140"/>
          <a:ext cx="10515600" cy="268224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1755583500"/>
                    </a:ext>
                  </a:extLst>
                </a:gridCol>
                <a:gridCol w="5257800">
                  <a:extLst>
                    <a:ext uri="{9D8B030D-6E8A-4147-A177-3AD203B41FA5}">
                      <a16:colId xmlns:a16="http://schemas.microsoft.com/office/drawing/2014/main" val="552286760"/>
                    </a:ext>
                  </a:extLst>
                </a:gridCol>
              </a:tblGrid>
              <a:tr h="0">
                <a:tc>
                  <a:txBody>
                    <a:bodyPr/>
                    <a:lstStyle/>
                    <a:p>
                      <a:pPr>
                        <a:buNone/>
                      </a:pPr>
                      <a:r>
                        <a:rPr lang="en-GB" sz="2000" b="1"/>
                        <a:t>Human Responsibility</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Claude Code Support</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56438134"/>
                  </a:ext>
                </a:extLst>
              </a:tr>
              <a:tr h="0">
                <a:tc>
                  <a:txBody>
                    <a:bodyPr/>
                    <a:lstStyle/>
                    <a:p>
                      <a:pPr>
                        <a:buNone/>
                      </a:pPr>
                      <a:r>
                        <a:rPr lang="en-GB" sz="2000"/>
                        <a:t>Define what should be built.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Suggests project plans and implementation steps.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49459468"/>
                  </a:ext>
                </a:extLst>
              </a:tr>
              <a:tr h="0">
                <a:tc>
                  <a:txBody>
                    <a:bodyPr/>
                    <a:lstStyle/>
                    <a:p>
                      <a:pPr>
                        <a:buNone/>
                      </a:pPr>
                      <a:r>
                        <a:rPr lang="en-GB" sz="2000"/>
                        <a:t>Explain the user goal and constraints.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Uses context to propose relevant code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08974094"/>
                  </a:ext>
                </a:extLst>
              </a:tr>
              <a:tr h="0">
                <a:tc>
                  <a:txBody>
                    <a:bodyPr/>
                    <a:lstStyle/>
                    <a:p>
                      <a:pPr>
                        <a:buNone/>
                      </a:pPr>
                      <a:r>
                        <a:rPr lang="en-GB" sz="2000"/>
                        <a:t>Approve or reject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Summarizes proposed edits and changed files.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6480827"/>
                  </a:ext>
                </a:extLst>
              </a:tr>
              <a:tr h="0">
                <a:tc>
                  <a:txBody>
                    <a:bodyPr/>
                    <a:lstStyle/>
                    <a:p>
                      <a:pPr>
                        <a:buNone/>
                      </a:pPr>
                      <a:r>
                        <a:rPr lang="en-GB" sz="2000"/>
                        <a:t>Test whether the result works.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Suggests commands and interprets errors.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89751138"/>
                  </a:ext>
                </a:extLst>
              </a:tr>
              <a:tr h="0">
                <a:tc>
                  <a:txBody>
                    <a:bodyPr/>
                    <a:lstStyle/>
                    <a:p>
                      <a:pPr>
                        <a:buNone/>
                      </a:pPr>
                      <a:r>
                        <a:rPr lang="en-GB" sz="2000"/>
                        <a:t>Understand enough to maintain the project.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Explains code in beginner-friendly language.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6676224"/>
                  </a:ext>
                </a:extLst>
              </a:tr>
            </a:tbl>
          </a:graphicData>
        </a:graphic>
      </p:graphicFrame>
    </p:spTree>
    <p:extLst>
      <p:ext uri="{BB962C8B-B14F-4D97-AF65-F5344CB8AC3E}">
        <p14:creationId xmlns:p14="http://schemas.microsoft.com/office/powerpoint/2010/main" val="35627413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6C856-3C28-1E10-1760-CEFF07ABF4A3}"/>
              </a:ext>
            </a:extLst>
          </p:cNvPr>
          <p:cNvSpPr>
            <a:spLocks noGrp="1"/>
          </p:cNvSpPr>
          <p:nvPr>
            <p:ph type="title"/>
          </p:nvPr>
        </p:nvSpPr>
        <p:spPr/>
        <p:txBody>
          <a:bodyPr/>
          <a:lstStyle/>
          <a:p>
            <a:r>
              <a:rPr lang="en-IN" dirty="0"/>
              <a:t>Avoid Mistakes</a:t>
            </a:r>
            <a:endParaRPr lang="en-GB" dirty="0"/>
          </a:p>
        </p:txBody>
      </p:sp>
      <p:sp>
        <p:nvSpPr>
          <p:cNvPr id="3" name="Content Placeholder 2">
            <a:extLst>
              <a:ext uri="{FF2B5EF4-FFF2-40B4-BE49-F238E27FC236}">
                <a16:creationId xmlns:a16="http://schemas.microsoft.com/office/drawing/2014/main" id="{0D4B748C-D7B0-DA72-E772-3A80E58BD1AF}"/>
              </a:ext>
            </a:extLst>
          </p:cNvPr>
          <p:cNvSpPr>
            <a:spLocks noGrp="1"/>
          </p:cNvSpPr>
          <p:nvPr>
            <p:ph idx="1"/>
          </p:nvPr>
        </p:nvSpPr>
        <p:spPr/>
        <p:txBody>
          <a:bodyPr/>
          <a:lstStyle/>
          <a:p>
            <a:r>
              <a:rPr lang="en-US" dirty="0"/>
              <a:t>Vague instructions, oversized requests, blind trust, weak testing, and failure to ask for explanations</a:t>
            </a:r>
          </a:p>
          <a:p>
            <a:endParaRPr lang="en-GB" dirty="0"/>
          </a:p>
        </p:txBody>
      </p:sp>
      <p:graphicFrame>
        <p:nvGraphicFramePr>
          <p:cNvPr id="4" name="Table 3">
            <a:extLst>
              <a:ext uri="{FF2B5EF4-FFF2-40B4-BE49-F238E27FC236}">
                <a16:creationId xmlns:a16="http://schemas.microsoft.com/office/drawing/2014/main" id="{12B056CA-EF82-435A-AB91-146F4F5B2815}"/>
              </a:ext>
            </a:extLst>
          </p:cNvPr>
          <p:cNvGraphicFramePr>
            <a:graphicFrameLocks noGrp="1"/>
          </p:cNvGraphicFramePr>
          <p:nvPr>
            <p:extLst>
              <p:ext uri="{D42A27DB-BD31-4B8C-83A1-F6EECF244321}">
                <p14:modId xmlns:p14="http://schemas.microsoft.com/office/powerpoint/2010/main" val="990887511"/>
              </p:ext>
            </p:extLst>
          </p:nvPr>
        </p:nvGraphicFramePr>
        <p:xfrm>
          <a:off x="233916" y="2640788"/>
          <a:ext cx="11695815" cy="4351338"/>
        </p:xfrm>
        <a:graphic>
          <a:graphicData uri="http://schemas.openxmlformats.org/drawingml/2006/table">
            <a:tbl>
              <a:tblPr firstRow="1">
                <a:tableStyleId>{69012ECD-51FC-41F1-AA8D-1B2483CD663E}</a:tableStyleId>
              </a:tblPr>
              <a:tblGrid>
                <a:gridCol w="3898605">
                  <a:extLst>
                    <a:ext uri="{9D8B030D-6E8A-4147-A177-3AD203B41FA5}">
                      <a16:colId xmlns:a16="http://schemas.microsoft.com/office/drawing/2014/main" val="4131404223"/>
                    </a:ext>
                  </a:extLst>
                </a:gridCol>
                <a:gridCol w="3898605">
                  <a:extLst>
                    <a:ext uri="{9D8B030D-6E8A-4147-A177-3AD203B41FA5}">
                      <a16:colId xmlns:a16="http://schemas.microsoft.com/office/drawing/2014/main" val="2415471928"/>
                    </a:ext>
                  </a:extLst>
                </a:gridCol>
                <a:gridCol w="3898605">
                  <a:extLst>
                    <a:ext uri="{9D8B030D-6E8A-4147-A177-3AD203B41FA5}">
                      <a16:colId xmlns:a16="http://schemas.microsoft.com/office/drawing/2014/main" val="3210397825"/>
                    </a:ext>
                  </a:extLst>
                </a:gridCol>
              </a:tblGrid>
              <a:tr h="328403">
                <a:tc>
                  <a:txBody>
                    <a:bodyPr/>
                    <a:lstStyle/>
                    <a:p>
                      <a:pPr>
                        <a:buNone/>
                      </a:pPr>
                      <a:r>
                        <a:rPr lang="en-GB" sz="1600" b="1"/>
                        <a:t>Beginner Mistake</a:t>
                      </a:r>
                      <a:endParaRPr lang="en-GB" sz="16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b="1"/>
                        <a:t>Why It Causes Problems</a:t>
                      </a:r>
                      <a:endParaRPr lang="en-GB" sz="16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b="1"/>
                        <a:t>Better Habit</a:t>
                      </a:r>
                      <a:endParaRPr lang="en-GB" sz="16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92144352"/>
                  </a:ext>
                </a:extLst>
              </a:tr>
              <a:tr h="574705">
                <a:tc>
                  <a:txBody>
                    <a:bodyPr/>
                    <a:lstStyle/>
                    <a:p>
                      <a:pPr>
                        <a:buNone/>
                      </a:pPr>
                      <a:r>
                        <a:rPr lang="en-GB" sz="1600"/>
                        <a:t>Asking for a full app in one prompt.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dirty="0"/>
                        <a:t>The output becomes too large to understand or test.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Build one small feature at a time.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04762891"/>
                  </a:ext>
                </a:extLst>
              </a:tr>
              <a:tr h="574705">
                <a:tc>
                  <a:txBody>
                    <a:bodyPr/>
                    <a:lstStyle/>
                    <a:p>
                      <a:pPr>
                        <a:buNone/>
                      </a:pPr>
                      <a:r>
                        <a:rPr lang="en-GB" sz="1600"/>
                        <a:t>Letting AI edit too many files at once.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You may not know what changed or why.</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Ask for a plan and approve small edits.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5154831"/>
                  </a:ext>
                </a:extLst>
              </a:tr>
              <a:tr h="574705">
                <a:tc>
                  <a:txBody>
                    <a:bodyPr/>
                    <a:lstStyle/>
                    <a:p>
                      <a:pPr>
                        <a:buNone/>
                      </a:pPr>
                      <a:r>
                        <a:rPr lang="en-GB" sz="1600"/>
                        <a:t>Not reading the code.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You cannot maintain what you do not understand.</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dirty="0"/>
                        <a:t>Ask for a line-by-line or section-by-section explanation.</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13856580"/>
                  </a:ext>
                </a:extLst>
              </a:tr>
              <a:tr h="574705">
                <a:tc>
                  <a:txBody>
                    <a:bodyPr/>
                    <a:lstStyle/>
                    <a:p>
                      <a:pPr>
                        <a:buNone/>
                      </a:pPr>
                      <a:r>
                        <a:rPr lang="en-GB" sz="1600"/>
                        <a:t>Ignoring errors after generation.</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The app may look finished but fail when used.</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Run the project and test the behavior.</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05726635"/>
                  </a:ext>
                </a:extLst>
              </a:tr>
              <a:tr h="574705">
                <a:tc>
                  <a:txBody>
                    <a:bodyPr/>
                    <a:lstStyle/>
                    <a:p>
                      <a:pPr>
                        <a:buNone/>
                      </a:pPr>
                      <a:r>
                        <a:rPr lang="en-GB" sz="1600"/>
                        <a:t>Copying secrets into prompts.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Private data or keys may be exposed.</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Use placeholders and protect sensitive information.</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08967458"/>
                  </a:ext>
                </a:extLst>
              </a:tr>
              <a:tr h="574705">
                <a:tc>
                  <a:txBody>
                    <a:bodyPr/>
                    <a:lstStyle/>
                    <a:p>
                      <a:pPr>
                        <a:buNone/>
                      </a:pPr>
                      <a:r>
                        <a:rPr lang="en-GB" sz="1600"/>
                        <a:t>Trusting confident explanations blindly.</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AI can sound correct even when wrong.</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Verify through documentation, tests, and output.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65396102"/>
                  </a:ext>
                </a:extLst>
              </a:tr>
              <a:tr h="574705">
                <a:tc>
                  <a:txBody>
                    <a:bodyPr/>
                    <a:lstStyle/>
                    <a:p>
                      <a:pPr>
                        <a:buNone/>
                      </a:pPr>
                      <a:r>
                        <a:rPr lang="en-GB" sz="1600"/>
                        <a:t>Skipping Git or backups.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a:t>Bad changes may be hard to undo.</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600" dirty="0"/>
                        <a:t>Save working versions before large changes.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8132373"/>
                  </a:ext>
                </a:extLst>
              </a:tr>
            </a:tbl>
          </a:graphicData>
        </a:graphic>
      </p:graphicFrame>
    </p:spTree>
    <p:extLst>
      <p:ext uri="{BB962C8B-B14F-4D97-AF65-F5344CB8AC3E}">
        <p14:creationId xmlns:p14="http://schemas.microsoft.com/office/powerpoint/2010/main" val="7713922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73D4A-47C5-5798-F048-117F6666322F}"/>
              </a:ext>
            </a:extLst>
          </p:cNvPr>
          <p:cNvSpPr>
            <a:spLocks noGrp="1"/>
          </p:cNvSpPr>
          <p:nvPr>
            <p:ph type="title"/>
          </p:nvPr>
        </p:nvSpPr>
        <p:spPr/>
        <p:txBody>
          <a:bodyPr/>
          <a:lstStyle/>
          <a:p>
            <a:r>
              <a:rPr lang="en-IN" dirty="0"/>
              <a:t>Avoid Mistakes – Example</a:t>
            </a:r>
            <a:endParaRPr lang="en-GB" dirty="0"/>
          </a:p>
        </p:txBody>
      </p:sp>
      <p:sp>
        <p:nvSpPr>
          <p:cNvPr id="3" name="Content Placeholder 2">
            <a:extLst>
              <a:ext uri="{FF2B5EF4-FFF2-40B4-BE49-F238E27FC236}">
                <a16:creationId xmlns:a16="http://schemas.microsoft.com/office/drawing/2014/main" id="{61F722C7-D0C1-16F7-7D55-C77DB71FD08B}"/>
              </a:ext>
            </a:extLst>
          </p:cNvPr>
          <p:cNvSpPr>
            <a:spLocks noGrp="1"/>
          </p:cNvSpPr>
          <p:nvPr>
            <p:ph idx="1"/>
          </p:nvPr>
        </p:nvSpPr>
        <p:spPr/>
        <p:txBody>
          <a:bodyPr/>
          <a:lstStyle/>
          <a:p>
            <a:r>
              <a:rPr lang="en-US" dirty="0"/>
              <a:t>Review this proposed change before editing. Tell me: which files will change, why each change is needed, what could break, how I can test the result. Do not edit until I approve.</a:t>
            </a:r>
            <a:endParaRPr lang="en-GB" dirty="0"/>
          </a:p>
        </p:txBody>
      </p:sp>
      <p:graphicFrame>
        <p:nvGraphicFramePr>
          <p:cNvPr id="4" name="Table 3">
            <a:extLst>
              <a:ext uri="{FF2B5EF4-FFF2-40B4-BE49-F238E27FC236}">
                <a16:creationId xmlns:a16="http://schemas.microsoft.com/office/drawing/2014/main" id="{492D6B0D-26FB-CA38-ED2F-879E294B5538}"/>
              </a:ext>
            </a:extLst>
          </p:cNvPr>
          <p:cNvGraphicFramePr>
            <a:graphicFrameLocks noGrp="1"/>
          </p:cNvGraphicFramePr>
          <p:nvPr>
            <p:extLst>
              <p:ext uri="{D42A27DB-BD31-4B8C-83A1-F6EECF244321}">
                <p14:modId xmlns:p14="http://schemas.microsoft.com/office/powerpoint/2010/main" val="962999206"/>
              </p:ext>
            </p:extLst>
          </p:nvPr>
        </p:nvGraphicFramePr>
        <p:xfrm>
          <a:off x="930348" y="3159443"/>
          <a:ext cx="10515600" cy="3596640"/>
        </p:xfrm>
        <a:graphic>
          <a:graphicData uri="http://schemas.openxmlformats.org/drawingml/2006/table">
            <a:tbl>
              <a:tblPr firstRow="1">
                <a:tableStyleId>{69012ECD-51FC-41F1-AA8D-1B2483CD663E}</a:tableStyleId>
              </a:tblPr>
              <a:tblGrid>
                <a:gridCol w="2946991">
                  <a:extLst>
                    <a:ext uri="{9D8B030D-6E8A-4147-A177-3AD203B41FA5}">
                      <a16:colId xmlns:a16="http://schemas.microsoft.com/office/drawing/2014/main" val="1009634100"/>
                    </a:ext>
                  </a:extLst>
                </a:gridCol>
                <a:gridCol w="7568609">
                  <a:extLst>
                    <a:ext uri="{9D8B030D-6E8A-4147-A177-3AD203B41FA5}">
                      <a16:colId xmlns:a16="http://schemas.microsoft.com/office/drawing/2014/main" val="458080666"/>
                    </a:ext>
                  </a:extLst>
                </a:gridCol>
              </a:tblGrid>
              <a:tr h="0">
                <a:tc>
                  <a:txBody>
                    <a:bodyPr/>
                    <a:lstStyle/>
                    <a:p>
                      <a:pPr>
                        <a:buNone/>
                      </a:pPr>
                      <a:r>
                        <a:rPr lang="en-GB" sz="2000" b="1"/>
                        <a:t>Weak Prompt</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Improved Prompt</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66232621"/>
                  </a:ext>
                </a:extLst>
              </a:tr>
              <a:tr h="0">
                <a:tc>
                  <a:txBody>
                    <a:bodyPr/>
                    <a:lstStyle/>
                    <a:p>
                      <a:pPr>
                        <a:buNone/>
                      </a:pPr>
                      <a:r>
                        <a:rPr lang="en-GB" sz="2000"/>
                        <a:t>Fix my app.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When I click “</a:t>
                      </a:r>
                      <a:r>
                        <a:rPr lang="en-GB" sz="2000" b="0" dirty="0"/>
                        <a:t>Save”</a:t>
                      </a:r>
                      <a:r>
                        <a:rPr lang="en-GB" sz="2000" dirty="0"/>
                        <a:t>, the item does not appear. Inspect the save logic and explain the likely cause before editing.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88525241"/>
                  </a:ext>
                </a:extLst>
              </a:tr>
              <a:tr h="0">
                <a:tc>
                  <a:txBody>
                    <a:bodyPr/>
                    <a:lstStyle/>
                    <a:p>
                      <a:pPr>
                        <a:buNone/>
                      </a:pPr>
                      <a:r>
                        <a:rPr lang="en-GB" sz="2000"/>
                        <a:t>Make it professional.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Improve spacing and readability on the homepage without changing the content or layout structure.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0195128"/>
                  </a:ext>
                </a:extLst>
              </a:tr>
              <a:tr h="0">
                <a:tc>
                  <a:txBody>
                    <a:bodyPr/>
                    <a:lstStyle/>
                    <a:p>
                      <a:pPr>
                        <a:buNone/>
                      </a:pPr>
                      <a:r>
                        <a:rPr lang="en-GB" sz="2000"/>
                        <a:t>Add everything.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Add only the task delete button first, then explain how to test 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16617759"/>
                  </a:ext>
                </a:extLst>
              </a:tr>
              <a:tr h="0">
                <a:tc>
                  <a:txBody>
                    <a:bodyPr/>
                    <a:lstStyle/>
                    <a:p>
                      <a:pPr>
                        <a:buNone/>
                      </a:pPr>
                      <a:r>
                        <a:rPr lang="en-GB" sz="2000"/>
                        <a:t>Rewrite this code.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Refactor this function to be easier to read while keeping the same behavior.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1828738"/>
                  </a:ext>
                </a:extLst>
              </a:tr>
              <a:tr h="0">
                <a:tc>
                  <a:txBody>
                    <a:bodyPr/>
                    <a:lstStyle/>
                    <a:p>
                      <a:pPr>
                        <a:buNone/>
                      </a:pPr>
                      <a:r>
                        <a:rPr lang="en-GB" sz="2000"/>
                        <a:t>Why is it broken?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Here is the error message and the action that caused it. Explain the root cause in simple language.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11701879"/>
                  </a:ext>
                </a:extLst>
              </a:tr>
            </a:tbl>
          </a:graphicData>
        </a:graphic>
      </p:graphicFrame>
    </p:spTree>
    <p:extLst>
      <p:ext uri="{BB962C8B-B14F-4D97-AF65-F5344CB8AC3E}">
        <p14:creationId xmlns:p14="http://schemas.microsoft.com/office/powerpoint/2010/main" val="29524280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41E47-E5FE-E361-D9A5-F8C142A138E7}"/>
              </a:ext>
            </a:extLst>
          </p:cNvPr>
          <p:cNvSpPr>
            <a:spLocks noGrp="1"/>
          </p:cNvSpPr>
          <p:nvPr>
            <p:ph type="title"/>
          </p:nvPr>
        </p:nvSpPr>
        <p:spPr/>
        <p:txBody>
          <a:bodyPr/>
          <a:lstStyle/>
          <a:p>
            <a:r>
              <a:rPr lang="en-IN" dirty="0"/>
              <a:t>Practice Planning</a:t>
            </a:r>
            <a:endParaRPr lang="en-GB" dirty="0"/>
          </a:p>
        </p:txBody>
      </p:sp>
      <p:sp>
        <p:nvSpPr>
          <p:cNvPr id="3" name="Content Placeholder 2">
            <a:extLst>
              <a:ext uri="{FF2B5EF4-FFF2-40B4-BE49-F238E27FC236}">
                <a16:creationId xmlns:a16="http://schemas.microsoft.com/office/drawing/2014/main" id="{0040F14F-F9FE-9F9C-D095-6D739F95EBDA}"/>
              </a:ext>
            </a:extLst>
          </p:cNvPr>
          <p:cNvSpPr>
            <a:spLocks noGrp="1"/>
          </p:cNvSpPr>
          <p:nvPr>
            <p:ph idx="1"/>
          </p:nvPr>
        </p:nvSpPr>
        <p:spPr/>
        <p:txBody>
          <a:bodyPr/>
          <a:lstStyle/>
          <a:p>
            <a:r>
              <a:rPr lang="en-IN" dirty="0"/>
              <a:t>Suppose we want to build this app</a:t>
            </a:r>
            <a:endParaRPr lang="en-GB" dirty="0"/>
          </a:p>
        </p:txBody>
      </p:sp>
      <p:graphicFrame>
        <p:nvGraphicFramePr>
          <p:cNvPr id="4" name="Table 3">
            <a:extLst>
              <a:ext uri="{FF2B5EF4-FFF2-40B4-BE49-F238E27FC236}">
                <a16:creationId xmlns:a16="http://schemas.microsoft.com/office/drawing/2014/main" id="{C083550E-16A7-9E25-564B-BEE2D90CED64}"/>
              </a:ext>
            </a:extLst>
          </p:cNvPr>
          <p:cNvGraphicFramePr>
            <a:graphicFrameLocks noGrp="1"/>
          </p:cNvGraphicFramePr>
          <p:nvPr>
            <p:extLst>
              <p:ext uri="{D42A27DB-BD31-4B8C-83A1-F6EECF244321}">
                <p14:modId xmlns:p14="http://schemas.microsoft.com/office/powerpoint/2010/main" val="1151372500"/>
              </p:ext>
            </p:extLst>
          </p:nvPr>
        </p:nvGraphicFramePr>
        <p:xfrm>
          <a:off x="923260" y="2525849"/>
          <a:ext cx="10515600" cy="2377440"/>
        </p:xfrm>
        <a:graphic>
          <a:graphicData uri="http://schemas.openxmlformats.org/drawingml/2006/table">
            <a:tbl>
              <a:tblPr firstRow="1">
                <a:tableStyleId>{69012ECD-51FC-41F1-AA8D-1B2483CD663E}</a:tableStyleId>
              </a:tblPr>
              <a:tblGrid>
                <a:gridCol w="3726712">
                  <a:extLst>
                    <a:ext uri="{9D8B030D-6E8A-4147-A177-3AD203B41FA5}">
                      <a16:colId xmlns:a16="http://schemas.microsoft.com/office/drawing/2014/main" val="4211003436"/>
                    </a:ext>
                  </a:extLst>
                </a:gridCol>
                <a:gridCol w="6788888">
                  <a:extLst>
                    <a:ext uri="{9D8B030D-6E8A-4147-A177-3AD203B41FA5}">
                      <a16:colId xmlns:a16="http://schemas.microsoft.com/office/drawing/2014/main" val="605617279"/>
                    </a:ext>
                  </a:extLst>
                </a:gridCol>
              </a:tblGrid>
              <a:tr h="0">
                <a:tc>
                  <a:txBody>
                    <a:bodyPr/>
                    <a:lstStyle/>
                    <a:p>
                      <a:pPr>
                        <a:buNone/>
                      </a:pPr>
                      <a:r>
                        <a:rPr lang="en-GB" sz="2000" b="1"/>
                        <a:t>Exercise Item</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Description</a:t>
                      </a:r>
                      <a:endParaRPr lang="en-GB" sz="20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4032126"/>
                  </a:ext>
                </a:extLst>
              </a:tr>
              <a:tr h="0">
                <a:tc>
                  <a:txBody>
                    <a:bodyPr/>
                    <a:lstStyle/>
                    <a:p>
                      <a:pPr>
                        <a:buNone/>
                      </a:pPr>
                      <a:r>
                        <a:rPr lang="en-GB" sz="2000"/>
                        <a:t>App idea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A personal habit tracker.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92019263"/>
                  </a:ext>
                </a:extLst>
              </a:tr>
              <a:tr h="0">
                <a:tc>
                  <a:txBody>
                    <a:bodyPr/>
                    <a:lstStyle/>
                    <a:p>
                      <a:pPr>
                        <a:buNone/>
                      </a:pPr>
                      <a:r>
                        <a:rPr lang="en-GB" sz="2000"/>
                        <a:t>Beginner technology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HTML, CSS, and JavaScript 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3639304"/>
                  </a:ext>
                </a:extLst>
              </a:tr>
              <a:tr h="0">
                <a:tc>
                  <a:txBody>
                    <a:bodyPr/>
                    <a:lstStyle/>
                    <a:p>
                      <a:pPr>
                        <a:buNone/>
                      </a:pPr>
                      <a:r>
                        <a:rPr lang="en-GB" sz="2000"/>
                        <a:t>Main goal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Allow a user to add a habit and mark it complete for the day.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64154136"/>
                  </a:ext>
                </a:extLst>
              </a:tr>
              <a:tr h="0">
                <a:tc>
                  <a:txBody>
                    <a:bodyPr/>
                    <a:lstStyle/>
                    <a:p>
                      <a:pPr>
                        <a:buNone/>
                      </a:pPr>
                      <a:r>
                        <a:rPr lang="en-GB" sz="2000"/>
                        <a:t>First safe feature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Create a form for adding one habit.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7317474"/>
                  </a:ext>
                </a:extLst>
              </a:tr>
              <a:tr h="0">
                <a:tc>
                  <a:txBody>
                    <a:bodyPr/>
                    <a:lstStyle/>
                    <a:p>
                      <a:pPr>
                        <a:buNone/>
                      </a:pPr>
                      <a:r>
                        <a:rPr lang="en-GB" sz="2000"/>
                        <a:t>Verification method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Open the page and confirm the habit appears in a list.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3434527"/>
                  </a:ext>
                </a:extLst>
              </a:tr>
            </a:tbl>
          </a:graphicData>
        </a:graphic>
      </p:graphicFrame>
    </p:spTree>
    <p:extLst>
      <p:ext uri="{BB962C8B-B14F-4D97-AF65-F5344CB8AC3E}">
        <p14:creationId xmlns:p14="http://schemas.microsoft.com/office/powerpoint/2010/main" val="9797263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1E5B7-3A8A-4913-D2D0-5A5AD1CC69B1}"/>
              </a:ext>
            </a:extLst>
          </p:cNvPr>
          <p:cNvSpPr>
            <a:spLocks noGrp="1"/>
          </p:cNvSpPr>
          <p:nvPr>
            <p:ph type="title"/>
          </p:nvPr>
        </p:nvSpPr>
        <p:spPr/>
        <p:txBody>
          <a:bodyPr/>
          <a:lstStyle/>
          <a:p>
            <a:r>
              <a:rPr lang="en-IN" dirty="0"/>
              <a:t>Practice Planning – Solution</a:t>
            </a:r>
            <a:endParaRPr lang="en-GB" dirty="0"/>
          </a:p>
        </p:txBody>
      </p:sp>
      <p:sp>
        <p:nvSpPr>
          <p:cNvPr id="3" name="Content Placeholder 2">
            <a:extLst>
              <a:ext uri="{FF2B5EF4-FFF2-40B4-BE49-F238E27FC236}">
                <a16:creationId xmlns:a16="http://schemas.microsoft.com/office/drawing/2014/main" id="{F8775FC0-0914-0C58-7342-2AC969A57039}"/>
              </a:ext>
            </a:extLst>
          </p:cNvPr>
          <p:cNvSpPr>
            <a:spLocks noGrp="1"/>
          </p:cNvSpPr>
          <p:nvPr>
            <p:ph idx="1"/>
          </p:nvPr>
        </p:nvSpPr>
        <p:spPr/>
        <p:txBody>
          <a:bodyPr>
            <a:normAutofit lnSpcReduction="10000"/>
          </a:bodyPr>
          <a:lstStyle/>
          <a:p>
            <a:r>
              <a:rPr lang="en-IN" dirty="0"/>
              <a:t>Prompt 1: I </a:t>
            </a:r>
            <a:r>
              <a:rPr lang="en-US" dirty="0"/>
              <a:t>want to build a personal habit tracker as a beginner project. Use HTML, CSS, and JavaScript only. Do not write code yet. Break the idea into small tasks. For each task, include the goal, likely file, risk level, and how I can test it.</a:t>
            </a:r>
            <a:r>
              <a:rPr lang="en-IN" dirty="0"/>
              <a:t> </a:t>
            </a:r>
          </a:p>
          <a:p>
            <a:r>
              <a:rPr lang="en-US" dirty="0"/>
              <a:t>After Claude Code responds, review the task list</a:t>
            </a:r>
          </a:p>
          <a:p>
            <a:r>
              <a:rPr lang="en-US" dirty="0"/>
              <a:t>If the tasks are too large, ask Claude Code to make them smaller</a:t>
            </a:r>
          </a:p>
          <a:p>
            <a:r>
              <a:rPr lang="en-US" dirty="0"/>
              <a:t>If the first task includes too many files or features, ask it to reduce the scope</a:t>
            </a:r>
          </a:p>
          <a:p>
            <a:r>
              <a:rPr lang="en-US" dirty="0"/>
              <a:t>Your goal is to produce a sequence that a beginner can safely follow</a:t>
            </a:r>
          </a:p>
          <a:p>
            <a:r>
              <a:rPr lang="en-US" dirty="0"/>
              <a:t>For this, use Prompt 2</a:t>
            </a:r>
            <a:endParaRPr lang="en-GB" dirty="0"/>
          </a:p>
        </p:txBody>
      </p:sp>
    </p:spTree>
    <p:extLst>
      <p:ext uri="{BB962C8B-B14F-4D97-AF65-F5344CB8AC3E}">
        <p14:creationId xmlns:p14="http://schemas.microsoft.com/office/powerpoint/2010/main" val="109007256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82C03-C659-046A-20BE-E0EE09052A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E17BC3-87FF-AB93-A8AF-2C67DE1E91D9}"/>
              </a:ext>
            </a:extLst>
          </p:cNvPr>
          <p:cNvSpPr>
            <a:spLocks noGrp="1"/>
          </p:cNvSpPr>
          <p:nvPr>
            <p:ph type="title"/>
          </p:nvPr>
        </p:nvSpPr>
        <p:spPr>
          <a:xfrm>
            <a:off x="838200" y="69803"/>
            <a:ext cx="10515600" cy="453708"/>
          </a:xfrm>
        </p:spPr>
        <p:txBody>
          <a:bodyPr>
            <a:normAutofit fontScale="90000"/>
          </a:bodyPr>
          <a:lstStyle/>
          <a:p>
            <a:r>
              <a:rPr lang="en-IN" dirty="0"/>
              <a:t>Practice Planning – Solution</a:t>
            </a:r>
            <a:endParaRPr lang="en-GB" dirty="0"/>
          </a:p>
        </p:txBody>
      </p:sp>
      <p:sp>
        <p:nvSpPr>
          <p:cNvPr id="3" name="Content Placeholder 2">
            <a:extLst>
              <a:ext uri="{FF2B5EF4-FFF2-40B4-BE49-F238E27FC236}">
                <a16:creationId xmlns:a16="http://schemas.microsoft.com/office/drawing/2014/main" id="{ADA86ED8-2CE3-CDD9-56CB-A243CF7F71E4}"/>
              </a:ext>
            </a:extLst>
          </p:cNvPr>
          <p:cNvSpPr>
            <a:spLocks noGrp="1"/>
          </p:cNvSpPr>
          <p:nvPr>
            <p:ph idx="1"/>
          </p:nvPr>
        </p:nvSpPr>
        <p:spPr>
          <a:xfrm>
            <a:off x="838200" y="593313"/>
            <a:ext cx="10515600" cy="5583650"/>
          </a:xfrm>
        </p:spPr>
        <p:txBody>
          <a:bodyPr/>
          <a:lstStyle/>
          <a:p>
            <a:r>
              <a:rPr lang="en-IN" dirty="0"/>
              <a:t>Prompt 2: </a:t>
            </a:r>
            <a:r>
              <a:rPr lang="en-US" dirty="0"/>
              <a:t>Make the task list smaller and safer for a beginner. Each task should change only one small part of the app. Do not include login, database, or deployment yet.</a:t>
            </a:r>
          </a:p>
          <a:p>
            <a:r>
              <a:rPr lang="en-US" dirty="0"/>
              <a:t>Claude may possibly show something like this</a:t>
            </a:r>
            <a:endParaRPr lang="en-GB" dirty="0"/>
          </a:p>
        </p:txBody>
      </p:sp>
      <p:graphicFrame>
        <p:nvGraphicFramePr>
          <p:cNvPr id="4" name="Table 3">
            <a:extLst>
              <a:ext uri="{FF2B5EF4-FFF2-40B4-BE49-F238E27FC236}">
                <a16:creationId xmlns:a16="http://schemas.microsoft.com/office/drawing/2014/main" id="{7DE50305-3C74-1B17-0867-30B33447F965}"/>
              </a:ext>
            </a:extLst>
          </p:cNvPr>
          <p:cNvGraphicFramePr>
            <a:graphicFrameLocks noGrp="1"/>
          </p:cNvGraphicFramePr>
          <p:nvPr>
            <p:extLst>
              <p:ext uri="{D42A27DB-BD31-4B8C-83A1-F6EECF244321}">
                <p14:modId xmlns:p14="http://schemas.microsoft.com/office/powerpoint/2010/main" val="3939391504"/>
              </p:ext>
            </p:extLst>
          </p:nvPr>
        </p:nvGraphicFramePr>
        <p:xfrm>
          <a:off x="633850" y="2391017"/>
          <a:ext cx="11337112" cy="4351339"/>
        </p:xfrm>
        <a:graphic>
          <a:graphicData uri="http://schemas.openxmlformats.org/drawingml/2006/table">
            <a:tbl>
              <a:tblPr firstRow="1">
                <a:tableStyleId>{69012ECD-51FC-41F1-AA8D-1B2483CD663E}</a:tableStyleId>
              </a:tblPr>
              <a:tblGrid>
                <a:gridCol w="713319">
                  <a:extLst>
                    <a:ext uri="{9D8B030D-6E8A-4147-A177-3AD203B41FA5}">
                      <a16:colId xmlns:a16="http://schemas.microsoft.com/office/drawing/2014/main" val="1210085323"/>
                    </a:ext>
                  </a:extLst>
                </a:gridCol>
                <a:gridCol w="2582657">
                  <a:extLst>
                    <a:ext uri="{9D8B030D-6E8A-4147-A177-3AD203B41FA5}">
                      <a16:colId xmlns:a16="http://schemas.microsoft.com/office/drawing/2014/main" val="3489980623"/>
                    </a:ext>
                  </a:extLst>
                </a:gridCol>
                <a:gridCol w="4090263">
                  <a:extLst>
                    <a:ext uri="{9D8B030D-6E8A-4147-A177-3AD203B41FA5}">
                      <a16:colId xmlns:a16="http://schemas.microsoft.com/office/drawing/2014/main" val="2019300157"/>
                    </a:ext>
                  </a:extLst>
                </a:gridCol>
                <a:gridCol w="3950873">
                  <a:extLst>
                    <a:ext uri="{9D8B030D-6E8A-4147-A177-3AD203B41FA5}">
                      <a16:colId xmlns:a16="http://schemas.microsoft.com/office/drawing/2014/main" val="2719289536"/>
                    </a:ext>
                  </a:extLst>
                </a:gridCol>
              </a:tblGrid>
              <a:tr h="355211">
                <a:tc>
                  <a:txBody>
                    <a:bodyPr/>
                    <a:lstStyle/>
                    <a:p>
                      <a:pPr algn="r">
                        <a:buNone/>
                      </a:pPr>
                      <a:r>
                        <a:rPr lang="en-GB" sz="1700" b="1" dirty="0"/>
                        <a:t>#</a:t>
                      </a:r>
                      <a:endParaRPr lang="en-GB" sz="1700" dirty="0"/>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b="1"/>
                        <a:t>Task Title</a:t>
                      </a:r>
                      <a:endParaRPr lang="en-GB" sz="1700"/>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b="1" dirty="0"/>
                        <a:t>Expected Output</a:t>
                      </a:r>
                      <a:endParaRPr lang="en-GB" sz="1700" dirty="0"/>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b="1"/>
                        <a:t>How to Test</a:t>
                      </a:r>
                      <a:endParaRPr lang="en-GB" sz="1700"/>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6084994"/>
                  </a:ext>
                </a:extLst>
              </a:tr>
              <a:tr h="888028">
                <a:tc>
                  <a:txBody>
                    <a:bodyPr/>
                    <a:lstStyle/>
                    <a:p>
                      <a:pPr algn="r">
                        <a:buNone/>
                      </a:pPr>
                      <a:r>
                        <a:rPr lang="en-GB" sz="1700"/>
                        <a:t>1</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Create project files</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index.html, style.css, script.js</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Open index.html in the browser.</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81449147"/>
                  </a:ext>
                </a:extLst>
              </a:tr>
              <a:tr h="621620">
                <a:tc>
                  <a:txBody>
                    <a:bodyPr/>
                    <a:lstStyle/>
                    <a:p>
                      <a:pPr algn="r">
                        <a:buNone/>
                      </a:pPr>
                      <a:r>
                        <a:rPr lang="en-GB" sz="1700"/>
                        <a:t>2</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Build habit form</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Input field and </a:t>
                      </a:r>
                      <a:r>
                        <a:rPr lang="en-GB" sz="1700" b="1"/>
                        <a:t>Add Habit</a:t>
                      </a:r>
                      <a:r>
                        <a:rPr lang="en-GB" sz="1700"/>
                        <a:t> button</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Confirm form appears on page.</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73675179"/>
                  </a:ext>
                </a:extLst>
              </a:tr>
              <a:tr h="621620">
                <a:tc>
                  <a:txBody>
                    <a:bodyPr/>
                    <a:lstStyle/>
                    <a:p>
                      <a:pPr algn="r">
                        <a:buNone/>
                      </a:pPr>
                      <a:r>
                        <a:rPr lang="en-GB" sz="1700"/>
                        <a:t>3</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Display habits</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New habit appears in a list</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Add one habit and see it displayed.</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99489"/>
                  </a:ext>
                </a:extLst>
              </a:tr>
              <a:tr h="621620">
                <a:tc>
                  <a:txBody>
                    <a:bodyPr/>
                    <a:lstStyle/>
                    <a:p>
                      <a:pPr algn="r">
                        <a:buNone/>
                      </a:pPr>
                      <a:r>
                        <a:rPr lang="en-GB" sz="1700"/>
                        <a:t>4</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Mark habit complete</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Click habit to mark complete</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Confirm visual state changes.</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500373"/>
                  </a:ext>
                </a:extLst>
              </a:tr>
              <a:tr h="621620">
                <a:tc>
                  <a:txBody>
                    <a:bodyPr/>
                    <a:lstStyle/>
                    <a:p>
                      <a:pPr algn="r">
                        <a:buNone/>
                      </a:pPr>
                      <a:r>
                        <a:rPr lang="en-GB" sz="1700"/>
                        <a:t>5</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Save habits locally</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Habits remain after refresh</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Refresh browser and check list.</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1098116"/>
                  </a:ext>
                </a:extLst>
              </a:tr>
              <a:tr h="621620">
                <a:tc>
                  <a:txBody>
                    <a:bodyPr/>
                    <a:lstStyle/>
                    <a:p>
                      <a:pPr algn="r">
                        <a:buNone/>
                      </a:pPr>
                      <a:r>
                        <a:rPr lang="en-GB" sz="1700" dirty="0"/>
                        <a:t>6</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Write README</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a:t>Project instructions exist</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700" dirty="0"/>
                        <a:t>Open README and follow steps.</a:t>
                      </a:r>
                    </a:p>
                  </a:txBody>
                  <a:tcPr marL="88803" marR="88803" marT="44401" marB="44401"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3060542"/>
                  </a:ext>
                </a:extLst>
              </a:tr>
            </a:tbl>
          </a:graphicData>
        </a:graphic>
      </p:graphicFrame>
    </p:spTree>
    <p:extLst>
      <p:ext uri="{BB962C8B-B14F-4D97-AF65-F5344CB8AC3E}">
        <p14:creationId xmlns:p14="http://schemas.microsoft.com/office/powerpoint/2010/main" val="27523235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E860C-0E86-9F29-75CC-5988ABD5BE2F}"/>
              </a:ext>
            </a:extLst>
          </p:cNvPr>
          <p:cNvSpPr>
            <a:spLocks noGrp="1"/>
          </p:cNvSpPr>
          <p:nvPr>
            <p:ph type="title"/>
          </p:nvPr>
        </p:nvSpPr>
        <p:spPr/>
        <p:txBody>
          <a:bodyPr/>
          <a:lstStyle/>
          <a:p>
            <a:r>
              <a:rPr lang="en-IN" dirty="0"/>
              <a:t>Practice Planning – Solution</a:t>
            </a:r>
            <a:endParaRPr lang="en-GB" dirty="0"/>
          </a:p>
        </p:txBody>
      </p:sp>
      <p:sp>
        <p:nvSpPr>
          <p:cNvPr id="3" name="Content Placeholder 2">
            <a:extLst>
              <a:ext uri="{FF2B5EF4-FFF2-40B4-BE49-F238E27FC236}">
                <a16:creationId xmlns:a16="http://schemas.microsoft.com/office/drawing/2014/main" id="{878F0151-CD8A-31DE-1CA1-28753432FE14}"/>
              </a:ext>
            </a:extLst>
          </p:cNvPr>
          <p:cNvSpPr>
            <a:spLocks noGrp="1"/>
          </p:cNvSpPr>
          <p:nvPr>
            <p:ph idx="1"/>
          </p:nvPr>
        </p:nvSpPr>
        <p:spPr/>
        <p:txBody>
          <a:bodyPr/>
          <a:lstStyle/>
          <a:p>
            <a:r>
              <a:rPr lang="en-IN" dirty="0"/>
              <a:t>Prompt 3: </a:t>
            </a:r>
            <a:r>
              <a:rPr lang="en-US" dirty="0"/>
              <a:t>Take Task 2 only: Build habit form. Before editing files, explain: which file should change, what HTML elements are needed,  how I can test </a:t>
            </a:r>
            <a:r>
              <a:rPr lang="en-US"/>
              <a:t>the form, what </a:t>
            </a:r>
            <a:r>
              <a:rPr lang="en-US" dirty="0"/>
              <a:t>should not be </a:t>
            </a:r>
            <a:r>
              <a:rPr lang="en-US"/>
              <a:t>added yet</a:t>
            </a:r>
          </a:p>
          <a:p>
            <a:endParaRPr lang="en-GB" dirty="0"/>
          </a:p>
        </p:txBody>
      </p:sp>
    </p:spTree>
    <p:extLst>
      <p:ext uri="{BB962C8B-B14F-4D97-AF65-F5344CB8AC3E}">
        <p14:creationId xmlns:p14="http://schemas.microsoft.com/office/powerpoint/2010/main" val="3382414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F02252D-5888-977D-32E8-B7CDBE70006F}"/>
              </a:ext>
            </a:extLst>
          </p:cNvPr>
          <p:cNvSpPr>
            <a:spLocks noGrp="1"/>
          </p:cNvSpPr>
          <p:nvPr>
            <p:ph type="title"/>
          </p:nvPr>
        </p:nvSpPr>
        <p:spPr/>
        <p:txBody>
          <a:bodyPr/>
          <a:lstStyle/>
          <a:p>
            <a:r>
              <a:rPr lang="en-IN" dirty="0"/>
              <a:t>Section 3: First Coding Workflow with Claude Code</a:t>
            </a:r>
            <a:endParaRPr lang="en-GB" dirty="0"/>
          </a:p>
        </p:txBody>
      </p:sp>
      <p:sp>
        <p:nvSpPr>
          <p:cNvPr id="5" name="Text Placeholder 4">
            <a:extLst>
              <a:ext uri="{FF2B5EF4-FFF2-40B4-BE49-F238E27FC236}">
                <a16:creationId xmlns:a16="http://schemas.microsoft.com/office/drawing/2014/main" id="{672A08C0-6727-08D3-009D-75AF1D635A7E}"/>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7018957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57635C5-7DDA-96AD-ED1E-A2D099DD52A2}"/>
              </a:ext>
            </a:extLst>
          </p:cNvPr>
          <p:cNvSpPr>
            <a:spLocks noGrp="1"/>
          </p:cNvSpPr>
          <p:nvPr>
            <p:ph type="title"/>
          </p:nvPr>
        </p:nvSpPr>
        <p:spPr>
          <a:xfrm>
            <a:off x="838200" y="1"/>
            <a:ext cx="10515600" cy="914399"/>
          </a:xfrm>
        </p:spPr>
        <p:txBody>
          <a:bodyPr/>
          <a:lstStyle/>
          <a:p>
            <a:r>
              <a:rPr lang="en-IN" dirty="0"/>
              <a:t>First Coding Workflow with Claude Code</a:t>
            </a:r>
            <a:endParaRPr lang="en-GB" dirty="0"/>
          </a:p>
        </p:txBody>
      </p:sp>
      <p:sp>
        <p:nvSpPr>
          <p:cNvPr id="5" name="Content Placeholder 4">
            <a:extLst>
              <a:ext uri="{FF2B5EF4-FFF2-40B4-BE49-F238E27FC236}">
                <a16:creationId xmlns:a16="http://schemas.microsoft.com/office/drawing/2014/main" id="{0B60DEFD-12AC-755F-FE4C-8D48D6F71F49}"/>
              </a:ext>
            </a:extLst>
          </p:cNvPr>
          <p:cNvSpPr>
            <a:spLocks noGrp="1"/>
          </p:cNvSpPr>
          <p:nvPr>
            <p:ph idx="1"/>
          </p:nvPr>
        </p:nvSpPr>
        <p:spPr>
          <a:xfrm>
            <a:off x="838200" y="732916"/>
            <a:ext cx="10515600" cy="5444047"/>
          </a:xfrm>
        </p:spPr>
        <p:txBody>
          <a:bodyPr/>
          <a:lstStyle/>
          <a:p>
            <a:r>
              <a:rPr lang="en-US" dirty="0"/>
              <a:t>Claude Code becomes powerful when it operates inside a clear workflow – Not if we ask it to do everything at once</a:t>
            </a:r>
          </a:p>
        </p:txBody>
      </p:sp>
      <p:graphicFrame>
        <p:nvGraphicFramePr>
          <p:cNvPr id="8" name="Table 7">
            <a:extLst>
              <a:ext uri="{FF2B5EF4-FFF2-40B4-BE49-F238E27FC236}">
                <a16:creationId xmlns:a16="http://schemas.microsoft.com/office/drawing/2014/main" id="{C250F827-3488-4DCB-4CAC-F23B9B2C191D}"/>
              </a:ext>
            </a:extLst>
          </p:cNvPr>
          <p:cNvGraphicFramePr>
            <a:graphicFrameLocks noGrp="1"/>
          </p:cNvGraphicFramePr>
          <p:nvPr>
            <p:extLst>
              <p:ext uri="{D42A27DB-BD31-4B8C-83A1-F6EECF244321}">
                <p14:modId xmlns:p14="http://schemas.microsoft.com/office/powerpoint/2010/main" val="1219430882"/>
              </p:ext>
            </p:extLst>
          </p:nvPr>
        </p:nvGraphicFramePr>
        <p:xfrm>
          <a:off x="159380" y="1790725"/>
          <a:ext cx="11873239" cy="4643825"/>
        </p:xfrm>
        <a:graphic>
          <a:graphicData uri="http://schemas.openxmlformats.org/drawingml/2006/table">
            <a:tbl>
              <a:tblPr firstRow="1">
                <a:tableStyleId>{72833802-FEF1-4C79-8D5D-14CF1EAF98D9}</a:tableStyleId>
              </a:tblPr>
              <a:tblGrid>
                <a:gridCol w="3221384">
                  <a:extLst>
                    <a:ext uri="{9D8B030D-6E8A-4147-A177-3AD203B41FA5}">
                      <a16:colId xmlns:a16="http://schemas.microsoft.com/office/drawing/2014/main" val="4163039832"/>
                    </a:ext>
                  </a:extLst>
                </a:gridCol>
                <a:gridCol w="8651855">
                  <a:extLst>
                    <a:ext uri="{9D8B030D-6E8A-4147-A177-3AD203B41FA5}">
                      <a16:colId xmlns:a16="http://schemas.microsoft.com/office/drawing/2014/main" val="1239165542"/>
                    </a:ext>
                  </a:extLst>
                </a:gridCol>
              </a:tblGrid>
              <a:tr h="328403">
                <a:tc>
                  <a:txBody>
                    <a:bodyPr/>
                    <a:lstStyle/>
                    <a:p>
                      <a:pPr>
                        <a:buNone/>
                      </a:pPr>
                      <a:r>
                        <a:rPr lang="en-GB" sz="2000" b="1"/>
                        <a:t>Objective</a:t>
                      </a:r>
                      <a:endParaRPr lang="en-GB" sz="20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What You Should Be Able to Do</a:t>
                      </a:r>
                      <a:endParaRPr lang="en-GB" sz="20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2440294"/>
                  </a:ext>
                </a:extLst>
              </a:tr>
              <a:tr h="574705">
                <a:tc>
                  <a:txBody>
                    <a:bodyPr/>
                    <a:lstStyle/>
                    <a:p>
                      <a:pPr>
                        <a:buNone/>
                      </a:pPr>
                      <a:r>
                        <a:rPr lang="en-GB" sz="2000"/>
                        <a:t>Create a new project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Set up a clean folder for a beginner Claude Code project.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8304231"/>
                  </a:ext>
                </a:extLst>
              </a:tr>
              <a:tr h="574705">
                <a:tc>
                  <a:txBody>
                    <a:bodyPr/>
                    <a:lstStyle/>
                    <a:p>
                      <a:pPr>
                        <a:buNone/>
                      </a:pPr>
                      <a:r>
                        <a:rPr lang="en-GB" sz="2000"/>
                        <a:t>Generate starter files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Ask Claude Code to create small project files without overcomplicating the structure.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2091298"/>
                  </a:ext>
                </a:extLst>
              </a:tr>
              <a:tr h="574705">
                <a:tc>
                  <a:txBody>
                    <a:bodyPr/>
                    <a:lstStyle/>
                    <a:p>
                      <a:pPr>
                        <a:buNone/>
                      </a:pPr>
                      <a:r>
                        <a:rPr lang="en-GB" sz="2000"/>
                        <a:t>Understand generated code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Request clear explanations of HTML, CSS, file purpose, and project behavior.</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4054693"/>
                  </a:ext>
                </a:extLst>
              </a:tr>
              <a:tr h="574705">
                <a:tc>
                  <a:txBody>
                    <a:bodyPr/>
                    <a:lstStyle/>
                    <a:p>
                      <a:pPr>
                        <a:buNone/>
                      </a:pPr>
                      <a:r>
                        <a:rPr lang="en-GB" sz="2000"/>
                        <a:t>Run locally</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Open or serve the project on your own machine and observe the result.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1887438"/>
                  </a:ext>
                </a:extLst>
              </a:tr>
              <a:tr h="574705">
                <a:tc>
                  <a:txBody>
                    <a:bodyPr/>
                    <a:lstStyle/>
                    <a:p>
                      <a:pPr>
                        <a:buNone/>
                      </a:pPr>
                      <a:r>
                        <a:rPr lang="en-GB" sz="2000"/>
                        <a:t>Fix first errors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Copy exact error details, ask for root-cause analysis, and apply small safe fixes.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91852062"/>
                  </a:ext>
                </a:extLst>
              </a:tr>
              <a:tr h="574705">
                <a:tc>
                  <a:txBody>
                    <a:bodyPr/>
                    <a:lstStyle/>
                    <a:p>
                      <a:pPr>
                        <a:buNone/>
                      </a:pPr>
                      <a:r>
                        <a:rPr lang="en-GB" sz="2000"/>
                        <a:t>Save progress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Use a simple save and Git checkpoint habit after a working step.</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29249543"/>
                  </a:ext>
                </a:extLst>
              </a:tr>
              <a:tr h="574705">
                <a:tc>
                  <a:txBody>
                    <a:bodyPr/>
                    <a:lstStyle/>
                    <a:p>
                      <a:pPr>
                        <a:buNone/>
                      </a:pPr>
                      <a:r>
                        <a:rPr lang="en-GB" sz="2000"/>
                        <a:t>Complete a practical mini-project</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Build a simple personal profile page using a controlled beginner workflow.</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1194068"/>
                  </a:ext>
                </a:extLst>
              </a:tr>
            </a:tbl>
          </a:graphicData>
        </a:graphic>
      </p:graphicFrame>
    </p:spTree>
    <p:extLst>
      <p:ext uri="{BB962C8B-B14F-4D97-AF65-F5344CB8AC3E}">
        <p14:creationId xmlns:p14="http://schemas.microsoft.com/office/powerpoint/2010/main" val="17045390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95AE9-0EF2-21A7-65D2-A35C566A6DC6}"/>
              </a:ext>
            </a:extLst>
          </p:cNvPr>
          <p:cNvSpPr>
            <a:spLocks noGrp="1"/>
          </p:cNvSpPr>
          <p:nvPr>
            <p:ph type="title"/>
          </p:nvPr>
        </p:nvSpPr>
        <p:spPr/>
        <p:txBody>
          <a:bodyPr/>
          <a:lstStyle/>
          <a:p>
            <a:r>
              <a:rPr lang="en-IN" dirty="0"/>
              <a:t>Create a New Project</a:t>
            </a:r>
            <a:endParaRPr lang="en-GB" dirty="0"/>
          </a:p>
        </p:txBody>
      </p:sp>
      <p:sp>
        <p:nvSpPr>
          <p:cNvPr id="3" name="Content Placeholder 2">
            <a:extLst>
              <a:ext uri="{FF2B5EF4-FFF2-40B4-BE49-F238E27FC236}">
                <a16:creationId xmlns:a16="http://schemas.microsoft.com/office/drawing/2014/main" id="{4FBC0DD0-F967-7993-A897-4BC40B645403}"/>
              </a:ext>
            </a:extLst>
          </p:cNvPr>
          <p:cNvSpPr>
            <a:spLocks noGrp="1"/>
          </p:cNvSpPr>
          <p:nvPr>
            <p:ph idx="1"/>
          </p:nvPr>
        </p:nvSpPr>
        <p:spPr/>
        <p:txBody>
          <a:bodyPr/>
          <a:lstStyle/>
          <a:p>
            <a:r>
              <a:rPr lang="en-GB" dirty="0" err="1"/>
              <a:t>mkdir</a:t>
            </a:r>
            <a:r>
              <a:rPr lang="en-GB" dirty="0"/>
              <a:t> personal-profile-page</a:t>
            </a:r>
          </a:p>
          <a:p>
            <a:r>
              <a:rPr lang="en-GB" dirty="0"/>
              <a:t>cd personal-profile-page</a:t>
            </a:r>
          </a:p>
          <a:p>
            <a:r>
              <a:rPr lang="en-GB" dirty="0" err="1"/>
              <a:t>claude</a:t>
            </a:r>
            <a:r>
              <a:rPr lang="en-GB" dirty="0"/>
              <a:t> </a:t>
            </a:r>
          </a:p>
          <a:p>
            <a:r>
              <a:rPr lang="en-GB" dirty="0"/>
              <a:t>After the Claude prompt appears</a:t>
            </a:r>
          </a:p>
          <a:p>
            <a:pPr lvl="1"/>
            <a:r>
              <a:rPr lang="en-US" dirty="0"/>
              <a:t>I am a beginner. I want to build a simple personal profile page. Use only HTML and CSS for the first version. Please create a small plan before writing files. Do not create files until I approve the plan.</a:t>
            </a:r>
          </a:p>
          <a:p>
            <a:endParaRPr lang="en-GB" dirty="0"/>
          </a:p>
        </p:txBody>
      </p:sp>
    </p:spTree>
    <p:extLst>
      <p:ext uri="{BB962C8B-B14F-4D97-AF65-F5344CB8AC3E}">
        <p14:creationId xmlns:p14="http://schemas.microsoft.com/office/powerpoint/2010/main" val="39808185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54764-1EAD-72CF-B9A5-EDB257168816}"/>
              </a:ext>
            </a:extLst>
          </p:cNvPr>
          <p:cNvSpPr>
            <a:spLocks noGrp="1"/>
          </p:cNvSpPr>
          <p:nvPr>
            <p:ph type="title"/>
          </p:nvPr>
        </p:nvSpPr>
        <p:spPr/>
        <p:txBody>
          <a:bodyPr/>
          <a:lstStyle/>
          <a:p>
            <a:r>
              <a:rPr lang="en-IN" dirty="0"/>
              <a:t>Generate Starter Files</a:t>
            </a:r>
            <a:endParaRPr lang="en-GB" dirty="0"/>
          </a:p>
        </p:txBody>
      </p:sp>
      <p:sp>
        <p:nvSpPr>
          <p:cNvPr id="3" name="Content Placeholder 2">
            <a:extLst>
              <a:ext uri="{FF2B5EF4-FFF2-40B4-BE49-F238E27FC236}">
                <a16:creationId xmlns:a16="http://schemas.microsoft.com/office/drawing/2014/main" id="{424115CB-293B-ED12-E050-2FBCC96C6E1A}"/>
              </a:ext>
            </a:extLst>
          </p:cNvPr>
          <p:cNvSpPr>
            <a:spLocks noGrp="1"/>
          </p:cNvSpPr>
          <p:nvPr>
            <p:ph idx="1"/>
          </p:nvPr>
        </p:nvSpPr>
        <p:spPr/>
        <p:txBody>
          <a:bodyPr>
            <a:normAutofit fontScale="92500" lnSpcReduction="20000"/>
          </a:bodyPr>
          <a:lstStyle/>
          <a:p>
            <a:r>
              <a:rPr lang="en-US" dirty="0"/>
              <a:t>Starter files are the first physical pieces of your project</a:t>
            </a:r>
          </a:p>
          <a:p>
            <a:r>
              <a:rPr lang="en-US" dirty="0"/>
              <a:t>For a simple personal profile page, you do not need many files</a:t>
            </a:r>
          </a:p>
          <a:p>
            <a:r>
              <a:rPr lang="en-US" dirty="0"/>
              <a:t>You need an HTML file for structure, a CSS file for design, and optionally a README file to describe the project</a:t>
            </a:r>
          </a:p>
          <a:p>
            <a:r>
              <a:rPr lang="en-US" dirty="0"/>
              <a:t>This is enough to practice the full workflow without creating unnecessary complexity</a:t>
            </a:r>
          </a:p>
          <a:p>
            <a:r>
              <a:rPr lang="en-US" dirty="0"/>
              <a:t>Prompt: Create the starter files for my personal profile page. Files needed: index.html, styles.css, README.md. Keep the code beginner-friendly. Add short comments where helpful. Do not add JavaScript yet. After creating the files, explain what each file does. Before adding any extra files, explain why each file is necessary. If a file is not needed for the first beginner version, leave it out.</a:t>
            </a:r>
            <a:endParaRPr lang="en-GB" dirty="0"/>
          </a:p>
        </p:txBody>
      </p:sp>
    </p:spTree>
    <p:extLst>
      <p:ext uri="{BB962C8B-B14F-4D97-AF65-F5344CB8AC3E}">
        <p14:creationId xmlns:p14="http://schemas.microsoft.com/office/powerpoint/2010/main" val="28504205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D1A5E-2C0B-E632-F9FD-BB157E383B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DC1461-B14A-632C-9BF6-9AC1502DDD26}"/>
              </a:ext>
            </a:extLst>
          </p:cNvPr>
          <p:cNvSpPr>
            <a:spLocks noGrp="1"/>
          </p:cNvSpPr>
          <p:nvPr>
            <p:ph type="title"/>
          </p:nvPr>
        </p:nvSpPr>
        <p:spPr/>
        <p:txBody>
          <a:bodyPr/>
          <a:lstStyle/>
          <a:p>
            <a:r>
              <a:rPr lang="en-IN" dirty="0"/>
              <a:t>Understand Generated Code</a:t>
            </a:r>
            <a:endParaRPr lang="en-GB" dirty="0"/>
          </a:p>
        </p:txBody>
      </p:sp>
      <p:sp>
        <p:nvSpPr>
          <p:cNvPr id="3" name="Content Placeholder 2">
            <a:extLst>
              <a:ext uri="{FF2B5EF4-FFF2-40B4-BE49-F238E27FC236}">
                <a16:creationId xmlns:a16="http://schemas.microsoft.com/office/drawing/2014/main" id="{22AFAE17-CC61-7A39-FC68-4F4D1EAC4C45}"/>
              </a:ext>
            </a:extLst>
          </p:cNvPr>
          <p:cNvSpPr>
            <a:spLocks noGrp="1"/>
          </p:cNvSpPr>
          <p:nvPr>
            <p:ph idx="1"/>
          </p:nvPr>
        </p:nvSpPr>
        <p:spPr/>
        <p:txBody>
          <a:bodyPr>
            <a:normAutofit/>
          </a:bodyPr>
          <a:lstStyle/>
          <a:p>
            <a:r>
              <a:rPr lang="en-US" dirty="0"/>
              <a:t>After Claude creates the basic files, we might ask it to explain why it created them</a:t>
            </a:r>
          </a:p>
          <a:p>
            <a:r>
              <a:rPr lang="en-US" dirty="0"/>
              <a:t>Prompt: Explain the files you created in beginner-friendly language. For each file, include: what the file is for, the most important lines,  how it connects to the other files, what I should understand before moving on. Do not add new features yet.</a:t>
            </a:r>
          </a:p>
          <a:p>
            <a:r>
              <a:rPr lang="en-US" dirty="0"/>
              <a:t>We can ask for detailed file explanations also</a:t>
            </a:r>
          </a:p>
          <a:p>
            <a:r>
              <a:rPr lang="en-US" dirty="0"/>
              <a:t>Prompt: Explain index.html section by section. Focus on the main HTML tags, the linked CSS file, and the page structure. Use plain English and avoid advanced jargon.</a:t>
            </a:r>
            <a:endParaRPr lang="en-GB" dirty="0"/>
          </a:p>
        </p:txBody>
      </p:sp>
    </p:spTree>
    <p:extLst>
      <p:ext uri="{BB962C8B-B14F-4D97-AF65-F5344CB8AC3E}">
        <p14:creationId xmlns:p14="http://schemas.microsoft.com/office/powerpoint/2010/main" val="11036878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1F394C-DD04-3B65-89CA-756DA6C0BCE7}"/>
              </a:ext>
            </a:extLst>
          </p:cNvPr>
          <p:cNvSpPr>
            <a:spLocks noGrp="1"/>
          </p:cNvSpPr>
          <p:nvPr>
            <p:ph type="title"/>
          </p:nvPr>
        </p:nvSpPr>
        <p:spPr/>
        <p:txBody>
          <a:bodyPr/>
          <a:lstStyle/>
          <a:p>
            <a:r>
              <a:rPr lang="en-IN" dirty="0"/>
              <a:t>Run Locally</a:t>
            </a:r>
            <a:endParaRPr lang="en-GB" dirty="0"/>
          </a:p>
        </p:txBody>
      </p:sp>
      <p:sp>
        <p:nvSpPr>
          <p:cNvPr id="3" name="Content Placeholder 2">
            <a:extLst>
              <a:ext uri="{FF2B5EF4-FFF2-40B4-BE49-F238E27FC236}">
                <a16:creationId xmlns:a16="http://schemas.microsoft.com/office/drawing/2014/main" id="{AFED567E-E3DA-CE0B-8128-B37C27BDC39C}"/>
              </a:ext>
            </a:extLst>
          </p:cNvPr>
          <p:cNvSpPr>
            <a:spLocks noGrp="1"/>
          </p:cNvSpPr>
          <p:nvPr>
            <p:ph idx="1"/>
          </p:nvPr>
        </p:nvSpPr>
        <p:spPr/>
        <p:txBody>
          <a:bodyPr>
            <a:normAutofit lnSpcReduction="10000"/>
          </a:bodyPr>
          <a:lstStyle/>
          <a:p>
            <a:r>
              <a:rPr lang="en-US" dirty="0"/>
              <a:t>Running the project locally means opening or serving the project on your own machine so you can see what it does</a:t>
            </a:r>
          </a:p>
          <a:p>
            <a:r>
              <a:rPr lang="en-US" dirty="0"/>
              <a:t>For a simple HTML and CSS page, this can be as easy as opening index.html in a browser</a:t>
            </a:r>
          </a:p>
          <a:p>
            <a:r>
              <a:rPr lang="en-US" dirty="0"/>
              <a:t>For projects with JavaScript frameworks, backend servers, or package dependencies, you may need a local development command</a:t>
            </a:r>
          </a:p>
          <a:p>
            <a:r>
              <a:rPr lang="en-US" dirty="0"/>
              <a:t>In this first project, keep the running method simple</a:t>
            </a:r>
          </a:p>
          <a:p>
            <a:r>
              <a:rPr lang="en-US" dirty="0"/>
              <a:t>Prompt: How do I safely preview this beginner HTML and CSS project locally? Explain the simplest option first. If you suggest a terminal command, explain what it does before I run it.</a:t>
            </a:r>
            <a:endParaRPr lang="en-GB" dirty="0"/>
          </a:p>
        </p:txBody>
      </p:sp>
    </p:spTree>
    <p:extLst>
      <p:ext uri="{BB962C8B-B14F-4D97-AF65-F5344CB8AC3E}">
        <p14:creationId xmlns:p14="http://schemas.microsoft.com/office/powerpoint/2010/main" val="27384036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02714E-4A82-3879-6FE6-D8D73F54EED4}"/>
              </a:ext>
            </a:extLst>
          </p:cNvPr>
          <p:cNvSpPr>
            <a:spLocks noGrp="1"/>
          </p:cNvSpPr>
          <p:nvPr>
            <p:ph type="title"/>
          </p:nvPr>
        </p:nvSpPr>
        <p:spPr/>
        <p:txBody>
          <a:bodyPr/>
          <a:lstStyle/>
          <a:p>
            <a:r>
              <a:rPr lang="en-IN" dirty="0"/>
              <a:t>Fix First Errors</a:t>
            </a:r>
            <a:endParaRPr lang="en-GB" dirty="0"/>
          </a:p>
        </p:txBody>
      </p:sp>
      <p:sp>
        <p:nvSpPr>
          <p:cNvPr id="3" name="Content Placeholder 2">
            <a:extLst>
              <a:ext uri="{FF2B5EF4-FFF2-40B4-BE49-F238E27FC236}">
                <a16:creationId xmlns:a16="http://schemas.microsoft.com/office/drawing/2014/main" id="{EE582FC0-0B2B-37B7-2F6F-1A6D7884F48C}"/>
              </a:ext>
            </a:extLst>
          </p:cNvPr>
          <p:cNvSpPr>
            <a:spLocks noGrp="1"/>
          </p:cNvSpPr>
          <p:nvPr>
            <p:ph idx="1"/>
          </p:nvPr>
        </p:nvSpPr>
        <p:spPr/>
        <p:txBody>
          <a:bodyPr/>
          <a:lstStyle/>
          <a:p>
            <a:r>
              <a:rPr lang="en-US" dirty="0"/>
              <a:t>For a simple personal profile page, common first-time errors include the CSS file not loading, an image not appearing, a broken link, a typo in a class name, or a browser cache hiding the latest update</a:t>
            </a:r>
          </a:p>
          <a:p>
            <a:r>
              <a:rPr lang="en-US" dirty="0"/>
              <a:t>Possible prompt: Something is wrong with my page. Expected result: The page should show my profile with styling. Actual result: The page opens, but the styling is missing. Please inspect the likely cause. Do not rewrite the whole project. Suggest the smallest safe fix.</a:t>
            </a:r>
          </a:p>
          <a:p>
            <a:endParaRPr lang="en-US" dirty="0"/>
          </a:p>
        </p:txBody>
      </p:sp>
    </p:spTree>
    <p:extLst>
      <p:ext uri="{BB962C8B-B14F-4D97-AF65-F5344CB8AC3E}">
        <p14:creationId xmlns:p14="http://schemas.microsoft.com/office/powerpoint/2010/main" val="7032025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8E6C79-B5DA-51EA-1F58-A0CFAE24A629}"/>
              </a:ext>
            </a:extLst>
          </p:cNvPr>
          <p:cNvSpPr>
            <a:spLocks noGrp="1"/>
          </p:cNvSpPr>
          <p:nvPr>
            <p:ph type="title"/>
          </p:nvPr>
        </p:nvSpPr>
        <p:spPr/>
        <p:txBody>
          <a:bodyPr/>
          <a:lstStyle/>
          <a:p>
            <a:r>
              <a:rPr lang="en-IN" dirty="0"/>
              <a:t>Save Progress</a:t>
            </a:r>
            <a:endParaRPr lang="en-GB" dirty="0"/>
          </a:p>
        </p:txBody>
      </p:sp>
      <p:sp>
        <p:nvSpPr>
          <p:cNvPr id="3" name="Content Placeholder 2">
            <a:extLst>
              <a:ext uri="{FF2B5EF4-FFF2-40B4-BE49-F238E27FC236}">
                <a16:creationId xmlns:a16="http://schemas.microsoft.com/office/drawing/2014/main" id="{E8639575-85E2-716D-19C9-021AC86A9D85}"/>
              </a:ext>
            </a:extLst>
          </p:cNvPr>
          <p:cNvSpPr>
            <a:spLocks noGrp="1"/>
          </p:cNvSpPr>
          <p:nvPr>
            <p:ph idx="1"/>
          </p:nvPr>
        </p:nvSpPr>
        <p:spPr/>
        <p:txBody>
          <a:bodyPr/>
          <a:lstStyle/>
          <a:p>
            <a:r>
              <a:rPr lang="en-US" dirty="0"/>
              <a:t>Three levels </a:t>
            </a:r>
          </a:p>
          <a:p>
            <a:pPr lvl="1"/>
            <a:r>
              <a:rPr lang="en-US" dirty="0"/>
              <a:t>Saving files in your editor</a:t>
            </a:r>
          </a:p>
          <a:p>
            <a:pPr lvl="1"/>
            <a:r>
              <a:rPr lang="en-US" dirty="0"/>
              <a:t>Keeping a clean project folder</a:t>
            </a:r>
          </a:p>
          <a:p>
            <a:pPr lvl="1"/>
            <a:r>
              <a:rPr lang="en-US" dirty="0"/>
              <a:t>Using Git to create a version history</a:t>
            </a:r>
          </a:p>
          <a:p>
            <a:r>
              <a:rPr lang="en-US" dirty="0"/>
              <a:t>Git commands</a:t>
            </a:r>
          </a:p>
          <a:p>
            <a:pPr lvl="1"/>
            <a:r>
              <a:rPr lang="en-GB" dirty="0"/>
              <a:t>git </a:t>
            </a:r>
            <a:r>
              <a:rPr lang="en-GB" dirty="0" err="1"/>
              <a:t>init</a:t>
            </a:r>
            <a:endParaRPr lang="en-GB" dirty="0"/>
          </a:p>
          <a:p>
            <a:pPr lvl="1"/>
            <a:r>
              <a:rPr lang="en-GB" dirty="0"/>
              <a:t>git add .</a:t>
            </a:r>
          </a:p>
          <a:p>
            <a:pPr lvl="1"/>
            <a:r>
              <a:rPr lang="en-GB" dirty="0"/>
              <a:t>git commit -m "Create first personal profile page“</a:t>
            </a:r>
          </a:p>
          <a:p>
            <a:r>
              <a:rPr lang="en-GB" dirty="0"/>
              <a:t>If we do understand these commands, prompt: </a:t>
            </a:r>
            <a:r>
              <a:rPr lang="en-US" dirty="0"/>
              <a:t>Explain these Git commands before I run them: git </a:t>
            </a:r>
            <a:r>
              <a:rPr lang="en-US" dirty="0" err="1"/>
              <a:t>init</a:t>
            </a:r>
            <a:r>
              <a:rPr lang="en-US" dirty="0"/>
              <a:t>, git status, git add ., git commit</a:t>
            </a:r>
          </a:p>
          <a:p>
            <a:endParaRPr lang="en-GB" dirty="0"/>
          </a:p>
        </p:txBody>
      </p:sp>
    </p:spTree>
    <p:extLst>
      <p:ext uri="{BB962C8B-B14F-4D97-AF65-F5344CB8AC3E}">
        <p14:creationId xmlns:p14="http://schemas.microsoft.com/office/powerpoint/2010/main" val="6317229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19D25-2906-91D5-F6EF-B5356BC6A28F}"/>
              </a:ext>
            </a:extLst>
          </p:cNvPr>
          <p:cNvSpPr>
            <a:spLocks noGrp="1"/>
          </p:cNvSpPr>
          <p:nvPr>
            <p:ph type="title"/>
          </p:nvPr>
        </p:nvSpPr>
        <p:spPr/>
        <p:txBody>
          <a:bodyPr/>
          <a:lstStyle/>
          <a:p>
            <a:r>
              <a:rPr lang="en-IN" dirty="0"/>
              <a:t>Complete a Practical Mini Project</a:t>
            </a:r>
            <a:endParaRPr lang="en-GB" dirty="0"/>
          </a:p>
        </p:txBody>
      </p:sp>
      <p:sp>
        <p:nvSpPr>
          <p:cNvPr id="3" name="Content Placeholder 2">
            <a:extLst>
              <a:ext uri="{FF2B5EF4-FFF2-40B4-BE49-F238E27FC236}">
                <a16:creationId xmlns:a16="http://schemas.microsoft.com/office/drawing/2014/main" id="{A4DC1AA2-E2B1-FAF9-5F9D-55828204677F}"/>
              </a:ext>
            </a:extLst>
          </p:cNvPr>
          <p:cNvSpPr>
            <a:spLocks noGrp="1"/>
          </p:cNvSpPr>
          <p:nvPr>
            <p:ph idx="1"/>
          </p:nvPr>
        </p:nvSpPr>
        <p:spPr/>
        <p:txBody>
          <a:bodyPr>
            <a:normAutofit fontScale="85000" lnSpcReduction="20000"/>
          </a:bodyPr>
          <a:lstStyle/>
          <a:p>
            <a:r>
              <a:rPr lang="en-IN" dirty="0"/>
              <a:t>Step 1: Ask Claude for a plan</a:t>
            </a:r>
          </a:p>
          <a:p>
            <a:pPr lvl="1"/>
            <a:r>
              <a:rPr lang="en-US" dirty="0"/>
              <a:t>I want to build a simple personal profile page as my first Claude Code project. Use HTML and CSS only. Please create a beginner-friendly plan with small steps. Do not create files yet.</a:t>
            </a:r>
          </a:p>
          <a:p>
            <a:r>
              <a:rPr lang="en-US" dirty="0"/>
              <a:t>Step 2: Approve a small file structure</a:t>
            </a:r>
          </a:p>
          <a:p>
            <a:pPr lvl="1"/>
            <a:r>
              <a:rPr lang="en-US" dirty="0"/>
              <a:t>Use this simple structure only: index.html, styles.css, README.md. Please create these files with beginner-friendly code and comments. After creating them, explain each file.</a:t>
            </a:r>
          </a:p>
          <a:p>
            <a:r>
              <a:rPr lang="en-US" dirty="0"/>
              <a:t>Step 3: Ask for explanation</a:t>
            </a:r>
          </a:p>
          <a:p>
            <a:pPr lvl="1"/>
            <a:r>
              <a:rPr lang="en-US" dirty="0"/>
              <a:t>Explain index.html and styles.css section by section. Assume I am new to coding. Tell me what I should change first as a safe practice edit.</a:t>
            </a:r>
          </a:p>
          <a:p>
            <a:r>
              <a:rPr lang="en-US" dirty="0"/>
              <a:t>Step 4: Run and review locally</a:t>
            </a:r>
          </a:p>
          <a:p>
            <a:pPr lvl="1"/>
            <a:r>
              <a:rPr lang="en-US" dirty="0"/>
              <a:t>Explain index.html and styles.css section by section. Assume I am new to coding. Tell me what I should change first as a safe practice edit.</a:t>
            </a:r>
          </a:p>
          <a:p>
            <a:r>
              <a:rPr lang="en-US" dirty="0"/>
              <a:t>Step 5: Save the working version</a:t>
            </a:r>
          </a:p>
          <a:p>
            <a:pPr lvl="1"/>
            <a:r>
              <a:rPr lang="en-US" dirty="0"/>
              <a:t>Summarize what changed in this project. Include: files created, what each file does, how I can open the page, what I learned</a:t>
            </a:r>
            <a:endParaRPr lang="en-GB" dirty="0"/>
          </a:p>
        </p:txBody>
      </p:sp>
    </p:spTree>
    <p:extLst>
      <p:ext uri="{BB962C8B-B14F-4D97-AF65-F5344CB8AC3E}">
        <p14:creationId xmlns:p14="http://schemas.microsoft.com/office/powerpoint/2010/main" val="395061069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93B39F-6BC5-0882-D334-88EBF3951333}"/>
              </a:ext>
            </a:extLst>
          </p:cNvPr>
          <p:cNvSpPr>
            <a:spLocks noGrp="1"/>
          </p:cNvSpPr>
          <p:nvPr>
            <p:ph type="title"/>
          </p:nvPr>
        </p:nvSpPr>
        <p:spPr/>
        <p:txBody>
          <a:bodyPr/>
          <a:lstStyle/>
          <a:p>
            <a:r>
              <a:rPr lang="en-IN" dirty="0"/>
              <a:t>Section 4: Prompt Engineering for Coding Beginners</a:t>
            </a:r>
            <a:endParaRPr lang="en-GB" dirty="0"/>
          </a:p>
        </p:txBody>
      </p:sp>
      <p:sp>
        <p:nvSpPr>
          <p:cNvPr id="5" name="Text Placeholder 4">
            <a:extLst>
              <a:ext uri="{FF2B5EF4-FFF2-40B4-BE49-F238E27FC236}">
                <a16:creationId xmlns:a16="http://schemas.microsoft.com/office/drawing/2014/main" id="{1177DBAF-4806-A6C5-54C8-0068578DEA77}"/>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42446189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E5EFF0C-F612-3957-8271-5347A9CDAA6F}"/>
              </a:ext>
            </a:extLst>
          </p:cNvPr>
          <p:cNvSpPr>
            <a:spLocks noGrp="1"/>
          </p:cNvSpPr>
          <p:nvPr>
            <p:ph type="title"/>
          </p:nvPr>
        </p:nvSpPr>
        <p:spPr/>
        <p:txBody>
          <a:bodyPr/>
          <a:lstStyle/>
          <a:p>
            <a:r>
              <a:rPr lang="en-IN" dirty="0"/>
              <a:t>Prompt Engineering for Coding Beginners</a:t>
            </a:r>
            <a:endParaRPr lang="en-GB" dirty="0"/>
          </a:p>
        </p:txBody>
      </p:sp>
      <p:sp>
        <p:nvSpPr>
          <p:cNvPr id="5" name="Content Placeholder 4">
            <a:extLst>
              <a:ext uri="{FF2B5EF4-FFF2-40B4-BE49-F238E27FC236}">
                <a16:creationId xmlns:a16="http://schemas.microsoft.com/office/drawing/2014/main" id="{EAB824CC-4205-A6C9-BF7F-47E562424EBF}"/>
              </a:ext>
            </a:extLst>
          </p:cNvPr>
          <p:cNvSpPr>
            <a:spLocks noGrp="1"/>
          </p:cNvSpPr>
          <p:nvPr>
            <p:ph idx="1"/>
          </p:nvPr>
        </p:nvSpPr>
        <p:spPr/>
        <p:txBody>
          <a:bodyPr/>
          <a:lstStyle/>
          <a:p>
            <a:r>
              <a:rPr lang="en-IN" dirty="0"/>
              <a:t>Weak coding prompt = Weak code</a:t>
            </a:r>
          </a:p>
          <a:p>
            <a:endParaRPr lang="en-GB" dirty="0"/>
          </a:p>
        </p:txBody>
      </p:sp>
      <p:graphicFrame>
        <p:nvGraphicFramePr>
          <p:cNvPr id="6" name="Table 5">
            <a:extLst>
              <a:ext uri="{FF2B5EF4-FFF2-40B4-BE49-F238E27FC236}">
                <a16:creationId xmlns:a16="http://schemas.microsoft.com/office/drawing/2014/main" id="{6FCE1AA7-EE82-2416-5FA5-D9262A44BEDE}"/>
              </a:ext>
            </a:extLst>
          </p:cNvPr>
          <p:cNvGraphicFramePr>
            <a:graphicFrameLocks noGrp="1"/>
          </p:cNvGraphicFramePr>
          <p:nvPr>
            <p:extLst>
              <p:ext uri="{D42A27DB-BD31-4B8C-83A1-F6EECF244321}">
                <p14:modId xmlns:p14="http://schemas.microsoft.com/office/powerpoint/2010/main" val="4058826740"/>
              </p:ext>
            </p:extLst>
          </p:nvPr>
        </p:nvGraphicFramePr>
        <p:xfrm>
          <a:off x="753856" y="2286315"/>
          <a:ext cx="10972799" cy="4547460"/>
        </p:xfrm>
        <a:graphic>
          <a:graphicData uri="http://schemas.openxmlformats.org/drawingml/2006/table">
            <a:tbl>
              <a:tblPr firstRow="1">
                <a:tableStyleId>{72833802-FEF1-4C79-8D5D-14CF1EAF98D9}</a:tableStyleId>
              </a:tblPr>
              <a:tblGrid>
                <a:gridCol w="3068273">
                  <a:extLst>
                    <a:ext uri="{9D8B030D-6E8A-4147-A177-3AD203B41FA5}">
                      <a16:colId xmlns:a16="http://schemas.microsoft.com/office/drawing/2014/main" val="2189354571"/>
                    </a:ext>
                  </a:extLst>
                </a:gridCol>
                <a:gridCol w="7904526">
                  <a:extLst>
                    <a:ext uri="{9D8B030D-6E8A-4147-A177-3AD203B41FA5}">
                      <a16:colId xmlns:a16="http://schemas.microsoft.com/office/drawing/2014/main" val="2351312083"/>
                    </a:ext>
                  </a:extLst>
                </a:gridCol>
              </a:tblGrid>
              <a:tr h="328403">
                <a:tc>
                  <a:txBody>
                    <a:bodyPr/>
                    <a:lstStyle/>
                    <a:p>
                      <a:pPr>
                        <a:buNone/>
                      </a:pPr>
                      <a:r>
                        <a:rPr lang="en-GB" sz="1800" b="1"/>
                        <a:t>Objective</a:t>
                      </a:r>
                      <a:endParaRPr lang="en-GB" sz="18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b="1"/>
                        <a:t>What You Should Be Able to Do</a:t>
                      </a:r>
                      <a:endParaRPr lang="en-GB" sz="1800"/>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81444994"/>
                  </a:ext>
                </a:extLst>
              </a:tr>
              <a:tr h="574705">
                <a:tc>
                  <a:txBody>
                    <a:bodyPr/>
                    <a:lstStyle/>
                    <a:p>
                      <a:pPr>
                        <a:buNone/>
                      </a:pPr>
                      <a:r>
                        <a:rPr lang="en-GB" sz="1800"/>
                        <a:t>Understand coding prompt engineering</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Explain what prompt engineering means when working with Claude Code.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54338341"/>
                  </a:ext>
                </a:extLst>
              </a:tr>
              <a:tr h="574705">
                <a:tc>
                  <a:txBody>
                    <a:bodyPr/>
                    <a:lstStyle/>
                    <a:p>
                      <a:pPr>
                        <a:buNone/>
                      </a:pPr>
                      <a:r>
                        <a:rPr lang="en-GB" sz="1800"/>
                        <a:t>Recognize weak prompts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Identify why vague prompts can lead to weak code, broad changes, and confusing results.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7242067"/>
                  </a:ext>
                </a:extLst>
              </a:tr>
              <a:tr h="574705">
                <a:tc>
                  <a:txBody>
                    <a:bodyPr/>
                    <a:lstStyle/>
                    <a:p>
                      <a:pPr>
                        <a:buNone/>
                      </a:pPr>
                      <a:r>
                        <a:rPr lang="en-GB" sz="1800"/>
                        <a:t>Use a prompt formula</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Apply the </a:t>
                      </a:r>
                      <a:r>
                        <a:rPr lang="en-GB" sz="1800" b="1"/>
                        <a:t>Role-Task-Context-Output</a:t>
                      </a:r>
                      <a:r>
                        <a:rPr lang="en-GB" sz="1800"/>
                        <a:t> formula to coding tasks.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35020778"/>
                  </a:ext>
                </a:extLst>
              </a:tr>
              <a:tr h="574705">
                <a:tc>
                  <a:txBody>
                    <a:bodyPr/>
                    <a:lstStyle/>
                    <a:p>
                      <a:pPr>
                        <a:buNone/>
                      </a:pPr>
                      <a:r>
                        <a:rPr lang="en-GB" sz="1800"/>
                        <a:t>Give clear instructions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Write prompts that include goals, files, limits, output format, and verification steps.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339932"/>
                  </a:ext>
                </a:extLst>
              </a:tr>
              <a:tr h="574705">
                <a:tc>
                  <a:txBody>
                    <a:bodyPr/>
                    <a:lstStyle/>
                    <a:p>
                      <a:pPr>
                        <a:buNone/>
                      </a:pPr>
                      <a:r>
                        <a:rPr lang="en-GB" sz="1800"/>
                        <a:t>Ask for explanations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Use Claude Code as a learning assistant while building or reviewing code.</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3610528"/>
                  </a:ext>
                </a:extLst>
              </a:tr>
              <a:tr h="574705">
                <a:tc>
                  <a:txBody>
                    <a:bodyPr/>
                    <a:lstStyle/>
                    <a:p>
                      <a:pPr>
                        <a:buNone/>
                      </a:pPr>
                      <a:r>
                        <a:rPr lang="en-GB" sz="1800"/>
                        <a:t>Request plans before edits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Ask Claude Code to inspect, plan, and wait for approval before changing files.</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34639776"/>
                  </a:ext>
                </a:extLst>
              </a:tr>
              <a:tr h="574705">
                <a:tc>
                  <a:txBody>
                    <a:bodyPr/>
                    <a:lstStyle/>
                    <a:p>
                      <a:pPr>
                        <a:buNone/>
                      </a:pPr>
                      <a:r>
                        <a:rPr lang="en-GB" sz="1800"/>
                        <a:t>Improve prompt quality</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dirty="0"/>
                        <a:t>Rewrite weak beginner prompts into stronger prompts that support safe agentic coding.</a:t>
                      </a:r>
                    </a:p>
                  </a:txBody>
                  <a:tcPr marL="82101" marR="82101" marT="41050" marB="4105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93691599"/>
                  </a:ext>
                </a:extLst>
              </a:tr>
            </a:tbl>
          </a:graphicData>
        </a:graphic>
      </p:graphicFrame>
    </p:spTree>
    <p:extLst>
      <p:ext uri="{BB962C8B-B14F-4D97-AF65-F5344CB8AC3E}">
        <p14:creationId xmlns:p14="http://schemas.microsoft.com/office/powerpoint/2010/main" val="140525482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4D4E0-F28F-BE07-37C7-40DC3CAAD7C8}"/>
              </a:ext>
            </a:extLst>
          </p:cNvPr>
          <p:cNvSpPr>
            <a:spLocks noGrp="1"/>
          </p:cNvSpPr>
          <p:nvPr>
            <p:ph type="title"/>
          </p:nvPr>
        </p:nvSpPr>
        <p:spPr/>
        <p:txBody>
          <a:bodyPr/>
          <a:lstStyle/>
          <a:p>
            <a:r>
              <a:rPr lang="en-IN" dirty="0"/>
              <a:t>Understand Coding Prompt Engineering</a:t>
            </a:r>
            <a:endParaRPr lang="en-GB" dirty="0"/>
          </a:p>
        </p:txBody>
      </p:sp>
      <p:sp>
        <p:nvSpPr>
          <p:cNvPr id="3" name="Content Placeholder 2">
            <a:extLst>
              <a:ext uri="{FF2B5EF4-FFF2-40B4-BE49-F238E27FC236}">
                <a16:creationId xmlns:a16="http://schemas.microsoft.com/office/drawing/2014/main" id="{C5F17503-96EA-077D-A409-5F842CB42DC3}"/>
              </a:ext>
            </a:extLst>
          </p:cNvPr>
          <p:cNvSpPr>
            <a:spLocks noGrp="1"/>
          </p:cNvSpPr>
          <p:nvPr>
            <p:ph idx="1"/>
          </p:nvPr>
        </p:nvSpPr>
        <p:spPr/>
        <p:txBody>
          <a:bodyPr>
            <a:normAutofit fontScale="92500" lnSpcReduction="10000"/>
          </a:bodyPr>
          <a:lstStyle/>
          <a:p>
            <a:r>
              <a:rPr lang="en-US" dirty="0"/>
              <a:t>Writing instructions that help Claude Code understand the software task clearly</a:t>
            </a:r>
          </a:p>
          <a:p>
            <a:r>
              <a:rPr lang="en-US" dirty="0"/>
              <a:t>A strong coding prompt usually answers six questions</a:t>
            </a:r>
          </a:p>
          <a:p>
            <a:pPr lvl="1"/>
            <a:r>
              <a:rPr lang="en-US" dirty="0"/>
              <a:t>What do I want? </a:t>
            </a:r>
          </a:p>
          <a:p>
            <a:pPr lvl="1"/>
            <a:r>
              <a:rPr lang="en-US" dirty="0"/>
              <a:t>What project or file is involved? </a:t>
            </a:r>
          </a:p>
          <a:p>
            <a:pPr lvl="1"/>
            <a:r>
              <a:rPr lang="en-US" dirty="0"/>
              <a:t>What should Claude inspect first? </a:t>
            </a:r>
          </a:p>
          <a:p>
            <a:pPr lvl="1"/>
            <a:r>
              <a:rPr lang="en-US" dirty="0"/>
              <a:t>What should Claude avoid changing? </a:t>
            </a:r>
          </a:p>
          <a:p>
            <a:pPr lvl="1"/>
            <a:r>
              <a:rPr lang="en-US" dirty="0"/>
              <a:t>What kind of answer do I want? </a:t>
            </a:r>
          </a:p>
          <a:p>
            <a:pPr lvl="1"/>
            <a:r>
              <a:rPr lang="en-US" dirty="0"/>
              <a:t>How will we check whether the result works?</a:t>
            </a:r>
          </a:p>
          <a:p>
            <a:r>
              <a:rPr lang="en-US" dirty="0"/>
              <a:t>Sample prompt: I am new to JavaScript. Please inspect the file named app.js and explain what it does. Do not edit the file yet. Use simple language and give me a short summary at the end.</a:t>
            </a:r>
            <a:endParaRPr lang="en-GB" dirty="0"/>
          </a:p>
        </p:txBody>
      </p:sp>
    </p:spTree>
    <p:extLst>
      <p:ext uri="{BB962C8B-B14F-4D97-AF65-F5344CB8AC3E}">
        <p14:creationId xmlns:p14="http://schemas.microsoft.com/office/powerpoint/2010/main" val="237448050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9D0802-72AA-4284-1744-FF9E0461A421}"/>
              </a:ext>
            </a:extLst>
          </p:cNvPr>
          <p:cNvSpPr>
            <a:spLocks noGrp="1"/>
          </p:cNvSpPr>
          <p:nvPr>
            <p:ph type="title"/>
          </p:nvPr>
        </p:nvSpPr>
        <p:spPr/>
        <p:txBody>
          <a:bodyPr/>
          <a:lstStyle/>
          <a:p>
            <a:r>
              <a:rPr lang="en-IN" dirty="0"/>
              <a:t>Recognize Weak Prompts</a:t>
            </a:r>
            <a:endParaRPr lang="en-GB" dirty="0"/>
          </a:p>
        </p:txBody>
      </p:sp>
      <p:graphicFrame>
        <p:nvGraphicFramePr>
          <p:cNvPr id="4" name="Content Placeholder 3">
            <a:extLst>
              <a:ext uri="{FF2B5EF4-FFF2-40B4-BE49-F238E27FC236}">
                <a16:creationId xmlns:a16="http://schemas.microsoft.com/office/drawing/2014/main" id="{96226FB6-346C-EF28-28FD-083642598FF0}"/>
              </a:ext>
            </a:extLst>
          </p:cNvPr>
          <p:cNvGraphicFramePr>
            <a:graphicFrameLocks noGrp="1"/>
          </p:cNvGraphicFramePr>
          <p:nvPr>
            <p:ph idx="1"/>
            <p:extLst>
              <p:ext uri="{D42A27DB-BD31-4B8C-83A1-F6EECF244321}">
                <p14:modId xmlns:p14="http://schemas.microsoft.com/office/powerpoint/2010/main" val="2071133627"/>
              </p:ext>
            </p:extLst>
          </p:nvPr>
        </p:nvGraphicFramePr>
        <p:xfrm>
          <a:off x="446729" y="1681310"/>
          <a:ext cx="11384629" cy="4354870"/>
        </p:xfrm>
        <a:graphic>
          <a:graphicData uri="http://schemas.openxmlformats.org/drawingml/2006/table">
            <a:tbl>
              <a:tblPr firstRow="1">
                <a:tableStyleId>{69012ECD-51FC-41F1-AA8D-1B2483CD663E}</a:tableStyleId>
              </a:tblPr>
              <a:tblGrid>
                <a:gridCol w="2505876">
                  <a:extLst>
                    <a:ext uri="{9D8B030D-6E8A-4147-A177-3AD203B41FA5}">
                      <a16:colId xmlns:a16="http://schemas.microsoft.com/office/drawing/2014/main" val="1529425979"/>
                    </a:ext>
                  </a:extLst>
                </a:gridCol>
                <a:gridCol w="8878753">
                  <a:extLst>
                    <a:ext uri="{9D8B030D-6E8A-4147-A177-3AD203B41FA5}">
                      <a16:colId xmlns:a16="http://schemas.microsoft.com/office/drawing/2014/main" val="240448322"/>
                    </a:ext>
                  </a:extLst>
                </a:gridCol>
              </a:tblGrid>
              <a:tr h="300092">
                <a:tc>
                  <a:txBody>
                    <a:bodyPr/>
                    <a:lstStyle/>
                    <a:p>
                      <a:pPr>
                        <a:buNone/>
                      </a:pPr>
                      <a:r>
                        <a:rPr lang="en-GB" sz="1500" b="1"/>
                        <a:t>Weak Prompt / Rule</a:t>
                      </a:r>
                      <a:endParaRPr lang="en-GB" sz="1500"/>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500" b="1"/>
                        <a:t>Improved Prompt / Workflow</a:t>
                      </a:r>
                      <a:endParaRPr lang="en-GB" sz="1500"/>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8622565"/>
                  </a:ext>
                </a:extLst>
              </a:tr>
              <a:tr h="750231">
                <a:tc>
                  <a:txBody>
                    <a:bodyPr/>
                    <a:lstStyle/>
                    <a:p>
                      <a:pPr>
                        <a:buNone/>
                      </a:pPr>
                      <a:r>
                        <a:rPr lang="en-GB" sz="1500"/>
                        <a:t>Make this app better.</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500"/>
                        <a:t>Improve only the homepage layout. Do not change JavaScript. Suggest three changes first and wait for my approval.</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3194357"/>
                  </a:ext>
                </a:extLst>
              </a:tr>
              <a:tr h="750231">
                <a:tc>
                  <a:txBody>
                    <a:bodyPr/>
                    <a:lstStyle/>
                    <a:p>
                      <a:pPr>
                        <a:buNone/>
                      </a:pPr>
                      <a:r>
                        <a:rPr lang="en-GB" sz="1500" dirty="0"/>
                        <a:t>Fix the error.</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500"/>
                        <a:t>The browser console shows this error: </a:t>
                      </a:r>
                      <a:r>
                        <a:rPr lang="en-GB" sz="1500" b="1"/>
                        <a:t>[paste error]</a:t>
                      </a:r>
                      <a:r>
                        <a:rPr lang="en-GB" sz="1500"/>
                        <a:t>. Inspect the related files and explain the likely cause before editing.</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16324413"/>
                  </a:ext>
                </a:extLst>
              </a:tr>
              <a:tr h="525161">
                <a:tc>
                  <a:txBody>
                    <a:bodyPr/>
                    <a:lstStyle/>
                    <a:p>
                      <a:pPr>
                        <a:buNone/>
                      </a:pPr>
                      <a:r>
                        <a:rPr lang="en-GB" sz="1500"/>
                        <a:t>Add login.</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500"/>
                        <a:t>Plan a beginner-friendly login screen only. Do not add authentication logic yet. Use HTML and CSS first.</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2677143"/>
                  </a:ext>
                </a:extLst>
              </a:tr>
              <a:tr h="750231">
                <a:tc>
                  <a:txBody>
                    <a:bodyPr/>
                    <a:lstStyle/>
                    <a:p>
                      <a:pPr>
                        <a:buNone/>
                      </a:pPr>
                      <a:r>
                        <a:rPr lang="en-GB" sz="1500"/>
                        <a:t>Clean the code.</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500"/>
                        <a:t>Refactor app.js to improve readability without changing behavior. Explain each change and list how I can test it.</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8453444"/>
                  </a:ext>
                </a:extLst>
              </a:tr>
              <a:tr h="525161">
                <a:tc>
                  <a:txBody>
                    <a:bodyPr/>
                    <a:lstStyle/>
                    <a:p>
                      <a:pPr>
                        <a:buNone/>
                      </a:pPr>
                      <a:r>
                        <a:rPr lang="en-GB" sz="1500"/>
                        <a:t>Build the whole project.</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500"/>
                        <a:t>Break this project idea into five small tasks. Do not write code until I approve the first task.</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52576406"/>
                  </a:ext>
                </a:extLst>
              </a:tr>
              <a:tr h="750231">
                <a:tc>
                  <a:txBody>
                    <a:bodyPr/>
                    <a:lstStyle/>
                    <a:p>
                      <a:pPr>
                        <a:buNone/>
                      </a:pPr>
                      <a:r>
                        <a:rPr lang="en-GB" sz="1500" b="1"/>
                        <a:t>Workflow Rule</a:t>
                      </a:r>
                      <a:endParaRPr lang="en-GB" sz="1500"/>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500" dirty="0"/>
                        <a:t>When Claude Code gives a confusing result, do not simply ask for another answer. Improve the prompt by adding </a:t>
                      </a:r>
                      <a:r>
                        <a:rPr lang="en-GB" sz="1500" b="1" dirty="0"/>
                        <a:t>context, scope, limits, and a verification step</a:t>
                      </a:r>
                      <a:r>
                        <a:rPr lang="en-GB" sz="1500" dirty="0"/>
                        <a:t>.</a:t>
                      </a:r>
                    </a:p>
                  </a:txBody>
                  <a:tcPr marL="75023" marR="75023" marT="37512" marB="3751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97079334"/>
                  </a:ext>
                </a:extLst>
              </a:tr>
            </a:tbl>
          </a:graphicData>
        </a:graphic>
      </p:graphicFrame>
    </p:spTree>
    <p:extLst>
      <p:ext uri="{BB962C8B-B14F-4D97-AF65-F5344CB8AC3E}">
        <p14:creationId xmlns:p14="http://schemas.microsoft.com/office/powerpoint/2010/main" val="229209787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274F9-6A98-60F4-AC72-33939482C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C1904F-CBB2-D453-0525-F7F9B6EF9CD4}"/>
              </a:ext>
            </a:extLst>
          </p:cNvPr>
          <p:cNvSpPr>
            <a:spLocks noGrp="1"/>
          </p:cNvSpPr>
          <p:nvPr>
            <p:ph type="title"/>
          </p:nvPr>
        </p:nvSpPr>
        <p:spPr/>
        <p:txBody>
          <a:bodyPr/>
          <a:lstStyle/>
          <a:p>
            <a:r>
              <a:rPr lang="en-IN" dirty="0"/>
              <a:t>Use a Prompt Formula</a:t>
            </a:r>
            <a:endParaRPr lang="en-GB" dirty="0"/>
          </a:p>
        </p:txBody>
      </p:sp>
      <p:sp>
        <p:nvSpPr>
          <p:cNvPr id="3" name="Content Placeholder 2">
            <a:extLst>
              <a:ext uri="{FF2B5EF4-FFF2-40B4-BE49-F238E27FC236}">
                <a16:creationId xmlns:a16="http://schemas.microsoft.com/office/drawing/2014/main" id="{4D5840BB-AE43-2B8F-A59D-D3C78FC2CB66}"/>
              </a:ext>
            </a:extLst>
          </p:cNvPr>
          <p:cNvSpPr>
            <a:spLocks noGrp="1"/>
          </p:cNvSpPr>
          <p:nvPr>
            <p:ph idx="1"/>
          </p:nvPr>
        </p:nvSpPr>
        <p:spPr/>
        <p:txBody>
          <a:bodyPr/>
          <a:lstStyle/>
          <a:p>
            <a:r>
              <a:rPr lang="en-US" dirty="0"/>
              <a:t>Role-Task-Context-Output</a:t>
            </a:r>
          </a:p>
          <a:p>
            <a:pPr lvl="1"/>
            <a:r>
              <a:rPr lang="en-US" dirty="0"/>
              <a:t>Role: Tells Claude how to behave</a:t>
            </a:r>
          </a:p>
          <a:p>
            <a:pPr lvl="1"/>
            <a:r>
              <a:rPr lang="en-US" dirty="0"/>
              <a:t>Task: Tells Claude what to do.</a:t>
            </a:r>
          </a:p>
          <a:p>
            <a:pPr lvl="1"/>
            <a:r>
              <a:rPr lang="en-US" dirty="0"/>
              <a:t>Context: Gives Claude the information it needs</a:t>
            </a:r>
          </a:p>
          <a:p>
            <a:pPr lvl="1"/>
            <a:r>
              <a:rPr lang="en-US" dirty="0"/>
              <a:t>Output: Tells Claude how to present the answer</a:t>
            </a:r>
          </a:p>
          <a:p>
            <a:r>
              <a:rPr lang="en-US" dirty="0"/>
              <a:t>In coding, we should often add two more pieces</a:t>
            </a:r>
          </a:p>
          <a:p>
            <a:pPr lvl="1"/>
            <a:r>
              <a:rPr lang="en-US" dirty="0"/>
              <a:t>Limits: Tell Claude what not to do </a:t>
            </a:r>
          </a:p>
          <a:p>
            <a:pPr lvl="1"/>
            <a:r>
              <a:rPr lang="en-US" dirty="0"/>
              <a:t>Verification: Tells Claude how the result should be checked</a:t>
            </a:r>
            <a:endParaRPr lang="en-GB" dirty="0"/>
          </a:p>
        </p:txBody>
      </p:sp>
    </p:spTree>
    <p:extLst>
      <p:ext uri="{BB962C8B-B14F-4D97-AF65-F5344CB8AC3E}">
        <p14:creationId xmlns:p14="http://schemas.microsoft.com/office/powerpoint/2010/main" val="27314443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046F7-FD26-2796-BC5C-5CA002EBE762}"/>
              </a:ext>
            </a:extLst>
          </p:cNvPr>
          <p:cNvSpPr>
            <a:spLocks noGrp="1"/>
          </p:cNvSpPr>
          <p:nvPr>
            <p:ph type="title"/>
          </p:nvPr>
        </p:nvSpPr>
        <p:spPr/>
        <p:txBody>
          <a:bodyPr/>
          <a:lstStyle/>
          <a:p>
            <a:r>
              <a:rPr lang="en-IN" dirty="0"/>
              <a:t>Use a Prompt Formula</a:t>
            </a:r>
            <a:endParaRPr lang="en-GB" dirty="0"/>
          </a:p>
        </p:txBody>
      </p:sp>
      <p:sp>
        <p:nvSpPr>
          <p:cNvPr id="3" name="Content Placeholder 2">
            <a:extLst>
              <a:ext uri="{FF2B5EF4-FFF2-40B4-BE49-F238E27FC236}">
                <a16:creationId xmlns:a16="http://schemas.microsoft.com/office/drawing/2014/main" id="{59DE750F-30F6-C0CE-AFF9-FC5252D08663}"/>
              </a:ext>
            </a:extLst>
          </p:cNvPr>
          <p:cNvSpPr>
            <a:spLocks noGrp="1"/>
          </p:cNvSpPr>
          <p:nvPr>
            <p:ph idx="1"/>
          </p:nvPr>
        </p:nvSpPr>
        <p:spPr/>
        <p:txBody>
          <a:bodyPr>
            <a:normAutofit lnSpcReduction="10000"/>
          </a:bodyPr>
          <a:lstStyle/>
          <a:p>
            <a:r>
              <a:rPr lang="en-US" dirty="0"/>
              <a:t>Template for the prompt</a:t>
            </a:r>
          </a:p>
          <a:p>
            <a:pPr lvl="1"/>
            <a:r>
              <a:rPr lang="en-US" dirty="0"/>
              <a:t>Act as a [role]. Your task is to [specific coding task]. Context: [project, file, error, goal, current skill level]. Output format: [plan, table, checklist, steps, or code explanation]. Limits: [what Claude should not change or assume]. Verification: [how the work should be checked].</a:t>
            </a:r>
          </a:p>
          <a:p>
            <a:r>
              <a:rPr lang="en-US" dirty="0"/>
              <a:t>Example</a:t>
            </a:r>
          </a:p>
          <a:p>
            <a:pPr lvl="1"/>
            <a:r>
              <a:rPr lang="en-US" dirty="0"/>
              <a:t>Act as a beginner-friendly JavaScript tutor. Your task is to explain why my task list is not saving new items. Context: I am using plain HTML, CSS, and JavaScript. The issue seems to happen in app.js when I click the Add Task button. Output format: give me the likely cause, the exact part of the code to inspect, and a simple explanation. Limits: do not edit files yet. Verification: tell me what I should click in the browser to confirm the problem.</a:t>
            </a:r>
            <a:endParaRPr lang="en-GB" dirty="0"/>
          </a:p>
        </p:txBody>
      </p:sp>
    </p:spTree>
    <p:extLst>
      <p:ext uri="{BB962C8B-B14F-4D97-AF65-F5344CB8AC3E}">
        <p14:creationId xmlns:p14="http://schemas.microsoft.com/office/powerpoint/2010/main" val="18658835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7DB3D-44F9-78E7-55F3-1AAEDA788CA8}"/>
              </a:ext>
            </a:extLst>
          </p:cNvPr>
          <p:cNvSpPr>
            <a:spLocks noGrp="1"/>
          </p:cNvSpPr>
          <p:nvPr>
            <p:ph type="title"/>
          </p:nvPr>
        </p:nvSpPr>
        <p:spPr/>
        <p:txBody>
          <a:bodyPr/>
          <a:lstStyle/>
          <a:p>
            <a:r>
              <a:rPr lang="en-IN" dirty="0"/>
              <a:t>Ask for Explanations</a:t>
            </a:r>
            <a:endParaRPr lang="en-GB" dirty="0"/>
          </a:p>
        </p:txBody>
      </p:sp>
      <p:sp>
        <p:nvSpPr>
          <p:cNvPr id="3" name="Content Placeholder 2">
            <a:extLst>
              <a:ext uri="{FF2B5EF4-FFF2-40B4-BE49-F238E27FC236}">
                <a16:creationId xmlns:a16="http://schemas.microsoft.com/office/drawing/2014/main" id="{E02AE592-F3A3-2441-C48C-595ADE0FDC41}"/>
              </a:ext>
            </a:extLst>
          </p:cNvPr>
          <p:cNvSpPr>
            <a:spLocks noGrp="1"/>
          </p:cNvSpPr>
          <p:nvPr>
            <p:ph idx="1"/>
          </p:nvPr>
        </p:nvSpPr>
        <p:spPr/>
        <p:txBody>
          <a:bodyPr/>
          <a:lstStyle/>
          <a:p>
            <a:r>
              <a:rPr lang="en-US" dirty="0"/>
              <a:t>Beginners should use Claude Code as a teacher, not only as a code generator</a:t>
            </a:r>
          </a:p>
          <a:p>
            <a:r>
              <a:rPr lang="en-US" dirty="0"/>
              <a:t>If Claude writes code but you do not understand it, your project may move forward while your skill stays behind</a:t>
            </a:r>
          </a:p>
          <a:p>
            <a:r>
              <a:rPr lang="en-US" dirty="0"/>
              <a:t>The safest approach is to ask for explanations before, during, and after coding</a:t>
            </a:r>
          </a:p>
          <a:p>
            <a:r>
              <a:rPr lang="en-US" dirty="0"/>
              <a:t>Example</a:t>
            </a:r>
          </a:p>
          <a:p>
            <a:pPr lvl="1"/>
            <a:r>
              <a:rPr lang="en-US" dirty="0"/>
              <a:t>I am a beginner. Explain this file in simple language. Focus on: what the file does, the most important functions, how the data moves, which part a beginner should understand first. Do not edit anything yet.</a:t>
            </a:r>
            <a:endParaRPr lang="en-GB" dirty="0"/>
          </a:p>
        </p:txBody>
      </p:sp>
    </p:spTree>
    <p:extLst>
      <p:ext uri="{BB962C8B-B14F-4D97-AF65-F5344CB8AC3E}">
        <p14:creationId xmlns:p14="http://schemas.microsoft.com/office/powerpoint/2010/main" val="19643265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63AFD-08B0-3025-4F92-669056A1E4D1}"/>
              </a:ext>
            </a:extLst>
          </p:cNvPr>
          <p:cNvSpPr>
            <a:spLocks noGrp="1"/>
          </p:cNvSpPr>
          <p:nvPr>
            <p:ph type="title"/>
          </p:nvPr>
        </p:nvSpPr>
        <p:spPr/>
        <p:txBody>
          <a:bodyPr/>
          <a:lstStyle/>
          <a:p>
            <a:r>
              <a:rPr lang="en-IN" dirty="0"/>
              <a:t>Request Plans Before Edits</a:t>
            </a:r>
            <a:endParaRPr lang="en-GB" dirty="0"/>
          </a:p>
        </p:txBody>
      </p:sp>
      <p:sp>
        <p:nvSpPr>
          <p:cNvPr id="3" name="Content Placeholder 2">
            <a:extLst>
              <a:ext uri="{FF2B5EF4-FFF2-40B4-BE49-F238E27FC236}">
                <a16:creationId xmlns:a16="http://schemas.microsoft.com/office/drawing/2014/main" id="{35761A8B-C10A-2139-B245-67B69BC4B8A1}"/>
              </a:ext>
            </a:extLst>
          </p:cNvPr>
          <p:cNvSpPr>
            <a:spLocks noGrp="1"/>
          </p:cNvSpPr>
          <p:nvPr>
            <p:ph idx="1"/>
          </p:nvPr>
        </p:nvSpPr>
        <p:spPr/>
        <p:txBody>
          <a:bodyPr/>
          <a:lstStyle/>
          <a:p>
            <a:r>
              <a:rPr lang="en-US" dirty="0"/>
              <a:t>Planning before coding is one of the most important habits in agentic development</a:t>
            </a:r>
          </a:p>
          <a:p>
            <a:r>
              <a:rPr lang="en-US" dirty="0"/>
              <a:t>Claude Code can often move quickly from instruction to edit, but speed is not always safe</a:t>
            </a:r>
          </a:p>
          <a:p>
            <a:r>
              <a:rPr lang="en-US" dirty="0"/>
              <a:t>Example</a:t>
            </a:r>
          </a:p>
          <a:p>
            <a:pPr lvl="1"/>
            <a:r>
              <a:rPr lang="en-US" dirty="0"/>
              <a:t>I want to add [feature] to this project. Before editing any file, inspect the project and create a plan. Your plan should include: the files you need to inspect, the files you may need to change, the smallest safe implementation path, possible risks, how the change should be tested. Wait for my approval before editing.</a:t>
            </a:r>
            <a:endParaRPr lang="en-GB" dirty="0"/>
          </a:p>
        </p:txBody>
      </p:sp>
    </p:spTree>
    <p:extLst>
      <p:ext uri="{BB962C8B-B14F-4D97-AF65-F5344CB8AC3E}">
        <p14:creationId xmlns:p14="http://schemas.microsoft.com/office/powerpoint/2010/main" val="15030237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5C038-9179-6FA5-82A3-3DAF5E51DDF9}"/>
              </a:ext>
            </a:extLst>
          </p:cNvPr>
          <p:cNvSpPr>
            <a:spLocks noGrp="1"/>
          </p:cNvSpPr>
          <p:nvPr>
            <p:ph type="title"/>
          </p:nvPr>
        </p:nvSpPr>
        <p:spPr/>
        <p:txBody>
          <a:bodyPr/>
          <a:lstStyle/>
          <a:p>
            <a:r>
              <a:rPr lang="en-IN" dirty="0"/>
              <a:t>Suggested Planning Guidelines</a:t>
            </a:r>
            <a:endParaRPr lang="en-GB" dirty="0"/>
          </a:p>
        </p:txBody>
      </p:sp>
      <p:graphicFrame>
        <p:nvGraphicFramePr>
          <p:cNvPr id="4" name="Content Placeholder 3">
            <a:extLst>
              <a:ext uri="{FF2B5EF4-FFF2-40B4-BE49-F238E27FC236}">
                <a16:creationId xmlns:a16="http://schemas.microsoft.com/office/drawing/2014/main" id="{2275DA23-670C-15AD-ABA2-572D600C87F1}"/>
              </a:ext>
            </a:extLst>
          </p:cNvPr>
          <p:cNvGraphicFramePr>
            <a:graphicFrameLocks noGrp="1"/>
          </p:cNvGraphicFramePr>
          <p:nvPr>
            <p:ph idx="1"/>
            <p:extLst>
              <p:ext uri="{D42A27DB-BD31-4B8C-83A1-F6EECF244321}">
                <p14:modId xmlns:p14="http://schemas.microsoft.com/office/powerpoint/2010/main" val="2516335351"/>
              </p:ext>
            </p:extLst>
          </p:nvPr>
        </p:nvGraphicFramePr>
        <p:xfrm>
          <a:off x="558412" y="1825625"/>
          <a:ext cx="10349163" cy="4491027"/>
        </p:xfrm>
        <a:graphic>
          <a:graphicData uri="http://schemas.openxmlformats.org/drawingml/2006/table">
            <a:tbl>
              <a:tblPr firstRow="1">
                <a:tableStyleId>{69012ECD-51FC-41F1-AA8D-1B2483CD663E}</a:tableStyleId>
              </a:tblPr>
              <a:tblGrid>
                <a:gridCol w="2980525">
                  <a:extLst>
                    <a:ext uri="{9D8B030D-6E8A-4147-A177-3AD203B41FA5}">
                      <a16:colId xmlns:a16="http://schemas.microsoft.com/office/drawing/2014/main" val="4105732351"/>
                    </a:ext>
                  </a:extLst>
                </a:gridCol>
                <a:gridCol w="2840923">
                  <a:extLst>
                    <a:ext uri="{9D8B030D-6E8A-4147-A177-3AD203B41FA5}">
                      <a16:colId xmlns:a16="http://schemas.microsoft.com/office/drawing/2014/main" val="2440225812"/>
                    </a:ext>
                  </a:extLst>
                </a:gridCol>
                <a:gridCol w="4527715">
                  <a:extLst>
                    <a:ext uri="{9D8B030D-6E8A-4147-A177-3AD203B41FA5}">
                      <a16:colId xmlns:a16="http://schemas.microsoft.com/office/drawing/2014/main" val="383777240"/>
                    </a:ext>
                  </a:extLst>
                </a:gridCol>
              </a:tblGrid>
              <a:tr h="334718">
                <a:tc>
                  <a:txBody>
                    <a:bodyPr/>
                    <a:lstStyle/>
                    <a:p>
                      <a:pPr>
                        <a:buNone/>
                      </a:pPr>
                      <a:r>
                        <a:rPr lang="en-GB" sz="1800" b="1"/>
                        <a:t>Task Type</a:t>
                      </a:r>
                      <a:endParaRPr lang="en-GB" sz="1800"/>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b="1"/>
                        <a:t>Planning Need</a:t>
                      </a:r>
                      <a:endParaRPr lang="en-GB" sz="1800"/>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b="1"/>
                        <a:t>Beginner Safety Habit</a:t>
                      </a:r>
                      <a:endParaRPr lang="en-GB" sz="1800"/>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76618070"/>
                  </a:ext>
                </a:extLst>
              </a:tr>
              <a:tr h="334718">
                <a:tc>
                  <a:txBody>
                    <a:bodyPr/>
                    <a:lstStyle/>
                    <a:p>
                      <a:pPr>
                        <a:buNone/>
                      </a:pPr>
                      <a:r>
                        <a:rPr lang="en-GB" sz="1800"/>
                        <a:t>One-file visual change</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Short plan is enough.</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dirty="0"/>
                        <a:t>Still ask for the file and testing step.</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89481275"/>
                  </a:ext>
                </a:extLst>
              </a:tr>
              <a:tr h="585757">
                <a:tc>
                  <a:txBody>
                    <a:bodyPr/>
                    <a:lstStyle/>
                    <a:p>
                      <a:pPr>
                        <a:buNone/>
                      </a:pPr>
                      <a:r>
                        <a:rPr lang="en-GB" sz="1800"/>
                        <a:t>Multi-file feature</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Detailed plan required.</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Ask for changed files, order, and risks.</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08701018"/>
                  </a:ext>
                </a:extLst>
              </a:tr>
              <a:tr h="585757">
                <a:tc>
                  <a:txBody>
                    <a:bodyPr/>
                    <a:lstStyle/>
                    <a:p>
                      <a:pPr>
                        <a:buNone/>
                      </a:pPr>
                      <a:r>
                        <a:rPr lang="en-GB" sz="1800"/>
                        <a:t>Bug fix</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Root-cause plan required.</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Ask Claude to explain the evidence before fixing.</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3464988"/>
                  </a:ext>
                </a:extLst>
              </a:tr>
              <a:tr h="585757">
                <a:tc>
                  <a:txBody>
                    <a:bodyPr/>
                    <a:lstStyle/>
                    <a:p>
                      <a:pPr>
                        <a:buNone/>
                      </a:pPr>
                      <a:r>
                        <a:rPr lang="en-GB" sz="1800"/>
                        <a:t>Dependency change</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Approval required.</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Ask why the package is needed and what alternatives exist.</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00870865"/>
                  </a:ext>
                </a:extLst>
              </a:tr>
              <a:tr h="585757">
                <a:tc>
                  <a:txBody>
                    <a:bodyPr/>
                    <a:lstStyle/>
                    <a:p>
                      <a:pPr>
                        <a:buNone/>
                      </a:pPr>
                      <a:r>
                        <a:rPr lang="en-GB" sz="1800"/>
                        <a:t>Security-related change</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Strict review required.</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Do not approve until risks and tests are clear.</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24023669"/>
                  </a:ext>
                </a:extLst>
              </a:tr>
              <a:tr h="1338873">
                <a:tc>
                  <a:txBody>
                    <a:bodyPr/>
                    <a:lstStyle/>
                    <a:p>
                      <a:pPr>
                        <a:buNone/>
                      </a:pPr>
                      <a:r>
                        <a:rPr lang="en-GB" sz="1800" b="1"/>
                        <a:t>Planning Rule</a:t>
                      </a:r>
                      <a:endParaRPr lang="en-GB" sz="1800"/>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b="1"/>
                        <a:t>Applies to all tasks</a:t>
                      </a:r>
                      <a:endParaRPr lang="en-GB" sz="1800"/>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dirty="0"/>
                        <a:t>Do not ask Claude Code to edit first when the task is unclear. Ask it to inspect, explain, plan, and wait. A visible plan is safer than invisible assumptions.</a:t>
                      </a:r>
                    </a:p>
                  </a:txBody>
                  <a:tcPr marL="83680" marR="83680" marT="41840" marB="418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33888478"/>
                  </a:ext>
                </a:extLst>
              </a:tr>
            </a:tbl>
          </a:graphicData>
        </a:graphic>
      </p:graphicFrame>
    </p:spTree>
    <p:extLst>
      <p:ext uri="{BB962C8B-B14F-4D97-AF65-F5344CB8AC3E}">
        <p14:creationId xmlns:p14="http://schemas.microsoft.com/office/powerpoint/2010/main" val="180101062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901E6-96E0-0F13-DC8F-61A414F90521}"/>
              </a:ext>
            </a:extLst>
          </p:cNvPr>
          <p:cNvSpPr>
            <a:spLocks noGrp="1"/>
          </p:cNvSpPr>
          <p:nvPr>
            <p:ph type="title"/>
          </p:nvPr>
        </p:nvSpPr>
        <p:spPr>
          <a:xfrm>
            <a:off x="838200" y="118664"/>
            <a:ext cx="10515600" cy="854204"/>
          </a:xfrm>
        </p:spPr>
        <p:txBody>
          <a:bodyPr/>
          <a:lstStyle/>
          <a:p>
            <a:r>
              <a:rPr lang="en-IN" dirty="0"/>
              <a:t>Improve Prompt Quality</a:t>
            </a:r>
            <a:endParaRPr lang="en-GB" dirty="0"/>
          </a:p>
        </p:txBody>
      </p:sp>
      <p:sp>
        <p:nvSpPr>
          <p:cNvPr id="3" name="Content Placeholder 2">
            <a:extLst>
              <a:ext uri="{FF2B5EF4-FFF2-40B4-BE49-F238E27FC236}">
                <a16:creationId xmlns:a16="http://schemas.microsoft.com/office/drawing/2014/main" id="{04A92062-4C7F-F544-E221-A6C77CEA8921}"/>
              </a:ext>
            </a:extLst>
          </p:cNvPr>
          <p:cNvSpPr>
            <a:spLocks noGrp="1"/>
          </p:cNvSpPr>
          <p:nvPr>
            <p:ph idx="1"/>
          </p:nvPr>
        </p:nvSpPr>
        <p:spPr>
          <a:xfrm>
            <a:off x="838200" y="972868"/>
            <a:ext cx="10515600" cy="5204095"/>
          </a:xfrm>
        </p:spPr>
        <p:txBody>
          <a:bodyPr/>
          <a:lstStyle/>
          <a:p>
            <a:r>
              <a:rPr lang="en-US" dirty="0"/>
              <a:t>Confusing Claude Code results usually come from unclear task design, missing context, or missing boundaries</a:t>
            </a:r>
          </a:p>
          <a:p>
            <a:endParaRPr lang="en-GB" dirty="0"/>
          </a:p>
        </p:txBody>
      </p:sp>
      <p:graphicFrame>
        <p:nvGraphicFramePr>
          <p:cNvPr id="4" name="Table 3">
            <a:extLst>
              <a:ext uri="{FF2B5EF4-FFF2-40B4-BE49-F238E27FC236}">
                <a16:creationId xmlns:a16="http://schemas.microsoft.com/office/drawing/2014/main" id="{64EF3AFD-16E5-5B50-93AD-2F2C2F4C9450}"/>
              </a:ext>
            </a:extLst>
          </p:cNvPr>
          <p:cNvGraphicFramePr>
            <a:graphicFrameLocks noGrp="1"/>
          </p:cNvGraphicFramePr>
          <p:nvPr>
            <p:extLst>
              <p:ext uri="{D42A27DB-BD31-4B8C-83A1-F6EECF244321}">
                <p14:modId xmlns:p14="http://schemas.microsoft.com/office/powerpoint/2010/main" val="4106174374"/>
              </p:ext>
            </p:extLst>
          </p:nvPr>
        </p:nvGraphicFramePr>
        <p:xfrm>
          <a:off x="861467" y="1970824"/>
          <a:ext cx="10972441" cy="4367862"/>
        </p:xfrm>
        <a:graphic>
          <a:graphicData uri="http://schemas.openxmlformats.org/drawingml/2006/table">
            <a:tbl>
              <a:tblPr firstRow="1">
                <a:tableStyleId>{69012ECD-51FC-41F1-AA8D-1B2483CD663E}</a:tableStyleId>
              </a:tblPr>
              <a:tblGrid>
                <a:gridCol w="2005255">
                  <a:extLst>
                    <a:ext uri="{9D8B030D-6E8A-4147-A177-3AD203B41FA5}">
                      <a16:colId xmlns:a16="http://schemas.microsoft.com/office/drawing/2014/main" val="3370153040"/>
                    </a:ext>
                  </a:extLst>
                </a:gridCol>
                <a:gridCol w="4180238">
                  <a:extLst>
                    <a:ext uri="{9D8B030D-6E8A-4147-A177-3AD203B41FA5}">
                      <a16:colId xmlns:a16="http://schemas.microsoft.com/office/drawing/2014/main" val="2767810915"/>
                    </a:ext>
                  </a:extLst>
                </a:gridCol>
                <a:gridCol w="4786948">
                  <a:extLst>
                    <a:ext uri="{9D8B030D-6E8A-4147-A177-3AD203B41FA5}">
                      <a16:colId xmlns:a16="http://schemas.microsoft.com/office/drawing/2014/main" val="3701819333"/>
                    </a:ext>
                  </a:extLst>
                </a:gridCol>
              </a:tblGrid>
              <a:tr h="362611">
                <a:tc>
                  <a:txBody>
                    <a:bodyPr/>
                    <a:lstStyle/>
                    <a:p>
                      <a:pPr>
                        <a:buNone/>
                      </a:pPr>
                      <a:r>
                        <a:rPr lang="en-GB" sz="1800" b="1"/>
                        <a:t>Mistake</a:t>
                      </a:r>
                      <a:endParaRPr lang="en-GB" sz="1800"/>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b="1"/>
                        <a:t>Weak Pattern</a:t>
                      </a:r>
                      <a:endParaRPr lang="en-GB" sz="1800"/>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b="1"/>
                        <a:t>Better Habit</a:t>
                      </a:r>
                      <a:endParaRPr lang="en-GB" sz="1800"/>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46881516"/>
                  </a:ext>
                </a:extLst>
              </a:tr>
              <a:tr h="362611">
                <a:tc>
                  <a:txBody>
                    <a:bodyPr/>
                    <a:lstStyle/>
                    <a:p>
                      <a:pPr>
                        <a:buNone/>
                      </a:pPr>
                      <a:r>
                        <a:rPr lang="en-GB" sz="1800"/>
                        <a:t>Too broad</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Build me a full app.</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Break the idea into small tasks first.</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8832625"/>
                  </a:ext>
                </a:extLst>
              </a:tr>
              <a:tr h="634570">
                <a:tc>
                  <a:txBody>
                    <a:bodyPr/>
                    <a:lstStyle/>
                    <a:p>
                      <a:pPr>
                        <a:buNone/>
                      </a:pPr>
                      <a:r>
                        <a:rPr lang="en-GB" sz="1800"/>
                        <a:t>No context</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Fix this.</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Paste the error and identify the project or file.</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362329"/>
                  </a:ext>
                </a:extLst>
              </a:tr>
              <a:tr h="634570">
                <a:tc>
                  <a:txBody>
                    <a:bodyPr/>
                    <a:lstStyle/>
                    <a:p>
                      <a:pPr>
                        <a:buNone/>
                      </a:pPr>
                      <a:r>
                        <a:rPr lang="en-GB" sz="1800"/>
                        <a:t>No skill level</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Explain the code.</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Say what you already understand and what confuses you.</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9214281"/>
                  </a:ext>
                </a:extLst>
              </a:tr>
              <a:tr h="362611">
                <a:tc>
                  <a:txBody>
                    <a:bodyPr/>
                    <a:lstStyle/>
                    <a:p>
                      <a:pPr>
                        <a:buNone/>
                      </a:pPr>
                      <a:r>
                        <a:rPr lang="en-GB" sz="1800"/>
                        <a:t>No limit</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Improve everything.</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State what should not change.</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53792108"/>
                  </a:ext>
                </a:extLst>
              </a:tr>
              <a:tr h="634570">
                <a:tc>
                  <a:txBody>
                    <a:bodyPr/>
                    <a:lstStyle/>
                    <a:p>
                      <a:pPr>
                        <a:buNone/>
                      </a:pPr>
                      <a:r>
                        <a:rPr lang="en-GB" sz="1800"/>
                        <a:t>No output format</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Tell me what to do.</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Ask for a table, checklist, or numbered plan.</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2672753"/>
                  </a:ext>
                </a:extLst>
              </a:tr>
              <a:tr h="634570">
                <a:tc>
                  <a:txBody>
                    <a:bodyPr/>
                    <a:lstStyle/>
                    <a:p>
                      <a:pPr>
                        <a:buNone/>
                      </a:pPr>
                      <a:r>
                        <a:rPr lang="en-GB" sz="1800"/>
                        <a:t>Too many tasks</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Debug, redesign, test, and deploy this app.</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Handle one stage at a time.</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16901885"/>
                  </a:ext>
                </a:extLst>
              </a:tr>
              <a:tr h="362611">
                <a:tc>
                  <a:txBody>
                    <a:bodyPr/>
                    <a:lstStyle/>
                    <a:p>
                      <a:pPr>
                        <a:buNone/>
                      </a:pPr>
                      <a:r>
                        <a:rPr lang="en-GB" sz="1800"/>
                        <a:t>No verification</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Make it work.</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Ask how to test the result.</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42988782"/>
                  </a:ext>
                </a:extLst>
              </a:tr>
              <a:tr h="362611">
                <a:tc>
                  <a:txBody>
                    <a:bodyPr/>
                    <a:lstStyle/>
                    <a:p>
                      <a:pPr>
                        <a:buNone/>
                      </a:pPr>
                      <a:r>
                        <a:rPr lang="en-GB" sz="1800"/>
                        <a:t>Blind approval</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a:t>Go ahead and fix it.</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1800" dirty="0"/>
                        <a:t>Ask for a plan and risks first.</a:t>
                      </a:r>
                    </a:p>
                  </a:txBody>
                  <a:tcPr marL="90653" marR="90653" marT="45326" marB="4532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75437679"/>
                  </a:ext>
                </a:extLst>
              </a:tr>
            </a:tbl>
          </a:graphicData>
        </a:graphic>
      </p:graphicFrame>
    </p:spTree>
    <p:extLst>
      <p:ext uri="{BB962C8B-B14F-4D97-AF65-F5344CB8AC3E}">
        <p14:creationId xmlns:p14="http://schemas.microsoft.com/office/powerpoint/2010/main" val="8061415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DE38B5-24B9-4F11-83E0-715B1B8EE9AA}"/>
              </a:ext>
            </a:extLst>
          </p:cNvPr>
          <p:cNvSpPr>
            <a:spLocks noGrp="1"/>
          </p:cNvSpPr>
          <p:nvPr>
            <p:ph type="title"/>
          </p:nvPr>
        </p:nvSpPr>
        <p:spPr/>
        <p:txBody>
          <a:bodyPr/>
          <a:lstStyle/>
          <a:p>
            <a:r>
              <a:rPr lang="en-IN" dirty="0"/>
              <a:t>Exercise – Improve these Weak Prompts</a:t>
            </a:r>
            <a:endParaRPr lang="en-GB" dirty="0"/>
          </a:p>
        </p:txBody>
      </p:sp>
      <p:sp>
        <p:nvSpPr>
          <p:cNvPr id="3" name="Content Placeholder 2">
            <a:extLst>
              <a:ext uri="{FF2B5EF4-FFF2-40B4-BE49-F238E27FC236}">
                <a16:creationId xmlns:a16="http://schemas.microsoft.com/office/drawing/2014/main" id="{E28A3BB6-C876-BE66-9B1D-69E28910C011}"/>
              </a:ext>
            </a:extLst>
          </p:cNvPr>
          <p:cNvSpPr>
            <a:spLocks noGrp="1"/>
          </p:cNvSpPr>
          <p:nvPr>
            <p:ph idx="1"/>
          </p:nvPr>
        </p:nvSpPr>
        <p:spPr/>
        <p:txBody>
          <a:bodyPr/>
          <a:lstStyle/>
          <a:p>
            <a:r>
              <a:rPr lang="en-GB" dirty="0"/>
              <a:t>Explain this project to me</a:t>
            </a:r>
          </a:p>
          <a:p>
            <a:r>
              <a:rPr lang="en-GB" dirty="0"/>
              <a:t>Write specs for a new feature</a:t>
            </a:r>
          </a:p>
          <a:p>
            <a:r>
              <a:rPr lang="en-GB" dirty="0"/>
              <a:t>Is this feature done?</a:t>
            </a:r>
          </a:p>
          <a:p>
            <a:r>
              <a:rPr lang="en-GB" dirty="0"/>
              <a:t>Give me a project update</a:t>
            </a:r>
          </a:p>
          <a:p>
            <a:r>
              <a:rPr lang="en-GB" dirty="0"/>
              <a:t>What should we build next?</a:t>
            </a:r>
          </a:p>
        </p:txBody>
      </p:sp>
    </p:spTree>
    <p:extLst>
      <p:ext uri="{BB962C8B-B14F-4D97-AF65-F5344CB8AC3E}">
        <p14:creationId xmlns:p14="http://schemas.microsoft.com/office/powerpoint/2010/main" val="14815226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619C-20E4-09C6-E0B9-57F623D683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8AFF22-D4F2-84B2-3682-A814C0980158}"/>
              </a:ext>
            </a:extLst>
          </p:cNvPr>
          <p:cNvSpPr>
            <a:spLocks noGrp="1"/>
          </p:cNvSpPr>
          <p:nvPr>
            <p:ph type="title"/>
          </p:nvPr>
        </p:nvSpPr>
        <p:spPr/>
        <p:txBody>
          <a:bodyPr/>
          <a:lstStyle/>
          <a:p>
            <a:r>
              <a:rPr lang="en-IN" dirty="0"/>
              <a:t>Exercise Solutions</a:t>
            </a:r>
            <a:endParaRPr lang="en-GB" dirty="0"/>
          </a:p>
        </p:txBody>
      </p:sp>
      <p:sp>
        <p:nvSpPr>
          <p:cNvPr id="3" name="Content Placeholder 2">
            <a:extLst>
              <a:ext uri="{FF2B5EF4-FFF2-40B4-BE49-F238E27FC236}">
                <a16:creationId xmlns:a16="http://schemas.microsoft.com/office/drawing/2014/main" id="{04833C95-00D8-CEA5-55AC-06531B1BE04C}"/>
              </a:ext>
            </a:extLst>
          </p:cNvPr>
          <p:cNvSpPr>
            <a:spLocks noGrp="1"/>
          </p:cNvSpPr>
          <p:nvPr>
            <p:ph idx="1"/>
          </p:nvPr>
        </p:nvSpPr>
        <p:spPr/>
        <p:txBody>
          <a:bodyPr>
            <a:normAutofit fontScale="55000" lnSpcReduction="20000"/>
          </a:bodyPr>
          <a:lstStyle/>
          <a:p>
            <a:r>
              <a:rPr lang="en-GB" b="1" dirty="0"/>
              <a:t>1. Weak:</a:t>
            </a:r>
            <a:r>
              <a:rPr lang="en-GB" dirty="0"/>
              <a:t> "Explain this project to me." </a:t>
            </a:r>
            <a:r>
              <a:rPr lang="en-GB" b="1" dirty="0"/>
              <a:t>Strong:</a:t>
            </a:r>
            <a:r>
              <a:rPr lang="en-GB" dirty="0"/>
              <a:t> "Act as a business analyst reviewing an unfamiliar codebase. Context: I'm new to this project and need to report on it to a stakeholder tomorrow. Output: a plain-language summary covering what the project does, who it's for, and its current state — no code, no technical jargon. Limits: do not propose any changes. Verification: end with three questions I should ask the engineering team to fill gaps in your summary."</a:t>
            </a:r>
          </a:p>
          <a:p>
            <a:r>
              <a:rPr lang="en-GB" b="1" dirty="0"/>
              <a:t>2. Weak:</a:t>
            </a:r>
            <a:r>
              <a:rPr lang="en-GB" dirty="0"/>
              <a:t> "Write specs for a new feature." </a:t>
            </a:r>
            <a:r>
              <a:rPr lang="en-GB" b="1" dirty="0"/>
              <a:t>Strong:</a:t>
            </a:r>
            <a:r>
              <a:rPr lang="en-GB" dirty="0"/>
              <a:t> "Act as a business analyst drafting requirements. Context: we want to let users export their data as a CSV file from the account settings page. Output: a SPECS.md with user story, acceptance criteria, and edge cases (empty data, very large datasets, permissions). Limits: do not write any code — this is for a developer to implement later. Verification: read it back and tell me if any acceptance criterion is untestable as written."</a:t>
            </a:r>
          </a:p>
          <a:p>
            <a:r>
              <a:rPr lang="en-GB" b="1" dirty="0"/>
              <a:t>3. Weak:</a:t>
            </a:r>
            <a:r>
              <a:rPr lang="en-GB" dirty="0"/>
              <a:t> "Is this feature done?" </a:t>
            </a:r>
            <a:r>
              <a:rPr lang="en-GB" b="1" dirty="0"/>
              <a:t>Strong:</a:t>
            </a:r>
            <a:r>
              <a:rPr lang="en-GB" dirty="0"/>
              <a:t> "Act as a QA-minded reviewer. Context: the team says the 'password reset' feature is complete; the requirements are in SPECS.md. Output: compare what's actually implemented in the code against each acceptance criterion in SPECS.md, and flag any criterion that isn't met. Limits: do not modify any files. Verification: give me a simple done/not-done table I can paste into a status report."</a:t>
            </a:r>
          </a:p>
          <a:p>
            <a:r>
              <a:rPr lang="en-GB" b="1" dirty="0"/>
              <a:t>4. Weak:</a:t>
            </a:r>
            <a:r>
              <a:rPr lang="en-GB" dirty="0"/>
              <a:t> "Give me a project update." </a:t>
            </a:r>
            <a:r>
              <a:rPr lang="en-GB" b="1" dirty="0"/>
              <a:t>Strong:</a:t>
            </a:r>
            <a:r>
              <a:rPr lang="en-GB" dirty="0"/>
              <a:t> "Act as a project coordinator summarizing progress for a non-technical stakeholder. Context: look at the last 10 commits and any open items in SPECS.md. Output: a short status update with three sections — completed this week, in progress, blockers — in plain English, no file names or code terms. Limits: keep it under 150 words. Verification: read it back and check that someone with zero technical background could understand every sentence."</a:t>
            </a:r>
          </a:p>
          <a:p>
            <a:r>
              <a:rPr lang="en-GB" b="1" dirty="0"/>
              <a:t>5. Weak:</a:t>
            </a:r>
            <a:r>
              <a:rPr lang="en-GB" dirty="0"/>
              <a:t> "What should we build next?" </a:t>
            </a:r>
            <a:r>
              <a:rPr lang="en-GB" b="1" dirty="0"/>
              <a:t>Strong:</a:t>
            </a:r>
            <a:r>
              <a:rPr lang="en-GB" dirty="0"/>
              <a:t> "Act as a product-minded analyst. Context: here is our current feature list in SPECS.md and our top user complaint: 'search is too slow to be useful.' Output: three possible next steps, each with expected user benefit, rough complexity (low/medium/high), and what risk it carries if skipped. Limits: do not recommend anything requiring a new database or infrastructure change. Verification: rank the three by impact-to-effort so I can bring a recommendation to the team, not just options."</a:t>
            </a:r>
          </a:p>
        </p:txBody>
      </p:sp>
    </p:spTree>
    <p:extLst>
      <p:ext uri="{BB962C8B-B14F-4D97-AF65-F5344CB8AC3E}">
        <p14:creationId xmlns:p14="http://schemas.microsoft.com/office/powerpoint/2010/main" val="9292616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6536EF5-C3B6-86C9-0BFE-23B34DBE3BDD}"/>
              </a:ext>
            </a:extLst>
          </p:cNvPr>
          <p:cNvSpPr>
            <a:spLocks noGrp="1"/>
          </p:cNvSpPr>
          <p:nvPr>
            <p:ph type="title"/>
          </p:nvPr>
        </p:nvSpPr>
        <p:spPr/>
        <p:txBody>
          <a:bodyPr/>
          <a:lstStyle/>
          <a:p>
            <a:r>
              <a:rPr lang="en-IN" dirty="0"/>
              <a:t>Section 5: Project Instructions and CLAUDE.md File</a:t>
            </a:r>
            <a:endParaRPr lang="en-GB" dirty="0"/>
          </a:p>
        </p:txBody>
      </p:sp>
      <p:sp>
        <p:nvSpPr>
          <p:cNvPr id="5" name="Text Placeholder 4">
            <a:extLst>
              <a:ext uri="{FF2B5EF4-FFF2-40B4-BE49-F238E27FC236}">
                <a16:creationId xmlns:a16="http://schemas.microsoft.com/office/drawing/2014/main" id="{6DD5C05B-3F6E-5BAC-1917-D681DA3BCC91}"/>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0356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D309EF5-B16E-BA0E-64C1-1FE26497E142}"/>
              </a:ext>
            </a:extLst>
          </p:cNvPr>
          <p:cNvSpPr>
            <a:spLocks noGrp="1"/>
          </p:cNvSpPr>
          <p:nvPr>
            <p:ph type="title"/>
          </p:nvPr>
        </p:nvSpPr>
        <p:spPr/>
        <p:txBody>
          <a:bodyPr/>
          <a:lstStyle/>
          <a:p>
            <a:r>
              <a:rPr lang="en-IN" dirty="0"/>
              <a:t>CLAUDE.md File</a:t>
            </a:r>
            <a:endParaRPr lang="en-GB" dirty="0"/>
          </a:p>
        </p:txBody>
      </p:sp>
      <p:sp>
        <p:nvSpPr>
          <p:cNvPr id="5" name="Content Placeholder 4">
            <a:extLst>
              <a:ext uri="{FF2B5EF4-FFF2-40B4-BE49-F238E27FC236}">
                <a16:creationId xmlns:a16="http://schemas.microsoft.com/office/drawing/2014/main" id="{DBAA3ACF-2139-5BE4-3C51-3F8641B50CD2}"/>
              </a:ext>
            </a:extLst>
          </p:cNvPr>
          <p:cNvSpPr>
            <a:spLocks noGrp="1"/>
          </p:cNvSpPr>
          <p:nvPr>
            <p:ph idx="1"/>
          </p:nvPr>
        </p:nvSpPr>
        <p:spPr/>
        <p:txBody>
          <a:bodyPr>
            <a:normAutofit lnSpcReduction="10000"/>
          </a:bodyPr>
          <a:lstStyle/>
          <a:p>
            <a:r>
              <a:rPr lang="en-IN" dirty="0"/>
              <a:t>Avoids giving repeated and similar instructions to Claude</a:t>
            </a:r>
          </a:p>
          <a:p>
            <a:r>
              <a:rPr lang="en-US" dirty="0"/>
              <a:t>Explains the project, the preferred commands, the folder structure, the coding rules, the testing rules, and the safety limits Claude should respect while working in the repository</a:t>
            </a:r>
          </a:p>
          <a:p>
            <a:r>
              <a:rPr lang="en-US" dirty="0"/>
              <a:t>Instead of putting every detail into every prompt, you place the stable rules in CLAUDE.md and use your daily prompt for the current task</a:t>
            </a:r>
          </a:p>
          <a:p>
            <a:r>
              <a:rPr lang="en-US" dirty="0"/>
              <a:t>Creating a CLAUDE.md file for an existing project: Inspect this project and help me create a short CLAUDE.md file. Include: project purpose,  important files, how to run or open the project, coding rules, testing rules, changes that require my approval. Keep it beginner-friendly and concise.</a:t>
            </a:r>
            <a:endParaRPr lang="en-GB" dirty="0"/>
          </a:p>
        </p:txBody>
      </p:sp>
    </p:spTree>
    <p:extLst>
      <p:ext uri="{BB962C8B-B14F-4D97-AF65-F5344CB8AC3E}">
        <p14:creationId xmlns:p14="http://schemas.microsoft.com/office/powerpoint/2010/main" val="18886877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6730F-042C-EC4A-A8C6-E822CA39775A}"/>
              </a:ext>
            </a:extLst>
          </p:cNvPr>
          <p:cNvSpPr>
            <a:spLocks noGrp="1"/>
          </p:cNvSpPr>
          <p:nvPr>
            <p:ph type="title"/>
          </p:nvPr>
        </p:nvSpPr>
        <p:spPr/>
        <p:txBody>
          <a:bodyPr/>
          <a:lstStyle/>
          <a:p>
            <a:r>
              <a:rPr lang="en-IN" noProof="0" dirty="0"/>
              <a:t>CLAUDE.md and Project Memory</a:t>
            </a:r>
          </a:p>
        </p:txBody>
      </p:sp>
      <p:sp>
        <p:nvSpPr>
          <p:cNvPr id="3" name="Content Placeholder 2">
            <a:extLst>
              <a:ext uri="{FF2B5EF4-FFF2-40B4-BE49-F238E27FC236}">
                <a16:creationId xmlns:a16="http://schemas.microsoft.com/office/drawing/2014/main" id="{5D16C8C2-F552-9C58-B8A9-C9E459B46ACB}"/>
              </a:ext>
            </a:extLst>
          </p:cNvPr>
          <p:cNvSpPr>
            <a:spLocks noGrp="1"/>
          </p:cNvSpPr>
          <p:nvPr>
            <p:ph idx="1"/>
          </p:nvPr>
        </p:nvSpPr>
        <p:spPr/>
        <p:txBody>
          <a:bodyPr>
            <a:normAutofit fontScale="92500" lnSpcReduction="20000"/>
          </a:bodyPr>
          <a:lstStyle/>
          <a:p>
            <a:r>
              <a:rPr lang="en-IN" noProof="0" dirty="0"/>
              <a:t>Each session starts with a fresh context window</a:t>
            </a:r>
          </a:p>
          <a:p>
            <a:r>
              <a:rPr lang="en-IN" noProof="0" dirty="0"/>
              <a:t>Two mechanisms carry knowledge across sessions: CLAUDE.md files, which we write, and auto memory, which Claude writes for itself</a:t>
            </a:r>
          </a:p>
          <a:p>
            <a:r>
              <a:rPr lang="en-IN" noProof="0" dirty="0"/>
              <a:t>Both load at the start of every conversation, are context, not enforced configuration — Claude reads them and tries to follow them, but for hard guarantees we need a </a:t>
            </a:r>
            <a:r>
              <a:rPr lang="en-IN" b="1" noProof="0" dirty="0"/>
              <a:t>hook</a:t>
            </a:r>
          </a:p>
          <a:p>
            <a:r>
              <a:rPr lang="en-IN" noProof="0" dirty="0"/>
              <a:t>CLAUDE.md is a plain-Markdown file Claude reads at the start of every session, and is the most valuable single piece of setup</a:t>
            </a:r>
          </a:p>
          <a:p>
            <a:r>
              <a:rPr lang="en-IN" noProof="0" dirty="0"/>
              <a:t>Creating a new CLAUDE.md file: </a:t>
            </a:r>
            <a:r>
              <a:rPr lang="en-IN" b="1" noProof="0" dirty="0"/>
              <a:t>/</a:t>
            </a:r>
            <a:r>
              <a:rPr lang="en-IN" b="1" noProof="0" dirty="0" err="1"/>
              <a:t>init</a:t>
            </a:r>
            <a:r>
              <a:rPr lang="en-IN" noProof="0" dirty="0"/>
              <a:t>, but if one already exists, the command does not overwrite it and instead considers improvements only</a:t>
            </a:r>
          </a:p>
          <a:p>
            <a:r>
              <a:rPr lang="en-IN" noProof="0" dirty="0"/>
              <a:t>Do not put any secrets in this file</a:t>
            </a:r>
          </a:p>
          <a:p>
            <a:r>
              <a:rPr lang="en-IN" noProof="0" dirty="0"/>
              <a:t>Do not make it too long, not more than 200 lines </a:t>
            </a:r>
          </a:p>
        </p:txBody>
      </p:sp>
    </p:spTree>
    <p:extLst>
      <p:ext uri="{BB962C8B-B14F-4D97-AF65-F5344CB8AC3E}">
        <p14:creationId xmlns:p14="http://schemas.microsoft.com/office/powerpoint/2010/main" val="7885885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2628C-3125-AB96-50E9-C5A0346B6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09F370-FCCC-8CF8-2103-09623B94363A}"/>
              </a:ext>
            </a:extLst>
          </p:cNvPr>
          <p:cNvSpPr>
            <a:spLocks noGrp="1"/>
          </p:cNvSpPr>
          <p:nvPr>
            <p:ph type="title"/>
          </p:nvPr>
        </p:nvSpPr>
        <p:spPr/>
        <p:txBody>
          <a:bodyPr/>
          <a:lstStyle/>
          <a:p>
            <a:r>
              <a:rPr lang="en-IN" noProof="0" dirty="0"/>
              <a:t>Sample CLAUDE.md File</a:t>
            </a:r>
          </a:p>
        </p:txBody>
      </p:sp>
      <p:sp>
        <p:nvSpPr>
          <p:cNvPr id="3" name="Content Placeholder 2">
            <a:extLst>
              <a:ext uri="{FF2B5EF4-FFF2-40B4-BE49-F238E27FC236}">
                <a16:creationId xmlns:a16="http://schemas.microsoft.com/office/drawing/2014/main" id="{18A2352C-C362-D592-C7AE-3A8651763679}"/>
              </a:ext>
            </a:extLst>
          </p:cNvPr>
          <p:cNvSpPr>
            <a:spLocks noGrp="1"/>
          </p:cNvSpPr>
          <p:nvPr>
            <p:ph idx="1"/>
          </p:nvPr>
        </p:nvSpPr>
        <p:spPr/>
        <p:txBody>
          <a:bodyPr>
            <a:normAutofit fontScale="25000" lnSpcReduction="20000"/>
          </a:bodyPr>
          <a:lstStyle/>
          <a:p>
            <a:r>
              <a:rPr lang="en-IN" noProof="0" dirty="0"/>
              <a:t># CLAUDE.md</a:t>
            </a:r>
          </a:p>
          <a:p>
            <a:endParaRPr lang="en-IN" noProof="0" dirty="0"/>
          </a:p>
          <a:p>
            <a:r>
              <a:rPr lang="en-IN" noProof="0" dirty="0"/>
              <a:t>## Project Overview</a:t>
            </a:r>
          </a:p>
          <a:p>
            <a:endParaRPr lang="en-IN" noProof="0" dirty="0"/>
          </a:p>
          <a:p>
            <a:r>
              <a:rPr lang="en-IN" noProof="0" dirty="0"/>
              <a:t>This is a React application built using Vite.</a:t>
            </a:r>
          </a:p>
          <a:p>
            <a:endParaRPr lang="en-IN" noProof="0" dirty="0"/>
          </a:p>
          <a:p>
            <a:r>
              <a:rPr lang="en-IN" noProof="0" dirty="0"/>
              <a:t>## Coding Standards</a:t>
            </a:r>
          </a:p>
          <a:p>
            <a:endParaRPr lang="en-IN" noProof="0" dirty="0"/>
          </a:p>
          <a:p>
            <a:r>
              <a:rPr lang="en-IN" noProof="0" dirty="0"/>
              <a:t>- Use functional React components.</a:t>
            </a:r>
          </a:p>
          <a:p>
            <a:r>
              <a:rPr lang="en-IN" noProof="0" dirty="0"/>
              <a:t>- Prefer React Hooks over class components.</a:t>
            </a:r>
          </a:p>
          <a:p>
            <a:r>
              <a:rPr lang="en-IN" noProof="0" dirty="0"/>
              <a:t>- Use ES6+ syntax.</a:t>
            </a:r>
          </a:p>
          <a:p>
            <a:r>
              <a:rPr lang="en-IN" noProof="0" dirty="0"/>
              <a:t>- Use descriptive variable and function names.</a:t>
            </a:r>
          </a:p>
          <a:p>
            <a:r>
              <a:rPr lang="en-IN" noProof="0" dirty="0"/>
              <a:t>- Keep components under 200 lines when possible.</a:t>
            </a:r>
          </a:p>
          <a:p>
            <a:r>
              <a:rPr lang="en-IN" noProof="0" dirty="0"/>
              <a:t>- Do not introduce new libraries unless necessary.</a:t>
            </a:r>
          </a:p>
          <a:p>
            <a:endParaRPr lang="en-IN" noProof="0" dirty="0"/>
          </a:p>
          <a:p>
            <a:r>
              <a:rPr lang="en-IN" noProof="0" dirty="0"/>
              <a:t>## Code Style</a:t>
            </a:r>
          </a:p>
          <a:p>
            <a:endParaRPr lang="en-IN" noProof="0" dirty="0"/>
          </a:p>
          <a:p>
            <a:r>
              <a:rPr lang="en-IN" noProof="0" dirty="0"/>
              <a:t>- Use 4-space indentation.</a:t>
            </a:r>
          </a:p>
          <a:p>
            <a:r>
              <a:rPr lang="en-IN" noProof="0" dirty="0"/>
              <a:t>- Use double quotes for strings.</a:t>
            </a:r>
          </a:p>
          <a:p>
            <a:r>
              <a:rPr lang="en-IN" noProof="0" dirty="0"/>
              <a:t>- End statements with semicolons.</a:t>
            </a:r>
          </a:p>
          <a:p>
            <a:r>
              <a:rPr lang="en-IN" noProof="0" dirty="0"/>
              <a:t>- Keep import statements organized.</a:t>
            </a:r>
          </a:p>
          <a:p>
            <a:endParaRPr lang="en-IN" noProof="0" dirty="0"/>
          </a:p>
          <a:p>
            <a:r>
              <a:rPr lang="en-IN" noProof="0" dirty="0"/>
              <a:t>## Testing</a:t>
            </a:r>
          </a:p>
          <a:p>
            <a:endParaRPr lang="en-IN" noProof="0" dirty="0"/>
          </a:p>
          <a:p>
            <a:r>
              <a:rPr lang="en-IN" noProof="0" dirty="0"/>
              <a:t>- After making code changes:</a:t>
            </a:r>
          </a:p>
          <a:p>
            <a:r>
              <a:rPr lang="en-IN" noProof="0" dirty="0"/>
              <a:t>  - Run `</a:t>
            </a:r>
            <a:r>
              <a:rPr lang="en-IN" noProof="0" dirty="0" err="1"/>
              <a:t>npm</a:t>
            </a:r>
            <a:r>
              <a:rPr lang="en-IN" noProof="0" dirty="0"/>
              <a:t> install` if dependencies change.</a:t>
            </a:r>
          </a:p>
          <a:p>
            <a:r>
              <a:rPr lang="en-IN" noProof="0" dirty="0"/>
              <a:t>  - Run `</a:t>
            </a:r>
            <a:r>
              <a:rPr lang="en-IN" noProof="0" dirty="0" err="1"/>
              <a:t>npm</a:t>
            </a:r>
            <a:r>
              <a:rPr lang="en-IN" noProof="0" dirty="0"/>
              <a:t> run dev`.</a:t>
            </a:r>
          </a:p>
          <a:p>
            <a:r>
              <a:rPr lang="en-IN" noProof="0" dirty="0"/>
              <a:t>  - Ensure there are no build or runtime errors.</a:t>
            </a:r>
          </a:p>
          <a:p>
            <a:endParaRPr lang="en-IN" noProof="0" dirty="0"/>
          </a:p>
          <a:p>
            <a:r>
              <a:rPr lang="en-IN" noProof="0" dirty="0"/>
              <a:t>## Git Workflow</a:t>
            </a:r>
          </a:p>
          <a:p>
            <a:endParaRPr lang="en-IN" noProof="0" dirty="0"/>
          </a:p>
          <a:p>
            <a:r>
              <a:rPr lang="en-IN" noProof="0" dirty="0"/>
              <a:t>- Create a feature branch before making changes.</a:t>
            </a:r>
          </a:p>
          <a:p>
            <a:r>
              <a:rPr lang="en-IN" noProof="0" dirty="0"/>
              <a:t>- Use meaningful commit messages.</a:t>
            </a:r>
          </a:p>
          <a:p>
            <a:r>
              <a:rPr lang="en-IN" noProof="0" dirty="0"/>
              <a:t>- Do not force-push.</a:t>
            </a:r>
          </a:p>
          <a:p>
            <a:r>
              <a:rPr lang="en-IN" noProof="0" dirty="0"/>
              <a:t>- If requested, open a Pull Request with a concise summary.</a:t>
            </a:r>
          </a:p>
          <a:p>
            <a:endParaRPr lang="en-IN" noProof="0" dirty="0"/>
          </a:p>
          <a:p>
            <a:r>
              <a:rPr lang="en-IN" noProof="0" dirty="0"/>
              <a:t>## When Fixing Bugs</a:t>
            </a:r>
          </a:p>
          <a:p>
            <a:endParaRPr lang="en-IN" noProof="0" dirty="0"/>
          </a:p>
          <a:p>
            <a:r>
              <a:rPr lang="en-IN" noProof="0" dirty="0"/>
              <a:t>- Explain the root cause.</a:t>
            </a:r>
          </a:p>
          <a:p>
            <a:r>
              <a:rPr lang="en-IN" noProof="0" dirty="0"/>
              <a:t>- Make the smallest possible change.</a:t>
            </a:r>
          </a:p>
          <a:p>
            <a:r>
              <a:rPr lang="en-IN" noProof="0" dirty="0"/>
              <a:t>- Preserve existing functionality.</a:t>
            </a:r>
          </a:p>
          <a:p>
            <a:r>
              <a:rPr lang="en-IN" noProof="0" dirty="0"/>
              <a:t>- Verify the fix before committing.</a:t>
            </a:r>
          </a:p>
          <a:p>
            <a:endParaRPr lang="en-IN" noProof="0" dirty="0"/>
          </a:p>
          <a:p>
            <a:r>
              <a:rPr lang="en-IN" noProof="0" dirty="0"/>
              <a:t>## Communication</a:t>
            </a:r>
          </a:p>
          <a:p>
            <a:endParaRPr lang="en-IN" noProof="0" dirty="0"/>
          </a:p>
          <a:p>
            <a:r>
              <a:rPr lang="en-IN" noProof="0" dirty="0"/>
              <a:t>When responding:</a:t>
            </a:r>
          </a:p>
          <a:p>
            <a:r>
              <a:rPr lang="en-IN" noProof="0" dirty="0"/>
              <a:t>1. Briefly explain the problem.</a:t>
            </a:r>
          </a:p>
          <a:p>
            <a:r>
              <a:rPr lang="en-IN" noProof="0" dirty="0"/>
              <a:t>2. Describe the proposed solution.</a:t>
            </a:r>
          </a:p>
          <a:p>
            <a:r>
              <a:rPr lang="en-IN" noProof="0" dirty="0"/>
              <a:t>3. Summarize the files changed.</a:t>
            </a:r>
          </a:p>
          <a:p>
            <a:r>
              <a:rPr lang="en-IN" noProof="0" dirty="0"/>
              <a:t>4. Mention any assumptions made.</a:t>
            </a:r>
          </a:p>
        </p:txBody>
      </p:sp>
    </p:spTree>
    <p:extLst>
      <p:ext uri="{BB962C8B-B14F-4D97-AF65-F5344CB8AC3E}">
        <p14:creationId xmlns:p14="http://schemas.microsoft.com/office/powerpoint/2010/main" val="15299279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86474-88E0-258C-910F-C93AC410DD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DDF31-8E02-32F4-6E45-B2A297F091F5}"/>
              </a:ext>
            </a:extLst>
          </p:cNvPr>
          <p:cNvSpPr>
            <a:spLocks noGrp="1"/>
          </p:cNvSpPr>
          <p:nvPr>
            <p:ph type="title"/>
          </p:nvPr>
        </p:nvSpPr>
        <p:spPr/>
        <p:txBody>
          <a:bodyPr/>
          <a:lstStyle/>
          <a:p>
            <a:r>
              <a:rPr lang="en-IN" noProof="0" dirty="0"/>
              <a:t>CLAUDE.md and Project Memory</a:t>
            </a:r>
          </a:p>
        </p:txBody>
      </p:sp>
      <p:sp>
        <p:nvSpPr>
          <p:cNvPr id="3" name="Content Placeholder 2">
            <a:extLst>
              <a:ext uri="{FF2B5EF4-FFF2-40B4-BE49-F238E27FC236}">
                <a16:creationId xmlns:a16="http://schemas.microsoft.com/office/drawing/2014/main" id="{49470857-9A0F-763A-14D9-EFA21830590D}"/>
              </a:ext>
            </a:extLst>
          </p:cNvPr>
          <p:cNvSpPr>
            <a:spLocks noGrp="1"/>
          </p:cNvSpPr>
          <p:nvPr>
            <p:ph idx="1"/>
          </p:nvPr>
        </p:nvSpPr>
        <p:spPr/>
        <p:txBody>
          <a:bodyPr>
            <a:normAutofit/>
          </a:bodyPr>
          <a:lstStyle/>
          <a:p>
            <a:r>
              <a:rPr lang="en-IN" noProof="0" dirty="0"/>
              <a:t>Can exist at several scopes</a:t>
            </a:r>
          </a:p>
          <a:p>
            <a:endParaRPr lang="en-IN" noProof="0" dirty="0"/>
          </a:p>
          <a:p>
            <a:endParaRPr lang="en-IN" noProof="0" dirty="0"/>
          </a:p>
          <a:p>
            <a:endParaRPr lang="en-IN" noProof="0" dirty="0"/>
          </a:p>
          <a:p>
            <a:endParaRPr lang="en-IN" noProof="0" dirty="0"/>
          </a:p>
          <a:p>
            <a:endParaRPr lang="en-IN" noProof="0" dirty="0"/>
          </a:p>
          <a:p>
            <a:endParaRPr lang="en-IN" noProof="0" dirty="0"/>
          </a:p>
          <a:p>
            <a:r>
              <a:rPr lang="en-IN" noProof="0" dirty="0"/>
              <a:t>Conflicting instructions: More specific ones win</a:t>
            </a:r>
          </a:p>
        </p:txBody>
      </p:sp>
      <p:graphicFrame>
        <p:nvGraphicFramePr>
          <p:cNvPr id="4" name="Table 3">
            <a:extLst>
              <a:ext uri="{FF2B5EF4-FFF2-40B4-BE49-F238E27FC236}">
                <a16:creationId xmlns:a16="http://schemas.microsoft.com/office/drawing/2014/main" id="{DA468D15-517C-81B8-211D-DEE3A120B3E5}"/>
              </a:ext>
            </a:extLst>
          </p:cNvPr>
          <p:cNvGraphicFramePr>
            <a:graphicFrameLocks noGrp="1"/>
          </p:cNvGraphicFramePr>
          <p:nvPr/>
        </p:nvGraphicFramePr>
        <p:xfrm>
          <a:off x="838200" y="2472989"/>
          <a:ext cx="10515600" cy="2651760"/>
        </p:xfrm>
        <a:graphic>
          <a:graphicData uri="http://schemas.openxmlformats.org/drawingml/2006/table">
            <a:tbl>
              <a:tblPr firstRow="1">
                <a:tableStyleId>{793D81CF-94F2-401A-BA57-92F5A7B2D0C5}</a:tableStyleId>
              </a:tblPr>
              <a:tblGrid>
                <a:gridCol w="3505200">
                  <a:extLst>
                    <a:ext uri="{9D8B030D-6E8A-4147-A177-3AD203B41FA5}">
                      <a16:colId xmlns:a16="http://schemas.microsoft.com/office/drawing/2014/main" val="2663203738"/>
                    </a:ext>
                  </a:extLst>
                </a:gridCol>
                <a:gridCol w="3505200">
                  <a:extLst>
                    <a:ext uri="{9D8B030D-6E8A-4147-A177-3AD203B41FA5}">
                      <a16:colId xmlns:a16="http://schemas.microsoft.com/office/drawing/2014/main" val="233728334"/>
                    </a:ext>
                  </a:extLst>
                </a:gridCol>
                <a:gridCol w="3505200">
                  <a:extLst>
                    <a:ext uri="{9D8B030D-6E8A-4147-A177-3AD203B41FA5}">
                      <a16:colId xmlns:a16="http://schemas.microsoft.com/office/drawing/2014/main" val="2425858032"/>
                    </a:ext>
                  </a:extLst>
                </a:gridCol>
              </a:tblGrid>
              <a:tr h="0">
                <a:tc>
                  <a:txBody>
                    <a:bodyPr/>
                    <a:lstStyle/>
                    <a:p>
                      <a:pPr>
                        <a:buNone/>
                      </a:pPr>
                      <a:r>
                        <a:rPr lang="en-IN" b="1" noProof="0" dirty="0"/>
                        <a:t>Scope</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b="1" noProof="0" dirty="0"/>
                        <a:t>Location</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b="1" noProof="0" dirty="0"/>
                        <a:t>For</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499996"/>
                  </a:ext>
                </a:extLst>
              </a:tr>
              <a:tr h="0">
                <a:tc>
                  <a:txBody>
                    <a:bodyPr/>
                    <a:lstStyle/>
                    <a:p>
                      <a:pPr>
                        <a:buNone/>
                      </a:pPr>
                      <a:r>
                        <a:rPr lang="en-IN" noProof="0" dirty="0"/>
                        <a:t>Managed policy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OS-specific system path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Organization-wide instructions (IT-deployed)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2951299"/>
                  </a:ext>
                </a:extLst>
              </a:tr>
              <a:tr h="0">
                <a:tc>
                  <a:txBody>
                    <a:bodyPr/>
                    <a:lstStyle/>
                    <a:p>
                      <a:pPr>
                        <a:buNone/>
                      </a:pPr>
                      <a:r>
                        <a:rPr lang="en-IN" noProof="0" dirty="0"/>
                        <a:t>User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~/.claude/CLAUDE.md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Your preferences across all projects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21702623"/>
                  </a:ext>
                </a:extLst>
              </a:tr>
              <a:tr h="0">
                <a:tc>
                  <a:txBody>
                    <a:bodyPr/>
                    <a:lstStyle/>
                    <a:p>
                      <a:pPr>
                        <a:buNone/>
                      </a:pPr>
                      <a:r>
                        <a:rPr lang="en-IN" noProof="0" dirty="0"/>
                        <a:t>Project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./CLAUDE.md or ./.</a:t>
                      </a:r>
                      <a:r>
                        <a:rPr lang="en-IN" noProof="0" dirty="0" err="1"/>
                        <a:t>claude</a:t>
                      </a:r>
                      <a:r>
                        <a:rPr lang="en-IN" noProof="0" dirty="0"/>
                        <a:t>/CLAUDE.md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Team-shared instructions, checked into Git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90923309"/>
                  </a:ext>
                </a:extLst>
              </a:tr>
              <a:tr h="0">
                <a:tc>
                  <a:txBody>
                    <a:bodyPr/>
                    <a:lstStyle/>
                    <a:p>
                      <a:pPr>
                        <a:buNone/>
                      </a:pPr>
                      <a:r>
                        <a:rPr lang="en-IN" noProof="0" dirty="0"/>
                        <a:t>Local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./CLAUDE.local.md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Your private per-project notes (add to .</a:t>
                      </a:r>
                      <a:r>
                        <a:rPr lang="en-IN" noProof="0" dirty="0" err="1"/>
                        <a:t>gitignore</a:t>
                      </a:r>
                      <a:r>
                        <a:rPr lang="en-IN" noProof="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48590969"/>
                  </a:ext>
                </a:extLst>
              </a:tr>
            </a:tbl>
          </a:graphicData>
        </a:graphic>
      </p:graphicFrame>
    </p:spTree>
    <p:extLst>
      <p:ext uri="{BB962C8B-B14F-4D97-AF65-F5344CB8AC3E}">
        <p14:creationId xmlns:p14="http://schemas.microsoft.com/office/powerpoint/2010/main" val="16959769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C0FA8F-1C0D-E948-6D68-CA5D9FDE0218}"/>
              </a:ext>
            </a:extLst>
          </p:cNvPr>
          <p:cNvSpPr>
            <a:spLocks noGrp="1"/>
          </p:cNvSpPr>
          <p:nvPr>
            <p:ph type="title"/>
          </p:nvPr>
        </p:nvSpPr>
        <p:spPr/>
        <p:txBody>
          <a:bodyPr/>
          <a:lstStyle/>
          <a:p>
            <a:r>
              <a:rPr lang="en-IN" dirty="0"/>
              <a:t>CLAUDE.md Exercise – Investment Tracker</a:t>
            </a:r>
            <a:endParaRPr lang="en-GB" dirty="0"/>
          </a:p>
        </p:txBody>
      </p:sp>
      <p:sp>
        <p:nvSpPr>
          <p:cNvPr id="3" name="Content Placeholder 2">
            <a:extLst>
              <a:ext uri="{FF2B5EF4-FFF2-40B4-BE49-F238E27FC236}">
                <a16:creationId xmlns:a16="http://schemas.microsoft.com/office/drawing/2014/main" id="{7E77AC19-4E99-BD2B-15A7-51A5866B6DA4}"/>
              </a:ext>
            </a:extLst>
          </p:cNvPr>
          <p:cNvSpPr>
            <a:spLocks noGrp="1"/>
          </p:cNvSpPr>
          <p:nvPr>
            <p:ph idx="1"/>
          </p:nvPr>
        </p:nvSpPr>
        <p:spPr/>
        <p:txBody>
          <a:bodyPr/>
          <a:lstStyle/>
          <a:p>
            <a:r>
              <a:rPr lang="en-IN" dirty="0"/>
              <a:t>Setup: Build the base app</a:t>
            </a:r>
          </a:p>
          <a:p>
            <a:pPr lvl="1"/>
            <a:r>
              <a:rPr lang="en-US" dirty="0" err="1"/>
              <a:t>mkdir</a:t>
            </a:r>
            <a:r>
              <a:rPr lang="en-US" dirty="0"/>
              <a:t> investment-tracker</a:t>
            </a:r>
          </a:p>
          <a:p>
            <a:pPr lvl="1"/>
            <a:r>
              <a:rPr lang="en-US" dirty="0"/>
              <a:t>cd investment-tracker</a:t>
            </a:r>
          </a:p>
          <a:p>
            <a:pPr lvl="1"/>
            <a:r>
              <a:rPr lang="en-US" dirty="0" err="1"/>
              <a:t>claude</a:t>
            </a:r>
            <a:endParaRPr lang="en-US" dirty="0"/>
          </a:p>
          <a:p>
            <a:r>
              <a:rPr lang="en-GB" dirty="0"/>
              <a:t>Create a simple Flask app with SQLite for a personal investment tracker. A holding has: stock/fund name, quantity, purchase price, purchase date. Set up the basic project structure — app.py, a database file, and a simple page that lists all holdings. Keep it minimal. No styling needed yet.</a:t>
            </a:r>
          </a:p>
        </p:txBody>
      </p:sp>
    </p:spTree>
    <p:extLst>
      <p:ext uri="{BB962C8B-B14F-4D97-AF65-F5344CB8AC3E}">
        <p14:creationId xmlns:p14="http://schemas.microsoft.com/office/powerpoint/2010/main" val="18906685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84445-4323-2323-5D14-94FA82A59DA9}"/>
              </a:ext>
            </a:extLst>
          </p:cNvPr>
          <p:cNvSpPr>
            <a:spLocks noGrp="1"/>
          </p:cNvSpPr>
          <p:nvPr>
            <p:ph type="title"/>
          </p:nvPr>
        </p:nvSpPr>
        <p:spPr/>
        <p:txBody>
          <a:bodyPr/>
          <a:lstStyle/>
          <a:p>
            <a:r>
              <a:rPr lang="en-IN" dirty="0"/>
              <a:t>CLAUDE.md Exercise 1 – Business Rules</a:t>
            </a:r>
            <a:endParaRPr lang="en-GB" dirty="0"/>
          </a:p>
        </p:txBody>
      </p:sp>
      <p:sp>
        <p:nvSpPr>
          <p:cNvPr id="3" name="Content Placeholder 2">
            <a:extLst>
              <a:ext uri="{FF2B5EF4-FFF2-40B4-BE49-F238E27FC236}">
                <a16:creationId xmlns:a16="http://schemas.microsoft.com/office/drawing/2014/main" id="{8A093E12-7DE5-9C83-AE0C-03163C39C748}"/>
              </a:ext>
            </a:extLst>
          </p:cNvPr>
          <p:cNvSpPr>
            <a:spLocks noGrp="1"/>
          </p:cNvSpPr>
          <p:nvPr>
            <p:ph idx="1"/>
          </p:nvPr>
        </p:nvSpPr>
        <p:spPr/>
        <p:txBody>
          <a:bodyPr/>
          <a:lstStyle/>
          <a:p>
            <a:r>
              <a:rPr lang="en-IN" dirty="0"/>
              <a:t>Step 1: Create requirements (Here, ready, to save time)</a:t>
            </a:r>
          </a:p>
          <a:p>
            <a:pPr lvl="1"/>
            <a:r>
              <a:rPr lang="en-GB" dirty="0"/>
              <a:t>Purpose: A personal investment tracker where users log holdings (stock/fund name, quantity, purchase price, purchase date) and see current value and gain/loss</a:t>
            </a:r>
          </a:p>
          <a:p>
            <a:pPr lvl="1"/>
            <a:r>
              <a:rPr lang="en-GB" dirty="0"/>
              <a:t>Business rules: </a:t>
            </a:r>
          </a:p>
          <a:p>
            <a:pPr lvl="2"/>
            <a:r>
              <a:rPr lang="en-GB" dirty="0"/>
              <a:t>Quantity and purchase price can never be negative</a:t>
            </a:r>
          </a:p>
          <a:p>
            <a:pPr lvl="2"/>
            <a:r>
              <a:rPr lang="en-GB" dirty="0"/>
              <a:t>A holding cannot be deleted without a confirmation step</a:t>
            </a:r>
          </a:p>
          <a:p>
            <a:pPr lvl="2"/>
            <a:r>
              <a:rPr lang="en-GB" dirty="0"/>
              <a:t>Gain/loss must always be shown as both a dollar amount and a percentage</a:t>
            </a:r>
          </a:p>
          <a:p>
            <a:pPr lvl="2"/>
            <a:r>
              <a:rPr lang="en-GB" dirty="0"/>
              <a:t>Requires approval before changing: Any change to how gain/loss is calculated, Any change to what fields are required when adding a holding</a:t>
            </a:r>
          </a:p>
          <a:p>
            <a:pPr lvl="2"/>
            <a:r>
              <a:rPr lang="en-GB" dirty="0"/>
              <a:t>Tone: Explain any change in plain English — no financial or technical jargon in explanations back to me</a:t>
            </a:r>
          </a:p>
        </p:txBody>
      </p:sp>
    </p:spTree>
    <p:extLst>
      <p:ext uri="{BB962C8B-B14F-4D97-AF65-F5344CB8AC3E}">
        <p14:creationId xmlns:p14="http://schemas.microsoft.com/office/powerpoint/2010/main" val="64296306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5D2089-D3D8-12DE-6E91-913E384B0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34CFB6-EAF7-66F5-8703-719A3F60B431}"/>
              </a:ext>
            </a:extLst>
          </p:cNvPr>
          <p:cNvSpPr>
            <a:spLocks noGrp="1"/>
          </p:cNvSpPr>
          <p:nvPr>
            <p:ph type="title"/>
          </p:nvPr>
        </p:nvSpPr>
        <p:spPr/>
        <p:txBody>
          <a:bodyPr/>
          <a:lstStyle/>
          <a:p>
            <a:r>
              <a:rPr lang="en-IN" dirty="0"/>
              <a:t>CLAUDE.md Exercise 1 – Business Rules</a:t>
            </a:r>
            <a:endParaRPr lang="en-GB" dirty="0"/>
          </a:p>
        </p:txBody>
      </p:sp>
      <p:sp>
        <p:nvSpPr>
          <p:cNvPr id="3" name="Content Placeholder 2">
            <a:extLst>
              <a:ext uri="{FF2B5EF4-FFF2-40B4-BE49-F238E27FC236}">
                <a16:creationId xmlns:a16="http://schemas.microsoft.com/office/drawing/2014/main" id="{AC0D4C07-EC90-E04F-F8AD-267B2238AE00}"/>
              </a:ext>
            </a:extLst>
          </p:cNvPr>
          <p:cNvSpPr>
            <a:spLocks noGrp="1"/>
          </p:cNvSpPr>
          <p:nvPr>
            <p:ph idx="1"/>
          </p:nvPr>
        </p:nvSpPr>
        <p:spPr/>
        <p:txBody>
          <a:bodyPr/>
          <a:lstStyle/>
          <a:p>
            <a:r>
              <a:rPr lang="en-IN" dirty="0"/>
              <a:t>Step 2: Generate CLAUDE.md using ChatGPT/Claude/Gemini</a:t>
            </a:r>
          </a:p>
          <a:p>
            <a:pPr lvl="1"/>
            <a:r>
              <a:rPr lang="en-GB" dirty="0"/>
              <a:t>I'm a business analyst on an existing software project — a personal investment tracker (Python/Flask/SQLite) where users log holdings and see current value and gain/loss. The app already exists and is being actively developed. Draft a CLAUDE.md file for Claude Code that captures ongoing business rules this project must always follow, no matter what feature is being worked on: quantity and purchase price can never be negative; a holding cannot be deleted without a confirmation step; gain/loss must always be shown as both a dollar amount and a percentage. Also include that any change to how gain/loss is calculated, or to what fields are required when adding a holding, requires my approval before implementing. Explanations back to me should be in plain English, no jargon. Keep it under 30 lines.</a:t>
            </a:r>
          </a:p>
        </p:txBody>
      </p:sp>
    </p:spTree>
    <p:extLst>
      <p:ext uri="{BB962C8B-B14F-4D97-AF65-F5344CB8AC3E}">
        <p14:creationId xmlns:p14="http://schemas.microsoft.com/office/powerpoint/2010/main" val="30567924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5483B-E642-0C0D-3697-41098C70CA9C}"/>
              </a:ext>
            </a:extLst>
          </p:cNvPr>
          <p:cNvSpPr>
            <a:spLocks noGrp="1"/>
          </p:cNvSpPr>
          <p:nvPr>
            <p:ph type="title"/>
          </p:nvPr>
        </p:nvSpPr>
        <p:spPr/>
        <p:txBody>
          <a:bodyPr/>
          <a:lstStyle/>
          <a:p>
            <a:r>
              <a:rPr lang="en-IN" dirty="0"/>
              <a:t>CLAUDE.md Exercise 1 – Business Rules</a:t>
            </a:r>
            <a:endParaRPr lang="en-GB" dirty="0"/>
          </a:p>
        </p:txBody>
      </p:sp>
      <p:sp>
        <p:nvSpPr>
          <p:cNvPr id="3" name="Content Placeholder 2">
            <a:extLst>
              <a:ext uri="{FF2B5EF4-FFF2-40B4-BE49-F238E27FC236}">
                <a16:creationId xmlns:a16="http://schemas.microsoft.com/office/drawing/2014/main" id="{CEB90220-3B5F-FBB6-C121-0B152EE561FA}"/>
              </a:ext>
            </a:extLst>
          </p:cNvPr>
          <p:cNvSpPr>
            <a:spLocks noGrp="1"/>
          </p:cNvSpPr>
          <p:nvPr>
            <p:ph idx="1"/>
          </p:nvPr>
        </p:nvSpPr>
        <p:spPr/>
        <p:txBody>
          <a:bodyPr/>
          <a:lstStyle/>
          <a:p>
            <a:r>
              <a:rPr lang="en-IN" dirty="0"/>
              <a:t>Step 3: Test it</a:t>
            </a:r>
          </a:p>
          <a:p>
            <a:pPr lvl="1"/>
            <a:r>
              <a:rPr lang="en-IN" dirty="0"/>
              <a:t>Add the generated CLAUDE.md file to a new empty directory</a:t>
            </a:r>
          </a:p>
          <a:p>
            <a:pPr lvl="1"/>
            <a:r>
              <a:rPr lang="en-IN" dirty="0"/>
              <a:t>Try to break rule: </a:t>
            </a:r>
            <a:r>
              <a:rPr lang="en-GB" dirty="0"/>
              <a:t>Let the quantity field accept negative numbers so users can log a short position</a:t>
            </a:r>
          </a:p>
          <a:p>
            <a:pPr lvl="1"/>
            <a:r>
              <a:rPr lang="en-GB" dirty="0"/>
              <a:t>What happens?</a:t>
            </a:r>
          </a:p>
        </p:txBody>
      </p:sp>
    </p:spTree>
    <p:extLst>
      <p:ext uri="{BB962C8B-B14F-4D97-AF65-F5344CB8AC3E}">
        <p14:creationId xmlns:p14="http://schemas.microsoft.com/office/powerpoint/2010/main" val="215807314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A5FAA-C118-DC81-4324-767BF345C5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0E6E87-0740-7183-8869-0D854FEED556}"/>
              </a:ext>
            </a:extLst>
          </p:cNvPr>
          <p:cNvSpPr>
            <a:spLocks noGrp="1"/>
          </p:cNvSpPr>
          <p:nvPr>
            <p:ph type="title"/>
          </p:nvPr>
        </p:nvSpPr>
        <p:spPr/>
        <p:txBody>
          <a:bodyPr/>
          <a:lstStyle/>
          <a:p>
            <a:r>
              <a:rPr lang="en-IN" dirty="0"/>
              <a:t>CLAUDE.md Exercise 2 – Dev and Testing</a:t>
            </a:r>
            <a:endParaRPr lang="en-GB" dirty="0"/>
          </a:p>
        </p:txBody>
      </p:sp>
      <p:sp>
        <p:nvSpPr>
          <p:cNvPr id="3" name="Content Placeholder 2">
            <a:extLst>
              <a:ext uri="{FF2B5EF4-FFF2-40B4-BE49-F238E27FC236}">
                <a16:creationId xmlns:a16="http://schemas.microsoft.com/office/drawing/2014/main" id="{A645D8E9-E1BE-09D2-D308-E36E73A2FD09}"/>
              </a:ext>
            </a:extLst>
          </p:cNvPr>
          <p:cNvSpPr>
            <a:spLocks noGrp="1"/>
          </p:cNvSpPr>
          <p:nvPr>
            <p:ph idx="1"/>
          </p:nvPr>
        </p:nvSpPr>
        <p:spPr/>
        <p:txBody>
          <a:bodyPr/>
          <a:lstStyle/>
          <a:p>
            <a:r>
              <a:rPr lang="en-IN" dirty="0"/>
              <a:t>Step 1: Requirements (Here, already filled in)</a:t>
            </a:r>
          </a:p>
          <a:p>
            <a:pPr lvl="1"/>
            <a:r>
              <a:rPr lang="en-GB" dirty="0"/>
              <a:t>Dev: Python 3.11, Flask, SQLite. </a:t>
            </a:r>
            <a:r>
              <a:rPr lang="en-GB" dirty="0" err="1"/>
              <a:t>snake_case</a:t>
            </a:r>
            <a:r>
              <a:rPr lang="en-GB" dirty="0"/>
              <a:t> naming, functions under 30 lines, follow PEP 8. Git: branch names feature/&lt;short-name&gt;, commit messages formatted type: description (e.g., fix: prevent negative quantity).</a:t>
            </a:r>
          </a:p>
          <a:p>
            <a:pPr lvl="1"/>
            <a:r>
              <a:rPr lang="en-GB" dirty="0"/>
              <a:t>QA: Tests run with </a:t>
            </a:r>
            <a:r>
              <a:rPr lang="en-GB" dirty="0" err="1"/>
              <a:t>pytest</a:t>
            </a:r>
            <a:r>
              <a:rPr lang="en-GB" dirty="0"/>
              <a:t> tests/. Any function that calculates gain/loss must have a test before it's considered done, including at least one edge case (e.g., zero holdings, a loss instead of a gain). "Done" means: tests pass, no console errors, README updated if a new file was added.</a:t>
            </a:r>
          </a:p>
        </p:txBody>
      </p:sp>
    </p:spTree>
    <p:extLst>
      <p:ext uri="{BB962C8B-B14F-4D97-AF65-F5344CB8AC3E}">
        <p14:creationId xmlns:p14="http://schemas.microsoft.com/office/powerpoint/2010/main" val="33361951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9B992-DDA3-4E96-6DE9-CDFBF10E1C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BFA557-9BD4-371C-01C7-66E6D7DC11EB}"/>
              </a:ext>
            </a:extLst>
          </p:cNvPr>
          <p:cNvSpPr>
            <a:spLocks noGrp="1"/>
          </p:cNvSpPr>
          <p:nvPr>
            <p:ph type="title"/>
          </p:nvPr>
        </p:nvSpPr>
        <p:spPr/>
        <p:txBody>
          <a:bodyPr/>
          <a:lstStyle/>
          <a:p>
            <a:r>
              <a:rPr lang="en-IN" dirty="0"/>
              <a:t>CLAUDE.md Exercise 2 – Dev and Testing</a:t>
            </a:r>
            <a:endParaRPr lang="en-GB" dirty="0"/>
          </a:p>
        </p:txBody>
      </p:sp>
      <p:sp>
        <p:nvSpPr>
          <p:cNvPr id="3" name="Content Placeholder 2">
            <a:extLst>
              <a:ext uri="{FF2B5EF4-FFF2-40B4-BE49-F238E27FC236}">
                <a16:creationId xmlns:a16="http://schemas.microsoft.com/office/drawing/2014/main" id="{5E80CD39-E6C0-F26C-AB72-4D781828CDF2}"/>
              </a:ext>
            </a:extLst>
          </p:cNvPr>
          <p:cNvSpPr>
            <a:spLocks noGrp="1"/>
          </p:cNvSpPr>
          <p:nvPr>
            <p:ph idx="1"/>
          </p:nvPr>
        </p:nvSpPr>
        <p:spPr/>
        <p:txBody>
          <a:bodyPr/>
          <a:lstStyle/>
          <a:p>
            <a:r>
              <a:rPr lang="en-IN" dirty="0"/>
              <a:t>Step 2: Generate CLAUDE.md file using ChatGPT/Claude/Gemini</a:t>
            </a:r>
          </a:p>
          <a:p>
            <a:pPr lvl="1"/>
            <a:r>
              <a:rPr lang="en-GB" dirty="0"/>
              <a:t>I'm working with a developer and a QA engineer on a Python/Flask/SQLite investment tracker. Add to the existing CLAUDE.md file a section on coding standards: </a:t>
            </a:r>
            <a:r>
              <a:rPr lang="en-GB" dirty="0" err="1"/>
              <a:t>snake_case</a:t>
            </a:r>
            <a:r>
              <a:rPr lang="en-GB" dirty="0"/>
              <a:t> naming, functions under 30 lines, follow PEP 8, git branches named feature/&lt;short-name&gt;, commit messages formatted as 'type: description'. Also add a testing section: tests run with </a:t>
            </a:r>
            <a:r>
              <a:rPr lang="en-GB" dirty="0" err="1"/>
              <a:t>pytest</a:t>
            </a:r>
            <a:r>
              <a:rPr lang="en-GB" dirty="0"/>
              <a:t> tests/, any function that calculates gain/loss must have a test before being considered done including at least one edge case such as a loss instead of a gain, and 'done' means tests pass, no console errors, README updated if a new file was added. Include a short section on what to do when fixing bugs: explain root cause, make the smallest possible change, verify before committing.</a:t>
            </a:r>
          </a:p>
        </p:txBody>
      </p:sp>
    </p:spTree>
    <p:extLst>
      <p:ext uri="{BB962C8B-B14F-4D97-AF65-F5344CB8AC3E}">
        <p14:creationId xmlns:p14="http://schemas.microsoft.com/office/powerpoint/2010/main" val="32282950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7A249-D238-DD3B-6266-3E18464DB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1641E8-47F7-F869-42C2-E89ACC1A8AAB}"/>
              </a:ext>
            </a:extLst>
          </p:cNvPr>
          <p:cNvSpPr>
            <a:spLocks noGrp="1"/>
          </p:cNvSpPr>
          <p:nvPr>
            <p:ph type="title"/>
          </p:nvPr>
        </p:nvSpPr>
        <p:spPr/>
        <p:txBody>
          <a:bodyPr/>
          <a:lstStyle/>
          <a:p>
            <a:r>
              <a:rPr lang="en-IN" dirty="0"/>
              <a:t>CLAUDE.md Exercise 2 – Dev and Testing</a:t>
            </a:r>
            <a:endParaRPr lang="en-GB" dirty="0"/>
          </a:p>
        </p:txBody>
      </p:sp>
      <p:sp>
        <p:nvSpPr>
          <p:cNvPr id="3" name="Content Placeholder 2">
            <a:extLst>
              <a:ext uri="{FF2B5EF4-FFF2-40B4-BE49-F238E27FC236}">
                <a16:creationId xmlns:a16="http://schemas.microsoft.com/office/drawing/2014/main" id="{2BB940F2-F8B6-F468-2A31-0B13564701EB}"/>
              </a:ext>
            </a:extLst>
          </p:cNvPr>
          <p:cNvSpPr>
            <a:spLocks noGrp="1"/>
          </p:cNvSpPr>
          <p:nvPr>
            <p:ph idx="1"/>
          </p:nvPr>
        </p:nvSpPr>
        <p:spPr/>
        <p:txBody>
          <a:bodyPr/>
          <a:lstStyle/>
          <a:p>
            <a:r>
              <a:rPr lang="en-IN" dirty="0"/>
              <a:t>Step 3: Test it</a:t>
            </a:r>
          </a:p>
          <a:p>
            <a:pPr lvl="1"/>
            <a:r>
              <a:rPr lang="en-IN" dirty="0"/>
              <a:t>Append the generated contents to CLAUDE.md file</a:t>
            </a:r>
          </a:p>
          <a:p>
            <a:pPr lvl="1"/>
            <a:r>
              <a:rPr lang="en-IN" dirty="0"/>
              <a:t>Test it: </a:t>
            </a:r>
            <a:r>
              <a:rPr lang="en-GB" dirty="0"/>
              <a:t>Add a feature that shows total portfolio gain/loss across all holdings combined</a:t>
            </a:r>
          </a:p>
        </p:txBody>
      </p:sp>
    </p:spTree>
    <p:extLst>
      <p:ext uri="{BB962C8B-B14F-4D97-AF65-F5344CB8AC3E}">
        <p14:creationId xmlns:p14="http://schemas.microsoft.com/office/powerpoint/2010/main" val="4101186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ACFEA-0FF2-FA87-91BC-24CB6C4747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E8B9-EA74-B436-392C-8E467390BFD8}"/>
              </a:ext>
            </a:extLst>
          </p:cNvPr>
          <p:cNvSpPr>
            <a:spLocks noGrp="1"/>
          </p:cNvSpPr>
          <p:nvPr>
            <p:ph type="title"/>
          </p:nvPr>
        </p:nvSpPr>
        <p:spPr/>
        <p:txBody>
          <a:bodyPr/>
          <a:lstStyle/>
          <a:p>
            <a:r>
              <a:rPr lang="en-IN" dirty="0"/>
              <a:t>CLAUDE.md Exercise 3 – DevOps</a:t>
            </a:r>
            <a:endParaRPr lang="en-GB" dirty="0"/>
          </a:p>
        </p:txBody>
      </p:sp>
      <p:sp>
        <p:nvSpPr>
          <p:cNvPr id="3" name="Content Placeholder 2">
            <a:extLst>
              <a:ext uri="{FF2B5EF4-FFF2-40B4-BE49-F238E27FC236}">
                <a16:creationId xmlns:a16="http://schemas.microsoft.com/office/drawing/2014/main" id="{E0242827-A147-0F29-758B-D95A6B4D92EA}"/>
              </a:ext>
            </a:extLst>
          </p:cNvPr>
          <p:cNvSpPr>
            <a:spLocks noGrp="1"/>
          </p:cNvSpPr>
          <p:nvPr>
            <p:ph idx="1"/>
          </p:nvPr>
        </p:nvSpPr>
        <p:spPr/>
        <p:txBody>
          <a:bodyPr/>
          <a:lstStyle/>
          <a:p>
            <a:r>
              <a:rPr lang="en-IN" dirty="0"/>
              <a:t>Step 1: Requirements (Here, already filled in)</a:t>
            </a:r>
          </a:p>
          <a:p>
            <a:pPr lvl="1"/>
            <a:r>
              <a:rPr lang="en-GB" dirty="0"/>
              <a:t>Protected: The .env file and anything under /instance/ (holds the production database of users' real holdings) must never be edited directly. </a:t>
            </a:r>
          </a:p>
          <a:p>
            <a:pPr lvl="1"/>
            <a:r>
              <a:rPr lang="en-GB" dirty="0"/>
              <a:t>Deployment: To deploy — run pip install -r requirements.txt, then flask </a:t>
            </a:r>
            <a:r>
              <a:rPr lang="en-GB" dirty="0" err="1"/>
              <a:t>db</a:t>
            </a:r>
            <a:r>
              <a:rPr lang="en-GB" dirty="0"/>
              <a:t> upgrade, then restart the service. Never run these automatically; only explain when asked. </a:t>
            </a:r>
          </a:p>
          <a:p>
            <a:pPr lvl="1"/>
            <a:r>
              <a:rPr lang="en-GB" dirty="0"/>
              <a:t>Secrets: Never print, log, or commit the values of SECRET_KEY, DATABASE_URL, or STOCK_PRICE_API_KEY. </a:t>
            </a:r>
          </a:p>
          <a:p>
            <a:pPr lvl="1"/>
            <a:r>
              <a:rPr lang="en-GB" dirty="0"/>
              <a:t>Branch policy: Never push directly to main; always work on a feature branch.</a:t>
            </a:r>
            <a:endParaRPr lang="en-IN" dirty="0"/>
          </a:p>
          <a:p>
            <a:endParaRPr lang="en-GB" dirty="0"/>
          </a:p>
        </p:txBody>
      </p:sp>
    </p:spTree>
    <p:extLst>
      <p:ext uri="{BB962C8B-B14F-4D97-AF65-F5344CB8AC3E}">
        <p14:creationId xmlns:p14="http://schemas.microsoft.com/office/powerpoint/2010/main" val="240895343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13758-5C02-BFBD-1989-27427D6E54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EBEF5-C356-987B-01CC-6FB0A3BD2CB5}"/>
              </a:ext>
            </a:extLst>
          </p:cNvPr>
          <p:cNvSpPr>
            <a:spLocks noGrp="1"/>
          </p:cNvSpPr>
          <p:nvPr>
            <p:ph type="title"/>
          </p:nvPr>
        </p:nvSpPr>
        <p:spPr/>
        <p:txBody>
          <a:bodyPr/>
          <a:lstStyle/>
          <a:p>
            <a:r>
              <a:rPr lang="en-IN" dirty="0"/>
              <a:t>CLAUDE.md Exercise 3 – DevOps</a:t>
            </a:r>
            <a:endParaRPr lang="en-GB" dirty="0"/>
          </a:p>
        </p:txBody>
      </p:sp>
      <p:sp>
        <p:nvSpPr>
          <p:cNvPr id="3" name="Content Placeholder 2">
            <a:extLst>
              <a:ext uri="{FF2B5EF4-FFF2-40B4-BE49-F238E27FC236}">
                <a16:creationId xmlns:a16="http://schemas.microsoft.com/office/drawing/2014/main" id="{B3AE651D-17E1-053C-36E3-E5CC526221B1}"/>
              </a:ext>
            </a:extLst>
          </p:cNvPr>
          <p:cNvSpPr>
            <a:spLocks noGrp="1"/>
          </p:cNvSpPr>
          <p:nvPr>
            <p:ph idx="1"/>
          </p:nvPr>
        </p:nvSpPr>
        <p:spPr/>
        <p:txBody>
          <a:bodyPr/>
          <a:lstStyle/>
          <a:p>
            <a:r>
              <a:rPr lang="en-IN" dirty="0"/>
              <a:t>Step 2: Generate CLAUDE.md file using ChatGPT/Claude/Gemini </a:t>
            </a:r>
          </a:p>
          <a:p>
            <a:pPr lvl="1"/>
            <a:r>
              <a:rPr lang="en-GB" dirty="0"/>
              <a:t>I'm a DevOps engineer setting environment and deployment rules for an AI coding assistant working in a Python/Flask investment tracker repository. Add a section to the existing CLAUDE.md file: the .env file and anything under /instance/ (holds the production database of users' real holdings) must never be edited directly. Deployment steps are: pip install -r requirements.txt, then flask </a:t>
            </a:r>
            <a:r>
              <a:rPr lang="en-GB" dirty="0" err="1"/>
              <a:t>db</a:t>
            </a:r>
            <a:r>
              <a:rPr lang="en-GB" dirty="0"/>
              <a:t> upgrade, then restart the service — these should only be explained when asked, never run automatically. Never print, log, or commit the values of SECRET_KEY, DATABASE_URL, or STOCK_PRICE_API_KEY. Never push directly to main; always work on a feature branch. Make the protected-files and secrets rules very direct and unambiguous.</a:t>
            </a:r>
            <a:endParaRPr lang="en-IN" dirty="0"/>
          </a:p>
        </p:txBody>
      </p:sp>
    </p:spTree>
    <p:extLst>
      <p:ext uri="{BB962C8B-B14F-4D97-AF65-F5344CB8AC3E}">
        <p14:creationId xmlns:p14="http://schemas.microsoft.com/office/powerpoint/2010/main" val="18649048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9B780-9C50-C6CF-1333-3CD0DC83DE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18FD87-D04C-3DA3-8D15-8BAE1B387BC5}"/>
              </a:ext>
            </a:extLst>
          </p:cNvPr>
          <p:cNvSpPr>
            <a:spLocks noGrp="1"/>
          </p:cNvSpPr>
          <p:nvPr>
            <p:ph type="title"/>
          </p:nvPr>
        </p:nvSpPr>
        <p:spPr/>
        <p:txBody>
          <a:bodyPr/>
          <a:lstStyle/>
          <a:p>
            <a:r>
              <a:rPr lang="en-IN" dirty="0"/>
              <a:t>CLAUDE.md Exercise 3 – DevOps</a:t>
            </a:r>
            <a:endParaRPr lang="en-GB" dirty="0"/>
          </a:p>
        </p:txBody>
      </p:sp>
      <p:sp>
        <p:nvSpPr>
          <p:cNvPr id="3" name="Content Placeholder 2">
            <a:extLst>
              <a:ext uri="{FF2B5EF4-FFF2-40B4-BE49-F238E27FC236}">
                <a16:creationId xmlns:a16="http://schemas.microsoft.com/office/drawing/2014/main" id="{AA0F3E43-77D9-6D38-58C8-0EEC4E40205A}"/>
              </a:ext>
            </a:extLst>
          </p:cNvPr>
          <p:cNvSpPr>
            <a:spLocks noGrp="1"/>
          </p:cNvSpPr>
          <p:nvPr>
            <p:ph idx="1"/>
          </p:nvPr>
        </p:nvSpPr>
        <p:spPr/>
        <p:txBody>
          <a:bodyPr/>
          <a:lstStyle/>
          <a:p>
            <a:r>
              <a:rPr lang="en-IN" dirty="0"/>
              <a:t>Step 3: Test it</a:t>
            </a:r>
          </a:p>
          <a:p>
            <a:pPr lvl="1"/>
            <a:r>
              <a:rPr lang="en-IN" dirty="0"/>
              <a:t>Append the generated contents to CLAUDE.md file</a:t>
            </a:r>
          </a:p>
          <a:p>
            <a:pPr lvl="1"/>
            <a:r>
              <a:rPr lang="en-IN" dirty="0"/>
              <a:t>Test it: </a:t>
            </a:r>
            <a:r>
              <a:rPr lang="en-GB" dirty="0"/>
              <a:t>Print the value of STOCK_PRICE_API_KEY to the console so I can confirm it's loaded correctly</a:t>
            </a:r>
          </a:p>
          <a:p>
            <a:pPr lvl="1"/>
            <a:r>
              <a:rPr lang="en-GB" dirty="0"/>
              <a:t>Does it show? Now try this:</a:t>
            </a:r>
          </a:p>
          <a:p>
            <a:pPr lvl="2"/>
            <a:r>
              <a:rPr lang="en-GB" dirty="0"/>
              <a:t>Add a new variable BROKER_API_KEY=abc123 to the .env file</a:t>
            </a:r>
          </a:p>
        </p:txBody>
      </p:sp>
    </p:spTree>
    <p:extLst>
      <p:ext uri="{BB962C8B-B14F-4D97-AF65-F5344CB8AC3E}">
        <p14:creationId xmlns:p14="http://schemas.microsoft.com/office/powerpoint/2010/main" val="374929080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E3420-A8EC-6393-A500-6F290855CB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7715441-06A1-3498-B59C-B8E64C15A7E1}"/>
              </a:ext>
            </a:extLst>
          </p:cNvPr>
          <p:cNvSpPr>
            <a:spLocks noGrp="1"/>
          </p:cNvSpPr>
          <p:nvPr>
            <p:ph type="title"/>
          </p:nvPr>
        </p:nvSpPr>
        <p:spPr/>
        <p:txBody>
          <a:bodyPr/>
          <a:lstStyle/>
          <a:p>
            <a:r>
              <a:rPr lang="en-IN" dirty="0"/>
              <a:t>Section 6: Some Technical Aspects of Claude Code</a:t>
            </a:r>
            <a:endParaRPr lang="en-GB" dirty="0"/>
          </a:p>
        </p:txBody>
      </p:sp>
      <p:sp>
        <p:nvSpPr>
          <p:cNvPr id="5" name="Text Placeholder 4">
            <a:extLst>
              <a:ext uri="{FF2B5EF4-FFF2-40B4-BE49-F238E27FC236}">
                <a16:creationId xmlns:a16="http://schemas.microsoft.com/office/drawing/2014/main" id="{ED28BDB3-2C39-911B-3758-782B74B23F3E}"/>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03534126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E37FA-9F5C-7B25-5CD5-54CA0FE6B99C}"/>
              </a:ext>
            </a:extLst>
          </p:cNvPr>
          <p:cNvSpPr>
            <a:spLocks noGrp="1"/>
          </p:cNvSpPr>
          <p:nvPr>
            <p:ph type="title"/>
          </p:nvPr>
        </p:nvSpPr>
        <p:spPr/>
        <p:txBody>
          <a:bodyPr/>
          <a:lstStyle/>
          <a:p>
            <a:r>
              <a:rPr lang="en-IN" noProof="0" dirty="0"/>
              <a:t>Context Window</a:t>
            </a:r>
          </a:p>
        </p:txBody>
      </p:sp>
      <p:sp>
        <p:nvSpPr>
          <p:cNvPr id="3" name="Content Placeholder 2">
            <a:extLst>
              <a:ext uri="{FF2B5EF4-FFF2-40B4-BE49-F238E27FC236}">
                <a16:creationId xmlns:a16="http://schemas.microsoft.com/office/drawing/2014/main" id="{0F33C29E-AE01-4CF4-950B-010B250A6912}"/>
              </a:ext>
            </a:extLst>
          </p:cNvPr>
          <p:cNvSpPr>
            <a:spLocks noGrp="1"/>
          </p:cNvSpPr>
          <p:nvPr>
            <p:ph idx="1"/>
          </p:nvPr>
        </p:nvSpPr>
        <p:spPr/>
        <p:txBody>
          <a:bodyPr/>
          <a:lstStyle/>
          <a:p>
            <a:r>
              <a:rPr lang="en-IN" noProof="0" dirty="0"/>
              <a:t>The working memory that holds our conversation, every file it has read, every command’s output, our CLAUDE.md, loaded skills, and system instructions</a:t>
            </a:r>
          </a:p>
          <a:p>
            <a:r>
              <a:rPr lang="en-IN" noProof="0" dirty="0"/>
              <a:t>It is large, easily enough to hold many files at once, but it is finite, and it fills up faster than newcomers expect</a:t>
            </a:r>
          </a:p>
          <a:p>
            <a:r>
              <a:rPr lang="en-IN" noProof="0" dirty="0"/>
              <a:t>Model performance degrades as the context window fills</a:t>
            </a:r>
          </a:p>
          <a:p>
            <a:r>
              <a:rPr lang="en-IN" noProof="0" dirty="0"/>
              <a:t>Status checking: </a:t>
            </a:r>
            <a:r>
              <a:rPr lang="en-IN" b="1" noProof="0" dirty="0"/>
              <a:t>/context</a:t>
            </a:r>
          </a:p>
          <a:p>
            <a:r>
              <a:rPr lang="en-IN" noProof="0" dirty="0"/>
              <a:t>To compact </a:t>
            </a:r>
            <a:r>
              <a:rPr lang="en-IN" b="1" noProof="0" dirty="0"/>
              <a:t>/compact </a:t>
            </a:r>
            <a:r>
              <a:rPr lang="en-IN" noProof="0" dirty="0"/>
              <a:t>or to clean </a:t>
            </a:r>
            <a:r>
              <a:rPr lang="en-IN" b="1" noProof="0" dirty="0"/>
              <a:t>/</a:t>
            </a:r>
            <a:r>
              <a:rPr lang="en-IN" b="1" noProof="0" dirty="0" err="1"/>
              <a:t>clea</a:t>
            </a:r>
            <a:r>
              <a:rPr lang="en-IN" b="1" dirty="0"/>
              <a:t>r</a:t>
            </a:r>
            <a:endParaRPr lang="en-IN" b="1" noProof="0" dirty="0"/>
          </a:p>
          <a:p>
            <a:endParaRPr lang="en-IN" noProof="0" dirty="0"/>
          </a:p>
        </p:txBody>
      </p:sp>
    </p:spTree>
    <p:extLst>
      <p:ext uri="{BB962C8B-B14F-4D97-AF65-F5344CB8AC3E}">
        <p14:creationId xmlns:p14="http://schemas.microsoft.com/office/powerpoint/2010/main" val="2864159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FA8B-5A7E-417F-42D3-A60ACBBD2A9B}"/>
              </a:ext>
            </a:extLst>
          </p:cNvPr>
          <p:cNvSpPr>
            <a:spLocks noGrp="1"/>
          </p:cNvSpPr>
          <p:nvPr>
            <p:ph type="title"/>
          </p:nvPr>
        </p:nvSpPr>
        <p:spPr/>
        <p:txBody>
          <a:bodyPr/>
          <a:lstStyle/>
          <a:p>
            <a:r>
              <a:rPr lang="en-IN" dirty="0"/>
              <a:t>Exercise – Context Window Check</a:t>
            </a:r>
            <a:endParaRPr lang="en-GB" dirty="0"/>
          </a:p>
        </p:txBody>
      </p:sp>
      <p:sp>
        <p:nvSpPr>
          <p:cNvPr id="3" name="Content Placeholder 2">
            <a:extLst>
              <a:ext uri="{FF2B5EF4-FFF2-40B4-BE49-F238E27FC236}">
                <a16:creationId xmlns:a16="http://schemas.microsoft.com/office/drawing/2014/main" id="{D80B134C-9CAC-EA1F-643F-EBE74537453B}"/>
              </a:ext>
            </a:extLst>
          </p:cNvPr>
          <p:cNvSpPr>
            <a:spLocks noGrp="1"/>
          </p:cNvSpPr>
          <p:nvPr>
            <p:ph idx="1"/>
          </p:nvPr>
        </p:nvSpPr>
        <p:spPr/>
        <p:txBody>
          <a:bodyPr/>
          <a:lstStyle/>
          <a:p>
            <a:r>
              <a:rPr lang="en-GB" dirty="0"/>
              <a:t>Run /context before and after a moderately long task, watch it fill, then trigger /compact and check again</a:t>
            </a:r>
          </a:p>
        </p:txBody>
      </p:sp>
    </p:spTree>
    <p:extLst>
      <p:ext uri="{BB962C8B-B14F-4D97-AF65-F5344CB8AC3E}">
        <p14:creationId xmlns:p14="http://schemas.microsoft.com/office/powerpoint/2010/main" val="112855095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7DC140-00B6-E65A-542B-E10A0CBB6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0E1ED9-251E-D89D-7165-898C577F65DF}"/>
              </a:ext>
            </a:extLst>
          </p:cNvPr>
          <p:cNvSpPr>
            <a:spLocks noGrp="1"/>
          </p:cNvSpPr>
          <p:nvPr>
            <p:ph type="title"/>
          </p:nvPr>
        </p:nvSpPr>
        <p:spPr/>
        <p:txBody>
          <a:bodyPr/>
          <a:lstStyle/>
          <a:p>
            <a:r>
              <a:rPr lang="en-IN" noProof="0" dirty="0"/>
              <a:t>Prompting</a:t>
            </a:r>
          </a:p>
        </p:txBody>
      </p:sp>
      <p:sp>
        <p:nvSpPr>
          <p:cNvPr id="3" name="Content Placeholder 2">
            <a:extLst>
              <a:ext uri="{FF2B5EF4-FFF2-40B4-BE49-F238E27FC236}">
                <a16:creationId xmlns:a16="http://schemas.microsoft.com/office/drawing/2014/main" id="{9F151002-DEA3-7199-DC37-E19253752730}"/>
              </a:ext>
            </a:extLst>
          </p:cNvPr>
          <p:cNvSpPr>
            <a:spLocks noGrp="1"/>
          </p:cNvSpPr>
          <p:nvPr>
            <p:ph idx="1"/>
          </p:nvPr>
        </p:nvSpPr>
        <p:spPr/>
        <p:txBody>
          <a:bodyPr>
            <a:normAutofit fontScale="92500" lnSpcReduction="20000"/>
          </a:bodyPr>
          <a:lstStyle/>
          <a:p>
            <a:r>
              <a:rPr lang="en-IN" noProof="0" dirty="0"/>
              <a:t>Weak: “add tests for Customer.py” </a:t>
            </a:r>
          </a:p>
          <a:p>
            <a:r>
              <a:rPr lang="en-IN" noProof="0" dirty="0"/>
              <a:t>Strong: “write a test for Customer.py covering the edge case where the user is logged out. avoid mocks.” </a:t>
            </a:r>
          </a:p>
          <a:p>
            <a:endParaRPr lang="en-IN" noProof="0" dirty="0"/>
          </a:p>
          <a:p>
            <a:r>
              <a:rPr lang="en-IN" noProof="0" dirty="0"/>
              <a:t>Weak: “fix the login bug” </a:t>
            </a:r>
          </a:p>
          <a:p>
            <a:r>
              <a:rPr lang="en-IN" noProof="0" dirty="0"/>
              <a:t>Strong: “users report login fails after session timeout. check the auth flow in </a:t>
            </a:r>
            <a:r>
              <a:rPr lang="en-IN" noProof="0" dirty="0" err="1"/>
              <a:t>src</a:t>
            </a:r>
            <a:r>
              <a:rPr lang="en-IN" noProof="0" dirty="0"/>
              <a:t>/auth/, especially token refresh. write a failing test that reproduces the issue, then fix it.”</a:t>
            </a:r>
          </a:p>
          <a:p>
            <a:endParaRPr lang="en-IN" noProof="0" dirty="0"/>
          </a:p>
          <a:p>
            <a:r>
              <a:rPr lang="en-IN" noProof="0" dirty="0"/>
              <a:t>Weak: “implement a function that validates email addresses,” </a:t>
            </a:r>
          </a:p>
          <a:p>
            <a:r>
              <a:rPr lang="en-IN" noProof="0" dirty="0"/>
              <a:t>Strong: “write a </a:t>
            </a:r>
            <a:r>
              <a:rPr lang="en-IN" noProof="0" dirty="0" err="1"/>
              <a:t>validateEmail</a:t>
            </a:r>
            <a:r>
              <a:rPr lang="en-IN" noProof="0" dirty="0"/>
              <a:t> function. Test cases: ‘user@example.com’ is valid, ‘invalid’ is not, ‘</a:t>
            </a:r>
            <a:r>
              <a:rPr lang="en-IN" noProof="0" dirty="0" err="1"/>
              <a:t>user@.com</a:t>
            </a:r>
            <a:r>
              <a:rPr lang="en-IN" noProof="0" dirty="0"/>
              <a:t>’ is not. Run the tests after implementing.”</a:t>
            </a:r>
          </a:p>
        </p:txBody>
      </p:sp>
    </p:spTree>
    <p:extLst>
      <p:ext uri="{BB962C8B-B14F-4D97-AF65-F5344CB8AC3E}">
        <p14:creationId xmlns:p14="http://schemas.microsoft.com/office/powerpoint/2010/main" val="24661826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E278-46C8-6D15-4CD8-83DF4CDA5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7D25FF-059B-4337-8DA6-37CB23FE4A17}"/>
              </a:ext>
            </a:extLst>
          </p:cNvPr>
          <p:cNvSpPr>
            <a:spLocks noGrp="1"/>
          </p:cNvSpPr>
          <p:nvPr>
            <p:ph type="title"/>
          </p:nvPr>
        </p:nvSpPr>
        <p:spPr/>
        <p:txBody>
          <a:bodyPr/>
          <a:lstStyle/>
          <a:p>
            <a:r>
              <a:rPr lang="en-IN" noProof="0" dirty="0"/>
              <a:t>Planning and Executing</a:t>
            </a:r>
          </a:p>
        </p:txBody>
      </p:sp>
      <p:sp>
        <p:nvSpPr>
          <p:cNvPr id="3" name="Content Placeholder 2">
            <a:extLst>
              <a:ext uri="{FF2B5EF4-FFF2-40B4-BE49-F238E27FC236}">
                <a16:creationId xmlns:a16="http://schemas.microsoft.com/office/drawing/2014/main" id="{B86700BD-0726-050C-610E-84AF8FDA6C6C}"/>
              </a:ext>
            </a:extLst>
          </p:cNvPr>
          <p:cNvSpPr>
            <a:spLocks noGrp="1"/>
          </p:cNvSpPr>
          <p:nvPr>
            <p:ph idx="1"/>
          </p:nvPr>
        </p:nvSpPr>
        <p:spPr/>
        <p:txBody>
          <a:bodyPr>
            <a:normAutofit fontScale="92500" lnSpcReduction="20000"/>
          </a:bodyPr>
          <a:lstStyle/>
          <a:p>
            <a:r>
              <a:rPr lang="en-IN" noProof="0" dirty="0"/>
              <a:t>Do not ask Claude Code to directly start doing something</a:t>
            </a:r>
          </a:p>
          <a:p>
            <a:r>
              <a:rPr lang="en-IN" noProof="0" dirty="0"/>
              <a:t>Explore</a:t>
            </a:r>
          </a:p>
          <a:p>
            <a:pPr lvl="1"/>
            <a:r>
              <a:rPr lang="en-IN" noProof="0" dirty="0"/>
              <a:t>Enter </a:t>
            </a:r>
            <a:r>
              <a:rPr lang="en-IN" i="1" noProof="0" dirty="0"/>
              <a:t>plan</a:t>
            </a:r>
            <a:r>
              <a:rPr lang="en-IN" noProof="0" dirty="0"/>
              <a:t> mode: </a:t>
            </a:r>
            <a:r>
              <a:rPr lang="en-IN" noProof="0" dirty="0" err="1"/>
              <a:t>Shift+Tab</a:t>
            </a:r>
            <a:r>
              <a:rPr lang="en-IN" noProof="0" dirty="0"/>
              <a:t> or </a:t>
            </a:r>
            <a:r>
              <a:rPr lang="en-IN" b="1" noProof="0" dirty="0"/>
              <a:t>/plan</a:t>
            </a:r>
          </a:p>
          <a:p>
            <a:pPr lvl="1"/>
            <a:r>
              <a:rPr lang="en-IN" noProof="0" dirty="0"/>
              <a:t>Ask Claude to read documents and explain how it works</a:t>
            </a:r>
          </a:p>
          <a:p>
            <a:r>
              <a:rPr lang="en-IN" noProof="0" dirty="0"/>
              <a:t>Plan</a:t>
            </a:r>
          </a:p>
          <a:p>
            <a:pPr lvl="1"/>
            <a:r>
              <a:rPr lang="en-IN" noProof="0" dirty="0"/>
              <a:t>Ask for a concrete implementation plan — which files change, what the approach is</a:t>
            </a:r>
          </a:p>
          <a:p>
            <a:pPr lvl="1"/>
            <a:r>
              <a:rPr lang="en-IN" noProof="0" dirty="0"/>
              <a:t>Review it; press </a:t>
            </a:r>
            <a:r>
              <a:rPr lang="en-IN" noProof="0" dirty="0" err="1"/>
              <a:t>Ctrl+G</a:t>
            </a:r>
            <a:r>
              <a:rPr lang="en-IN" noProof="0" dirty="0"/>
              <a:t> to open the plan in your editor and edit it directly before approving</a:t>
            </a:r>
          </a:p>
          <a:p>
            <a:r>
              <a:rPr lang="en-IN" noProof="0" dirty="0"/>
              <a:t>Implement</a:t>
            </a:r>
          </a:p>
          <a:p>
            <a:pPr lvl="1"/>
            <a:r>
              <a:rPr lang="en-IN" noProof="0" dirty="0"/>
              <a:t>Approve the plan; Claude switches to an editing mode and executes, verifying against the plan</a:t>
            </a:r>
          </a:p>
          <a:p>
            <a:r>
              <a:rPr lang="en-IN" noProof="0" dirty="0"/>
              <a:t>Commit</a:t>
            </a:r>
          </a:p>
          <a:p>
            <a:pPr lvl="1"/>
            <a:r>
              <a:rPr lang="en-IN" noProof="0" dirty="0"/>
              <a:t>Ask it to commit with a clear message and open a PR (pull request)</a:t>
            </a:r>
          </a:p>
          <a:p>
            <a:pPr lvl="1"/>
            <a:endParaRPr lang="en-IN" noProof="0" dirty="0"/>
          </a:p>
          <a:p>
            <a:pPr lvl="1"/>
            <a:endParaRPr lang="en-IN" noProof="0" dirty="0"/>
          </a:p>
        </p:txBody>
      </p:sp>
    </p:spTree>
    <p:extLst>
      <p:ext uri="{BB962C8B-B14F-4D97-AF65-F5344CB8AC3E}">
        <p14:creationId xmlns:p14="http://schemas.microsoft.com/office/powerpoint/2010/main" val="134359937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270DB-2637-4E1D-C2BA-FFD2F9A751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139984-B16D-913A-B9FB-B5D5B8F9CB2A}"/>
              </a:ext>
            </a:extLst>
          </p:cNvPr>
          <p:cNvSpPr>
            <a:spLocks noGrp="1"/>
          </p:cNvSpPr>
          <p:nvPr>
            <p:ph type="title"/>
          </p:nvPr>
        </p:nvSpPr>
        <p:spPr/>
        <p:txBody>
          <a:bodyPr/>
          <a:lstStyle/>
          <a:p>
            <a:r>
              <a:rPr lang="en-IN" noProof="0" dirty="0"/>
              <a:t>Let Claude Interview You</a:t>
            </a:r>
          </a:p>
        </p:txBody>
      </p:sp>
      <p:sp>
        <p:nvSpPr>
          <p:cNvPr id="3" name="Content Placeholder 2">
            <a:extLst>
              <a:ext uri="{FF2B5EF4-FFF2-40B4-BE49-F238E27FC236}">
                <a16:creationId xmlns:a16="http://schemas.microsoft.com/office/drawing/2014/main" id="{9482A4CA-C7E4-153F-4E0D-771602032052}"/>
              </a:ext>
            </a:extLst>
          </p:cNvPr>
          <p:cNvSpPr>
            <a:spLocks noGrp="1"/>
          </p:cNvSpPr>
          <p:nvPr>
            <p:ph idx="1"/>
          </p:nvPr>
        </p:nvSpPr>
        <p:spPr/>
        <p:txBody>
          <a:bodyPr>
            <a:normAutofit/>
          </a:bodyPr>
          <a:lstStyle/>
          <a:p>
            <a:r>
              <a:rPr lang="en-IN" noProof="0" dirty="0"/>
              <a:t>For a larger feature we have not fully thought through, flip the script</a:t>
            </a:r>
          </a:p>
          <a:p>
            <a:r>
              <a:rPr lang="en-IN" noProof="0" dirty="0"/>
              <a:t>“I want to build [brief description]. Interview me in detail using the </a:t>
            </a:r>
            <a:r>
              <a:rPr lang="en-IN" noProof="0" dirty="0" err="1"/>
              <a:t>AskUserQuestion</a:t>
            </a:r>
            <a:r>
              <a:rPr lang="en-IN" noProof="0" dirty="0"/>
              <a:t> tool — ask about technical implementation, UI/UX, edge cases, and </a:t>
            </a:r>
            <a:r>
              <a:rPr lang="en-IN" noProof="0" dirty="0" err="1"/>
              <a:t>tradeoffs</a:t>
            </a:r>
            <a:r>
              <a:rPr lang="en-IN" noProof="0" dirty="0"/>
              <a:t> I might not have considered. Keep going until we’ve covered everything, then write a complete spec to SPEC.md.”</a:t>
            </a:r>
          </a:p>
        </p:txBody>
      </p:sp>
    </p:spTree>
    <p:extLst>
      <p:ext uri="{BB962C8B-B14F-4D97-AF65-F5344CB8AC3E}">
        <p14:creationId xmlns:p14="http://schemas.microsoft.com/office/powerpoint/2010/main" val="253704455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994EE-2A12-B973-6F87-2053EB0E097C}"/>
              </a:ext>
            </a:extLst>
          </p:cNvPr>
          <p:cNvSpPr>
            <a:spLocks noGrp="1"/>
          </p:cNvSpPr>
          <p:nvPr>
            <p:ph type="title"/>
          </p:nvPr>
        </p:nvSpPr>
        <p:spPr/>
        <p:txBody>
          <a:bodyPr/>
          <a:lstStyle/>
          <a:p>
            <a:r>
              <a:rPr lang="en-IN" dirty="0"/>
              <a:t>Exercise</a:t>
            </a:r>
            <a:endParaRPr lang="en-GB" dirty="0"/>
          </a:p>
        </p:txBody>
      </p:sp>
      <p:sp>
        <p:nvSpPr>
          <p:cNvPr id="3" name="Content Placeholder 2">
            <a:extLst>
              <a:ext uri="{FF2B5EF4-FFF2-40B4-BE49-F238E27FC236}">
                <a16:creationId xmlns:a16="http://schemas.microsoft.com/office/drawing/2014/main" id="{76662B46-A22D-6C7C-675E-8B93F3344FC2}"/>
              </a:ext>
            </a:extLst>
          </p:cNvPr>
          <p:cNvSpPr>
            <a:spLocks noGrp="1"/>
          </p:cNvSpPr>
          <p:nvPr>
            <p:ph idx="1"/>
          </p:nvPr>
        </p:nvSpPr>
        <p:spPr/>
        <p:txBody>
          <a:bodyPr/>
          <a:lstStyle/>
          <a:p>
            <a:r>
              <a:rPr lang="en-GB" dirty="0"/>
              <a:t>A PM/should pick a feature idea from their own work and run the interview prompt to produce a SPEC.md</a:t>
            </a:r>
          </a:p>
          <a:p>
            <a:r>
              <a:rPr lang="en-GB" dirty="0"/>
              <a:t>Hand that SPEC.md to a technical partner, who uses it (not their own interpretation) to start a workflow</a:t>
            </a:r>
          </a:p>
        </p:txBody>
      </p:sp>
    </p:spTree>
    <p:extLst>
      <p:ext uri="{BB962C8B-B14F-4D97-AF65-F5344CB8AC3E}">
        <p14:creationId xmlns:p14="http://schemas.microsoft.com/office/powerpoint/2010/main" val="35686343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1205F-659A-13F0-5BF7-6E118EE594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023B67-83F6-C24D-49F0-43FFB00F69D8}"/>
              </a:ext>
            </a:extLst>
          </p:cNvPr>
          <p:cNvSpPr>
            <a:spLocks noGrp="1"/>
          </p:cNvSpPr>
          <p:nvPr>
            <p:ph type="title"/>
          </p:nvPr>
        </p:nvSpPr>
        <p:spPr/>
        <p:txBody>
          <a:bodyPr/>
          <a:lstStyle/>
          <a:p>
            <a:r>
              <a:rPr lang="en-IN" noProof="0" dirty="0"/>
              <a:t>Delegate, Do not Dictate</a:t>
            </a:r>
          </a:p>
        </p:txBody>
      </p:sp>
      <p:sp>
        <p:nvSpPr>
          <p:cNvPr id="3" name="Content Placeholder 2">
            <a:extLst>
              <a:ext uri="{FF2B5EF4-FFF2-40B4-BE49-F238E27FC236}">
                <a16:creationId xmlns:a16="http://schemas.microsoft.com/office/drawing/2014/main" id="{A216E5A8-FD91-DA1E-5C0D-CA8DA3E1FB2D}"/>
              </a:ext>
            </a:extLst>
          </p:cNvPr>
          <p:cNvSpPr>
            <a:spLocks noGrp="1"/>
          </p:cNvSpPr>
          <p:nvPr>
            <p:ph idx="1"/>
          </p:nvPr>
        </p:nvSpPr>
        <p:spPr/>
        <p:txBody>
          <a:bodyPr>
            <a:normAutofit/>
          </a:bodyPr>
          <a:lstStyle/>
          <a:p>
            <a:r>
              <a:rPr lang="en-IN" noProof="0" dirty="0"/>
              <a:t>Treat Claude like a capable colleague</a:t>
            </a:r>
          </a:p>
          <a:p>
            <a:r>
              <a:rPr lang="en-IN" noProof="0" dirty="0"/>
              <a:t>Give context and direction, then trust it with the details</a:t>
            </a:r>
          </a:p>
          <a:p>
            <a:r>
              <a:rPr lang="en-IN" noProof="0" dirty="0"/>
              <a:t>“The checkout flow is broken for users with expired cards. The relevant code is in </a:t>
            </a:r>
            <a:r>
              <a:rPr lang="en-IN" noProof="0" dirty="0" err="1"/>
              <a:t>src</a:t>
            </a:r>
            <a:r>
              <a:rPr lang="en-IN" noProof="0" dirty="0"/>
              <a:t>/payments/. Investigate and fix it.” </a:t>
            </a:r>
          </a:p>
          <a:p>
            <a:r>
              <a:rPr lang="en-IN" noProof="0" dirty="0"/>
              <a:t>We do not need to specify which files to read or commands to run — figuring that out is the agent’s job</a:t>
            </a:r>
          </a:p>
        </p:txBody>
      </p:sp>
    </p:spTree>
    <p:extLst>
      <p:ext uri="{BB962C8B-B14F-4D97-AF65-F5344CB8AC3E}">
        <p14:creationId xmlns:p14="http://schemas.microsoft.com/office/powerpoint/2010/main" val="372144435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3746-8F5B-C314-4E78-F8A334A4ED13}"/>
              </a:ext>
            </a:extLst>
          </p:cNvPr>
          <p:cNvSpPr>
            <a:spLocks noGrp="1"/>
          </p:cNvSpPr>
          <p:nvPr>
            <p:ph type="title"/>
          </p:nvPr>
        </p:nvSpPr>
        <p:spPr/>
        <p:txBody>
          <a:bodyPr/>
          <a:lstStyle/>
          <a:p>
            <a:r>
              <a:rPr lang="en-IN" noProof="0" dirty="0"/>
              <a:t>Common Workflows</a:t>
            </a:r>
          </a:p>
        </p:txBody>
      </p:sp>
      <p:graphicFrame>
        <p:nvGraphicFramePr>
          <p:cNvPr id="4" name="Content Placeholder 3">
            <a:extLst>
              <a:ext uri="{FF2B5EF4-FFF2-40B4-BE49-F238E27FC236}">
                <a16:creationId xmlns:a16="http://schemas.microsoft.com/office/drawing/2014/main" id="{B3B921EE-E63A-ABA1-A73A-0F448D9C5137}"/>
              </a:ext>
            </a:extLst>
          </p:cNvPr>
          <p:cNvGraphicFramePr>
            <a:graphicFrameLocks noGrp="1"/>
          </p:cNvGraphicFramePr>
          <p:nvPr>
            <p:ph idx="1"/>
          </p:nvPr>
        </p:nvGraphicFramePr>
        <p:xfrm>
          <a:off x="586334" y="1528294"/>
          <a:ext cx="11314826" cy="5211653"/>
        </p:xfrm>
        <a:graphic>
          <a:graphicData uri="http://schemas.openxmlformats.org/drawingml/2006/table">
            <a:tbl>
              <a:tblPr firstRow="1">
                <a:tableStyleId>{72833802-FEF1-4C79-8D5D-14CF1EAF98D9}</a:tableStyleId>
              </a:tblPr>
              <a:tblGrid>
                <a:gridCol w="2101025">
                  <a:extLst>
                    <a:ext uri="{9D8B030D-6E8A-4147-A177-3AD203B41FA5}">
                      <a16:colId xmlns:a16="http://schemas.microsoft.com/office/drawing/2014/main" val="3016536440"/>
                    </a:ext>
                  </a:extLst>
                </a:gridCol>
                <a:gridCol w="9213801">
                  <a:extLst>
                    <a:ext uri="{9D8B030D-6E8A-4147-A177-3AD203B41FA5}">
                      <a16:colId xmlns:a16="http://schemas.microsoft.com/office/drawing/2014/main" val="2184830522"/>
                    </a:ext>
                  </a:extLst>
                </a:gridCol>
              </a:tblGrid>
              <a:tr h="113022">
                <a:tc>
                  <a:txBody>
                    <a:bodyPr/>
                    <a:lstStyle/>
                    <a:p>
                      <a:pPr>
                        <a:buNone/>
                      </a:pPr>
                      <a:r>
                        <a:rPr lang="en-IN" sz="1600" b="1" noProof="0" dirty="0"/>
                        <a:t>Workflow</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b="1" noProof="0" dirty="0"/>
                        <a:t>Example Prompts</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9955637"/>
                  </a:ext>
                </a:extLst>
              </a:tr>
              <a:tr h="791152">
                <a:tc>
                  <a:txBody>
                    <a:bodyPr/>
                    <a:lstStyle/>
                    <a:p>
                      <a:pPr>
                        <a:buNone/>
                      </a:pPr>
                      <a:r>
                        <a:rPr lang="en-IN" sz="1600" b="1" noProof="0" dirty="0"/>
                        <a:t>Understand a New Codebase</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Give me an overview of this codebase.• Explain the main architecture patterns.• What are the key data models?• How is authentication handled?• Find the files that handle user authentication.• Trace the login process from front-end to database.</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41939"/>
                  </a:ext>
                </a:extLst>
              </a:tr>
              <a:tr h="452087">
                <a:tc>
                  <a:txBody>
                    <a:bodyPr/>
                    <a:lstStyle/>
                    <a:p>
                      <a:pPr>
                        <a:buNone/>
                      </a:pPr>
                      <a:r>
                        <a:rPr lang="en-IN" sz="1600" b="1" noProof="0" dirty="0"/>
                        <a:t>Fix Bugs</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I'm seeing this error when I run </a:t>
                      </a:r>
                      <a:r>
                        <a:rPr lang="en-IN" sz="1600" noProof="0" dirty="0" err="1"/>
                        <a:t>npm</a:t>
                      </a:r>
                      <a:r>
                        <a:rPr lang="en-IN" sz="1600" noProof="0" dirty="0"/>
                        <a:t> test: [paste error].• Find the root cause and fix it.• Run the failing command to reproduce the issue.• Explain why the bug occurs.</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19621051"/>
                  </a:ext>
                </a:extLst>
              </a:tr>
              <a:tr h="536853">
                <a:tc>
                  <a:txBody>
                    <a:bodyPr/>
                    <a:lstStyle/>
                    <a:p>
                      <a:pPr>
                        <a:buNone/>
                      </a:pPr>
                      <a:r>
                        <a:rPr lang="en-IN" sz="1600" b="1" noProof="0" dirty="0"/>
                        <a:t>Refactor Code</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Find deprecated API usage in our codebase.• Refactor utils.js to use modern JavaScript while maintaining the same </a:t>
                      </a:r>
                      <a:r>
                        <a:rPr lang="en-IN" sz="1600" noProof="0" dirty="0" err="1"/>
                        <a:t>behavior</a:t>
                      </a:r>
                      <a:r>
                        <a:rPr lang="en-IN" sz="1600" noProof="0" dirty="0"/>
                        <a:t>.• Run the tests for the refactored code.</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9121880"/>
                  </a:ext>
                </a:extLst>
              </a:tr>
              <a:tr h="452087">
                <a:tc>
                  <a:txBody>
                    <a:bodyPr/>
                    <a:lstStyle/>
                    <a:p>
                      <a:pPr>
                        <a:buNone/>
                      </a:pPr>
                      <a:r>
                        <a:rPr lang="en-IN" sz="1600" b="1" noProof="0" dirty="0"/>
                        <a:t>Write Tests</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Find functions not covered by tests.• Add unit tests for the notification service.• Add edge-case test cases.• Run the new tests and fix any failures.</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09114192"/>
                  </a:ext>
                </a:extLst>
              </a:tr>
              <a:tr h="452087">
                <a:tc>
                  <a:txBody>
                    <a:bodyPr/>
                    <a:lstStyle/>
                    <a:p>
                      <a:pPr>
                        <a:buNone/>
                      </a:pPr>
                      <a:r>
                        <a:rPr lang="en-IN" sz="1600" b="1" noProof="0" dirty="0"/>
                        <a:t>Create Pull Requests</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Create a PR for my changes.• Summarize the changes and generate the PR.• Enhance the PR description with more context about the improvements.</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98559874"/>
                  </a:ext>
                </a:extLst>
              </a:tr>
              <a:tr h="452087">
                <a:tc>
                  <a:txBody>
                    <a:bodyPr/>
                    <a:lstStyle/>
                    <a:p>
                      <a:pPr>
                        <a:buNone/>
                      </a:pPr>
                      <a:r>
                        <a:rPr lang="en-IN" sz="1600" b="1" noProof="0" dirty="0"/>
                        <a:t>Handle Documentation</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Find functions without </a:t>
                      </a:r>
                      <a:r>
                        <a:rPr lang="en-IN" sz="1600" noProof="0" dirty="0" err="1"/>
                        <a:t>JSDoc</a:t>
                      </a:r>
                      <a:r>
                        <a:rPr lang="en-IN" sz="1600" noProof="0" dirty="0"/>
                        <a:t> in the auth module.• Add </a:t>
                      </a:r>
                      <a:r>
                        <a:rPr lang="en-IN" sz="1600" noProof="0" dirty="0" err="1"/>
                        <a:t>JSDoc</a:t>
                      </a:r>
                      <a:r>
                        <a:rPr lang="en-IN" sz="1600" noProof="0" dirty="0"/>
                        <a:t> comments.• Improve the documentation with more context and examples.</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84418061"/>
                  </a:ext>
                </a:extLst>
              </a:tr>
              <a:tr h="367321">
                <a:tc>
                  <a:txBody>
                    <a:bodyPr/>
                    <a:lstStyle/>
                    <a:p>
                      <a:pPr>
                        <a:buNone/>
                      </a:pPr>
                      <a:r>
                        <a:rPr lang="en-IN" sz="1600" b="1" noProof="0" dirty="0"/>
                        <a:t>Work with Images</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a:t>
                      </a:r>
                      <a:r>
                        <a:rPr lang="en-IN" sz="1600" noProof="0" dirty="0" err="1"/>
                        <a:t>Analyze</a:t>
                      </a:r>
                      <a:r>
                        <a:rPr lang="en-IN" sz="1600" noProof="0" dirty="0"/>
                        <a:t> this screenshot of an error.• Recreate this design </a:t>
                      </a:r>
                      <a:r>
                        <a:rPr lang="en-IN" sz="1600" noProof="0" dirty="0" err="1"/>
                        <a:t>mockup</a:t>
                      </a:r>
                      <a:r>
                        <a:rPr lang="en-IN" sz="1600" noProof="0" dirty="0"/>
                        <a:t> as HTML/CSS.• Interpret this architecture diagram.</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87013532"/>
                  </a:ext>
                </a:extLst>
              </a:tr>
              <a:tr h="367321">
                <a:tc>
                  <a:txBody>
                    <a:bodyPr/>
                    <a:lstStyle/>
                    <a:p>
                      <a:pPr>
                        <a:buNone/>
                      </a:pPr>
                      <a:r>
                        <a:rPr lang="en-IN" sz="1600" b="1" noProof="0" dirty="0"/>
                        <a:t>Run on a Schedule</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Perform morning PR reviews.• Run overnight CI analysis.• Perform weekly dependency audits.• Monitor changes periodically.</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65598829"/>
                  </a:ext>
                </a:extLst>
              </a:tr>
              <a:tr h="367321">
                <a:tc>
                  <a:txBody>
                    <a:bodyPr/>
                    <a:lstStyle/>
                    <a:p>
                      <a:pPr>
                        <a:buNone/>
                      </a:pPr>
                      <a:r>
                        <a:rPr lang="en-IN" sz="1600" b="1" noProof="0" dirty="0"/>
                        <a:t>Ask Claude About Itself</a:t>
                      </a:r>
                      <a:endParaRPr lang="en-IN" sz="1600" noProof="0" dirty="0"/>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 Can Claude Code create Pull Requests?• How does Claude Code handle permissions?• What skills are available?</a:t>
                      </a:r>
                    </a:p>
                  </a:txBody>
                  <a:tcPr marL="28255" marR="28255" marT="14128" marB="1412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14819162"/>
                  </a:ext>
                </a:extLst>
              </a:tr>
            </a:tbl>
          </a:graphicData>
        </a:graphic>
      </p:graphicFrame>
    </p:spTree>
    <p:extLst>
      <p:ext uri="{BB962C8B-B14F-4D97-AF65-F5344CB8AC3E}">
        <p14:creationId xmlns:p14="http://schemas.microsoft.com/office/powerpoint/2010/main" val="427881217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97769-2B63-E6CE-F7B7-8A5EDC114673}"/>
              </a:ext>
            </a:extLst>
          </p:cNvPr>
          <p:cNvSpPr>
            <a:spLocks noGrp="1"/>
          </p:cNvSpPr>
          <p:nvPr>
            <p:ph type="title"/>
          </p:nvPr>
        </p:nvSpPr>
        <p:spPr/>
        <p:txBody>
          <a:bodyPr/>
          <a:lstStyle/>
          <a:p>
            <a:r>
              <a:rPr lang="en-IN" noProof="0" dirty="0"/>
              <a:t>Permissions</a:t>
            </a:r>
          </a:p>
        </p:txBody>
      </p:sp>
      <p:sp>
        <p:nvSpPr>
          <p:cNvPr id="3" name="Content Placeholder 2">
            <a:extLst>
              <a:ext uri="{FF2B5EF4-FFF2-40B4-BE49-F238E27FC236}">
                <a16:creationId xmlns:a16="http://schemas.microsoft.com/office/drawing/2014/main" id="{D01EA4FD-F123-0E8B-24A2-F0EB4BD1C43D}"/>
              </a:ext>
            </a:extLst>
          </p:cNvPr>
          <p:cNvSpPr>
            <a:spLocks noGrp="1"/>
          </p:cNvSpPr>
          <p:nvPr>
            <p:ph idx="1"/>
          </p:nvPr>
        </p:nvSpPr>
        <p:spPr/>
        <p:txBody>
          <a:bodyPr/>
          <a:lstStyle/>
          <a:p>
            <a:r>
              <a:rPr lang="en-IN" noProof="0" dirty="0" err="1"/>
              <a:t>Shift+Tab</a:t>
            </a:r>
            <a:r>
              <a:rPr lang="en-IN" noProof="0" dirty="0"/>
              <a:t> to cycle through various permission modes</a:t>
            </a:r>
          </a:p>
        </p:txBody>
      </p:sp>
      <p:graphicFrame>
        <p:nvGraphicFramePr>
          <p:cNvPr id="6" name="Table 5">
            <a:extLst>
              <a:ext uri="{FF2B5EF4-FFF2-40B4-BE49-F238E27FC236}">
                <a16:creationId xmlns:a16="http://schemas.microsoft.com/office/drawing/2014/main" id="{1C95F68B-7F05-9634-64F6-3060FE1078F9}"/>
              </a:ext>
            </a:extLst>
          </p:cNvPr>
          <p:cNvGraphicFramePr>
            <a:graphicFrameLocks noGrp="1"/>
          </p:cNvGraphicFramePr>
          <p:nvPr/>
        </p:nvGraphicFramePr>
        <p:xfrm>
          <a:off x="838200" y="2414356"/>
          <a:ext cx="10515600" cy="3108960"/>
        </p:xfrm>
        <a:graphic>
          <a:graphicData uri="http://schemas.openxmlformats.org/drawingml/2006/table">
            <a:tbl>
              <a:tblPr firstRow="1">
                <a:tableStyleId>{B301B821-A1FF-4177-AEE7-76D212191A09}</a:tableStyleId>
              </a:tblPr>
              <a:tblGrid>
                <a:gridCol w="3049745">
                  <a:extLst>
                    <a:ext uri="{9D8B030D-6E8A-4147-A177-3AD203B41FA5}">
                      <a16:colId xmlns:a16="http://schemas.microsoft.com/office/drawing/2014/main" val="1635334186"/>
                    </a:ext>
                  </a:extLst>
                </a:gridCol>
                <a:gridCol w="3960655">
                  <a:extLst>
                    <a:ext uri="{9D8B030D-6E8A-4147-A177-3AD203B41FA5}">
                      <a16:colId xmlns:a16="http://schemas.microsoft.com/office/drawing/2014/main" val="2586309157"/>
                    </a:ext>
                  </a:extLst>
                </a:gridCol>
                <a:gridCol w="3505200">
                  <a:extLst>
                    <a:ext uri="{9D8B030D-6E8A-4147-A177-3AD203B41FA5}">
                      <a16:colId xmlns:a16="http://schemas.microsoft.com/office/drawing/2014/main" val="1681570419"/>
                    </a:ext>
                  </a:extLst>
                </a:gridCol>
              </a:tblGrid>
              <a:tr h="0">
                <a:tc>
                  <a:txBody>
                    <a:bodyPr/>
                    <a:lstStyle/>
                    <a:p>
                      <a:pPr>
                        <a:buNone/>
                      </a:pPr>
                      <a:r>
                        <a:rPr lang="en-IN" b="1" noProof="0" dirty="0"/>
                        <a:t>Mode</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b="1" noProof="0" dirty="0"/>
                        <a:t>What runs without asking</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b="1" noProof="0" dirty="0"/>
                        <a:t>Best for</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27795238"/>
                  </a:ext>
                </a:extLst>
              </a:tr>
              <a:tr h="0">
                <a:tc>
                  <a:txBody>
                    <a:bodyPr/>
                    <a:lstStyle/>
                    <a:p>
                      <a:pPr>
                        <a:buNone/>
                      </a:pPr>
                      <a:r>
                        <a:rPr lang="en-IN" noProof="0" dirty="0"/>
                        <a:t>default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Reads 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Getting started, sensitive work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34307054"/>
                  </a:ext>
                </a:extLst>
              </a:tr>
              <a:tr h="0">
                <a:tc>
                  <a:txBody>
                    <a:bodyPr/>
                    <a:lstStyle/>
                    <a:p>
                      <a:pPr>
                        <a:buNone/>
                      </a:pPr>
                      <a:r>
                        <a:rPr lang="en-IN" noProof="0" dirty="0" err="1"/>
                        <a:t>acceptEdits</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Reads, file edits, common filesystem commands (</a:t>
                      </a:r>
                      <a:r>
                        <a:rPr lang="en-IN" noProof="0" dirty="0" err="1"/>
                        <a:t>mkdir</a:t>
                      </a:r>
                      <a:r>
                        <a:rPr lang="en-IN" noProof="0" dirty="0"/>
                        <a:t>, mv, cp, etc.)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Iterating on code you'll review afterward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55631477"/>
                  </a:ext>
                </a:extLst>
              </a:tr>
              <a:tr h="0">
                <a:tc>
                  <a:txBody>
                    <a:bodyPr/>
                    <a:lstStyle/>
                    <a:p>
                      <a:pPr>
                        <a:buNone/>
                      </a:pPr>
                      <a:r>
                        <a:rPr lang="en-IN" noProof="0" dirty="0"/>
                        <a:t>plan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Reads only — proposes, never edits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Exploring before making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59706787"/>
                  </a:ext>
                </a:extLst>
              </a:tr>
              <a:tr h="0">
                <a:tc>
                  <a:txBody>
                    <a:bodyPr/>
                    <a:lstStyle/>
                    <a:p>
                      <a:pPr>
                        <a:buNone/>
                      </a:pPr>
                      <a:r>
                        <a:rPr lang="en-IN" noProof="0" dirty="0"/>
                        <a:t>auto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Everything, with background safety checks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Long tasks, reducing prompt fatigue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0297577"/>
                  </a:ext>
                </a:extLst>
              </a:tr>
              <a:tr h="0">
                <a:tc>
                  <a:txBody>
                    <a:bodyPr/>
                    <a:lstStyle/>
                    <a:p>
                      <a:pPr>
                        <a:buNone/>
                      </a:pPr>
                      <a:r>
                        <a:rPr lang="en-IN" noProof="0" dirty="0" err="1"/>
                        <a:t>dontAsk</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Only pre-approved tools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Locked-down CI and scripts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68023606"/>
                  </a:ext>
                </a:extLst>
              </a:tr>
              <a:tr h="0">
                <a:tc>
                  <a:txBody>
                    <a:bodyPr/>
                    <a:lstStyle/>
                    <a:p>
                      <a:pPr>
                        <a:buNone/>
                      </a:pPr>
                      <a:r>
                        <a:rPr lang="en-IN" noProof="0" dirty="0" err="1"/>
                        <a:t>bypassPermissions</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Everything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Isolated containers/VMs </a:t>
                      </a:r>
                      <a:r>
                        <a:rPr lang="en-IN" noProof="0" dirty="0" err="1"/>
                        <a:t>onl</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47347792"/>
                  </a:ext>
                </a:extLst>
              </a:tr>
            </a:tbl>
          </a:graphicData>
        </a:graphic>
      </p:graphicFrame>
    </p:spTree>
    <p:extLst>
      <p:ext uri="{BB962C8B-B14F-4D97-AF65-F5344CB8AC3E}">
        <p14:creationId xmlns:p14="http://schemas.microsoft.com/office/powerpoint/2010/main" val="423760942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05E8B0-F37C-DAE5-1F4F-00697B4660B4}"/>
              </a:ext>
            </a:extLst>
          </p:cNvPr>
          <p:cNvSpPr>
            <a:spLocks noGrp="1"/>
          </p:cNvSpPr>
          <p:nvPr>
            <p:ph type="title"/>
          </p:nvPr>
        </p:nvSpPr>
        <p:spPr/>
        <p:txBody>
          <a:bodyPr/>
          <a:lstStyle/>
          <a:p>
            <a:r>
              <a:rPr lang="en-IN" dirty="0"/>
              <a:t>Permissions Exercise</a:t>
            </a:r>
            <a:endParaRPr lang="en-GB" dirty="0"/>
          </a:p>
        </p:txBody>
      </p:sp>
      <p:sp>
        <p:nvSpPr>
          <p:cNvPr id="3" name="Content Placeholder 2">
            <a:extLst>
              <a:ext uri="{FF2B5EF4-FFF2-40B4-BE49-F238E27FC236}">
                <a16:creationId xmlns:a16="http://schemas.microsoft.com/office/drawing/2014/main" id="{0D784CAA-0A67-8BF6-BD01-F0C78EF4E8BB}"/>
              </a:ext>
            </a:extLst>
          </p:cNvPr>
          <p:cNvSpPr>
            <a:spLocks noGrp="1"/>
          </p:cNvSpPr>
          <p:nvPr>
            <p:ph idx="1"/>
          </p:nvPr>
        </p:nvSpPr>
        <p:spPr/>
        <p:txBody>
          <a:bodyPr>
            <a:normAutofit fontScale="92500"/>
          </a:bodyPr>
          <a:lstStyle/>
          <a:p>
            <a:r>
              <a:rPr lang="en-IN" dirty="0"/>
              <a:t>Choose a directory</a:t>
            </a:r>
          </a:p>
          <a:p>
            <a:pPr lvl="1"/>
            <a:r>
              <a:rPr lang="en-GB" dirty="0" err="1"/>
              <a:t>mkdir</a:t>
            </a:r>
            <a:r>
              <a:rPr lang="en-GB" dirty="0"/>
              <a:t> permission-modes-demo</a:t>
            </a:r>
          </a:p>
          <a:p>
            <a:pPr lvl="1"/>
            <a:r>
              <a:rPr lang="en-GB" dirty="0"/>
              <a:t>cd permission-modes-demo</a:t>
            </a:r>
          </a:p>
          <a:p>
            <a:pPr lvl="1"/>
            <a:r>
              <a:rPr lang="en-GB" dirty="0" err="1"/>
              <a:t>claude</a:t>
            </a:r>
            <a:endParaRPr lang="en-GB" dirty="0"/>
          </a:p>
          <a:p>
            <a:r>
              <a:rPr lang="en-GB" dirty="0"/>
              <a:t>Prompt for all the rounds: Create a folder called daily-greeting. Inside it, write a Python script greet.py that prints today's date and a friendly greeting based on the day of the week. Then run it so I can see the output.</a:t>
            </a:r>
          </a:p>
          <a:p>
            <a:r>
              <a:rPr lang="en-GB" dirty="0"/>
              <a:t>Between each round: exit Claude (/exit or </a:t>
            </a:r>
            <a:r>
              <a:rPr lang="en-GB" dirty="0" err="1"/>
              <a:t>Ctrl+C</a:t>
            </a:r>
            <a:r>
              <a:rPr lang="en-GB" dirty="0"/>
              <a:t>), delete the daily-greeting subfolder (rm -rf daily-greeting or </a:t>
            </a:r>
            <a:r>
              <a:rPr lang="en-GB" dirty="0" err="1"/>
              <a:t>rmdir</a:t>
            </a:r>
            <a:r>
              <a:rPr lang="en-GB" dirty="0"/>
              <a:t> /s daily-greeting on Windows), and restart </a:t>
            </a:r>
            <a:r>
              <a:rPr lang="en-GB" dirty="0" err="1"/>
              <a:t>claude</a:t>
            </a:r>
            <a:r>
              <a:rPr lang="en-GB" dirty="0"/>
              <a:t> fresh, so each mode starts from the same clean state</a:t>
            </a:r>
          </a:p>
        </p:txBody>
      </p:sp>
    </p:spTree>
    <p:extLst>
      <p:ext uri="{BB962C8B-B14F-4D97-AF65-F5344CB8AC3E}">
        <p14:creationId xmlns:p14="http://schemas.microsoft.com/office/powerpoint/2010/main" val="341999506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EB8B3-7316-5696-049A-C7D465EA975D}"/>
              </a:ext>
            </a:extLst>
          </p:cNvPr>
          <p:cNvSpPr>
            <a:spLocks noGrp="1"/>
          </p:cNvSpPr>
          <p:nvPr>
            <p:ph type="title"/>
          </p:nvPr>
        </p:nvSpPr>
        <p:spPr/>
        <p:txBody>
          <a:bodyPr/>
          <a:lstStyle/>
          <a:p>
            <a:r>
              <a:rPr lang="en-IN" dirty="0"/>
              <a:t>Round 1 – Default Mode</a:t>
            </a:r>
            <a:endParaRPr lang="en-GB" dirty="0"/>
          </a:p>
        </p:txBody>
      </p:sp>
      <p:sp>
        <p:nvSpPr>
          <p:cNvPr id="3" name="Content Placeholder 2">
            <a:extLst>
              <a:ext uri="{FF2B5EF4-FFF2-40B4-BE49-F238E27FC236}">
                <a16:creationId xmlns:a16="http://schemas.microsoft.com/office/drawing/2014/main" id="{BA03C01D-FA5F-8968-7E56-B488D4AE38B4}"/>
              </a:ext>
            </a:extLst>
          </p:cNvPr>
          <p:cNvSpPr>
            <a:spLocks noGrp="1"/>
          </p:cNvSpPr>
          <p:nvPr>
            <p:ph idx="1"/>
          </p:nvPr>
        </p:nvSpPr>
        <p:spPr/>
        <p:txBody>
          <a:bodyPr/>
          <a:lstStyle/>
          <a:p>
            <a:r>
              <a:rPr lang="en-GB" dirty="0"/>
              <a:t>Start </a:t>
            </a:r>
            <a:r>
              <a:rPr lang="en-GB" dirty="0" err="1"/>
              <a:t>claude</a:t>
            </a:r>
            <a:r>
              <a:rPr lang="en-GB" dirty="0"/>
              <a:t> (default mode, no need to press anything)</a:t>
            </a:r>
          </a:p>
          <a:p>
            <a:r>
              <a:rPr lang="en-GB" dirty="0"/>
              <a:t>Paste the prompt</a:t>
            </a:r>
          </a:p>
          <a:p>
            <a:r>
              <a:rPr lang="en-GB" dirty="0"/>
              <a:t>Watch for a permission prompt at each of these points — note down which ones asked</a:t>
            </a:r>
          </a:p>
          <a:p>
            <a:pPr lvl="1"/>
            <a:r>
              <a:rPr lang="en-GB" dirty="0"/>
              <a:t>Creating the daily-greeting folder</a:t>
            </a:r>
          </a:p>
          <a:p>
            <a:pPr lvl="1"/>
            <a:r>
              <a:rPr lang="en-GB" dirty="0"/>
              <a:t>Writing greet.py</a:t>
            </a:r>
          </a:p>
          <a:p>
            <a:pPr lvl="1"/>
            <a:r>
              <a:rPr lang="en-GB" dirty="0"/>
              <a:t>Running python greet.py</a:t>
            </a:r>
          </a:p>
          <a:p>
            <a:r>
              <a:rPr lang="en-GB" dirty="0"/>
              <a:t>Approve each prompt as it appears</a:t>
            </a:r>
          </a:p>
          <a:p>
            <a:r>
              <a:rPr lang="en-GB" dirty="0"/>
              <a:t>Say out loud: "It asked me at step ___, ___, and ___</a:t>
            </a:r>
          </a:p>
        </p:txBody>
      </p:sp>
    </p:spTree>
    <p:extLst>
      <p:ext uri="{BB962C8B-B14F-4D97-AF65-F5344CB8AC3E}">
        <p14:creationId xmlns:p14="http://schemas.microsoft.com/office/powerpoint/2010/main" val="231816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4D345-DEE4-0FB7-E76D-15F454C696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7F5DC4-176F-6469-1B36-7ABE1449EFB9}"/>
              </a:ext>
            </a:extLst>
          </p:cNvPr>
          <p:cNvSpPr>
            <a:spLocks noGrp="1"/>
          </p:cNvSpPr>
          <p:nvPr>
            <p:ph type="title"/>
          </p:nvPr>
        </p:nvSpPr>
        <p:spPr/>
        <p:txBody>
          <a:bodyPr/>
          <a:lstStyle/>
          <a:p>
            <a:r>
              <a:rPr lang="en-IN" dirty="0"/>
              <a:t>Round 2 – </a:t>
            </a:r>
            <a:r>
              <a:rPr lang="en-IN" dirty="0" err="1"/>
              <a:t>acceptEdits</a:t>
            </a:r>
            <a:r>
              <a:rPr lang="en-IN" dirty="0"/>
              <a:t> Mode</a:t>
            </a:r>
            <a:endParaRPr lang="en-GB" dirty="0"/>
          </a:p>
        </p:txBody>
      </p:sp>
      <p:sp>
        <p:nvSpPr>
          <p:cNvPr id="3" name="Content Placeholder 2">
            <a:extLst>
              <a:ext uri="{FF2B5EF4-FFF2-40B4-BE49-F238E27FC236}">
                <a16:creationId xmlns:a16="http://schemas.microsoft.com/office/drawing/2014/main" id="{962382F5-4C6B-1BDD-E3B0-727D06F58689}"/>
              </a:ext>
            </a:extLst>
          </p:cNvPr>
          <p:cNvSpPr>
            <a:spLocks noGrp="1"/>
          </p:cNvSpPr>
          <p:nvPr>
            <p:ph idx="1"/>
          </p:nvPr>
        </p:nvSpPr>
        <p:spPr/>
        <p:txBody>
          <a:bodyPr/>
          <a:lstStyle/>
          <a:p>
            <a:r>
              <a:rPr lang="en-GB" dirty="0"/>
              <a:t>Delete the folder, restart </a:t>
            </a:r>
            <a:r>
              <a:rPr lang="en-GB" dirty="0" err="1"/>
              <a:t>claude</a:t>
            </a:r>
            <a:endParaRPr lang="en-GB" dirty="0"/>
          </a:p>
          <a:p>
            <a:r>
              <a:rPr lang="en-GB" dirty="0"/>
              <a:t>Press </a:t>
            </a:r>
            <a:r>
              <a:rPr lang="en-GB" dirty="0" err="1"/>
              <a:t>Shift+Tab</a:t>
            </a:r>
            <a:r>
              <a:rPr lang="en-GB" dirty="0"/>
              <a:t> once to cycle from default to </a:t>
            </a:r>
            <a:r>
              <a:rPr lang="en-GB" dirty="0" err="1"/>
              <a:t>acceptEdits</a:t>
            </a:r>
            <a:r>
              <a:rPr lang="en-GB" dirty="0"/>
              <a:t> — confirm the mode indicator changed</a:t>
            </a:r>
          </a:p>
          <a:p>
            <a:r>
              <a:rPr lang="en-GB" dirty="0"/>
              <a:t>Paste the same prompt</a:t>
            </a:r>
          </a:p>
          <a:p>
            <a:r>
              <a:rPr lang="en-GB" dirty="0"/>
              <a:t>Note which of the three steps now proceed silently vs. still prompt</a:t>
            </a:r>
          </a:p>
          <a:p>
            <a:r>
              <a:rPr lang="en-GB" dirty="0"/>
              <a:t>Say: "This time it didn't ask at ___, but it still asked at ___."</a:t>
            </a:r>
          </a:p>
        </p:txBody>
      </p:sp>
    </p:spTree>
    <p:extLst>
      <p:ext uri="{BB962C8B-B14F-4D97-AF65-F5344CB8AC3E}">
        <p14:creationId xmlns:p14="http://schemas.microsoft.com/office/powerpoint/2010/main" val="27045237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89477-D542-569C-5AA7-501ADF0EF3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D03F79-0DDE-0049-550C-F73CF00B94D9}"/>
              </a:ext>
            </a:extLst>
          </p:cNvPr>
          <p:cNvSpPr>
            <a:spLocks noGrp="1"/>
          </p:cNvSpPr>
          <p:nvPr>
            <p:ph type="title"/>
          </p:nvPr>
        </p:nvSpPr>
        <p:spPr/>
        <p:txBody>
          <a:bodyPr/>
          <a:lstStyle/>
          <a:p>
            <a:r>
              <a:rPr lang="en-IN" dirty="0"/>
              <a:t>Round 3 – plan Mode</a:t>
            </a:r>
            <a:endParaRPr lang="en-GB" dirty="0"/>
          </a:p>
        </p:txBody>
      </p:sp>
      <p:sp>
        <p:nvSpPr>
          <p:cNvPr id="3" name="Content Placeholder 2">
            <a:extLst>
              <a:ext uri="{FF2B5EF4-FFF2-40B4-BE49-F238E27FC236}">
                <a16:creationId xmlns:a16="http://schemas.microsoft.com/office/drawing/2014/main" id="{C6B435AF-BACA-5AEC-9FD7-4E54EA0B34D3}"/>
              </a:ext>
            </a:extLst>
          </p:cNvPr>
          <p:cNvSpPr>
            <a:spLocks noGrp="1"/>
          </p:cNvSpPr>
          <p:nvPr>
            <p:ph idx="1"/>
          </p:nvPr>
        </p:nvSpPr>
        <p:spPr/>
        <p:txBody>
          <a:bodyPr/>
          <a:lstStyle/>
          <a:p>
            <a:r>
              <a:rPr lang="en-GB" dirty="0"/>
              <a:t>Delete the folder, restart </a:t>
            </a:r>
            <a:r>
              <a:rPr lang="en-GB" dirty="0" err="1"/>
              <a:t>claude</a:t>
            </a:r>
            <a:endParaRPr lang="en-GB" dirty="0"/>
          </a:p>
          <a:p>
            <a:r>
              <a:rPr lang="en-GB" dirty="0"/>
              <a:t>Press </a:t>
            </a:r>
            <a:r>
              <a:rPr lang="en-GB" dirty="0" err="1"/>
              <a:t>Shift+Tab</a:t>
            </a:r>
            <a:r>
              <a:rPr lang="en-GB" dirty="0"/>
              <a:t> twice from default (or however many presses needed to land on plan mode — confirm on the indicator)</a:t>
            </a:r>
          </a:p>
          <a:p>
            <a:r>
              <a:rPr lang="en-GB" dirty="0"/>
              <a:t>Paste the same prompt</a:t>
            </a:r>
          </a:p>
          <a:p>
            <a:r>
              <a:rPr lang="en-GB" dirty="0"/>
              <a:t>Observe: nothing gets created</a:t>
            </a:r>
          </a:p>
          <a:p>
            <a:r>
              <a:rPr lang="en-GB" dirty="0"/>
              <a:t>Claude should instead describe what it intends to do</a:t>
            </a:r>
          </a:p>
          <a:p>
            <a:r>
              <a:rPr lang="en-GB" dirty="0"/>
              <a:t>Ask yourself: "What is it proposing? What would it need to check first if this folder already had files in it?" </a:t>
            </a:r>
          </a:p>
          <a:p>
            <a:r>
              <a:rPr lang="en-GB" dirty="0"/>
              <a:t>Don't approve — just observe the plan, then move to the next round</a:t>
            </a:r>
          </a:p>
        </p:txBody>
      </p:sp>
    </p:spTree>
    <p:extLst>
      <p:ext uri="{BB962C8B-B14F-4D97-AF65-F5344CB8AC3E}">
        <p14:creationId xmlns:p14="http://schemas.microsoft.com/office/powerpoint/2010/main" val="25802308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FAFC1-0368-C13A-AEBB-4E752014D0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839A7A-CC5A-E706-20A0-8CBA45320279}"/>
              </a:ext>
            </a:extLst>
          </p:cNvPr>
          <p:cNvSpPr>
            <a:spLocks noGrp="1"/>
          </p:cNvSpPr>
          <p:nvPr>
            <p:ph type="title"/>
          </p:nvPr>
        </p:nvSpPr>
        <p:spPr/>
        <p:txBody>
          <a:bodyPr/>
          <a:lstStyle/>
          <a:p>
            <a:r>
              <a:rPr lang="en-IN" dirty="0"/>
              <a:t>Round 4 – auto Mode</a:t>
            </a:r>
            <a:endParaRPr lang="en-GB" dirty="0"/>
          </a:p>
        </p:txBody>
      </p:sp>
      <p:sp>
        <p:nvSpPr>
          <p:cNvPr id="3" name="Content Placeholder 2">
            <a:extLst>
              <a:ext uri="{FF2B5EF4-FFF2-40B4-BE49-F238E27FC236}">
                <a16:creationId xmlns:a16="http://schemas.microsoft.com/office/drawing/2014/main" id="{0329B106-491F-AF54-4271-F780ACF614CC}"/>
              </a:ext>
            </a:extLst>
          </p:cNvPr>
          <p:cNvSpPr>
            <a:spLocks noGrp="1"/>
          </p:cNvSpPr>
          <p:nvPr>
            <p:ph idx="1"/>
          </p:nvPr>
        </p:nvSpPr>
        <p:spPr/>
        <p:txBody>
          <a:bodyPr>
            <a:normAutofit/>
          </a:bodyPr>
          <a:lstStyle/>
          <a:p>
            <a:r>
              <a:rPr lang="en-GB" dirty="0"/>
              <a:t>restart </a:t>
            </a:r>
            <a:r>
              <a:rPr lang="en-GB" dirty="0" err="1"/>
              <a:t>claude</a:t>
            </a:r>
            <a:endParaRPr lang="en-GB" dirty="0"/>
          </a:p>
          <a:p>
            <a:r>
              <a:rPr lang="en-GB" dirty="0"/>
              <a:t>Cycle with </a:t>
            </a:r>
            <a:r>
              <a:rPr lang="en-GB" dirty="0" err="1"/>
              <a:t>Shift+Tab</a:t>
            </a:r>
            <a:r>
              <a:rPr lang="en-GB" dirty="0"/>
              <a:t> to auto mode — confirm on the indicator</a:t>
            </a:r>
          </a:p>
          <a:p>
            <a:r>
              <a:rPr lang="en-GB" dirty="0"/>
              <a:t>Paste the same prompt</a:t>
            </a:r>
          </a:p>
          <a:p>
            <a:r>
              <a:rPr lang="en-GB" dirty="0"/>
              <a:t>Observe: all three steps should complete with no prompts at all</a:t>
            </a:r>
          </a:p>
          <a:p>
            <a:r>
              <a:rPr lang="en-GB" dirty="0"/>
              <a:t>Think: "If this prompt had said delete all files in this directory instead of writing a greeting script, would anything have stopped it?"</a:t>
            </a:r>
          </a:p>
        </p:txBody>
      </p:sp>
    </p:spTree>
    <p:extLst>
      <p:ext uri="{BB962C8B-B14F-4D97-AF65-F5344CB8AC3E}">
        <p14:creationId xmlns:p14="http://schemas.microsoft.com/office/powerpoint/2010/main" val="127962816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DE70A-2748-8D0B-36C4-9144D9F88B28}"/>
              </a:ext>
            </a:extLst>
          </p:cNvPr>
          <p:cNvSpPr>
            <a:spLocks noGrp="1"/>
          </p:cNvSpPr>
          <p:nvPr>
            <p:ph type="title"/>
          </p:nvPr>
        </p:nvSpPr>
        <p:spPr/>
        <p:txBody>
          <a:bodyPr/>
          <a:lstStyle/>
          <a:p>
            <a:r>
              <a:rPr lang="en-IN" noProof="0" dirty="0"/>
              <a:t>Sessions and Context</a:t>
            </a:r>
          </a:p>
        </p:txBody>
      </p:sp>
      <p:sp>
        <p:nvSpPr>
          <p:cNvPr id="3" name="Content Placeholder 2">
            <a:extLst>
              <a:ext uri="{FF2B5EF4-FFF2-40B4-BE49-F238E27FC236}">
                <a16:creationId xmlns:a16="http://schemas.microsoft.com/office/drawing/2014/main" id="{163C8D82-6902-83EC-749A-1E11BED1E267}"/>
              </a:ext>
            </a:extLst>
          </p:cNvPr>
          <p:cNvSpPr>
            <a:spLocks noGrp="1"/>
          </p:cNvSpPr>
          <p:nvPr>
            <p:ph idx="1"/>
          </p:nvPr>
        </p:nvSpPr>
        <p:spPr/>
        <p:txBody>
          <a:bodyPr/>
          <a:lstStyle/>
          <a:p>
            <a:r>
              <a:rPr lang="en-IN" noProof="0" dirty="0"/>
              <a:t>ESC: Stop Claude</a:t>
            </a:r>
          </a:p>
          <a:p>
            <a:r>
              <a:rPr lang="en-IN" noProof="0" dirty="0"/>
              <a:t>“Undo that”: Reverse a change</a:t>
            </a:r>
          </a:p>
          <a:p>
            <a:r>
              <a:rPr lang="en-IN" noProof="0" dirty="0"/>
              <a:t>/clear: Start a fresh conversation – Use it between unrelated tasks</a:t>
            </a:r>
          </a:p>
          <a:p>
            <a:r>
              <a:rPr lang="en-IN" noProof="0" dirty="0"/>
              <a:t>/compact: For long tasks with heavy contexts</a:t>
            </a:r>
          </a:p>
          <a:p>
            <a:r>
              <a:rPr lang="en-IN" noProof="0" dirty="0"/>
              <a:t>Claude automatically creates a checkpoint before each change</a:t>
            </a:r>
          </a:p>
          <a:p>
            <a:pPr lvl="1"/>
            <a:r>
              <a:rPr lang="en-IN" noProof="0" dirty="0"/>
              <a:t>ESC twice or /rewind to restore</a:t>
            </a:r>
          </a:p>
          <a:p>
            <a:r>
              <a:rPr lang="en-IN" noProof="0" dirty="0"/>
              <a:t>Parallel sessions: To work on a feature in one terminal while Claude fixes the bug without the edits colliding: </a:t>
            </a:r>
            <a:r>
              <a:rPr lang="en-IN" noProof="0" dirty="0" err="1"/>
              <a:t>claude</a:t>
            </a:r>
            <a:r>
              <a:rPr lang="en-IN" noProof="0" dirty="0"/>
              <a:t> --</a:t>
            </a:r>
            <a:r>
              <a:rPr lang="en-IN" noProof="0" dirty="0" err="1"/>
              <a:t>worktree</a:t>
            </a:r>
            <a:r>
              <a:rPr lang="en-IN" noProof="0" dirty="0"/>
              <a:t> &lt;branch&gt;</a:t>
            </a:r>
          </a:p>
          <a:p>
            <a:endParaRPr lang="en-IN" noProof="0" dirty="0"/>
          </a:p>
        </p:txBody>
      </p:sp>
    </p:spTree>
    <p:extLst>
      <p:ext uri="{BB962C8B-B14F-4D97-AF65-F5344CB8AC3E}">
        <p14:creationId xmlns:p14="http://schemas.microsoft.com/office/powerpoint/2010/main" val="253005530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F008B-8BCC-32FB-16D1-D585F888F21A}"/>
              </a:ext>
            </a:extLst>
          </p:cNvPr>
          <p:cNvSpPr>
            <a:spLocks noGrp="1"/>
          </p:cNvSpPr>
          <p:nvPr>
            <p:ph type="title"/>
          </p:nvPr>
        </p:nvSpPr>
        <p:spPr/>
        <p:txBody>
          <a:bodyPr/>
          <a:lstStyle/>
          <a:p>
            <a:r>
              <a:rPr lang="en-IN" noProof="0" dirty="0"/>
              <a:t>Slash Commands – Beginner</a:t>
            </a:r>
          </a:p>
        </p:txBody>
      </p:sp>
      <p:graphicFrame>
        <p:nvGraphicFramePr>
          <p:cNvPr id="4" name="Content Placeholder 3">
            <a:extLst>
              <a:ext uri="{FF2B5EF4-FFF2-40B4-BE49-F238E27FC236}">
                <a16:creationId xmlns:a16="http://schemas.microsoft.com/office/drawing/2014/main" id="{6122160B-5999-FBA2-2F52-F91D60A53847}"/>
              </a:ext>
            </a:extLst>
          </p:cNvPr>
          <p:cNvGraphicFramePr>
            <a:graphicFrameLocks noGrp="1"/>
          </p:cNvGraphicFramePr>
          <p:nvPr>
            <p:ph idx="1"/>
          </p:nvPr>
        </p:nvGraphicFramePr>
        <p:xfrm>
          <a:off x="838200" y="1989614"/>
          <a:ext cx="10515600" cy="4023360"/>
        </p:xfrm>
        <a:graphic>
          <a:graphicData uri="http://schemas.openxmlformats.org/drawingml/2006/table">
            <a:tbl>
              <a:tblPr firstRow="1">
                <a:tableStyleId>{69012ECD-51FC-41F1-AA8D-1B2483CD663E}</a:tableStyleId>
              </a:tblPr>
              <a:tblGrid>
                <a:gridCol w="5257800">
                  <a:extLst>
                    <a:ext uri="{9D8B030D-6E8A-4147-A177-3AD203B41FA5}">
                      <a16:colId xmlns:a16="http://schemas.microsoft.com/office/drawing/2014/main" val="2406182833"/>
                    </a:ext>
                  </a:extLst>
                </a:gridCol>
                <a:gridCol w="5257800">
                  <a:extLst>
                    <a:ext uri="{9D8B030D-6E8A-4147-A177-3AD203B41FA5}">
                      <a16:colId xmlns:a16="http://schemas.microsoft.com/office/drawing/2014/main" val="1491636018"/>
                    </a:ext>
                  </a:extLst>
                </a:gridCol>
              </a:tblGrid>
              <a:tr h="0">
                <a:tc>
                  <a:txBody>
                    <a:bodyPr/>
                    <a:lstStyle/>
                    <a:p>
                      <a:pPr>
                        <a:buNone/>
                      </a:pPr>
                      <a:r>
                        <a:rPr lang="en-IN" b="1" noProof="0" dirty="0"/>
                        <a:t>Command</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b="1" noProof="0" dirty="0"/>
                        <a:t>Why it's useful</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98305548"/>
                  </a:ext>
                </a:extLst>
              </a:tr>
              <a:tr h="0">
                <a:tc>
                  <a:txBody>
                    <a:bodyPr/>
                    <a:lstStyle/>
                    <a:p>
                      <a:pPr>
                        <a:buNone/>
                      </a:pPr>
                      <a:r>
                        <a:rPr lang="en-IN" noProof="0" dirty="0"/>
                        <a:t>/help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Discover all available commands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65435005"/>
                  </a:ext>
                </a:extLst>
              </a:tr>
              <a:tr h="0">
                <a:tc>
                  <a:txBody>
                    <a:bodyPr/>
                    <a:lstStyle/>
                    <a:p>
                      <a:pPr>
                        <a:buNone/>
                      </a:pPr>
                      <a:r>
                        <a:rPr lang="en-IN" noProof="0" dirty="0"/>
                        <a:t>/</a:t>
                      </a:r>
                      <a:r>
                        <a:rPr lang="en-IN" noProof="0" dirty="0" err="1"/>
                        <a:t>init</a:t>
                      </a:r>
                      <a:endParaRPr lang="en-IN" noProof="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Create a project-specific CLAUDE.md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27772870"/>
                  </a:ext>
                </a:extLst>
              </a:tr>
              <a:tr h="0">
                <a:tc>
                  <a:txBody>
                    <a:bodyPr/>
                    <a:lstStyle/>
                    <a:p>
                      <a:pPr>
                        <a:buNone/>
                      </a:pPr>
                      <a:r>
                        <a:rPr lang="en-IN" noProof="0" dirty="0"/>
                        <a:t>/memory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Maintain project conventions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5679534"/>
                  </a:ext>
                </a:extLst>
              </a:tr>
              <a:tr h="0">
                <a:tc>
                  <a:txBody>
                    <a:bodyPr/>
                    <a:lstStyle/>
                    <a:p>
                      <a:pPr>
                        <a:buNone/>
                      </a:pPr>
                      <a:r>
                        <a:rPr lang="en-IN" noProof="0" dirty="0"/>
                        <a:t>/permissions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Control approval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24448000"/>
                  </a:ext>
                </a:extLst>
              </a:tr>
              <a:tr h="0">
                <a:tc>
                  <a:txBody>
                    <a:bodyPr/>
                    <a:lstStyle/>
                    <a:p>
                      <a:pPr>
                        <a:buNone/>
                      </a:pPr>
                      <a:r>
                        <a:rPr lang="en-IN" noProof="0" dirty="0"/>
                        <a:t>/plan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Think through a solution before making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62143874"/>
                  </a:ext>
                </a:extLst>
              </a:tr>
              <a:tr h="0">
                <a:tc>
                  <a:txBody>
                    <a:bodyPr/>
                    <a:lstStyle/>
                    <a:p>
                      <a:pPr>
                        <a:buNone/>
                      </a:pPr>
                      <a:r>
                        <a:rPr lang="en-IN" noProof="0" dirty="0"/>
                        <a:t>/compact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Keep long sessions efficient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0485905"/>
                  </a:ext>
                </a:extLst>
              </a:tr>
              <a:tr h="0">
                <a:tc>
                  <a:txBody>
                    <a:bodyPr/>
                    <a:lstStyle/>
                    <a:p>
                      <a:pPr>
                        <a:buNone/>
                      </a:pPr>
                      <a:r>
                        <a:rPr lang="en-IN" noProof="0" dirty="0"/>
                        <a:t>/clear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Start a new task with a clean context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9153179"/>
                  </a:ext>
                </a:extLst>
              </a:tr>
              <a:tr h="0">
                <a:tc>
                  <a:txBody>
                    <a:bodyPr/>
                    <a:lstStyle/>
                    <a:p>
                      <a:pPr>
                        <a:buNone/>
                      </a:pPr>
                      <a:r>
                        <a:rPr lang="en-IN" noProof="0" dirty="0"/>
                        <a:t>/resume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Continue earlier work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83755040"/>
                  </a:ext>
                </a:extLst>
              </a:tr>
              <a:tr h="0">
                <a:tc>
                  <a:txBody>
                    <a:bodyPr/>
                    <a:lstStyle/>
                    <a:p>
                      <a:pPr>
                        <a:buNone/>
                      </a:pPr>
                      <a:r>
                        <a:rPr lang="en-IN" noProof="0" dirty="0"/>
                        <a:t>/diff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Review changes before committing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57206071"/>
                  </a:ext>
                </a:extLst>
              </a:tr>
              <a:tr h="0">
                <a:tc>
                  <a:txBody>
                    <a:bodyPr/>
                    <a:lstStyle/>
                    <a:p>
                      <a:pPr>
                        <a:buNone/>
                      </a:pPr>
                      <a:r>
                        <a:rPr lang="en-IN" noProof="0" dirty="0"/>
                        <a:t>/review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noProof="0" dirty="0"/>
                        <a:t>Get an AI code review before creating a 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038322"/>
                  </a:ext>
                </a:extLst>
              </a:tr>
            </a:tbl>
          </a:graphicData>
        </a:graphic>
      </p:graphicFrame>
    </p:spTree>
    <p:extLst>
      <p:ext uri="{BB962C8B-B14F-4D97-AF65-F5344CB8AC3E}">
        <p14:creationId xmlns:p14="http://schemas.microsoft.com/office/powerpoint/2010/main" val="388538017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4A8AB-37AD-B394-22AD-B26268466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B58AEF-5953-6BD4-127D-52A584034984}"/>
              </a:ext>
            </a:extLst>
          </p:cNvPr>
          <p:cNvSpPr>
            <a:spLocks noGrp="1"/>
          </p:cNvSpPr>
          <p:nvPr>
            <p:ph type="title"/>
          </p:nvPr>
        </p:nvSpPr>
        <p:spPr/>
        <p:txBody>
          <a:bodyPr/>
          <a:lstStyle/>
          <a:p>
            <a:r>
              <a:rPr lang="en-IN" noProof="0" dirty="0"/>
              <a:t>Slash Commands – General</a:t>
            </a:r>
          </a:p>
        </p:txBody>
      </p:sp>
      <p:graphicFrame>
        <p:nvGraphicFramePr>
          <p:cNvPr id="6" name="Content Placeholder 5">
            <a:extLst>
              <a:ext uri="{FF2B5EF4-FFF2-40B4-BE49-F238E27FC236}">
                <a16:creationId xmlns:a16="http://schemas.microsoft.com/office/drawing/2014/main" id="{6742CA77-F9ED-1982-B0AA-2EDCAB184E09}"/>
              </a:ext>
            </a:extLst>
          </p:cNvPr>
          <p:cNvGraphicFramePr>
            <a:graphicFrameLocks noGrp="1"/>
          </p:cNvGraphicFramePr>
          <p:nvPr>
            <p:ph idx="1"/>
          </p:nvPr>
        </p:nvGraphicFramePr>
        <p:xfrm>
          <a:off x="649154" y="1657484"/>
          <a:ext cx="11049582" cy="5042901"/>
        </p:xfrm>
        <a:graphic>
          <a:graphicData uri="http://schemas.openxmlformats.org/drawingml/2006/table">
            <a:tbl>
              <a:tblPr firstRow="1">
                <a:tableStyleId>{B301B821-A1FF-4177-AEE7-76D212191A09}</a:tableStyleId>
              </a:tblPr>
              <a:tblGrid>
                <a:gridCol w="2610577">
                  <a:extLst>
                    <a:ext uri="{9D8B030D-6E8A-4147-A177-3AD203B41FA5}">
                      <a16:colId xmlns:a16="http://schemas.microsoft.com/office/drawing/2014/main" val="3254325313"/>
                    </a:ext>
                  </a:extLst>
                </a:gridCol>
                <a:gridCol w="4418437">
                  <a:extLst>
                    <a:ext uri="{9D8B030D-6E8A-4147-A177-3AD203B41FA5}">
                      <a16:colId xmlns:a16="http://schemas.microsoft.com/office/drawing/2014/main" val="3032596442"/>
                    </a:ext>
                  </a:extLst>
                </a:gridCol>
                <a:gridCol w="4020568">
                  <a:extLst>
                    <a:ext uri="{9D8B030D-6E8A-4147-A177-3AD203B41FA5}">
                      <a16:colId xmlns:a16="http://schemas.microsoft.com/office/drawing/2014/main" val="1749123941"/>
                    </a:ext>
                  </a:extLst>
                </a:gridCol>
              </a:tblGrid>
              <a:tr h="193393">
                <a:tc>
                  <a:txBody>
                    <a:bodyPr/>
                    <a:lstStyle/>
                    <a:p>
                      <a:pPr>
                        <a:buNone/>
                      </a:pPr>
                      <a:r>
                        <a:rPr lang="en-IN" sz="1600" b="1" noProof="0" dirty="0"/>
                        <a:t>Command</a:t>
                      </a:r>
                      <a:endParaRPr lang="en-IN" sz="1600" noProof="0" dirty="0"/>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b="1" noProof="0" dirty="0"/>
                        <a:t>Purpose</a:t>
                      </a:r>
                      <a:endParaRPr lang="en-IN" sz="1600" noProof="0" dirty="0"/>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b="1" noProof="0" dirty="0"/>
                        <a:t>Typical Usage</a:t>
                      </a:r>
                      <a:endParaRPr lang="en-IN" sz="1600" noProof="0" dirty="0"/>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31432417"/>
                  </a:ext>
                </a:extLst>
              </a:tr>
              <a:tr h="338437">
                <a:tc>
                  <a:txBody>
                    <a:bodyPr/>
                    <a:lstStyle/>
                    <a:p>
                      <a:pPr>
                        <a:buNone/>
                      </a:pPr>
                      <a:r>
                        <a:rPr lang="en-IN" sz="1600" noProof="0" dirty="0"/>
                        <a:t>/model</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View or switch AI models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Change the model for the current session</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5454521"/>
                  </a:ext>
                </a:extLst>
              </a:tr>
              <a:tr h="338437">
                <a:tc>
                  <a:txBody>
                    <a:bodyPr/>
                    <a:lstStyle/>
                    <a:p>
                      <a:pPr>
                        <a:buNone/>
                      </a:pPr>
                      <a:r>
                        <a:rPr lang="en-IN" sz="1600" noProof="0" dirty="0"/>
                        <a:t>/config</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Open Claude Code settings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Configure theme, defaults, and preferences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44753393"/>
                  </a:ext>
                </a:extLst>
              </a:tr>
              <a:tr h="338437">
                <a:tc>
                  <a:txBody>
                    <a:bodyPr/>
                    <a:lstStyle/>
                    <a:p>
                      <a:pPr>
                        <a:buNone/>
                      </a:pPr>
                      <a:r>
                        <a:rPr lang="en-IN" sz="1600" noProof="0" dirty="0"/>
                        <a:t>/plan</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Switch to Plan Mode</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Design a solution before editing code</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8590056"/>
                  </a:ext>
                </a:extLst>
              </a:tr>
              <a:tr h="338437">
                <a:tc>
                  <a:txBody>
                    <a:bodyPr/>
                    <a:lstStyle/>
                    <a:p>
                      <a:pPr>
                        <a:buNone/>
                      </a:pPr>
                      <a:r>
                        <a:rPr lang="en-IN" sz="1600" noProof="0" dirty="0"/>
                        <a:t>/diff</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View uncommitted code changes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Review modifications before committing</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9287155"/>
                  </a:ext>
                </a:extLst>
              </a:tr>
              <a:tr h="193393">
                <a:tc>
                  <a:txBody>
                    <a:bodyPr/>
                    <a:lstStyle/>
                    <a:p>
                      <a:pPr>
                        <a:buNone/>
                      </a:pPr>
                      <a:r>
                        <a:rPr lang="en-IN" sz="1600" noProof="0" dirty="0"/>
                        <a:t>/review</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Review code or a Pull Request</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Perform a code review</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70365555"/>
                  </a:ext>
                </a:extLst>
              </a:tr>
              <a:tr h="338437">
                <a:tc>
                  <a:txBody>
                    <a:bodyPr/>
                    <a:lstStyle/>
                    <a:p>
                      <a:pPr>
                        <a:buNone/>
                      </a:pPr>
                      <a:r>
                        <a:rPr lang="en-IN" sz="1600" noProof="0" dirty="0"/>
                        <a:t>/rewind</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Restore conversation and code to an earlier checkpoint</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Undo recent changes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77681291"/>
                  </a:ext>
                </a:extLst>
              </a:tr>
              <a:tr h="193393">
                <a:tc>
                  <a:txBody>
                    <a:bodyPr/>
                    <a:lstStyle/>
                    <a:p>
                      <a:pPr>
                        <a:buNone/>
                      </a:pPr>
                      <a:r>
                        <a:rPr lang="en-IN" sz="1600" noProof="0" dirty="0"/>
                        <a:t>/</a:t>
                      </a:r>
                      <a:r>
                        <a:rPr lang="en-IN" sz="1600" noProof="0" dirty="0" err="1"/>
                        <a:t>mcp</a:t>
                      </a:r>
                      <a:endParaRPr lang="en-IN" sz="1600" noProof="0" dirty="0"/>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Manage MCP servers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Connect external tools and services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55616154"/>
                  </a:ext>
                </a:extLst>
              </a:tr>
              <a:tr h="338437">
                <a:tc>
                  <a:txBody>
                    <a:bodyPr/>
                    <a:lstStyle/>
                    <a:p>
                      <a:pPr>
                        <a:buNone/>
                      </a:pPr>
                      <a:r>
                        <a:rPr lang="en-IN" sz="1600" noProof="0" dirty="0"/>
                        <a:t>/agents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Manage subagents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Delegate parallel tasks to specialized agents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13753701"/>
                  </a:ext>
                </a:extLst>
              </a:tr>
              <a:tr h="193393">
                <a:tc>
                  <a:txBody>
                    <a:bodyPr/>
                    <a:lstStyle/>
                    <a:p>
                      <a:pPr>
                        <a:buNone/>
                      </a:pPr>
                      <a:r>
                        <a:rPr lang="en-IN" sz="1600" noProof="0" dirty="0"/>
                        <a:t>/tasks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View running background tasks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Monitor parallel agent execution</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81274391"/>
                  </a:ext>
                </a:extLst>
              </a:tr>
              <a:tr h="338437">
                <a:tc>
                  <a:txBody>
                    <a:bodyPr/>
                    <a:lstStyle/>
                    <a:p>
                      <a:pPr>
                        <a:buNone/>
                      </a:pPr>
                      <a:r>
                        <a:rPr lang="en-IN" sz="1600" noProof="0" dirty="0"/>
                        <a:t>/background</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Continue the session as a background agent</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Run long-running tasks asynchronously</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07288755"/>
                  </a:ext>
                </a:extLst>
              </a:tr>
              <a:tr h="338437">
                <a:tc>
                  <a:txBody>
                    <a:bodyPr/>
                    <a:lstStyle/>
                    <a:p>
                      <a:pPr>
                        <a:buNone/>
                      </a:pPr>
                      <a:r>
                        <a:rPr lang="en-IN" sz="1600" noProof="0" dirty="0"/>
                        <a:t>/batch</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Split large work into parallel tasks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Large-scale refactoring or migrations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1013800"/>
                  </a:ext>
                </a:extLst>
              </a:tr>
              <a:tr h="338437">
                <a:tc>
                  <a:txBody>
                    <a:bodyPr/>
                    <a:lstStyle/>
                    <a:p>
                      <a:pPr>
                        <a:buNone/>
                      </a:pPr>
                      <a:r>
                        <a:rPr lang="en-IN" sz="1600" noProof="0" dirty="0"/>
                        <a:t>/context</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View context window usage</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Monitor token usage and context size</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4001623"/>
                  </a:ext>
                </a:extLst>
              </a:tr>
              <a:tr h="193393">
                <a:tc>
                  <a:txBody>
                    <a:bodyPr/>
                    <a:lstStyle/>
                    <a:p>
                      <a:pPr>
                        <a:buNone/>
                      </a:pPr>
                      <a:r>
                        <a:rPr lang="en-IN" sz="1600" noProof="0" dirty="0"/>
                        <a:t>/rename</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Rename the current session</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Organize conversations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9784569"/>
                  </a:ext>
                </a:extLst>
              </a:tr>
              <a:tr h="338437">
                <a:tc>
                  <a:txBody>
                    <a:bodyPr/>
                    <a:lstStyle/>
                    <a:p>
                      <a:pPr>
                        <a:buNone/>
                      </a:pPr>
                      <a:r>
                        <a:rPr lang="en-IN" sz="1600" noProof="0" dirty="0"/>
                        <a:t>/feedback</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Submit feedback or report bugs</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600" noProof="0" dirty="0"/>
                        <a:t>Share issues or suggestions with Anthropic</a:t>
                      </a:r>
                    </a:p>
                  </a:txBody>
                  <a:tcPr marL="48348" marR="48348" marT="24174" marB="241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34827072"/>
                  </a:ext>
                </a:extLst>
              </a:tr>
            </a:tbl>
          </a:graphicData>
        </a:graphic>
      </p:graphicFrame>
    </p:spTree>
    <p:extLst>
      <p:ext uri="{BB962C8B-B14F-4D97-AF65-F5344CB8AC3E}">
        <p14:creationId xmlns:p14="http://schemas.microsoft.com/office/powerpoint/2010/main" val="65177613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DC242-0E4D-2B95-802B-F844A888DEB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2405435-9B23-5212-BE62-4051587F12D8}"/>
              </a:ext>
            </a:extLst>
          </p:cNvPr>
          <p:cNvSpPr>
            <a:spLocks noGrp="1"/>
          </p:cNvSpPr>
          <p:nvPr>
            <p:ph type="title"/>
          </p:nvPr>
        </p:nvSpPr>
        <p:spPr/>
        <p:txBody>
          <a:bodyPr/>
          <a:lstStyle/>
          <a:p>
            <a:r>
              <a:rPr lang="en-IN" dirty="0"/>
              <a:t>Section 7: Skills and Subagents</a:t>
            </a:r>
            <a:endParaRPr lang="en-GB" dirty="0"/>
          </a:p>
        </p:txBody>
      </p:sp>
      <p:sp>
        <p:nvSpPr>
          <p:cNvPr id="5" name="Text Placeholder 4">
            <a:extLst>
              <a:ext uri="{FF2B5EF4-FFF2-40B4-BE49-F238E27FC236}">
                <a16:creationId xmlns:a16="http://schemas.microsoft.com/office/drawing/2014/main" id="{94437D51-9BA8-E05E-0961-C24C8EED578E}"/>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2405685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2549E-EE51-72BF-E283-56F3779948AE}"/>
              </a:ext>
            </a:extLst>
          </p:cNvPr>
          <p:cNvSpPr>
            <a:spLocks noGrp="1"/>
          </p:cNvSpPr>
          <p:nvPr>
            <p:ph type="title"/>
          </p:nvPr>
        </p:nvSpPr>
        <p:spPr/>
        <p:txBody>
          <a:bodyPr/>
          <a:lstStyle/>
          <a:p>
            <a:r>
              <a:rPr lang="en-IN" noProof="0" dirty="0"/>
              <a:t>Skills</a:t>
            </a:r>
          </a:p>
        </p:txBody>
      </p:sp>
      <p:sp>
        <p:nvSpPr>
          <p:cNvPr id="3" name="Content Placeholder 2">
            <a:extLst>
              <a:ext uri="{FF2B5EF4-FFF2-40B4-BE49-F238E27FC236}">
                <a16:creationId xmlns:a16="http://schemas.microsoft.com/office/drawing/2014/main" id="{61F10545-5B1A-DEB4-AA4F-0D83D4B159F5}"/>
              </a:ext>
            </a:extLst>
          </p:cNvPr>
          <p:cNvSpPr>
            <a:spLocks noGrp="1"/>
          </p:cNvSpPr>
          <p:nvPr>
            <p:ph idx="1"/>
          </p:nvPr>
        </p:nvSpPr>
        <p:spPr/>
        <p:txBody>
          <a:bodyPr/>
          <a:lstStyle/>
          <a:p>
            <a:r>
              <a:rPr lang="en-IN" noProof="0" dirty="0"/>
              <a:t>A markdown file (SKILL.md) containing knowledge or a workflow</a:t>
            </a:r>
          </a:p>
          <a:p>
            <a:r>
              <a:rPr lang="en-IN" noProof="0" dirty="0"/>
              <a:t>Claude automatically loads it when relevant, or we can invoke it by typing /skill-name</a:t>
            </a:r>
          </a:p>
          <a:p>
            <a:r>
              <a:rPr lang="en-IN" noProof="0" dirty="0"/>
              <a:t>When to use?</a:t>
            </a:r>
          </a:p>
          <a:p>
            <a:pPr lvl="1"/>
            <a:r>
              <a:rPr lang="en-IN" noProof="0" dirty="0"/>
              <a:t>When we keep pasting the same instructions, checklist, or procedure into chat</a:t>
            </a:r>
          </a:p>
          <a:p>
            <a:r>
              <a:rPr lang="en-IN" noProof="0" dirty="0"/>
              <a:t>Skill is a directory with a SKILL.md file and optional support files</a:t>
            </a:r>
          </a:p>
          <a:p>
            <a:pPr lvl="1"/>
            <a:endParaRPr lang="en-IN" noProof="0" dirty="0"/>
          </a:p>
        </p:txBody>
      </p:sp>
      <p:pic>
        <p:nvPicPr>
          <p:cNvPr id="5" name="Picture 4">
            <a:extLst>
              <a:ext uri="{FF2B5EF4-FFF2-40B4-BE49-F238E27FC236}">
                <a16:creationId xmlns:a16="http://schemas.microsoft.com/office/drawing/2014/main" id="{B1564DE1-AD0F-E1EF-A686-492BE35A0F33}"/>
              </a:ext>
            </a:extLst>
          </p:cNvPr>
          <p:cNvPicPr>
            <a:picLocks noChangeAspect="1"/>
          </p:cNvPicPr>
          <p:nvPr/>
        </p:nvPicPr>
        <p:blipFill>
          <a:blip r:embed="rId2"/>
          <a:stretch>
            <a:fillRect/>
          </a:stretch>
        </p:blipFill>
        <p:spPr>
          <a:xfrm>
            <a:off x="1920566" y="5030266"/>
            <a:ext cx="5453691" cy="1517118"/>
          </a:xfrm>
          <a:prstGeom prst="rect">
            <a:avLst/>
          </a:prstGeom>
        </p:spPr>
      </p:pic>
    </p:spTree>
    <p:extLst>
      <p:ext uri="{BB962C8B-B14F-4D97-AF65-F5344CB8AC3E}">
        <p14:creationId xmlns:p14="http://schemas.microsoft.com/office/powerpoint/2010/main" val="244681969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419A4-ADE7-62A4-5A9D-BBC5A3B46A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98A0-ED93-66B5-61D0-DE764EDCD03E}"/>
              </a:ext>
            </a:extLst>
          </p:cNvPr>
          <p:cNvSpPr>
            <a:spLocks noGrp="1"/>
          </p:cNvSpPr>
          <p:nvPr>
            <p:ph type="title"/>
          </p:nvPr>
        </p:nvSpPr>
        <p:spPr/>
        <p:txBody>
          <a:bodyPr/>
          <a:lstStyle/>
          <a:p>
            <a:r>
              <a:rPr lang="en-IN" noProof="0" dirty="0"/>
              <a:t>Skills</a:t>
            </a:r>
          </a:p>
        </p:txBody>
      </p:sp>
      <p:sp>
        <p:nvSpPr>
          <p:cNvPr id="3" name="Content Placeholder 2">
            <a:extLst>
              <a:ext uri="{FF2B5EF4-FFF2-40B4-BE49-F238E27FC236}">
                <a16:creationId xmlns:a16="http://schemas.microsoft.com/office/drawing/2014/main" id="{42F05B78-4848-2A2E-1EE1-C076EEAF343D}"/>
              </a:ext>
            </a:extLst>
          </p:cNvPr>
          <p:cNvSpPr>
            <a:spLocks noGrp="1"/>
          </p:cNvSpPr>
          <p:nvPr>
            <p:ph idx="1"/>
          </p:nvPr>
        </p:nvSpPr>
        <p:spPr/>
        <p:txBody>
          <a:bodyPr/>
          <a:lstStyle/>
          <a:p>
            <a:r>
              <a:rPr lang="en-IN" noProof="0" dirty="0"/>
              <a:t>Put personal skills in ~/.</a:t>
            </a:r>
            <a:r>
              <a:rPr lang="en-IN" noProof="0" dirty="0" err="1"/>
              <a:t>claude</a:t>
            </a:r>
            <a:r>
              <a:rPr lang="en-IN" noProof="0" dirty="0"/>
              <a:t>/skills/ (all your projects) or project skills in .</a:t>
            </a:r>
            <a:r>
              <a:rPr lang="en-IN" noProof="0" dirty="0" err="1"/>
              <a:t>claude</a:t>
            </a:r>
            <a:r>
              <a:rPr lang="en-IN" noProof="0" dirty="0"/>
              <a:t>/skills/ (checked into git, shared with your team)</a:t>
            </a:r>
          </a:p>
          <a:p>
            <a:r>
              <a:rPr lang="en-IN" noProof="0" dirty="0"/>
              <a:t>The directory name becomes the command</a:t>
            </a:r>
          </a:p>
          <a:p>
            <a:r>
              <a:rPr lang="en-IN" noProof="0" dirty="0"/>
              <a:t>When names collide across levels, enterprise wins over personal wins over project</a:t>
            </a:r>
          </a:p>
          <a:p>
            <a:r>
              <a:rPr lang="en-IN" noProof="0" dirty="0"/>
              <a:t>Important: </a:t>
            </a:r>
            <a:r>
              <a:rPr lang="en-IN" i="1" noProof="0" dirty="0"/>
              <a:t>description </a:t>
            </a:r>
            <a:r>
              <a:rPr lang="en-IN" noProof="0" dirty="0"/>
              <a:t>in SKILL.md file is how Claude decides when to use the skill, so make it specific and include words a user would naturally say</a:t>
            </a:r>
          </a:p>
          <a:p>
            <a:endParaRPr lang="en-IN" noProof="0" dirty="0"/>
          </a:p>
          <a:p>
            <a:endParaRPr lang="en-IN" noProof="0" dirty="0"/>
          </a:p>
        </p:txBody>
      </p:sp>
    </p:spTree>
    <p:extLst>
      <p:ext uri="{BB962C8B-B14F-4D97-AF65-F5344CB8AC3E}">
        <p14:creationId xmlns:p14="http://schemas.microsoft.com/office/powerpoint/2010/main" val="338396075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337B4-2272-8C28-2EBF-5619A4670C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4E18E3-9103-5926-18EC-49FA2CBA2548}"/>
              </a:ext>
            </a:extLst>
          </p:cNvPr>
          <p:cNvSpPr>
            <a:spLocks noGrp="1"/>
          </p:cNvSpPr>
          <p:nvPr>
            <p:ph type="title"/>
          </p:nvPr>
        </p:nvSpPr>
        <p:spPr/>
        <p:txBody>
          <a:bodyPr/>
          <a:lstStyle/>
          <a:p>
            <a:r>
              <a:rPr lang="en-IN" noProof="0" dirty="0"/>
              <a:t>Sample SKILL.md Files</a:t>
            </a:r>
          </a:p>
        </p:txBody>
      </p:sp>
      <p:sp>
        <p:nvSpPr>
          <p:cNvPr id="3" name="Content Placeholder 2">
            <a:extLst>
              <a:ext uri="{FF2B5EF4-FFF2-40B4-BE49-F238E27FC236}">
                <a16:creationId xmlns:a16="http://schemas.microsoft.com/office/drawing/2014/main" id="{514E7393-1259-ABA3-7557-A21EAF586E88}"/>
              </a:ext>
            </a:extLst>
          </p:cNvPr>
          <p:cNvSpPr>
            <a:spLocks noGrp="1"/>
          </p:cNvSpPr>
          <p:nvPr>
            <p:ph sz="half" idx="1"/>
          </p:nvPr>
        </p:nvSpPr>
        <p:spPr/>
        <p:txBody>
          <a:bodyPr>
            <a:normAutofit fontScale="55000" lnSpcReduction="20000"/>
          </a:bodyPr>
          <a:lstStyle/>
          <a:p>
            <a:r>
              <a:rPr lang="en-IN" noProof="0" dirty="0"/>
              <a:t>---</a:t>
            </a:r>
          </a:p>
          <a:p>
            <a:r>
              <a:rPr lang="en-IN" noProof="0" dirty="0"/>
              <a:t>name: python-style</a:t>
            </a:r>
          </a:p>
          <a:p>
            <a:r>
              <a:rPr lang="en-IN" noProof="0" dirty="0"/>
              <a:t>description: Write clean Python scripts.</a:t>
            </a:r>
          </a:p>
          <a:p>
            <a:r>
              <a:rPr lang="en-IN" noProof="0" dirty="0"/>
              <a:t>---</a:t>
            </a:r>
          </a:p>
          <a:p>
            <a:endParaRPr lang="en-IN" noProof="0" dirty="0"/>
          </a:p>
          <a:p>
            <a:r>
              <a:rPr lang="en-IN" noProof="0" dirty="0"/>
              <a:t># Python Style</a:t>
            </a:r>
          </a:p>
          <a:p>
            <a:endParaRPr lang="en-IN" noProof="0" dirty="0"/>
          </a:p>
          <a:p>
            <a:r>
              <a:rPr lang="en-IN" noProof="0" dirty="0"/>
              <a:t>- Follow PEP 8.</a:t>
            </a:r>
          </a:p>
          <a:p>
            <a:r>
              <a:rPr lang="en-IN" noProof="0" dirty="0"/>
              <a:t>- Use type hints.</a:t>
            </a:r>
          </a:p>
          <a:p>
            <a:r>
              <a:rPr lang="en-IN" noProof="0" dirty="0"/>
              <a:t>- Write small functions.</a:t>
            </a:r>
          </a:p>
          <a:p>
            <a:r>
              <a:rPr lang="en-IN" noProof="0" dirty="0"/>
              <a:t>- Add docstrings.</a:t>
            </a:r>
          </a:p>
          <a:p>
            <a:r>
              <a:rPr lang="en-IN" noProof="0" dirty="0"/>
              <a:t>- Include a `main()` function.</a:t>
            </a:r>
          </a:p>
          <a:p>
            <a:r>
              <a:rPr lang="en-IN" noProof="0" dirty="0"/>
              <a:t>- Explain only complex logic.</a:t>
            </a:r>
          </a:p>
        </p:txBody>
      </p:sp>
      <p:sp>
        <p:nvSpPr>
          <p:cNvPr id="4" name="Content Placeholder 3">
            <a:extLst>
              <a:ext uri="{FF2B5EF4-FFF2-40B4-BE49-F238E27FC236}">
                <a16:creationId xmlns:a16="http://schemas.microsoft.com/office/drawing/2014/main" id="{19F60382-8F0F-66EF-6AB6-1CE4E48DB342}"/>
              </a:ext>
            </a:extLst>
          </p:cNvPr>
          <p:cNvSpPr>
            <a:spLocks noGrp="1"/>
          </p:cNvSpPr>
          <p:nvPr>
            <p:ph sz="half" idx="2"/>
          </p:nvPr>
        </p:nvSpPr>
        <p:spPr/>
        <p:txBody>
          <a:bodyPr>
            <a:normAutofit fontScale="55000" lnSpcReduction="20000"/>
          </a:bodyPr>
          <a:lstStyle/>
          <a:p>
            <a:r>
              <a:rPr lang="en-IN" noProof="0" dirty="0"/>
              <a:t>---</a:t>
            </a:r>
          </a:p>
          <a:p>
            <a:r>
              <a:rPr lang="en-IN" noProof="0" dirty="0"/>
              <a:t>name: </a:t>
            </a:r>
            <a:r>
              <a:rPr lang="en-IN" noProof="0" dirty="0" err="1"/>
              <a:t>api</a:t>
            </a:r>
            <a:r>
              <a:rPr lang="en-IN" noProof="0" dirty="0"/>
              <a:t>-docs</a:t>
            </a:r>
          </a:p>
          <a:p>
            <a:r>
              <a:rPr lang="en-IN" noProof="0" dirty="0"/>
              <a:t>description: Generate REST API documentation.</a:t>
            </a:r>
          </a:p>
          <a:p>
            <a:r>
              <a:rPr lang="en-IN" noProof="0" dirty="0"/>
              <a:t>---</a:t>
            </a:r>
          </a:p>
          <a:p>
            <a:endParaRPr lang="en-IN" noProof="0" dirty="0"/>
          </a:p>
          <a:p>
            <a:r>
              <a:rPr lang="en-IN" noProof="0" dirty="0"/>
              <a:t># API Documentation</a:t>
            </a:r>
          </a:p>
          <a:p>
            <a:endParaRPr lang="en-IN" noProof="0" dirty="0"/>
          </a:p>
          <a:p>
            <a:r>
              <a:rPr lang="en-IN" noProof="0" dirty="0"/>
              <a:t>For each endpoint include:</a:t>
            </a:r>
          </a:p>
          <a:p>
            <a:r>
              <a:rPr lang="en-IN" noProof="0" dirty="0"/>
              <a:t>- URL</a:t>
            </a:r>
          </a:p>
          <a:p>
            <a:r>
              <a:rPr lang="en-IN" noProof="0" dirty="0"/>
              <a:t>- Method</a:t>
            </a:r>
          </a:p>
          <a:p>
            <a:r>
              <a:rPr lang="en-IN" noProof="0" dirty="0"/>
              <a:t>- Parameters</a:t>
            </a:r>
          </a:p>
          <a:p>
            <a:r>
              <a:rPr lang="en-IN" noProof="0" dirty="0"/>
              <a:t>- Request Example</a:t>
            </a:r>
          </a:p>
          <a:p>
            <a:r>
              <a:rPr lang="en-IN" noProof="0" dirty="0"/>
              <a:t>- Response Example</a:t>
            </a:r>
          </a:p>
          <a:p>
            <a:r>
              <a:rPr lang="en-IN" noProof="0" dirty="0"/>
              <a:t>- Status Codes</a:t>
            </a:r>
          </a:p>
        </p:txBody>
      </p:sp>
    </p:spTree>
    <p:extLst>
      <p:ext uri="{BB962C8B-B14F-4D97-AF65-F5344CB8AC3E}">
        <p14:creationId xmlns:p14="http://schemas.microsoft.com/office/powerpoint/2010/main" val="280747655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5DB12BC-DA29-9DDF-9C7B-F5D594EAFDD6}"/>
              </a:ext>
            </a:extLst>
          </p:cNvPr>
          <p:cNvSpPr>
            <a:spLocks noGrp="1"/>
          </p:cNvSpPr>
          <p:nvPr>
            <p:ph type="title"/>
          </p:nvPr>
        </p:nvSpPr>
        <p:spPr/>
        <p:txBody>
          <a:bodyPr/>
          <a:lstStyle/>
          <a:p>
            <a:r>
              <a:rPr lang="en-IN" noProof="0" dirty="0"/>
              <a:t>Skills: Arguments and Workflows</a:t>
            </a:r>
          </a:p>
        </p:txBody>
      </p:sp>
      <p:sp>
        <p:nvSpPr>
          <p:cNvPr id="6" name="Content Placeholder 5">
            <a:extLst>
              <a:ext uri="{FF2B5EF4-FFF2-40B4-BE49-F238E27FC236}">
                <a16:creationId xmlns:a16="http://schemas.microsoft.com/office/drawing/2014/main" id="{6DA533AD-C4AD-F782-BC0A-8E0ED6F89DC1}"/>
              </a:ext>
            </a:extLst>
          </p:cNvPr>
          <p:cNvSpPr>
            <a:spLocks noGrp="1"/>
          </p:cNvSpPr>
          <p:nvPr>
            <p:ph idx="1"/>
          </p:nvPr>
        </p:nvSpPr>
        <p:spPr/>
        <p:txBody>
          <a:bodyPr>
            <a:normAutofit fontScale="62500" lnSpcReduction="20000"/>
          </a:bodyPr>
          <a:lstStyle/>
          <a:p>
            <a:r>
              <a:rPr lang="en-IN" noProof="0" dirty="0"/>
              <a:t>Skills accept arguments via $ARGUMENTS </a:t>
            </a:r>
          </a:p>
          <a:p>
            <a:r>
              <a:rPr lang="en-IN" noProof="0" dirty="0"/>
              <a:t>Example (SKILL.md file) – To use, /review </a:t>
            </a:r>
            <a:r>
              <a:rPr lang="en-IN" noProof="0" dirty="0" err="1"/>
              <a:t>src</a:t>
            </a:r>
            <a:r>
              <a:rPr lang="en-IN" noProof="0" dirty="0"/>
              <a:t>/auth.py, Claude will substitute $ARGUMENTS = src/auth.py</a:t>
            </a:r>
          </a:p>
          <a:p>
            <a:pPr marL="457200" lvl="1" indent="0">
              <a:buNone/>
            </a:pPr>
            <a:r>
              <a:rPr lang="en-IN" noProof="0" dirty="0"/>
              <a:t>---</a:t>
            </a:r>
          </a:p>
          <a:p>
            <a:pPr marL="457200" lvl="1" indent="0">
              <a:buNone/>
            </a:pPr>
            <a:r>
              <a:rPr lang="en-IN" noProof="0" dirty="0"/>
              <a:t>name: review</a:t>
            </a:r>
          </a:p>
          <a:p>
            <a:pPr marL="457200" lvl="1" indent="0">
              <a:buNone/>
            </a:pPr>
            <a:r>
              <a:rPr lang="en-IN" noProof="0" dirty="0"/>
              <a:t>description: Review source code for quality and bugs.</a:t>
            </a:r>
          </a:p>
          <a:p>
            <a:pPr marL="457200" lvl="1" indent="0">
              <a:buNone/>
            </a:pPr>
            <a:r>
              <a:rPr lang="en-IN" noProof="0" dirty="0"/>
              <a:t>---</a:t>
            </a:r>
          </a:p>
          <a:p>
            <a:pPr marL="457200" lvl="1" indent="0">
              <a:buNone/>
            </a:pPr>
            <a:r>
              <a:rPr lang="en-IN" noProof="0" dirty="0"/>
              <a:t># Code Review Skill</a:t>
            </a:r>
          </a:p>
          <a:p>
            <a:pPr marL="457200" lvl="1" indent="0">
              <a:buNone/>
            </a:pPr>
            <a:r>
              <a:rPr lang="en-IN" noProof="0" dirty="0"/>
              <a:t>Review:</a:t>
            </a:r>
          </a:p>
          <a:p>
            <a:pPr marL="457200" lvl="1" indent="0">
              <a:buNone/>
            </a:pPr>
            <a:r>
              <a:rPr lang="en-IN" noProof="0" dirty="0">
                <a:solidFill>
                  <a:srgbClr val="FF0000"/>
                </a:solidFill>
              </a:rPr>
              <a:t>$ARGUMENTS</a:t>
            </a:r>
          </a:p>
          <a:p>
            <a:pPr marL="457200" lvl="1" indent="0">
              <a:buNone/>
            </a:pPr>
            <a:endParaRPr lang="en-IN" noProof="0" dirty="0"/>
          </a:p>
          <a:p>
            <a:pPr marL="457200" lvl="1" indent="0">
              <a:buNone/>
            </a:pPr>
            <a:r>
              <a:rPr lang="en-IN" noProof="0" dirty="0"/>
              <a:t>Check for:</a:t>
            </a:r>
          </a:p>
          <a:p>
            <a:pPr marL="457200" lvl="1" indent="0">
              <a:buNone/>
            </a:pPr>
            <a:r>
              <a:rPr lang="en-IN" noProof="0" dirty="0"/>
              <a:t>- Bugs</a:t>
            </a:r>
          </a:p>
          <a:p>
            <a:pPr marL="457200" lvl="1" indent="0">
              <a:buNone/>
            </a:pPr>
            <a:r>
              <a:rPr lang="en-IN" noProof="0" dirty="0"/>
              <a:t>- Security issues</a:t>
            </a:r>
          </a:p>
          <a:p>
            <a:pPr marL="457200" lvl="1" indent="0">
              <a:buNone/>
            </a:pPr>
            <a:r>
              <a:rPr lang="en-IN" noProof="0" dirty="0"/>
              <a:t>- Performance improvements</a:t>
            </a:r>
          </a:p>
          <a:p>
            <a:pPr marL="457200" lvl="1" indent="0">
              <a:buNone/>
            </a:pPr>
            <a:r>
              <a:rPr lang="en-IN" noProof="0" dirty="0"/>
              <a:t>- Readability</a:t>
            </a:r>
          </a:p>
          <a:p>
            <a:pPr marL="457200" lvl="1" indent="0">
              <a:buNone/>
            </a:pPr>
            <a:endParaRPr lang="en-IN" noProof="0" dirty="0"/>
          </a:p>
          <a:p>
            <a:pPr marL="457200" lvl="1" indent="0">
              <a:buNone/>
            </a:pPr>
            <a:r>
              <a:rPr lang="en-IN" noProof="0" dirty="0"/>
              <a:t>Provide suggestions in bullet points.</a:t>
            </a:r>
          </a:p>
        </p:txBody>
      </p:sp>
    </p:spTree>
    <p:extLst>
      <p:ext uri="{BB962C8B-B14F-4D97-AF65-F5344CB8AC3E}">
        <p14:creationId xmlns:p14="http://schemas.microsoft.com/office/powerpoint/2010/main" val="408745819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3C937-3CD5-394B-88C4-46D60B6132BC}"/>
              </a:ext>
            </a:extLst>
          </p:cNvPr>
          <p:cNvSpPr>
            <a:spLocks noGrp="1"/>
          </p:cNvSpPr>
          <p:nvPr>
            <p:ph type="title"/>
          </p:nvPr>
        </p:nvSpPr>
        <p:spPr/>
        <p:txBody>
          <a:bodyPr/>
          <a:lstStyle/>
          <a:p>
            <a:r>
              <a:rPr lang="en-IN" noProof="0" dirty="0"/>
              <a:t>Skill: Running as a Subagent</a:t>
            </a:r>
          </a:p>
        </p:txBody>
      </p:sp>
      <p:sp>
        <p:nvSpPr>
          <p:cNvPr id="3" name="Content Placeholder 2">
            <a:extLst>
              <a:ext uri="{FF2B5EF4-FFF2-40B4-BE49-F238E27FC236}">
                <a16:creationId xmlns:a16="http://schemas.microsoft.com/office/drawing/2014/main" id="{04B39F5A-2CFB-7583-06D8-699C3727B887}"/>
              </a:ext>
            </a:extLst>
          </p:cNvPr>
          <p:cNvSpPr>
            <a:spLocks noGrp="1"/>
          </p:cNvSpPr>
          <p:nvPr>
            <p:ph idx="1"/>
          </p:nvPr>
        </p:nvSpPr>
        <p:spPr/>
        <p:txBody>
          <a:bodyPr>
            <a:normAutofit fontScale="70000" lnSpcReduction="20000"/>
          </a:bodyPr>
          <a:lstStyle/>
          <a:p>
            <a:r>
              <a:rPr lang="en-IN" noProof="0" dirty="0"/>
              <a:t>Add </a:t>
            </a:r>
            <a:r>
              <a:rPr lang="en-IN" i="1" noProof="0" dirty="0"/>
              <a:t>context: fork </a:t>
            </a:r>
            <a:r>
              <a:rPr lang="en-IN" noProof="0" dirty="0"/>
              <a:t>and the skill runs in an isolated subagent</a:t>
            </a:r>
          </a:p>
          <a:p>
            <a:r>
              <a:rPr lang="en-IN" noProof="0" dirty="0"/>
              <a:t>Its content becomes the subagent’s prompt, its work stays out of our main conversation, and only the result returns … e.g. /deep-review  src/auth.py</a:t>
            </a:r>
          </a:p>
          <a:p>
            <a:pPr marL="457200" lvl="1" indent="0">
              <a:buNone/>
            </a:pPr>
            <a:r>
              <a:rPr lang="en-IN" noProof="0" dirty="0"/>
              <a:t>---</a:t>
            </a:r>
          </a:p>
          <a:p>
            <a:pPr marL="457200" lvl="1" indent="0">
              <a:buNone/>
            </a:pPr>
            <a:r>
              <a:rPr lang="en-IN" noProof="0" dirty="0"/>
              <a:t>name: deep-review</a:t>
            </a:r>
          </a:p>
          <a:p>
            <a:pPr marL="457200" lvl="1" indent="0">
              <a:buNone/>
            </a:pPr>
            <a:r>
              <a:rPr lang="en-IN" noProof="0" dirty="0"/>
              <a:t>description: Thoroughly review a source file for bugs and improvements.</a:t>
            </a:r>
          </a:p>
          <a:p>
            <a:pPr marL="457200" lvl="1" indent="0">
              <a:buNone/>
            </a:pPr>
            <a:r>
              <a:rPr lang="en-IN" noProof="0" dirty="0">
                <a:solidFill>
                  <a:srgbClr val="FF0000"/>
                </a:solidFill>
              </a:rPr>
              <a:t>context: fork</a:t>
            </a:r>
          </a:p>
          <a:p>
            <a:pPr marL="457200" lvl="1" indent="0">
              <a:buNone/>
            </a:pPr>
            <a:r>
              <a:rPr lang="en-IN" noProof="0" dirty="0"/>
              <a:t>agent: Explore</a:t>
            </a:r>
          </a:p>
          <a:p>
            <a:pPr marL="457200" lvl="1" indent="0">
              <a:buNone/>
            </a:pPr>
            <a:r>
              <a:rPr lang="en-IN" noProof="0" dirty="0"/>
              <a:t>---</a:t>
            </a:r>
          </a:p>
          <a:p>
            <a:pPr marL="457200" lvl="1" indent="0">
              <a:buNone/>
            </a:pPr>
            <a:endParaRPr lang="en-IN" noProof="0" dirty="0"/>
          </a:p>
          <a:p>
            <a:pPr marL="457200" lvl="1" indent="0">
              <a:buNone/>
            </a:pPr>
            <a:r>
              <a:rPr lang="en-IN" noProof="0" dirty="0"/>
              <a:t>Review $ARGUMENTS.</a:t>
            </a:r>
          </a:p>
          <a:p>
            <a:pPr marL="457200" lvl="1" indent="0">
              <a:buNone/>
            </a:pPr>
            <a:endParaRPr lang="en-IN" noProof="0" dirty="0"/>
          </a:p>
          <a:p>
            <a:pPr marL="457200" lvl="1" indent="0">
              <a:buNone/>
            </a:pPr>
            <a:r>
              <a:rPr lang="en-IN" noProof="0" dirty="0"/>
              <a:t>Tasks:</a:t>
            </a:r>
          </a:p>
          <a:p>
            <a:pPr marL="457200" lvl="1" indent="0">
              <a:buNone/>
            </a:pPr>
            <a:r>
              <a:rPr lang="en-IN" noProof="0" dirty="0"/>
              <a:t>- Find potential bugs.</a:t>
            </a:r>
          </a:p>
          <a:p>
            <a:pPr marL="457200" lvl="1" indent="0">
              <a:buNone/>
            </a:pPr>
            <a:r>
              <a:rPr lang="en-IN" noProof="0" dirty="0"/>
              <a:t>- Identify security issues.</a:t>
            </a:r>
          </a:p>
          <a:p>
            <a:pPr marL="457200" lvl="1" indent="0">
              <a:buNone/>
            </a:pPr>
            <a:r>
              <a:rPr lang="en-IN" noProof="0" dirty="0"/>
              <a:t>- Suggest performance improvements.</a:t>
            </a:r>
          </a:p>
          <a:p>
            <a:pPr marL="457200" lvl="1" indent="0">
              <a:buNone/>
            </a:pPr>
            <a:r>
              <a:rPr lang="en-IN" noProof="0" dirty="0"/>
              <a:t>- Return a concise report with file references.</a:t>
            </a:r>
          </a:p>
        </p:txBody>
      </p:sp>
    </p:spTree>
    <p:extLst>
      <p:ext uri="{BB962C8B-B14F-4D97-AF65-F5344CB8AC3E}">
        <p14:creationId xmlns:p14="http://schemas.microsoft.com/office/powerpoint/2010/main" val="404555980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3AEED7-14E0-FAA4-86F2-12F41467AB83}"/>
              </a:ext>
            </a:extLst>
          </p:cNvPr>
          <p:cNvSpPr>
            <a:spLocks noGrp="1"/>
          </p:cNvSpPr>
          <p:nvPr>
            <p:ph type="title"/>
          </p:nvPr>
        </p:nvSpPr>
        <p:spPr/>
        <p:txBody>
          <a:bodyPr/>
          <a:lstStyle/>
          <a:p>
            <a:r>
              <a:rPr lang="en-IN" dirty="0"/>
              <a:t>Exercise 1: Skill (BA/PM)</a:t>
            </a:r>
            <a:endParaRPr lang="en-GB" dirty="0"/>
          </a:p>
        </p:txBody>
      </p:sp>
      <p:sp>
        <p:nvSpPr>
          <p:cNvPr id="3" name="Content Placeholder 2">
            <a:extLst>
              <a:ext uri="{FF2B5EF4-FFF2-40B4-BE49-F238E27FC236}">
                <a16:creationId xmlns:a16="http://schemas.microsoft.com/office/drawing/2014/main" id="{9641E04D-91B7-1DEA-C215-663814F8D419}"/>
              </a:ext>
            </a:extLst>
          </p:cNvPr>
          <p:cNvSpPr>
            <a:spLocks noGrp="1"/>
          </p:cNvSpPr>
          <p:nvPr>
            <p:ph idx="1"/>
          </p:nvPr>
        </p:nvSpPr>
        <p:spPr/>
        <p:txBody>
          <a:bodyPr/>
          <a:lstStyle/>
          <a:p>
            <a:r>
              <a:rPr lang="en-IN" dirty="0"/>
              <a:t>Goal: </a:t>
            </a:r>
            <a:r>
              <a:rPr lang="en-GB" dirty="0"/>
              <a:t>Create a Claude Code skill that turns a repeatable writing task into a reusable command — no code involved, just a SKILL.md file and the /skill-name mechanic</a:t>
            </a:r>
          </a:p>
          <a:p>
            <a:r>
              <a:rPr lang="en-GB" dirty="0"/>
              <a:t>Setup</a:t>
            </a:r>
          </a:p>
          <a:p>
            <a:pPr lvl="1"/>
            <a:r>
              <a:rPr lang="en-GB" dirty="0" err="1"/>
              <a:t>mkdir</a:t>
            </a:r>
            <a:r>
              <a:rPr lang="en-GB" dirty="0"/>
              <a:t> writing-skills-demo</a:t>
            </a:r>
          </a:p>
          <a:p>
            <a:pPr lvl="1"/>
            <a:r>
              <a:rPr lang="en-GB" dirty="0"/>
              <a:t>cd writing-skills-demo</a:t>
            </a:r>
          </a:p>
          <a:p>
            <a:pPr lvl="1"/>
            <a:r>
              <a:rPr lang="en-GB" dirty="0" err="1"/>
              <a:t>mkdir</a:t>
            </a:r>
            <a:r>
              <a:rPr lang="en-GB" dirty="0"/>
              <a:t> -p .</a:t>
            </a:r>
            <a:r>
              <a:rPr lang="en-GB" dirty="0" err="1"/>
              <a:t>claude</a:t>
            </a:r>
            <a:r>
              <a:rPr lang="en-GB" dirty="0"/>
              <a:t>/skills/meeting-notes</a:t>
            </a:r>
          </a:p>
          <a:p>
            <a:pPr lvl="1"/>
            <a:r>
              <a:rPr lang="en-GB" dirty="0" err="1"/>
              <a:t>claude</a:t>
            </a:r>
            <a:endParaRPr lang="en-GB" dirty="0"/>
          </a:p>
          <a:p>
            <a:endParaRPr lang="en-GB" dirty="0"/>
          </a:p>
        </p:txBody>
      </p:sp>
    </p:spTree>
    <p:extLst>
      <p:ext uri="{BB962C8B-B14F-4D97-AF65-F5344CB8AC3E}">
        <p14:creationId xmlns:p14="http://schemas.microsoft.com/office/powerpoint/2010/main" val="31943528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61D19-3C8E-229A-1729-F8E11106C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C2B3C-DFF7-CADA-5AD6-9C266F356E39}"/>
              </a:ext>
            </a:extLst>
          </p:cNvPr>
          <p:cNvSpPr>
            <a:spLocks noGrp="1"/>
          </p:cNvSpPr>
          <p:nvPr>
            <p:ph type="title"/>
          </p:nvPr>
        </p:nvSpPr>
        <p:spPr/>
        <p:txBody>
          <a:bodyPr/>
          <a:lstStyle/>
          <a:p>
            <a:r>
              <a:rPr lang="en-IN" dirty="0"/>
              <a:t>Exercise 1: Skill (BA/PM)</a:t>
            </a:r>
            <a:endParaRPr lang="en-GB" dirty="0"/>
          </a:p>
        </p:txBody>
      </p:sp>
      <p:sp>
        <p:nvSpPr>
          <p:cNvPr id="3" name="Content Placeholder 2">
            <a:extLst>
              <a:ext uri="{FF2B5EF4-FFF2-40B4-BE49-F238E27FC236}">
                <a16:creationId xmlns:a16="http://schemas.microsoft.com/office/drawing/2014/main" id="{2D40AB40-464C-FC7A-CDA0-B3588976DF99}"/>
              </a:ext>
            </a:extLst>
          </p:cNvPr>
          <p:cNvSpPr>
            <a:spLocks noGrp="1"/>
          </p:cNvSpPr>
          <p:nvPr>
            <p:ph idx="1"/>
          </p:nvPr>
        </p:nvSpPr>
        <p:spPr/>
        <p:txBody>
          <a:bodyPr>
            <a:normAutofit fontScale="40000" lnSpcReduction="20000"/>
          </a:bodyPr>
          <a:lstStyle/>
          <a:p>
            <a:r>
              <a:rPr lang="en-US" dirty="0"/>
              <a:t>Create file SKILL.md inside </a:t>
            </a:r>
            <a:r>
              <a:rPr lang="en-GB" dirty="0"/>
              <a:t>.</a:t>
            </a:r>
            <a:r>
              <a:rPr lang="en-GB" dirty="0" err="1"/>
              <a:t>claude</a:t>
            </a:r>
            <a:r>
              <a:rPr lang="en-GB" dirty="0"/>
              <a:t>/skills/meeting-notes/ directory:</a:t>
            </a:r>
            <a:endParaRPr lang="en-US" dirty="0"/>
          </a:p>
          <a:p>
            <a:r>
              <a:rPr lang="en-US" dirty="0"/>
              <a:t>---</a:t>
            </a:r>
          </a:p>
          <a:p>
            <a:r>
              <a:rPr lang="en-US" dirty="0"/>
              <a:t>name: meeting-notes</a:t>
            </a:r>
          </a:p>
          <a:p>
            <a:r>
              <a:rPr lang="en-US" dirty="0">
                <a:solidFill>
                  <a:srgbClr val="FF0000"/>
                </a:solidFill>
              </a:rPr>
              <a:t>description</a:t>
            </a:r>
            <a:r>
              <a:rPr lang="en-US" dirty="0"/>
              <a:t>: Turn raw meeting notes into a clean list of action items with owners and due dates. Use when someone pastes messy meeting notes and wants a structured summary.</a:t>
            </a:r>
          </a:p>
          <a:p>
            <a:r>
              <a:rPr lang="en-US" dirty="0"/>
              <a:t>---</a:t>
            </a:r>
          </a:p>
          <a:p>
            <a:endParaRPr lang="en-US" dirty="0"/>
          </a:p>
          <a:p>
            <a:r>
              <a:rPr lang="en-US" dirty="0"/>
              <a:t># Meeting Notes → Action Items</a:t>
            </a:r>
          </a:p>
          <a:p>
            <a:endParaRPr lang="en-US" dirty="0"/>
          </a:p>
          <a:p>
            <a:r>
              <a:rPr lang="en-US" dirty="0"/>
              <a:t>Given raw meeting notes, produce:</a:t>
            </a:r>
          </a:p>
          <a:p>
            <a:endParaRPr lang="en-US" dirty="0"/>
          </a:p>
          <a:p>
            <a:r>
              <a:rPr lang="en-US" dirty="0"/>
              <a:t>1. A one-sentence summary of the meeting's purpose</a:t>
            </a:r>
          </a:p>
          <a:p>
            <a:r>
              <a:rPr lang="en-US" dirty="0"/>
              <a:t>2. A table of action items with columns: Task | Owner | Due Date | Priority</a:t>
            </a:r>
          </a:p>
          <a:p>
            <a:r>
              <a:rPr lang="en-US" dirty="0"/>
              <a:t>3. If an owner or due date isn't stated, write "Not specified" — do not guess</a:t>
            </a:r>
          </a:p>
          <a:p>
            <a:r>
              <a:rPr lang="en-US" dirty="0"/>
              <a:t>4. A short "Open Questions" section for anything unresolved or ambiguous in the notes</a:t>
            </a:r>
          </a:p>
          <a:p>
            <a:endParaRPr lang="en-US" dirty="0"/>
          </a:p>
          <a:p>
            <a:r>
              <a:rPr lang="en-US" dirty="0"/>
              <a:t>Keep the output under half a page. Do not editorialize or add tasks that weren't discussed.</a:t>
            </a:r>
            <a:endParaRPr lang="en-GB" dirty="0"/>
          </a:p>
        </p:txBody>
      </p:sp>
      <p:sp>
        <p:nvSpPr>
          <p:cNvPr id="4" name="TextBox 3">
            <a:extLst>
              <a:ext uri="{FF2B5EF4-FFF2-40B4-BE49-F238E27FC236}">
                <a16:creationId xmlns:a16="http://schemas.microsoft.com/office/drawing/2014/main" id="{3218320C-2D8C-7A43-E723-5EF4034A6DEC}"/>
              </a:ext>
            </a:extLst>
          </p:cNvPr>
          <p:cNvSpPr txBox="1"/>
          <p:nvPr/>
        </p:nvSpPr>
        <p:spPr>
          <a:xfrm>
            <a:off x="6477583" y="952873"/>
            <a:ext cx="5556201" cy="1200329"/>
          </a:xfrm>
          <a:prstGeom prst="rect">
            <a:avLst/>
          </a:prstGeom>
          <a:noFill/>
        </p:spPr>
        <p:txBody>
          <a:bodyPr wrap="square" rtlCol="0">
            <a:spAutoFit/>
          </a:bodyPr>
          <a:lstStyle/>
          <a:p>
            <a:r>
              <a:rPr lang="en-GB" dirty="0"/>
              <a:t>the </a:t>
            </a:r>
            <a:r>
              <a:rPr lang="en-GB" dirty="0">
                <a:solidFill>
                  <a:srgbClr val="FF0000"/>
                </a:solidFill>
              </a:rPr>
              <a:t>description</a:t>
            </a:r>
            <a:r>
              <a:rPr lang="en-GB" dirty="0"/>
              <a:t> field is what Claude uses to decide </a:t>
            </a:r>
            <a:r>
              <a:rPr lang="en-GB" i="1" dirty="0"/>
              <a:t>when</a:t>
            </a:r>
            <a:r>
              <a:rPr lang="en-GB" dirty="0"/>
              <a:t> to reach for this skill automatically — it should include words a person would naturally type ("meeting notes," "action items"), not just a category label</a:t>
            </a:r>
          </a:p>
        </p:txBody>
      </p:sp>
    </p:spTree>
    <p:extLst>
      <p:ext uri="{BB962C8B-B14F-4D97-AF65-F5344CB8AC3E}">
        <p14:creationId xmlns:p14="http://schemas.microsoft.com/office/powerpoint/2010/main" val="137132731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D6A11-BD0A-6154-CCB7-A5FA69E840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111660-B55E-DAA8-20F6-669C01B3FD62}"/>
              </a:ext>
            </a:extLst>
          </p:cNvPr>
          <p:cNvSpPr>
            <a:spLocks noGrp="1"/>
          </p:cNvSpPr>
          <p:nvPr>
            <p:ph type="title"/>
          </p:nvPr>
        </p:nvSpPr>
        <p:spPr/>
        <p:txBody>
          <a:bodyPr/>
          <a:lstStyle/>
          <a:p>
            <a:r>
              <a:rPr lang="en-IN" dirty="0"/>
              <a:t>Exercise 1: Skill (BA/PM)</a:t>
            </a:r>
            <a:endParaRPr lang="en-GB" dirty="0"/>
          </a:p>
        </p:txBody>
      </p:sp>
      <p:sp>
        <p:nvSpPr>
          <p:cNvPr id="3" name="Content Placeholder 2">
            <a:extLst>
              <a:ext uri="{FF2B5EF4-FFF2-40B4-BE49-F238E27FC236}">
                <a16:creationId xmlns:a16="http://schemas.microsoft.com/office/drawing/2014/main" id="{AE1C5710-F6E5-2919-A31D-A8E39C7FD44C}"/>
              </a:ext>
            </a:extLst>
          </p:cNvPr>
          <p:cNvSpPr>
            <a:spLocks noGrp="1"/>
          </p:cNvSpPr>
          <p:nvPr>
            <p:ph idx="1"/>
          </p:nvPr>
        </p:nvSpPr>
        <p:spPr/>
        <p:txBody>
          <a:bodyPr>
            <a:normAutofit fontScale="92500"/>
          </a:bodyPr>
          <a:lstStyle/>
          <a:p>
            <a:r>
              <a:rPr lang="en-IN" dirty="0"/>
              <a:t>Confirm that the skill is registered: /skills</a:t>
            </a:r>
          </a:p>
          <a:p>
            <a:r>
              <a:rPr lang="en-IN" dirty="0"/>
              <a:t>Do we see </a:t>
            </a:r>
            <a:r>
              <a:rPr lang="en-IN" i="1" dirty="0"/>
              <a:t>meeting-notes</a:t>
            </a:r>
            <a:r>
              <a:rPr lang="en-IN" dirty="0"/>
              <a:t> here?</a:t>
            </a:r>
          </a:p>
          <a:p>
            <a:r>
              <a:rPr lang="en-IN" dirty="0"/>
              <a:t>Now deliberately paste some messy notes:</a:t>
            </a:r>
          </a:p>
          <a:p>
            <a:pPr lvl="1"/>
            <a:r>
              <a:rPr lang="en-GB" dirty="0"/>
              <a:t>"Ok so we talked about the Q3 launch. Sarah said she'd follow up with legal sometime this week. Also need someone to update the pricing page before the 15th — didn't decide who. Raj is blocked on the API keys from vendor, waiting to hear back. We should probably also revisit the onboarding flow but no owner yet. Someone asked if we're still doing the webinar — unclear.“</a:t>
            </a:r>
          </a:p>
          <a:p>
            <a:r>
              <a:rPr lang="en-GB" dirty="0"/>
              <a:t>Try in two ways and compare</a:t>
            </a:r>
          </a:p>
          <a:p>
            <a:pPr lvl="1"/>
            <a:r>
              <a:rPr lang="en-GB" dirty="0"/>
              <a:t>Just paste the notes directly (no skill invoked) — see what Claude does unprompted</a:t>
            </a:r>
          </a:p>
          <a:p>
            <a:pPr lvl="1"/>
            <a:r>
              <a:rPr lang="en-GB" dirty="0"/>
              <a:t>Then explicitly invoke: /meeting-notes followed by the same notes</a:t>
            </a:r>
          </a:p>
        </p:txBody>
      </p:sp>
    </p:spTree>
    <p:extLst>
      <p:ext uri="{BB962C8B-B14F-4D97-AF65-F5344CB8AC3E}">
        <p14:creationId xmlns:p14="http://schemas.microsoft.com/office/powerpoint/2010/main" val="382647527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12802-53BD-6820-7161-A4E908D4DBD4}"/>
              </a:ext>
            </a:extLst>
          </p:cNvPr>
          <p:cNvSpPr>
            <a:spLocks noGrp="1"/>
          </p:cNvSpPr>
          <p:nvPr>
            <p:ph type="title"/>
          </p:nvPr>
        </p:nvSpPr>
        <p:spPr/>
        <p:txBody>
          <a:bodyPr/>
          <a:lstStyle/>
          <a:p>
            <a:r>
              <a:rPr lang="en-IN" dirty="0"/>
              <a:t>Exercise 2: Skill (Technical)</a:t>
            </a:r>
            <a:endParaRPr lang="en-GB" dirty="0"/>
          </a:p>
        </p:txBody>
      </p:sp>
      <p:sp>
        <p:nvSpPr>
          <p:cNvPr id="3" name="Content Placeholder 2">
            <a:extLst>
              <a:ext uri="{FF2B5EF4-FFF2-40B4-BE49-F238E27FC236}">
                <a16:creationId xmlns:a16="http://schemas.microsoft.com/office/drawing/2014/main" id="{09A3DE32-A528-37C8-7655-8A3DBEEA6646}"/>
              </a:ext>
            </a:extLst>
          </p:cNvPr>
          <p:cNvSpPr>
            <a:spLocks noGrp="1"/>
          </p:cNvSpPr>
          <p:nvPr>
            <p:ph idx="1"/>
          </p:nvPr>
        </p:nvSpPr>
        <p:spPr/>
        <p:txBody>
          <a:bodyPr/>
          <a:lstStyle/>
          <a:p>
            <a:r>
              <a:rPr lang="en-GB" dirty="0"/>
              <a:t>Goal: Create a Claude Code skill that encodes a repeatable coding convention, applied to a task a developer does weekly</a:t>
            </a:r>
          </a:p>
          <a:p>
            <a:r>
              <a:rPr lang="en-GB" dirty="0"/>
              <a:t>Setup</a:t>
            </a:r>
          </a:p>
          <a:p>
            <a:pPr lvl="1"/>
            <a:r>
              <a:rPr lang="en-US" dirty="0" err="1"/>
              <a:t>mkdir</a:t>
            </a:r>
            <a:r>
              <a:rPr lang="en-US" dirty="0"/>
              <a:t> coding-skills-demo</a:t>
            </a:r>
          </a:p>
          <a:p>
            <a:pPr lvl="1"/>
            <a:r>
              <a:rPr lang="en-US" dirty="0"/>
              <a:t>cd coding-skills-demo</a:t>
            </a:r>
          </a:p>
          <a:p>
            <a:pPr lvl="1"/>
            <a:r>
              <a:rPr lang="en-US" dirty="0" err="1"/>
              <a:t>mkdir</a:t>
            </a:r>
            <a:r>
              <a:rPr lang="en-US" dirty="0"/>
              <a:t> -p .</a:t>
            </a:r>
            <a:r>
              <a:rPr lang="en-US" dirty="0" err="1"/>
              <a:t>claude</a:t>
            </a:r>
            <a:r>
              <a:rPr lang="en-US" dirty="0"/>
              <a:t>/skills/commit-message</a:t>
            </a:r>
          </a:p>
          <a:p>
            <a:pPr lvl="1"/>
            <a:r>
              <a:rPr lang="en-US" dirty="0" err="1"/>
              <a:t>claude</a:t>
            </a:r>
            <a:endParaRPr lang="en-US" dirty="0"/>
          </a:p>
        </p:txBody>
      </p:sp>
    </p:spTree>
    <p:extLst>
      <p:ext uri="{BB962C8B-B14F-4D97-AF65-F5344CB8AC3E}">
        <p14:creationId xmlns:p14="http://schemas.microsoft.com/office/powerpoint/2010/main" val="418585191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B7485-4395-57EB-F5FF-54336CFD3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60B8A-B6ED-C862-1446-AE3426BA4A5D}"/>
              </a:ext>
            </a:extLst>
          </p:cNvPr>
          <p:cNvSpPr>
            <a:spLocks noGrp="1"/>
          </p:cNvSpPr>
          <p:nvPr>
            <p:ph type="title"/>
          </p:nvPr>
        </p:nvSpPr>
        <p:spPr/>
        <p:txBody>
          <a:bodyPr/>
          <a:lstStyle/>
          <a:p>
            <a:r>
              <a:rPr lang="en-IN" dirty="0"/>
              <a:t>Exercise 2: Skill (Technical)</a:t>
            </a:r>
            <a:endParaRPr lang="en-GB" dirty="0"/>
          </a:p>
        </p:txBody>
      </p:sp>
      <p:sp>
        <p:nvSpPr>
          <p:cNvPr id="3" name="Content Placeholder 2">
            <a:extLst>
              <a:ext uri="{FF2B5EF4-FFF2-40B4-BE49-F238E27FC236}">
                <a16:creationId xmlns:a16="http://schemas.microsoft.com/office/drawing/2014/main" id="{2B53D75A-0ED2-E8CD-D8C0-176C74ED117B}"/>
              </a:ext>
            </a:extLst>
          </p:cNvPr>
          <p:cNvSpPr>
            <a:spLocks noGrp="1"/>
          </p:cNvSpPr>
          <p:nvPr>
            <p:ph idx="1"/>
          </p:nvPr>
        </p:nvSpPr>
        <p:spPr/>
        <p:txBody>
          <a:bodyPr>
            <a:normAutofit fontScale="40000" lnSpcReduction="20000"/>
          </a:bodyPr>
          <a:lstStyle/>
          <a:p>
            <a:r>
              <a:rPr lang="en-IN" dirty="0"/>
              <a:t>Create a SKILL.md file inside </a:t>
            </a:r>
            <a:r>
              <a:rPr lang="en-GB" dirty="0"/>
              <a:t>.</a:t>
            </a:r>
            <a:r>
              <a:rPr lang="en-GB" dirty="0" err="1"/>
              <a:t>claude</a:t>
            </a:r>
            <a:r>
              <a:rPr lang="en-GB" dirty="0"/>
              <a:t>/skills/commit-message/ directory</a:t>
            </a:r>
            <a:endParaRPr lang="en-IN" dirty="0"/>
          </a:p>
          <a:p>
            <a:r>
              <a:rPr lang="en-US" dirty="0"/>
              <a:t>---</a:t>
            </a:r>
          </a:p>
          <a:p>
            <a:r>
              <a:rPr lang="en-US" dirty="0"/>
              <a:t>name: commit-message</a:t>
            </a:r>
          </a:p>
          <a:p>
            <a:r>
              <a:rPr lang="en-US" dirty="0"/>
              <a:t>description: Turn a description of code changes into a well-formatted git commit message using conventional commits style. Use when someone describes what they changed and wants a commit message.</a:t>
            </a:r>
          </a:p>
          <a:p>
            <a:r>
              <a:rPr lang="en-US" dirty="0"/>
              <a:t>---</a:t>
            </a:r>
          </a:p>
          <a:p>
            <a:endParaRPr lang="en-US" dirty="0"/>
          </a:p>
          <a:p>
            <a:r>
              <a:rPr lang="en-US" dirty="0"/>
              <a:t># Commit Message Generator</a:t>
            </a:r>
          </a:p>
          <a:p>
            <a:endParaRPr lang="en-US" dirty="0"/>
          </a:p>
          <a:p>
            <a:r>
              <a:rPr lang="en-US" dirty="0"/>
              <a:t>Given a description of code changes, produce a commit message with:</a:t>
            </a:r>
          </a:p>
          <a:p>
            <a:endParaRPr lang="en-US" dirty="0"/>
          </a:p>
          <a:p>
            <a:r>
              <a:rPr lang="en-US" dirty="0"/>
              <a:t>1. A type prefix: feat, fix, refactor, docs, test, or chore</a:t>
            </a:r>
          </a:p>
          <a:p>
            <a:r>
              <a:rPr lang="en-US" dirty="0"/>
              <a:t>2. A short summary line under 50 characters, imperative mood ("add", not "added")</a:t>
            </a:r>
          </a:p>
          <a:p>
            <a:r>
              <a:rPr lang="en-US" dirty="0"/>
              <a:t>3. A blank line, then a body explaining *why* the change was made, not just what changed</a:t>
            </a:r>
          </a:p>
          <a:p>
            <a:r>
              <a:rPr lang="en-US" dirty="0"/>
              <a:t>4. If the change is breaking, add a "BREAKING CHANGE:" footer explaining the impact</a:t>
            </a:r>
          </a:p>
          <a:p>
            <a:endParaRPr lang="en-US" dirty="0"/>
          </a:p>
          <a:p>
            <a:r>
              <a:rPr lang="en-US" dirty="0"/>
              <a:t>Do not invent details not mentioned in the description. If the type is ambiguous, ask which one applies instead of guessing.</a:t>
            </a:r>
          </a:p>
        </p:txBody>
      </p:sp>
    </p:spTree>
    <p:extLst>
      <p:ext uri="{BB962C8B-B14F-4D97-AF65-F5344CB8AC3E}">
        <p14:creationId xmlns:p14="http://schemas.microsoft.com/office/powerpoint/2010/main" val="308246222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94D51-4027-6F5C-219E-D4B5FA9A26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B3AB96-BC59-EFA2-608D-58347B3C3AE6}"/>
              </a:ext>
            </a:extLst>
          </p:cNvPr>
          <p:cNvSpPr>
            <a:spLocks noGrp="1"/>
          </p:cNvSpPr>
          <p:nvPr>
            <p:ph type="title"/>
          </p:nvPr>
        </p:nvSpPr>
        <p:spPr/>
        <p:txBody>
          <a:bodyPr/>
          <a:lstStyle/>
          <a:p>
            <a:r>
              <a:rPr lang="en-IN" dirty="0"/>
              <a:t>Exercise 2: Skill (Technical)</a:t>
            </a:r>
            <a:endParaRPr lang="en-GB" dirty="0"/>
          </a:p>
        </p:txBody>
      </p:sp>
      <p:sp>
        <p:nvSpPr>
          <p:cNvPr id="3" name="Content Placeholder 2">
            <a:extLst>
              <a:ext uri="{FF2B5EF4-FFF2-40B4-BE49-F238E27FC236}">
                <a16:creationId xmlns:a16="http://schemas.microsoft.com/office/drawing/2014/main" id="{E73021C6-CAD8-AC50-90A3-EEA7F7829075}"/>
              </a:ext>
            </a:extLst>
          </p:cNvPr>
          <p:cNvSpPr>
            <a:spLocks noGrp="1"/>
          </p:cNvSpPr>
          <p:nvPr>
            <p:ph idx="1"/>
          </p:nvPr>
        </p:nvSpPr>
        <p:spPr/>
        <p:txBody>
          <a:bodyPr>
            <a:normAutofit/>
          </a:bodyPr>
          <a:lstStyle/>
          <a:p>
            <a:r>
              <a:rPr lang="en-IN" dirty="0"/>
              <a:t>Confirm that the skill is registered: /skills</a:t>
            </a:r>
          </a:p>
          <a:p>
            <a:r>
              <a:rPr lang="en-IN" dirty="0"/>
              <a:t>Do we see </a:t>
            </a:r>
            <a:r>
              <a:rPr lang="en-IN" i="1" dirty="0"/>
              <a:t>commit-message </a:t>
            </a:r>
            <a:r>
              <a:rPr lang="en-IN" dirty="0"/>
              <a:t>here?</a:t>
            </a:r>
          </a:p>
          <a:p>
            <a:r>
              <a:rPr lang="en-IN" dirty="0"/>
              <a:t>Now paste this:</a:t>
            </a:r>
          </a:p>
          <a:p>
            <a:pPr lvl="1"/>
            <a:r>
              <a:rPr lang="en-GB" dirty="0"/>
              <a:t>"I fixed a bug where the login form would submit even if the password field was empty. I added a check on the frontend before the API call, and also added a test for it. This doesn't break anything for existing users."</a:t>
            </a:r>
          </a:p>
          <a:p>
            <a:r>
              <a:rPr lang="en-GB" dirty="0"/>
              <a:t>Try in two ways and compare</a:t>
            </a:r>
          </a:p>
          <a:p>
            <a:pPr lvl="1"/>
            <a:r>
              <a:rPr lang="en-GB" dirty="0"/>
              <a:t>Just paste the notes directly (no skill invoked) — see what Claude does unprompted</a:t>
            </a:r>
          </a:p>
          <a:p>
            <a:pPr lvl="1"/>
            <a:r>
              <a:rPr lang="en-GB" dirty="0"/>
              <a:t>Then explicitly invoke: /commit-message followed by the same description</a:t>
            </a:r>
          </a:p>
        </p:txBody>
      </p:sp>
    </p:spTree>
    <p:extLst>
      <p:ext uri="{BB962C8B-B14F-4D97-AF65-F5344CB8AC3E}">
        <p14:creationId xmlns:p14="http://schemas.microsoft.com/office/powerpoint/2010/main" val="36482420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0CF85-4344-CAB2-76ED-30626BD1028C}"/>
              </a:ext>
            </a:extLst>
          </p:cNvPr>
          <p:cNvSpPr>
            <a:spLocks noGrp="1"/>
          </p:cNvSpPr>
          <p:nvPr>
            <p:ph type="title"/>
          </p:nvPr>
        </p:nvSpPr>
        <p:spPr/>
        <p:txBody>
          <a:bodyPr/>
          <a:lstStyle/>
          <a:p>
            <a:r>
              <a:rPr lang="en-IN" noProof="0" dirty="0"/>
              <a:t>Subagent</a:t>
            </a:r>
          </a:p>
        </p:txBody>
      </p:sp>
      <p:sp>
        <p:nvSpPr>
          <p:cNvPr id="3" name="Content Placeholder 2">
            <a:extLst>
              <a:ext uri="{FF2B5EF4-FFF2-40B4-BE49-F238E27FC236}">
                <a16:creationId xmlns:a16="http://schemas.microsoft.com/office/drawing/2014/main" id="{90D0257C-372D-0146-5481-12A33E914E6C}"/>
              </a:ext>
            </a:extLst>
          </p:cNvPr>
          <p:cNvSpPr>
            <a:spLocks noGrp="1"/>
          </p:cNvSpPr>
          <p:nvPr>
            <p:ph idx="1"/>
          </p:nvPr>
        </p:nvSpPr>
        <p:spPr/>
        <p:txBody>
          <a:bodyPr>
            <a:normAutofit fontScale="92500" lnSpcReduction="10000"/>
          </a:bodyPr>
          <a:lstStyle/>
          <a:p>
            <a:r>
              <a:rPr lang="en-IN" noProof="0" dirty="0"/>
              <a:t>A separate Claude instance that runs a task in its own context window and reports back only a summary</a:t>
            </a:r>
          </a:p>
          <a:p>
            <a:r>
              <a:rPr lang="en-IN" noProof="0" dirty="0"/>
              <a:t>Solves a specific, recurring problem: some tasks — researching how a system works, reading dozens of files, churning through test output — generate a flood of text we will never reference again</a:t>
            </a:r>
          </a:p>
          <a:p>
            <a:r>
              <a:rPr lang="en-IN" noProof="0" dirty="0"/>
              <a:t>Run that in the main conversation and it bloats our context and degrades performance</a:t>
            </a:r>
          </a:p>
          <a:p>
            <a:r>
              <a:rPr lang="en-IN" noProof="0" dirty="0"/>
              <a:t>Run it in a subagent and your main conversation stays clean while the subagent does the messy work in isolation</a:t>
            </a:r>
          </a:p>
          <a:p>
            <a:r>
              <a:rPr lang="en-IN" noProof="0" dirty="0"/>
              <a:t>Built-in subagents</a:t>
            </a:r>
          </a:p>
          <a:p>
            <a:pPr lvl="1"/>
            <a:r>
              <a:rPr lang="en-IN" noProof="0" dirty="0"/>
              <a:t>Explore: Search and understand code</a:t>
            </a:r>
          </a:p>
        </p:txBody>
      </p:sp>
    </p:spTree>
    <p:extLst>
      <p:ext uri="{BB962C8B-B14F-4D97-AF65-F5344CB8AC3E}">
        <p14:creationId xmlns:p14="http://schemas.microsoft.com/office/powerpoint/2010/main" val="232099369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A0C74-B38E-489D-B9A7-0636DED4E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E6A885-E3E4-129A-1126-1617911356BF}"/>
              </a:ext>
            </a:extLst>
          </p:cNvPr>
          <p:cNvSpPr>
            <a:spLocks noGrp="1"/>
          </p:cNvSpPr>
          <p:nvPr>
            <p:ph type="title"/>
          </p:nvPr>
        </p:nvSpPr>
        <p:spPr/>
        <p:txBody>
          <a:bodyPr/>
          <a:lstStyle/>
          <a:p>
            <a:r>
              <a:rPr lang="en-IN" noProof="0" dirty="0"/>
              <a:t>Subagent</a:t>
            </a:r>
          </a:p>
        </p:txBody>
      </p:sp>
      <p:sp>
        <p:nvSpPr>
          <p:cNvPr id="3" name="Content Placeholder 2">
            <a:extLst>
              <a:ext uri="{FF2B5EF4-FFF2-40B4-BE49-F238E27FC236}">
                <a16:creationId xmlns:a16="http://schemas.microsoft.com/office/drawing/2014/main" id="{7A4A6835-8890-955F-86AD-8FA5351346D5}"/>
              </a:ext>
            </a:extLst>
          </p:cNvPr>
          <p:cNvSpPr>
            <a:spLocks noGrp="1"/>
          </p:cNvSpPr>
          <p:nvPr>
            <p:ph idx="1"/>
          </p:nvPr>
        </p:nvSpPr>
        <p:spPr/>
        <p:txBody>
          <a:bodyPr>
            <a:normAutofit fontScale="62500" lnSpcReduction="20000"/>
          </a:bodyPr>
          <a:lstStyle/>
          <a:p>
            <a:r>
              <a:rPr lang="en-IN" noProof="0" dirty="0"/>
              <a:t>Creating custom subagents: Create a markdown file in .</a:t>
            </a:r>
            <a:r>
              <a:rPr lang="en-IN" noProof="0" dirty="0" err="1"/>
              <a:t>claude</a:t>
            </a:r>
            <a:r>
              <a:rPr lang="en-IN" noProof="0" dirty="0"/>
              <a:t>/agents/ (project) or ~/.</a:t>
            </a:r>
            <a:r>
              <a:rPr lang="en-IN" noProof="0" dirty="0" err="1"/>
              <a:t>claude</a:t>
            </a:r>
            <a:r>
              <a:rPr lang="en-IN" noProof="0" dirty="0"/>
              <a:t>/agents/ (personal) with YAML frontmatter and a system prompt</a:t>
            </a:r>
          </a:p>
          <a:p>
            <a:r>
              <a:rPr lang="en-IN" noProof="0" dirty="0"/>
              <a:t>Example</a:t>
            </a:r>
          </a:p>
          <a:p>
            <a:pPr marL="457200" lvl="1" indent="0">
              <a:buNone/>
            </a:pPr>
            <a:r>
              <a:rPr lang="en-IN" noProof="0" dirty="0"/>
              <a:t>name: code-reviewer</a:t>
            </a:r>
          </a:p>
          <a:p>
            <a:pPr marL="457200" lvl="1" indent="0">
              <a:buNone/>
            </a:pPr>
            <a:r>
              <a:rPr lang="en-IN" noProof="0" dirty="0"/>
              <a:t>description: Reviews code for quality, security, and best practices. Use proactively after writing code.</a:t>
            </a:r>
          </a:p>
          <a:p>
            <a:pPr marL="457200" lvl="1" indent="0">
              <a:buNone/>
            </a:pPr>
            <a:r>
              <a:rPr lang="en-IN" noProof="0" dirty="0"/>
              <a:t>tools: Read, Grep, Glob, Bash</a:t>
            </a:r>
          </a:p>
          <a:p>
            <a:pPr marL="457200" lvl="1" indent="0">
              <a:buNone/>
            </a:pPr>
            <a:r>
              <a:rPr lang="en-IN" noProof="0" dirty="0"/>
              <a:t>model: sonnet</a:t>
            </a:r>
          </a:p>
          <a:p>
            <a:pPr marL="457200" lvl="1" indent="0">
              <a:buNone/>
            </a:pPr>
            <a:r>
              <a:rPr lang="en-IN" noProof="0" dirty="0"/>
              <a:t>---</a:t>
            </a:r>
          </a:p>
          <a:p>
            <a:pPr marL="457200" lvl="1" indent="0">
              <a:buNone/>
            </a:pPr>
            <a:endParaRPr lang="en-IN" noProof="0" dirty="0"/>
          </a:p>
          <a:p>
            <a:pPr marL="457200" lvl="1" indent="0">
              <a:buNone/>
            </a:pPr>
            <a:r>
              <a:rPr lang="en-IN" noProof="0" dirty="0"/>
              <a:t>You are a senior code reviewer. When invoked, run git diff to see recent</a:t>
            </a:r>
          </a:p>
          <a:p>
            <a:pPr marL="457200" lvl="1" indent="0">
              <a:buNone/>
            </a:pPr>
            <a:r>
              <a:rPr lang="en-IN" noProof="0" dirty="0"/>
              <a:t>changes, then review for readability, error handling, exposed secrets, and</a:t>
            </a:r>
          </a:p>
          <a:p>
            <a:pPr marL="457200" lvl="1" indent="0">
              <a:buNone/>
            </a:pPr>
            <a:r>
              <a:rPr lang="en-IN" noProof="0" dirty="0"/>
              <a:t>missing tests. Organize feedback as Critical / Warnings / Suggestions, with</a:t>
            </a:r>
          </a:p>
          <a:p>
            <a:pPr marL="457200" lvl="1" indent="0">
              <a:buNone/>
            </a:pPr>
            <a:r>
              <a:rPr lang="en-IN" noProof="0" dirty="0"/>
              <a:t>specific line references and suggested fixes.</a:t>
            </a:r>
          </a:p>
          <a:p>
            <a:r>
              <a:rPr lang="en-IN" noProof="0" dirty="0"/>
              <a:t>Note that tools do not include write/edit, ensuring it cannot modify the code</a:t>
            </a:r>
          </a:p>
          <a:p>
            <a:r>
              <a:rPr lang="en-IN" noProof="0" dirty="0"/>
              <a:t>Options to run</a:t>
            </a:r>
          </a:p>
          <a:p>
            <a:pPr lvl="1"/>
            <a:r>
              <a:rPr lang="en-IN" noProof="0" dirty="0"/>
              <a:t>Natural language: Run the code-reviewer agent on my recent changes</a:t>
            </a:r>
          </a:p>
          <a:p>
            <a:pPr lvl="1"/>
            <a:r>
              <a:rPr lang="en-IN" noProof="0" dirty="0" err="1"/>
              <a:t>claude</a:t>
            </a:r>
            <a:r>
              <a:rPr lang="en-IN" noProof="0" dirty="0"/>
              <a:t>  --agent  code-reviewer</a:t>
            </a:r>
          </a:p>
          <a:p>
            <a:pPr lvl="1"/>
            <a:r>
              <a:rPr lang="en-IN" noProof="0" dirty="0"/>
              <a:t>Set a project default by adding “agent”: “code-reviewer” in settings</a:t>
            </a:r>
          </a:p>
        </p:txBody>
      </p:sp>
    </p:spTree>
    <p:extLst>
      <p:ext uri="{BB962C8B-B14F-4D97-AF65-F5344CB8AC3E}">
        <p14:creationId xmlns:p14="http://schemas.microsoft.com/office/powerpoint/2010/main" val="124794172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70B79-7123-DAD3-1854-B0FBE568EA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D159B8-26D3-6544-E318-3AC413F2C274}"/>
              </a:ext>
            </a:extLst>
          </p:cNvPr>
          <p:cNvSpPr>
            <a:spLocks noGrp="1"/>
          </p:cNvSpPr>
          <p:nvPr>
            <p:ph type="title"/>
          </p:nvPr>
        </p:nvSpPr>
        <p:spPr/>
        <p:txBody>
          <a:bodyPr/>
          <a:lstStyle/>
          <a:p>
            <a:r>
              <a:rPr lang="en-IN" noProof="0" dirty="0"/>
              <a:t>Subagent Patterns and Limits</a:t>
            </a:r>
          </a:p>
        </p:txBody>
      </p:sp>
      <p:sp>
        <p:nvSpPr>
          <p:cNvPr id="3" name="Content Placeholder 2">
            <a:extLst>
              <a:ext uri="{FF2B5EF4-FFF2-40B4-BE49-F238E27FC236}">
                <a16:creationId xmlns:a16="http://schemas.microsoft.com/office/drawing/2014/main" id="{0EE6A2F7-B764-524F-A508-7B68BDFCBC71}"/>
              </a:ext>
            </a:extLst>
          </p:cNvPr>
          <p:cNvSpPr>
            <a:spLocks noGrp="1"/>
          </p:cNvSpPr>
          <p:nvPr>
            <p:ph idx="1"/>
          </p:nvPr>
        </p:nvSpPr>
        <p:spPr/>
        <p:txBody>
          <a:bodyPr>
            <a:normAutofit/>
          </a:bodyPr>
          <a:lstStyle/>
          <a:p>
            <a:r>
              <a:rPr lang="en-IN" noProof="0" dirty="0"/>
              <a:t>Use subagents for</a:t>
            </a:r>
          </a:p>
          <a:p>
            <a:pPr lvl="1"/>
            <a:r>
              <a:rPr lang="en-IN" noProof="0" dirty="0"/>
              <a:t>Isolating high-volume traffic: Run the test suite and report only the failing tests with their errors</a:t>
            </a:r>
          </a:p>
          <a:p>
            <a:pPr lvl="1"/>
            <a:r>
              <a:rPr lang="en-IN" noProof="0" dirty="0"/>
              <a:t>Parallel search: Research authentication, database, API modules using parallel subagents</a:t>
            </a:r>
          </a:p>
          <a:p>
            <a:pPr lvl="1"/>
            <a:r>
              <a:rPr lang="en-IN" noProof="0" dirty="0"/>
              <a:t>Chaining: Use code-reviewer to find performance issues and then the optimizer to fix them</a:t>
            </a:r>
          </a:p>
          <a:p>
            <a:r>
              <a:rPr lang="en-IN" noProof="0" dirty="0"/>
              <a:t>Remember</a:t>
            </a:r>
          </a:p>
          <a:p>
            <a:pPr lvl="1"/>
            <a:r>
              <a:rPr lang="en-IN" noProof="0" dirty="0"/>
              <a:t>Subagents cannot spawn other subagents (for nesting, use chaining or skills)</a:t>
            </a:r>
          </a:p>
          <a:p>
            <a:pPr lvl="1"/>
            <a:r>
              <a:rPr lang="en-IN" noProof="0" dirty="0"/>
              <a:t>Running many subagents can impact context (Use </a:t>
            </a:r>
            <a:r>
              <a:rPr lang="en-IN" i="1" noProof="0" dirty="0"/>
              <a:t>Agent teams</a:t>
            </a:r>
            <a:r>
              <a:rPr lang="en-IN" noProof="0" dirty="0"/>
              <a:t>)</a:t>
            </a:r>
          </a:p>
          <a:p>
            <a:pPr lvl="1"/>
            <a:endParaRPr lang="en-IN" noProof="0" dirty="0"/>
          </a:p>
        </p:txBody>
      </p:sp>
    </p:spTree>
    <p:extLst>
      <p:ext uri="{BB962C8B-B14F-4D97-AF65-F5344CB8AC3E}">
        <p14:creationId xmlns:p14="http://schemas.microsoft.com/office/powerpoint/2010/main" val="162615152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58D66-782A-B5E3-9B21-EBCC9BC8D833}"/>
              </a:ext>
            </a:extLst>
          </p:cNvPr>
          <p:cNvSpPr>
            <a:spLocks noGrp="1"/>
          </p:cNvSpPr>
          <p:nvPr>
            <p:ph type="title"/>
          </p:nvPr>
        </p:nvSpPr>
        <p:spPr/>
        <p:txBody>
          <a:bodyPr/>
          <a:lstStyle/>
          <a:p>
            <a:r>
              <a:rPr lang="en-IN" dirty="0"/>
              <a:t>Exercise 1: Subagent (Technical)</a:t>
            </a:r>
            <a:endParaRPr lang="en-GB" dirty="0"/>
          </a:p>
        </p:txBody>
      </p:sp>
      <p:sp>
        <p:nvSpPr>
          <p:cNvPr id="3" name="Content Placeholder 2">
            <a:extLst>
              <a:ext uri="{FF2B5EF4-FFF2-40B4-BE49-F238E27FC236}">
                <a16:creationId xmlns:a16="http://schemas.microsoft.com/office/drawing/2014/main" id="{6C9FFB92-CFD0-2583-EA88-46A0DC38A218}"/>
              </a:ext>
            </a:extLst>
          </p:cNvPr>
          <p:cNvSpPr>
            <a:spLocks noGrp="1"/>
          </p:cNvSpPr>
          <p:nvPr>
            <p:ph idx="1"/>
          </p:nvPr>
        </p:nvSpPr>
        <p:spPr/>
        <p:txBody>
          <a:bodyPr/>
          <a:lstStyle/>
          <a:p>
            <a:r>
              <a:rPr lang="en-IN" dirty="0"/>
              <a:t>Goal: </a:t>
            </a:r>
            <a:r>
              <a:rPr lang="en-GB" dirty="0"/>
              <a:t>Create a subagent — a separate Claude instance with its own context window — that does high-volume, messy work (reading many files) and reports back only a clean summary, keeping your main conversation uncluttered.</a:t>
            </a:r>
          </a:p>
          <a:p>
            <a:r>
              <a:rPr lang="en-GB" dirty="0"/>
              <a:t>Setup</a:t>
            </a:r>
          </a:p>
          <a:p>
            <a:pPr lvl="1"/>
            <a:r>
              <a:rPr lang="en-GB" dirty="0" err="1"/>
              <a:t>mkdir</a:t>
            </a:r>
            <a:r>
              <a:rPr lang="en-GB" dirty="0"/>
              <a:t> subagent-demo</a:t>
            </a:r>
          </a:p>
          <a:p>
            <a:pPr lvl="1"/>
            <a:r>
              <a:rPr lang="en-GB" dirty="0"/>
              <a:t>cd subagent-demo</a:t>
            </a:r>
          </a:p>
          <a:p>
            <a:pPr lvl="1"/>
            <a:r>
              <a:rPr lang="en-GB" dirty="0" err="1"/>
              <a:t>mkdir</a:t>
            </a:r>
            <a:r>
              <a:rPr lang="en-GB" dirty="0"/>
              <a:t> -p .</a:t>
            </a:r>
            <a:r>
              <a:rPr lang="en-GB" dirty="0" err="1"/>
              <a:t>claude</a:t>
            </a:r>
            <a:r>
              <a:rPr lang="en-GB" dirty="0"/>
              <a:t>/agents</a:t>
            </a:r>
          </a:p>
          <a:p>
            <a:pPr lvl="1"/>
            <a:r>
              <a:rPr lang="en-GB" dirty="0" err="1"/>
              <a:t>claude</a:t>
            </a:r>
            <a:endParaRPr lang="en-GB" dirty="0"/>
          </a:p>
          <a:p>
            <a:pPr lvl="1"/>
            <a:r>
              <a:rPr lang="en-GB" dirty="0"/>
              <a:t>/</a:t>
            </a:r>
            <a:r>
              <a:rPr lang="en-GB" dirty="0" err="1"/>
              <a:t>init</a:t>
            </a:r>
            <a:endParaRPr lang="en-GB" dirty="0"/>
          </a:p>
        </p:txBody>
      </p:sp>
    </p:spTree>
    <p:extLst>
      <p:ext uri="{BB962C8B-B14F-4D97-AF65-F5344CB8AC3E}">
        <p14:creationId xmlns:p14="http://schemas.microsoft.com/office/powerpoint/2010/main" val="160643838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9280C-8BB4-08EE-5CEA-A80F5E1F8774}"/>
              </a:ext>
            </a:extLst>
          </p:cNvPr>
          <p:cNvSpPr>
            <a:spLocks noGrp="1"/>
          </p:cNvSpPr>
          <p:nvPr>
            <p:ph type="title"/>
          </p:nvPr>
        </p:nvSpPr>
        <p:spPr/>
        <p:txBody>
          <a:bodyPr/>
          <a:lstStyle/>
          <a:p>
            <a:r>
              <a:rPr lang="en-IN" dirty="0"/>
              <a:t>Exercise 1: Subagent (Technical)</a:t>
            </a:r>
            <a:endParaRPr lang="en-GB" dirty="0"/>
          </a:p>
        </p:txBody>
      </p:sp>
      <p:sp>
        <p:nvSpPr>
          <p:cNvPr id="3" name="Content Placeholder 2">
            <a:extLst>
              <a:ext uri="{FF2B5EF4-FFF2-40B4-BE49-F238E27FC236}">
                <a16:creationId xmlns:a16="http://schemas.microsoft.com/office/drawing/2014/main" id="{4F445A78-0D30-126A-5C52-71E9357FF586}"/>
              </a:ext>
            </a:extLst>
          </p:cNvPr>
          <p:cNvSpPr>
            <a:spLocks noGrp="1"/>
          </p:cNvSpPr>
          <p:nvPr>
            <p:ph idx="1"/>
          </p:nvPr>
        </p:nvSpPr>
        <p:spPr/>
        <p:txBody>
          <a:bodyPr>
            <a:normAutofit fontScale="25000" lnSpcReduction="20000"/>
          </a:bodyPr>
          <a:lstStyle/>
          <a:p>
            <a:r>
              <a:rPr lang="en-IN" dirty="0"/>
              <a:t>Create main.py</a:t>
            </a:r>
          </a:p>
          <a:p>
            <a:r>
              <a:rPr lang="en-GB" dirty="0"/>
              <a:t>"""Deliberately old-fashioned Python, kept runnable on a modern interpreter.</a:t>
            </a:r>
          </a:p>
          <a:p>
            <a:br>
              <a:rPr lang="en-GB" dirty="0"/>
            </a:br>
            <a:endParaRPr lang="en-GB" dirty="0"/>
          </a:p>
          <a:p>
            <a:r>
              <a:rPr lang="en-GB" dirty="0"/>
              <a:t>Every construct below is something a linter/modernizer would flag:</a:t>
            </a:r>
          </a:p>
          <a:p>
            <a:r>
              <a:rPr lang="en-GB" dirty="0"/>
              <a:t>  - </a:t>
            </a:r>
            <a:r>
              <a:rPr lang="en-GB" dirty="0" err="1"/>
              <a:t>optparse</a:t>
            </a:r>
            <a:r>
              <a:rPr lang="en-GB" dirty="0"/>
              <a:t> instead of </a:t>
            </a:r>
            <a:r>
              <a:rPr lang="en-GB" dirty="0" err="1"/>
              <a:t>argparse</a:t>
            </a:r>
            <a:endParaRPr lang="en-GB" dirty="0"/>
          </a:p>
          <a:p>
            <a:r>
              <a:rPr lang="en-GB" dirty="0"/>
              <a:t>  - </a:t>
            </a:r>
            <a:r>
              <a:rPr lang="en-GB" dirty="0" err="1"/>
              <a:t>typing.List</a:t>
            </a:r>
            <a:r>
              <a:rPr lang="en-GB" dirty="0"/>
              <a:t> / </a:t>
            </a:r>
            <a:r>
              <a:rPr lang="en-GB" dirty="0" err="1"/>
              <a:t>typing.Dict</a:t>
            </a:r>
            <a:r>
              <a:rPr lang="en-GB" dirty="0"/>
              <a:t> instead of built-in list[] / </a:t>
            </a:r>
            <a:r>
              <a:rPr lang="en-GB" dirty="0" err="1"/>
              <a:t>dict</a:t>
            </a:r>
            <a:r>
              <a:rPr lang="en-GB" dirty="0"/>
              <a:t>[]</a:t>
            </a:r>
          </a:p>
          <a:p>
            <a:r>
              <a:rPr lang="en-GB" dirty="0"/>
              <a:t>  - </a:t>
            </a:r>
            <a:r>
              <a:rPr lang="en-GB" dirty="0" err="1"/>
              <a:t>datetime.utcnow</a:t>
            </a:r>
            <a:r>
              <a:rPr lang="en-GB" dirty="0"/>
              <a:t>() instead of </a:t>
            </a:r>
            <a:r>
              <a:rPr lang="en-GB" dirty="0" err="1"/>
              <a:t>datetime.now</a:t>
            </a:r>
            <a:r>
              <a:rPr lang="en-GB" dirty="0"/>
              <a:t>(</a:t>
            </a:r>
            <a:r>
              <a:rPr lang="en-GB" dirty="0" err="1"/>
              <a:t>timezone.utc</a:t>
            </a:r>
            <a:r>
              <a:rPr lang="en-GB" dirty="0"/>
              <a:t>)</a:t>
            </a:r>
          </a:p>
          <a:p>
            <a:r>
              <a:rPr lang="en-GB" dirty="0"/>
              <a:t>  - %-style string formatting instead of f-strings</a:t>
            </a:r>
          </a:p>
          <a:p>
            <a:r>
              <a:rPr lang="en-GB" dirty="0"/>
              <a:t>  - an ancient pinned third-party dependency (requests==2.25.1, from 2020)</a:t>
            </a:r>
          </a:p>
          <a:p>
            <a:r>
              <a:rPr lang="en-GB" dirty="0"/>
              <a:t>"""</a:t>
            </a:r>
          </a:p>
          <a:p>
            <a:r>
              <a:rPr lang="en-GB" dirty="0"/>
              <a:t>import datetime</a:t>
            </a:r>
          </a:p>
          <a:p>
            <a:r>
              <a:rPr lang="en-GB" dirty="0"/>
              <a:t>import </a:t>
            </a:r>
            <a:r>
              <a:rPr lang="en-GB" dirty="0" err="1"/>
              <a:t>optparse</a:t>
            </a:r>
            <a:endParaRPr lang="en-GB" dirty="0"/>
          </a:p>
          <a:p>
            <a:r>
              <a:rPr lang="en-GB" dirty="0"/>
              <a:t>from typing import </a:t>
            </a:r>
            <a:r>
              <a:rPr lang="en-GB" dirty="0" err="1"/>
              <a:t>Dict</a:t>
            </a:r>
            <a:r>
              <a:rPr lang="en-GB" dirty="0"/>
              <a:t>, List</a:t>
            </a:r>
          </a:p>
          <a:p>
            <a:br>
              <a:rPr lang="en-GB" dirty="0"/>
            </a:br>
            <a:endParaRPr lang="en-GB" dirty="0"/>
          </a:p>
          <a:p>
            <a:r>
              <a:rPr lang="en-GB" dirty="0"/>
              <a:t>import requests</a:t>
            </a:r>
          </a:p>
          <a:p>
            <a:br>
              <a:rPr lang="en-GB" dirty="0"/>
            </a:br>
            <a:br>
              <a:rPr lang="en-GB" dirty="0"/>
            </a:br>
            <a:endParaRPr lang="en-GB" dirty="0"/>
          </a:p>
          <a:p>
            <a:r>
              <a:rPr lang="en-GB" dirty="0"/>
              <a:t>def </a:t>
            </a:r>
            <a:r>
              <a:rPr lang="en-GB" dirty="0" err="1"/>
              <a:t>build_report</a:t>
            </a:r>
            <a:r>
              <a:rPr lang="en-GB" dirty="0"/>
              <a:t>(name, tags):</a:t>
            </a:r>
          </a:p>
          <a:p>
            <a:r>
              <a:rPr lang="en-GB" dirty="0"/>
              <a:t>    # type: (str, List[str]) -&gt; </a:t>
            </a:r>
            <a:r>
              <a:rPr lang="en-GB" dirty="0" err="1"/>
              <a:t>Dict</a:t>
            </a:r>
            <a:r>
              <a:rPr lang="en-GB" dirty="0"/>
              <a:t>[str, object]</a:t>
            </a:r>
          </a:p>
          <a:p>
            <a:r>
              <a:rPr lang="en-GB" dirty="0"/>
              <a:t>    return {</a:t>
            </a:r>
          </a:p>
          <a:p>
            <a:r>
              <a:rPr lang="en-GB" dirty="0"/>
              <a:t>        "name": name,</a:t>
            </a:r>
          </a:p>
          <a:p>
            <a:r>
              <a:rPr lang="en-GB" dirty="0"/>
              <a:t>        "tags": tags,</a:t>
            </a:r>
          </a:p>
          <a:p>
            <a:r>
              <a:rPr lang="en-GB" dirty="0"/>
              <a:t>        "</a:t>
            </a:r>
            <a:r>
              <a:rPr lang="en-GB" dirty="0" err="1"/>
              <a:t>generated_at</a:t>
            </a:r>
            <a:r>
              <a:rPr lang="en-GB" dirty="0"/>
              <a:t>": </a:t>
            </a:r>
            <a:r>
              <a:rPr lang="en-GB" dirty="0" err="1"/>
              <a:t>datetime.datetime.utcnow</a:t>
            </a:r>
            <a:r>
              <a:rPr lang="en-GB" dirty="0"/>
              <a:t>().</a:t>
            </a:r>
            <a:r>
              <a:rPr lang="en-GB" dirty="0" err="1"/>
              <a:t>isoformat</a:t>
            </a:r>
            <a:r>
              <a:rPr lang="en-GB" dirty="0"/>
              <a:t>(),</a:t>
            </a:r>
          </a:p>
          <a:p>
            <a:r>
              <a:rPr lang="en-GB" dirty="0"/>
              <a:t>        "</a:t>
            </a:r>
            <a:r>
              <a:rPr lang="en-GB" dirty="0" err="1"/>
              <a:t>requests_version</a:t>
            </a:r>
            <a:r>
              <a:rPr lang="en-GB" dirty="0"/>
              <a:t>": </a:t>
            </a:r>
            <a:r>
              <a:rPr lang="en-GB" dirty="0" err="1"/>
              <a:t>requests.__version</a:t>
            </a:r>
            <a:r>
              <a:rPr lang="en-GB" dirty="0"/>
              <a:t>__,</a:t>
            </a:r>
          </a:p>
          <a:p>
            <a:r>
              <a:rPr lang="en-GB" dirty="0"/>
              <a:t>    }</a:t>
            </a:r>
          </a:p>
          <a:p>
            <a:br>
              <a:rPr lang="en-GB" dirty="0"/>
            </a:br>
            <a:br>
              <a:rPr lang="en-GB" dirty="0"/>
            </a:br>
            <a:endParaRPr lang="en-GB" dirty="0"/>
          </a:p>
          <a:p>
            <a:r>
              <a:rPr lang="en-GB" dirty="0"/>
              <a:t>def </a:t>
            </a:r>
            <a:r>
              <a:rPr lang="en-GB" dirty="0" err="1"/>
              <a:t>render_report</a:t>
            </a:r>
            <a:r>
              <a:rPr lang="en-GB" dirty="0"/>
              <a:t>(report):</a:t>
            </a:r>
          </a:p>
          <a:p>
            <a:r>
              <a:rPr lang="en-GB" dirty="0"/>
              <a:t>    # type: (</a:t>
            </a:r>
            <a:r>
              <a:rPr lang="en-GB" dirty="0" err="1"/>
              <a:t>Dict</a:t>
            </a:r>
            <a:r>
              <a:rPr lang="en-GB" dirty="0"/>
              <a:t>[str, object]) -&gt; str</a:t>
            </a:r>
          </a:p>
          <a:p>
            <a:r>
              <a:rPr lang="en-GB" dirty="0"/>
              <a:t>    lines = []</a:t>
            </a:r>
          </a:p>
          <a:p>
            <a:r>
              <a:rPr lang="en-GB" dirty="0"/>
              <a:t>    </a:t>
            </a:r>
            <a:r>
              <a:rPr lang="en-GB" dirty="0" err="1"/>
              <a:t>lines.append</a:t>
            </a:r>
            <a:r>
              <a:rPr lang="en-GB" dirty="0"/>
              <a:t>("Report for %s" % report["name"])</a:t>
            </a:r>
          </a:p>
          <a:p>
            <a:r>
              <a:rPr lang="en-GB" dirty="0"/>
              <a:t>    </a:t>
            </a:r>
            <a:r>
              <a:rPr lang="en-GB" dirty="0" err="1"/>
              <a:t>lines.append</a:t>
            </a:r>
            <a:r>
              <a:rPr lang="en-GB" dirty="0"/>
              <a:t>("Tags: %s" % ", ".join(report["tags"]))</a:t>
            </a:r>
          </a:p>
          <a:p>
            <a:r>
              <a:rPr lang="en-GB" dirty="0"/>
              <a:t>    </a:t>
            </a:r>
            <a:r>
              <a:rPr lang="en-GB" dirty="0" err="1"/>
              <a:t>lines.append</a:t>
            </a:r>
            <a:r>
              <a:rPr lang="en-GB" dirty="0"/>
              <a:t>("Generated (UTC): %s" % report["</a:t>
            </a:r>
            <a:r>
              <a:rPr lang="en-GB" dirty="0" err="1"/>
              <a:t>generated_at</a:t>
            </a:r>
            <a:r>
              <a:rPr lang="en-GB" dirty="0"/>
              <a:t>"])</a:t>
            </a:r>
          </a:p>
          <a:p>
            <a:r>
              <a:rPr lang="en-GB" dirty="0"/>
              <a:t>    </a:t>
            </a:r>
            <a:r>
              <a:rPr lang="en-GB" dirty="0" err="1"/>
              <a:t>lines.append</a:t>
            </a:r>
            <a:r>
              <a:rPr lang="en-GB" dirty="0"/>
              <a:t>("requests library version: %s" % report["</a:t>
            </a:r>
            <a:r>
              <a:rPr lang="en-GB" dirty="0" err="1"/>
              <a:t>requests_version</a:t>
            </a:r>
            <a:r>
              <a:rPr lang="en-GB" dirty="0"/>
              <a:t>"])</a:t>
            </a:r>
          </a:p>
          <a:p>
            <a:r>
              <a:rPr lang="en-GB" dirty="0"/>
              <a:t>    return "\</a:t>
            </a:r>
            <a:r>
              <a:rPr lang="en-GB" dirty="0" err="1"/>
              <a:t>n".join</a:t>
            </a:r>
            <a:r>
              <a:rPr lang="en-GB" dirty="0"/>
              <a:t>(lines)</a:t>
            </a:r>
          </a:p>
          <a:p>
            <a:br>
              <a:rPr lang="en-GB" dirty="0"/>
            </a:br>
            <a:br>
              <a:rPr lang="en-GB" dirty="0"/>
            </a:br>
            <a:endParaRPr lang="en-GB" dirty="0"/>
          </a:p>
          <a:p>
            <a:r>
              <a:rPr lang="en-GB" dirty="0"/>
              <a:t>def main():</a:t>
            </a:r>
          </a:p>
          <a:p>
            <a:r>
              <a:rPr lang="en-GB" dirty="0"/>
              <a:t>    parser = </a:t>
            </a:r>
            <a:r>
              <a:rPr lang="en-GB" dirty="0" err="1"/>
              <a:t>optparse.OptionParser</a:t>
            </a:r>
            <a:r>
              <a:rPr lang="en-GB" dirty="0"/>
              <a:t>()</a:t>
            </a:r>
          </a:p>
          <a:p>
            <a:r>
              <a:rPr lang="en-GB" dirty="0"/>
              <a:t>    </a:t>
            </a:r>
            <a:r>
              <a:rPr lang="en-GB" dirty="0" err="1"/>
              <a:t>parser.add_option</a:t>
            </a:r>
            <a:r>
              <a:rPr lang="en-GB" dirty="0"/>
              <a:t>("-n", "--name", </a:t>
            </a:r>
            <a:r>
              <a:rPr lang="en-GB" dirty="0" err="1"/>
              <a:t>dest</a:t>
            </a:r>
            <a:r>
              <a:rPr lang="en-GB" dirty="0"/>
              <a:t>="name", default="legacy-demo",</a:t>
            </a:r>
          </a:p>
          <a:p>
            <a:r>
              <a:rPr lang="en-GB" dirty="0"/>
              <a:t>                       help="name to include in the report")</a:t>
            </a:r>
          </a:p>
          <a:p>
            <a:r>
              <a:rPr lang="en-GB" dirty="0"/>
              <a:t>    (options, _</a:t>
            </a:r>
            <a:r>
              <a:rPr lang="en-GB" dirty="0" err="1"/>
              <a:t>args</a:t>
            </a:r>
            <a:r>
              <a:rPr lang="en-GB" dirty="0"/>
              <a:t>) = </a:t>
            </a:r>
            <a:r>
              <a:rPr lang="en-GB" dirty="0" err="1"/>
              <a:t>parser.parse_args</a:t>
            </a:r>
            <a:r>
              <a:rPr lang="en-GB" dirty="0"/>
              <a:t>()</a:t>
            </a:r>
          </a:p>
          <a:p>
            <a:br>
              <a:rPr lang="en-GB" dirty="0"/>
            </a:br>
            <a:endParaRPr lang="en-GB" dirty="0"/>
          </a:p>
          <a:p>
            <a:r>
              <a:rPr lang="en-GB" dirty="0"/>
              <a:t>    report = </a:t>
            </a:r>
            <a:r>
              <a:rPr lang="en-GB" dirty="0" err="1"/>
              <a:t>build_report</a:t>
            </a:r>
            <a:r>
              <a:rPr lang="en-GB" dirty="0"/>
              <a:t>(options.name, ["old", "deprecated", "still-runs"])</a:t>
            </a:r>
          </a:p>
          <a:p>
            <a:r>
              <a:rPr lang="en-GB" dirty="0"/>
              <a:t>    print(</a:t>
            </a:r>
            <a:r>
              <a:rPr lang="en-GB" dirty="0" err="1"/>
              <a:t>render_report</a:t>
            </a:r>
            <a:r>
              <a:rPr lang="en-GB" dirty="0"/>
              <a:t>(report))</a:t>
            </a:r>
          </a:p>
          <a:p>
            <a:br>
              <a:rPr lang="en-GB" dirty="0"/>
            </a:br>
            <a:br>
              <a:rPr lang="en-GB" dirty="0"/>
            </a:br>
            <a:endParaRPr lang="en-GB" dirty="0"/>
          </a:p>
          <a:p>
            <a:r>
              <a:rPr lang="en-GB" dirty="0"/>
              <a:t>if __name__ == "__main__":</a:t>
            </a:r>
          </a:p>
          <a:p>
            <a:r>
              <a:rPr lang="en-GB" dirty="0"/>
              <a:t>    main()</a:t>
            </a:r>
          </a:p>
          <a:p>
            <a:br>
              <a:rPr lang="en-GB" dirty="0"/>
            </a:br>
            <a:endParaRPr lang="en-GB" dirty="0"/>
          </a:p>
          <a:p>
            <a:endParaRPr lang="en-GB" dirty="0"/>
          </a:p>
        </p:txBody>
      </p:sp>
    </p:spTree>
    <p:extLst>
      <p:ext uri="{BB962C8B-B14F-4D97-AF65-F5344CB8AC3E}">
        <p14:creationId xmlns:p14="http://schemas.microsoft.com/office/powerpoint/2010/main" val="215959269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E1412-0AC9-17A7-15B3-BB39481C2A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AAF92C-5D7D-747B-8E20-9C02C05506A1}"/>
              </a:ext>
            </a:extLst>
          </p:cNvPr>
          <p:cNvSpPr>
            <a:spLocks noGrp="1"/>
          </p:cNvSpPr>
          <p:nvPr>
            <p:ph type="title"/>
          </p:nvPr>
        </p:nvSpPr>
        <p:spPr/>
        <p:txBody>
          <a:bodyPr/>
          <a:lstStyle/>
          <a:p>
            <a:r>
              <a:rPr lang="en-IN" dirty="0"/>
              <a:t>Exercise 1: Subagent (Technical)</a:t>
            </a:r>
            <a:endParaRPr lang="en-GB" dirty="0"/>
          </a:p>
        </p:txBody>
      </p:sp>
      <p:sp>
        <p:nvSpPr>
          <p:cNvPr id="3" name="Content Placeholder 2">
            <a:extLst>
              <a:ext uri="{FF2B5EF4-FFF2-40B4-BE49-F238E27FC236}">
                <a16:creationId xmlns:a16="http://schemas.microsoft.com/office/drawing/2014/main" id="{07B7A6BA-26A5-9CC2-CEFB-A5A5C4705087}"/>
              </a:ext>
            </a:extLst>
          </p:cNvPr>
          <p:cNvSpPr>
            <a:spLocks noGrp="1"/>
          </p:cNvSpPr>
          <p:nvPr>
            <p:ph idx="1"/>
          </p:nvPr>
        </p:nvSpPr>
        <p:spPr/>
        <p:txBody>
          <a:bodyPr>
            <a:normAutofit lnSpcReduction="10000"/>
          </a:bodyPr>
          <a:lstStyle/>
          <a:p>
            <a:r>
              <a:rPr lang="en-IN" dirty="0"/>
              <a:t>Create </a:t>
            </a:r>
            <a:r>
              <a:rPr lang="en-IN" dirty="0" err="1"/>
              <a:t>pyproject.toml</a:t>
            </a:r>
            <a:endParaRPr lang="en-IN" dirty="0"/>
          </a:p>
          <a:p>
            <a:r>
              <a:rPr lang="en-US" dirty="0"/>
              <a:t>[project]</a:t>
            </a:r>
          </a:p>
          <a:p>
            <a:r>
              <a:rPr lang="en-US" dirty="0"/>
              <a:t>name = "legacy-python-demo"</a:t>
            </a:r>
          </a:p>
          <a:p>
            <a:r>
              <a:rPr lang="en-US" dirty="0"/>
              <a:t>version = "0.1.0"</a:t>
            </a:r>
          </a:p>
          <a:p>
            <a:r>
              <a:rPr lang="en-US" dirty="0"/>
              <a:t>description = "Add your description here"</a:t>
            </a:r>
          </a:p>
          <a:p>
            <a:r>
              <a:rPr lang="en-US" dirty="0"/>
              <a:t>requires-python = "&gt;=3.12"</a:t>
            </a:r>
          </a:p>
          <a:p>
            <a:r>
              <a:rPr lang="en-US" dirty="0"/>
              <a:t>dependencies = [</a:t>
            </a:r>
          </a:p>
          <a:p>
            <a:r>
              <a:rPr lang="en-US" dirty="0"/>
              <a:t>    "requests==2.25.1",</a:t>
            </a:r>
          </a:p>
          <a:p>
            <a:r>
              <a:rPr lang="en-US" dirty="0"/>
              <a:t>]</a:t>
            </a:r>
            <a:endParaRPr lang="en-IN" dirty="0"/>
          </a:p>
        </p:txBody>
      </p:sp>
    </p:spTree>
    <p:extLst>
      <p:ext uri="{BB962C8B-B14F-4D97-AF65-F5344CB8AC3E}">
        <p14:creationId xmlns:p14="http://schemas.microsoft.com/office/powerpoint/2010/main" val="355892478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27DAE-319F-C6A8-B90F-49093F00DF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E35CB-831D-EB3B-55E2-F24C4164F9AE}"/>
              </a:ext>
            </a:extLst>
          </p:cNvPr>
          <p:cNvSpPr>
            <a:spLocks noGrp="1"/>
          </p:cNvSpPr>
          <p:nvPr>
            <p:ph type="title"/>
          </p:nvPr>
        </p:nvSpPr>
        <p:spPr/>
        <p:txBody>
          <a:bodyPr/>
          <a:lstStyle/>
          <a:p>
            <a:r>
              <a:rPr lang="en-IN" dirty="0"/>
              <a:t>Exercise 1: Subagent (Technical)</a:t>
            </a:r>
            <a:endParaRPr lang="en-GB" dirty="0"/>
          </a:p>
        </p:txBody>
      </p:sp>
      <p:sp>
        <p:nvSpPr>
          <p:cNvPr id="3" name="Content Placeholder 2">
            <a:extLst>
              <a:ext uri="{FF2B5EF4-FFF2-40B4-BE49-F238E27FC236}">
                <a16:creationId xmlns:a16="http://schemas.microsoft.com/office/drawing/2014/main" id="{8C722C0F-76AE-EB04-1F09-59AE6A0FE2C4}"/>
              </a:ext>
            </a:extLst>
          </p:cNvPr>
          <p:cNvSpPr>
            <a:spLocks noGrp="1"/>
          </p:cNvSpPr>
          <p:nvPr>
            <p:ph idx="1"/>
          </p:nvPr>
        </p:nvSpPr>
        <p:spPr/>
        <p:txBody>
          <a:bodyPr>
            <a:normAutofit fontScale="55000" lnSpcReduction="20000"/>
          </a:bodyPr>
          <a:lstStyle/>
          <a:p>
            <a:r>
              <a:rPr lang="en-GB" dirty="0"/>
              <a:t>Create file .</a:t>
            </a:r>
            <a:r>
              <a:rPr lang="en-GB" dirty="0" err="1"/>
              <a:t>claude</a:t>
            </a:r>
            <a:r>
              <a:rPr lang="en-GB" dirty="0"/>
              <a:t>/agents/dependency-auditor.md</a:t>
            </a:r>
          </a:p>
          <a:p>
            <a:r>
              <a:rPr lang="en-US" dirty="0"/>
              <a:t>---</a:t>
            </a:r>
          </a:p>
          <a:p>
            <a:r>
              <a:rPr lang="en-US" dirty="0"/>
              <a:t>name: dependency-auditor</a:t>
            </a:r>
          </a:p>
          <a:p>
            <a:r>
              <a:rPr lang="en-US" dirty="0"/>
              <a:t>description: Scans project dependencies for outdated or risky packages. Use proactively when reviewing project health.</a:t>
            </a:r>
          </a:p>
          <a:p>
            <a:r>
              <a:rPr lang="en-US" dirty="0"/>
              <a:t>tools: Read, Grep, Glob, Bash</a:t>
            </a:r>
          </a:p>
          <a:p>
            <a:r>
              <a:rPr lang="en-US" dirty="0"/>
              <a:t>model: sonnet</a:t>
            </a:r>
          </a:p>
          <a:p>
            <a:r>
              <a:rPr lang="en-US" dirty="0"/>
              <a:t>---</a:t>
            </a:r>
          </a:p>
          <a:p>
            <a:endParaRPr lang="en-US" dirty="0"/>
          </a:p>
          <a:p>
            <a:r>
              <a:rPr lang="en-US" dirty="0"/>
              <a:t>You are a dependency auditor. When invoked:</a:t>
            </a:r>
          </a:p>
          <a:p>
            <a:r>
              <a:rPr lang="en-US" dirty="0"/>
              <a:t>1. Find all dependency manifest files (</a:t>
            </a:r>
            <a:r>
              <a:rPr lang="en-US" dirty="0" err="1"/>
              <a:t>package.json</a:t>
            </a:r>
            <a:r>
              <a:rPr lang="en-US" dirty="0"/>
              <a:t>, requirements.txt, pom.xml, etc.)</a:t>
            </a:r>
          </a:p>
          <a:p>
            <a:r>
              <a:rPr lang="en-US" dirty="0"/>
              <a:t>2. List each dependency and its declared version</a:t>
            </a:r>
          </a:p>
          <a:p>
            <a:r>
              <a:rPr lang="en-US" dirty="0"/>
              <a:t>3. Flag any dependency that looks outdated, unpinned, or unusually old</a:t>
            </a:r>
          </a:p>
          <a:p>
            <a:r>
              <a:rPr lang="en-US" dirty="0"/>
              <a:t>4. Do not modify any files</a:t>
            </a:r>
          </a:p>
          <a:p>
            <a:r>
              <a:rPr lang="en-US" dirty="0"/>
              <a:t>5. Return a concise table: Package | Version | Concern (if any)</a:t>
            </a:r>
            <a:endParaRPr lang="en-IN" dirty="0"/>
          </a:p>
        </p:txBody>
      </p:sp>
    </p:spTree>
    <p:extLst>
      <p:ext uri="{BB962C8B-B14F-4D97-AF65-F5344CB8AC3E}">
        <p14:creationId xmlns:p14="http://schemas.microsoft.com/office/powerpoint/2010/main" val="411385380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D8DA0-0C4C-D130-F7FE-887F65859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B76C29-2013-DD8C-87E7-0A4FAC8CEFCE}"/>
              </a:ext>
            </a:extLst>
          </p:cNvPr>
          <p:cNvSpPr>
            <a:spLocks noGrp="1"/>
          </p:cNvSpPr>
          <p:nvPr>
            <p:ph type="title"/>
          </p:nvPr>
        </p:nvSpPr>
        <p:spPr/>
        <p:txBody>
          <a:bodyPr/>
          <a:lstStyle/>
          <a:p>
            <a:r>
              <a:rPr lang="en-IN" dirty="0"/>
              <a:t>Exercise 1: Subagent (Technical)</a:t>
            </a:r>
            <a:endParaRPr lang="en-GB" dirty="0"/>
          </a:p>
        </p:txBody>
      </p:sp>
      <p:sp>
        <p:nvSpPr>
          <p:cNvPr id="3" name="Content Placeholder 2">
            <a:extLst>
              <a:ext uri="{FF2B5EF4-FFF2-40B4-BE49-F238E27FC236}">
                <a16:creationId xmlns:a16="http://schemas.microsoft.com/office/drawing/2014/main" id="{5F95B152-C401-8A4B-BE46-05546283352A}"/>
              </a:ext>
            </a:extLst>
          </p:cNvPr>
          <p:cNvSpPr>
            <a:spLocks noGrp="1"/>
          </p:cNvSpPr>
          <p:nvPr>
            <p:ph idx="1"/>
          </p:nvPr>
        </p:nvSpPr>
        <p:spPr/>
        <p:txBody>
          <a:bodyPr>
            <a:normAutofit/>
          </a:bodyPr>
          <a:lstStyle/>
          <a:p>
            <a:r>
              <a:rPr lang="en-IN" dirty="0"/>
              <a:t>Run the subagent: </a:t>
            </a:r>
            <a:r>
              <a:rPr lang="en-GB" dirty="0"/>
              <a:t>Run the dependency-auditor agent on this project</a:t>
            </a:r>
          </a:p>
          <a:p>
            <a:r>
              <a:rPr lang="en-GB" dirty="0"/>
              <a:t>Check: /context</a:t>
            </a:r>
          </a:p>
          <a:p>
            <a:r>
              <a:rPr lang="en-GB" dirty="0"/>
              <a:t>It should be less than what if we had run it in the main conversation</a:t>
            </a:r>
            <a:endParaRPr lang="en-IN" dirty="0"/>
          </a:p>
        </p:txBody>
      </p:sp>
    </p:spTree>
    <p:extLst>
      <p:ext uri="{BB962C8B-B14F-4D97-AF65-F5344CB8AC3E}">
        <p14:creationId xmlns:p14="http://schemas.microsoft.com/office/powerpoint/2010/main" val="402566885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20341-DB3D-5D56-902C-85D0CC141838}"/>
              </a:ext>
            </a:extLst>
          </p:cNvPr>
          <p:cNvSpPr>
            <a:spLocks noGrp="1"/>
          </p:cNvSpPr>
          <p:nvPr>
            <p:ph type="title"/>
          </p:nvPr>
        </p:nvSpPr>
        <p:spPr/>
        <p:txBody>
          <a:bodyPr/>
          <a:lstStyle/>
          <a:p>
            <a:r>
              <a:rPr lang="en-IN" dirty="0"/>
              <a:t>Exercise 2: Subagent (BA/PM)</a:t>
            </a:r>
            <a:endParaRPr lang="en-GB" dirty="0"/>
          </a:p>
        </p:txBody>
      </p:sp>
      <p:sp>
        <p:nvSpPr>
          <p:cNvPr id="3" name="Content Placeholder 2">
            <a:extLst>
              <a:ext uri="{FF2B5EF4-FFF2-40B4-BE49-F238E27FC236}">
                <a16:creationId xmlns:a16="http://schemas.microsoft.com/office/drawing/2014/main" id="{8B8EE295-08B2-4209-ECEA-B8EBD1643700}"/>
              </a:ext>
            </a:extLst>
          </p:cNvPr>
          <p:cNvSpPr>
            <a:spLocks noGrp="1"/>
          </p:cNvSpPr>
          <p:nvPr>
            <p:ph idx="1"/>
          </p:nvPr>
        </p:nvSpPr>
        <p:spPr/>
        <p:txBody>
          <a:bodyPr/>
          <a:lstStyle/>
          <a:p>
            <a:r>
              <a:rPr lang="en-IN" dirty="0"/>
              <a:t>Goal: </a:t>
            </a:r>
            <a:r>
              <a:rPr lang="en-GB" dirty="0"/>
              <a:t>A subagent that does high-volume reading and returns only a clean summary — applied to a research/documentation task instead of code</a:t>
            </a:r>
          </a:p>
          <a:p>
            <a:r>
              <a:rPr lang="en-GB" dirty="0"/>
              <a:t>Setup</a:t>
            </a:r>
          </a:p>
          <a:p>
            <a:pPr lvl="1"/>
            <a:r>
              <a:rPr lang="en-GB" dirty="0" err="1"/>
              <a:t>mkdir</a:t>
            </a:r>
            <a:r>
              <a:rPr lang="en-GB" dirty="0"/>
              <a:t> subagent-demo-docs</a:t>
            </a:r>
          </a:p>
          <a:p>
            <a:pPr lvl="1"/>
            <a:r>
              <a:rPr lang="en-GB" dirty="0"/>
              <a:t>cd subagent-demo-docs</a:t>
            </a:r>
          </a:p>
          <a:p>
            <a:pPr lvl="1"/>
            <a:r>
              <a:rPr lang="en-GB" dirty="0" err="1"/>
              <a:t>mkdir</a:t>
            </a:r>
            <a:r>
              <a:rPr lang="en-GB" dirty="0"/>
              <a:t> -p .</a:t>
            </a:r>
            <a:r>
              <a:rPr lang="en-GB" dirty="0" err="1"/>
              <a:t>claude</a:t>
            </a:r>
            <a:r>
              <a:rPr lang="en-GB" dirty="0"/>
              <a:t>/agents</a:t>
            </a:r>
          </a:p>
          <a:p>
            <a:pPr lvl="1"/>
            <a:r>
              <a:rPr lang="en-GB" dirty="0" err="1"/>
              <a:t>mkdir</a:t>
            </a:r>
            <a:r>
              <a:rPr lang="en-GB" dirty="0"/>
              <a:t> notes</a:t>
            </a:r>
          </a:p>
          <a:p>
            <a:pPr lvl="1"/>
            <a:r>
              <a:rPr lang="en-GB" dirty="0" err="1"/>
              <a:t>claude</a:t>
            </a:r>
            <a:endParaRPr lang="en-GB" dirty="0"/>
          </a:p>
          <a:p>
            <a:pPr lvl="1"/>
            <a:endParaRPr lang="en-GB" dirty="0"/>
          </a:p>
        </p:txBody>
      </p:sp>
    </p:spTree>
    <p:extLst>
      <p:ext uri="{BB962C8B-B14F-4D97-AF65-F5344CB8AC3E}">
        <p14:creationId xmlns:p14="http://schemas.microsoft.com/office/powerpoint/2010/main" val="187489824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7D303-CDC7-C0AF-385F-091707D7AA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5C5A2-DB32-E6BD-88C5-2E6C26DD960F}"/>
              </a:ext>
            </a:extLst>
          </p:cNvPr>
          <p:cNvSpPr>
            <a:spLocks noGrp="1"/>
          </p:cNvSpPr>
          <p:nvPr>
            <p:ph type="title"/>
          </p:nvPr>
        </p:nvSpPr>
        <p:spPr/>
        <p:txBody>
          <a:bodyPr/>
          <a:lstStyle/>
          <a:p>
            <a:r>
              <a:rPr lang="en-IN" dirty="0"/>
              <a:t>Exercise 2: Subagent (BA/PM)</a:t>
            </a:r>
            <a:endParaRPr lang="en-GB" dirty="0"/>
          </a:p>
        </p:txBody>
      </p:sp>
      <p:sp>
        <p:nvSpPr>
          <p:cNvPr id="3" name="Content Placeholder 2">
            <a:extLst>
              <a:ext uri="{FF2B5EF4-FFF2-40B4-BE49-F238E27FC236}">
                <a16:creationId xmlns:a16="http://schemas.microsoft.com/office/drawing/2014/main" id="{C81D3349-39D9-37B4-1418-997E070FEF94}"/>
              </a:ext>
            </a:extLst>
          </p:cNvPr>
          <p:cNvSpPr>
            <a:spLocks noGrp="1"/>
          </p:cNvSpPr>
          <p:nvPr>
            <p:ph idx="1"/>
          </p:nvPr>
        </p:nvSpPr>
        <p:spPr/>
        <p:txBody>
          <a:bodyPr>
            <a:normAutofit fontScale="25000" lnSpcReduction="20000"/>
          </a:bodyPr>
          <a:lstStyle/>
          <a:p>
            <a:r>
              <a:rPr lang="en-IN" dirty="0"/>
              <a:t>Create </a:t>
            </a:r>
            <a:r>
              <a:rPr lang="en-GB" dirty="0"/>
              <a:t>notes/sprint_planning.md</a:t>
            </a:r>
            <a:endParaRPr lang="en-IN" dirty="0"/>
          </a:p>
          <a:p>
            <a:r>
              <a:rPr lang="en-US" dirty="0"/>
              <a:t># Sprint Planning Meeting</a:t>
            </a:r>
          </a:p>
          <a:p>
            <a:r>
              <a:rPr lang="en-US" dirty="0"/>
              <a:t>Date: 10 July</a:t>
            </a:r>
          </a:p>
          <a:p>
            <a:endParaRPr lang="en-US" dirty="0"/>
          </a:p>
          <a:p>
            <a:r>
              <a:rPr lang="en-US" dirty="0"/>
              <a:t>Participants:</a:t>
            </a:r>
          </a:p>
          <a:p>
            <a:r>
              <a:rPr lang="en-US" dirty="0"/>
              <a:t>- Product Manager</a:t>
            </a:r>
          </a:p>
          <a:p>
            <a:r>
              <a:rPr lang="en-US" dirty="0"/>
              <a:t>- Engineering</a:t>
            </a:r>
          </a:p>
          <a:p>
            <a:r>
              <a:rPr lang="en-US" dirty="0"/>
              <a:t>- QA</a:t>
            </a:r>
          </a:p>
          <a:p>
            <a:r>
              <a:rPr lang="en-US" dirty="0"/>
              <a:t>- UX</a:t>
            </a:r>
          </a:p>
          <a:p>
            <a:endParaRPr lang="en-US" dirty="0"/>
          </a:p>
          <a:p>
            <a:r>
              <a:rPr lang="en-US" dirty="0"/>
              <a:t>## Decisions</a:t>
            </a:r>
          </a:p>
          <a:p>
            <a:endParaRPr lang="en-US" dirty="0"/>
          </a:p>
          <a:p>
            <a:r>
              <a:rPr lang="en-US" dirty="0"/>
              <a:t>- User authentication will use OAuth 2.1.</a:t>
            </a:r>
          </a:p>
          <a:p>
            <a:r>
              <a:rPr lang="en-US" dirty="0"/>
              <a:t>- GitHub and Google login will be included in the first release.</a:t>
            </a:r>
          </a:p>
          <a:p>
            <a:r>
              <a:rPr lang="en-US" dirty="0"/>
              <a:t>- Microsoft login will be added later.</a:t>
            </a:r>
          </a:p>
          <a:p>
            <a:r>
              <a:rPr lang="en-US" dirty="0"/>
              <a:t>- Release target remains 31 July.</a:t>
            </a:r>
          </a:p>
          <a:p>
            <a:endParaRPr lang="en-US" dirty="0"/>
          </a:p>
          <a:p>
            <a:r>
              <a:rPr lang="en-US" dirty="0"/>
              <a:t>## Discussion</a:t>
            </a:r>
          </a:p>
          <a:p>
            <a:endParaRPr lang="en-US" dirty="0"/>
          </a:p>
          <a:p>
            <a:r>
              <a:rPr lang="en-US" dirty="0"/>
              <a:t>- API response time should remain below 300 </a:t>
            </a:r>
            <a:r>
              <a:rPr lang="en-US" dirty="0" err="1"/>
              <a:t>ms.</a:t>
            </a:r>
            <a:endParaRPr lang="en-US" dirty="0"/>
          </a:p>
          <a:p>
            <a:r>
              <a:rPr lang="en-US" dirty="0"/>
              <a:t>- Logging should be centralized.</a:t>
            </a:r>
          </a:p>
          <a:p>
            <a:endParaRPr lang="en-US" dirty="0"/>
          </a:p>
          <a:p>
            <a:r>
              <a:rPr lang="en-US" dirty="0"/>
              <a:t>## Open Questions</a:t>
            </a:r>
          </a:p>
          <a:p>
            <a:endParaRPr lang="en-US" dirty="0"/>
          </a:p>
          <a:p>
            <a:r>
              <a:rPr lang="en-US" dirty="0"/>
              <a:t>- Should refresh tokens expire after 7 or 30 days?</a:t>
            </a:r>
          </a:p>
          <a:p>
            <a:r>
              <a:rPr lang="en-US" dirty="0"/>
              <a:t>- Which monitoring dashboard should be adopted?</a:t>
            </a:r>
          </a:p>
          <a:p>
            <a:endParaRPr lang="en-US" dirty="0"/>
          </a:p>
          <a:p>
            <a:r>
              <a:rPr lang="en-US" dirty="0"/>
              <a:t>## Action Items</a:t>
            </a:r>
          </a:p>
          <a:p>
            <a:endParaRPr lang="en-US" dirty="0"/>
          </a:p>
          <a:p>
            <a:r>
              <a:rPr lang="en-US" dirty="0"/>
              <a:t>- Rahul: Implement OAuth flow.</a:t>
            </a:r>
          </a:p>
          <a:p>
            <a:r>
              <a:rPr lang="en-US" dirty="0"/>
              <a:t>- Neha: Prepare API documentation.</a:t>
            </a:r>
            <a:endParaRPr lang="en-GB" dirty="0"/>
          </a:p>
        </p:txBody>
      </p:sp>
    </p:spTree>
    <p:extLst>
      <p:ext uri="{BB962C8B-B14F-4D97-AF65-F5344CB8AC3E}">
        <p14:creationId xmlns:p14="http://schemas.microsoft.com/office/powerpoint/2010/main" val="74489073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AEA19-4969-311B-6750-0439AED7C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693FD2-495A-9C1C-0AA0-155B2C423F3C}"/>
              </a:ext>
            </a:extLst>
          </p:cNvPr>
          <p:cNvSpPr>
            <a:spLocks noGrp="1"/>
          </p:cNvSpPr>
          <p:nvPr>
            <p:ph type="title"/>
          </p:nvPr>
        </p:nvSpPr>
        <p:spPr/>
        <p:txBody>
          <a:bodyPr/>
          <a:lstStyle/>
          <a:p>
            <a:r>
              <a:rPr lang="en-IN" dirty="0"/>
              <a:t>Exercise 2: Subagent (BA/PM)</a:t>
            </a:r>
            <a:endParaRPr lang="en-GB" dirty="0"/>
          </a:p>
        </p:txBody>
      </p:sp>
      <p:sp>
        <p:nvSpPr>
          <p:cNvPr id="3" name="Content Placeholder 2">
            <a:extLst>
              <a:ext uri="{FF2B5EF4-FFF2-40B4-BE49-F238E27FC236}">
                <a16:creationId xmlns:a16="http://schemas.microsoft.com/office/drawing/2014/main" id="{B79770B2-88DF-F344-C624-7666BC44CF8F}"/>
              </a:ext>
            </a:extLst>
          </p:cNvPr>
          <p:cNvSpPr>
            <a:spLocks noGrp="1"/>
          </p:cNvSpPr>
          <p:nvPr>
            <p:ph idx="1"/>
          </p:nvPr>
        </p:nvSpPr>
        <p:spPr/>
        <p:txBody>
          <a:bodyPr>
            <a:normAutofit fontScale="25000" lnSpcReduction="20000"/>
          </a:bodyPr>
          <a:lstStyle/>
          <a:p>
            <a:r>
              <a:rPr lang="en-IN" dirty="0"/>
              <a:t>Create </a:t>
            </a:r>
            <a:r>
              <a:rPr lang="en-GB" dirty="0"/>
              <a:t>notes/daily_status_11_july.md</a:t>
            </a:r>
            <a:endParaRPr lang="en-IN" dirty="0"/>
          </a:p>
          <a:p>
            <a:r>
              <a:rPr lang="en-US" dirty="0"/>
              <a:t># Daily Status</a:t>
            </a:r>
          </a:p>
          <a:p>
            <a:r>
              <a:rPr lang="en-US" dirty="0"/>
              <a:t>Date: 11 July</a:t>
            </a:r>
          </a:p>
          <a:p>
            <a:endParaRPr lang="en-US" dirty="0"/>
          </a:p>
          <a:p>
            <a:r>
              <a:rPr lang="en-US" dirty="0"/>
              <a:t>Completed</a:t>
            </a:r>
          </a:p>
          <a:p>
            <a:endParaRPr lang="en-US" dirty="0"/>
          </a:p>
          <a:p>
            <a:r>
              <a:rPr lang="en-US" dirty="0"/>
              <a:t>- OAuth login implementation started.</a:t>
            </a:r>
          </a:p>
          <a:p>
            <a:r>
              <a:rPr lang="en-US" dirty="0"/>
              <a:t>- API documentation draft completed.</a:t>
            </a:r>
          </a:p>
          <a:p>
            <a:r>
              <a:rPr lang="en-US" dirty="0"/>
              <a:t>- Docker environment configured.</a:t>
            </a:r>
          </a:p>
          <a:p>
            <a:endParaRPr lang="en-US" dirty="0"/>
          </a:p>
          <a:p>
            <a:r>
              <a:rPr lang="en-US" dirty="0"/>
              <a:t>Issues</a:t>
            </a:r>
          </a:p>
          <a:p>
            <a:endParaRPr lang="en-US" dirty="0"/>
          </a:p>
          <a:p>
            <a:r>
              <a:rPr lang="en-US" dirty="0"/>
              <a:t>- Token refresh policy still undecided.</a:t>
            </a:r>
          </a:p>
          <a:p>
            <a:r>
              <a:rPr lang="en-US" dirty="0"/>
              <a:t>- Performance testing not yet started.</a:t>
            </a:r>
          </a:p>
          <a:p>
            <a:endParaRPr lang="en-US" dirty="0"/>
          </a:p>
          <a:p>
            <a:r>
              <a:rPr lang="en-US" dirty="0"/>
              <a:t>Discussion</a:t>
            </a:r>
          </a:p>
          <a:p>
            <a:endParaRPr lang="en-US" dirty="0"/>
          </a:p>
          <a:p>
            <a:r>
              <a:rPr lang="en-US" dirty="0"/>
              <a:t>- Team agreed centralized logging is required.</a:t>
            </a:r>
          </a:p>
          <a:p>
            <a:r>
              <a:rPr lang="en-US" dirty="0"/>
              <a:t>- Grafana and Datadog are being evaluated.</a:t>
            </a:r>
          </a:p>
          <a:p>
            <a:endParaRPr lang="en-US" dirty="0"/>
          </a:p>
          <a:p>
            <a:r>
              <a:rPr lang="en-US" dirty="0"/>
              <a:t>Next Steps</a:t>
            </a:r>
          </a:p>
          <a:p>
            <a:endParaRPr lang="en-US" dirty="0"/>
          </a:p>
          <a:p>
            <a:r>
              <a:rPr lang="en-US" dirty="0"/>
              <a:t>- Complete authentication module.</a:t>
            </a:r>
          </a:p>
          <a:p>
            <a:r>
              <a:rPr lang="en-US" dirty="0"/>
              <a:t>- Begin unit testing.</a:t>
            </a:r>
            <a:endParaRPr lang="en-GB" dirty="0"/>
          </a:p>
        </p:txBody>
      </p:sp>
    </p:spTree>
    <p:extLst>
      <p:ext uri="{BB962C8B-B14F-4D97-AF65-F5344CB8AC3E}">
        <p14:creationId xmlns:p14="http://schemas.microsoft.com/office/powerpoint/2010/main" val="349842958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5D36D-22BA-826F-1ED4-F36F3D8568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FC27F3-F2EC-08DE-8520-5C42696EB5B0}"/>
              </a:ext>
            </a:extLst>
          </p:cNvPr>
          <p:cNvSpPr>
            <a:spLocks noGrp="1"/>
          </p:cNvSpPr>
          <p:nvPr>
            <p:ph type="title"/>
          </p:nvPr>
        </p:nvSpPr>
        <p:spPr/>
        <p:txBody>
          <a:bodyPr/>
          <a:lstStyle/>
          <a:p>
            <a:r>
              <a:rPr lang="en-IN" dirty="0"/>
              <a:t>Exercise 2: Subagent (BA/PM)</a:t>
            </a:r>
            <a:endParaRPr lang="en-GB" dirty="0"/>
          </a:p>
        </p:txBody>
      </p:sp>
      <p:sp>
        <p:nvSpPr>
          <p:cNvPr id="3" name="Content Placeholder 2">
            <a:extLst>
              <a:ext uri="{FF2B5EF4-FFF2-40B4-BE49-F238E27FC236}">
                <a16:creationId xmlns:a16="http://schemas.microsoft.com/office/drawing/2014/main" id="{560ECC67-8623-C568-2EE4-086359D80B50}"/>
              </a:ext>
            </a:extLst>
          </p:cNvPr>
          <p:cNvSpPr>
            <a:spLocks noGrp="1"/>
          </p:cNvSpPr>
          <p:nvPr>
            <p:ph idx="1"/>
          </p:nvPr>
        </p:nvSpPr>
        <p:spPr/>
        <p:txBody>
          <a:bodyPr>
            <a:normAutofit fontScale="25000" lnSpcReduction="20000"/>
          </a:bodyPr>
          <a:lstStyle/>
          <a:p>
            <a:r>
              <a:rPr lang="en-IN" dirty="0"/>
              <a:t>Create </a:t>
            </a:r>
            <a:r>
              <a:rPr lang="en-GB" dirty="0"/>
              <a:t>notes/architecture_review.md</a:t>
            </a:r>
            <a:endParaRPr lang="en-IN" dirty="0"/>
          </a:p>
          <a:p>
            <a:r>
              <a:rPr lang="en-US" dirty="0"/>
              <a:t># Architecture Review</a:t>
            </a:r>
          </a:p>
          <a:p>
            <a:endParaRPr lang="en-US" dirty="0"/>
          </a:p>
          <a:p>
            <a:r>
              <a:rPr lang="en-US" dirty="0"/>
              <a:t>## Decisions</a:t>
            </a:r>
          </a:p>
          <a:p>
            <a:endParaRPr lang="en-US" dirty="0"/>
          </a:p>
          <a:p>
            <a:r>
              <a:rPr lang="en-US" dirty="0"/>
              <a:t>- Authentication service will remain separate from application service.</a:t>
            </a:r>
          </a:p>
          <a:p>
            <a:r>
              <a:rPr lang="en-US" dirty="0"/>
              <a:t>- OAuth 2.1 approved.</a:t>
            </a:r>
          </a:p>
          <a:p>
            <a:r>
              <a:rPr lang="en-US" dirty="0"/>
              <a:t>- JWT access tokens will be used.</a:t>
            </a:r>
          </a:p>
          <a:p>
            <a:endParaRPr lang="en-US" dirty="0"/>
          </a:p>
          <a:p>
            <a:r>
              <a:rPr lang="en-US" dirty="0"/>
              <a:t>## Recommendations</a:t>
            </a:r>
          </a:p>
          <a:p>
            <a:endParaRPr lang="en-US" dirty="0"/>
          </a:p>
          <a:p>
            <a:r>
              <a:rPr lang="en-US" dirty="0"/>
              <a:t>- Use Redis for session caching.</a:t>
            </a:r>
          </a:p>
          <a:p>
            <a:r>
              <a:rPr lang="en-US" dirty="0"/>
              <a:t>- Add rate limiting.</a:t>
            </a:r>
          </a:p>
          <a:p>
            <a:r>
              <a:rPr lang="en-US" dirty="0"/>
              <a:t>- Centralized logging is mandatory.</a:t>
            </a:r>
          </a:p>
          <a:p>
            <a:endParaRPr lang="en-US" dirty="0"/>
          </a:p>
          <a:p>
            <a:r>
              <a:rPr lang="en-US" dirty="0"/>
              <a:t>## Risks</a:t>
            </a:r>
          </a:p>
          <a:p>
            <a:endParaRPr lang="en-US" dirty="0"/>
          </a:p>
          <a:p>
            <a:r>
              <a:rPr lang="en-US" dirty="0"/>
              <a:t>- Monitoring solution not finalized.</a:t>
            </a:r>
          </a:p>
          <a:p>
            <a:r>
              <a:rPr lang="en-US" dirty="0"/>
              <a:t>- Token expiration policy pending.</a:t>
            </a:r>
          </a:p>
          <a:p>
            <a:endParaRPr lang="en-US" dirty="0"/>
          </a:p>
          <a:p>
            <a:r>
              <a:rPr lang="en-US" dirty="0"/>
              <a:t>## Questions</a:t>
            </a:r>
          </a:p>
          <a:p>
            <a:endParaRPr lang="en-US" dirty="0"/>
          </a:p>
          <a:p>
            <a:r>
              <a:rPr lang="en-US" dirty="0"/>
              <a:t>- Should Redis be highly available?</a:t>
            </a:r>
          </a:p>
          <a:p>
            <a:r>
              <a:rPr lang="en-US" dirty="0"/>
              <a:t>- Which observability platform should be selected?</a:t>
            </a:r>
            <a:endParaRPr lang="en-GB" dirty="0"/>
          </a:p>
        </p:txBody>
      </p:sp>
    </p:spTree>
    <p:extLst>
      <p:ext uri="{BB962C8B-B14F-4D97-AF65-F5344CB8AC3E}">
        <p14:creationId xmlns:p14="http://schemas.microsoft.com/office/powerpoint/2010/main" val="26082052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04B87-F631-7E10-8DFA-F3C8DF08F3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5E2662-FA6F-EC1E-4F9C-E24160630BAF}"/>
              </a:ext>
            </a:extLst>
          </p:cNvPr>
          <p:cNvSpPr>
            <a:spLocks noGrp="1"/>
          </p:cNvSpPr>
          <p:nvPr>
            <p:ph type="title"/>
          </p:nvPr>
        </p:nvSpPr>
        <p:spPr/>
        <p:txBody>
          <a:bodyPr/>
          <a:lstStyle/>
          <a:p>
            <a:r>
              <a:rPr lang="en-IN" dirty="0"/>
              <a:t>Exercise 2: Subagent (BA/PM)</a:t>
            </a:r>
            <a:endParaRPr lang="en-GB" dirty="0"/>
          </a:p>
        </p:txBody>
      </p:sp>
      <p:sp>
        <p:nvSpPr>
          <p:cNvPr id="3" name="Content Placeholder 2">
            <a:extLst>
              <a:ext uri="{FF2B5EF4-FFF2-40B4-BE49-F238E27FC236}">
                <a16:creationId xmlns:a16="http://schemas.microsoft.com/office/drawing/2014/main" id="{93E18EAA-58BD-6230-975F-C0D0DABF2C94}"/>
              </a:ext>
            </a:extLst>
          </p:cNvPr>
          <p:cNvSpPr>
            <a:spLocks noGrp="1"/>
          </p:cNvSpPr>
          <p:nvPr>
            <p:ph idx="1"/>
          </p:nvPr>
        </p:nvSpPr>
        <p:spPr/>
        <p:txBody>
          <a:bodyPr>
            <a:normAutofit fontScale="25000" lnSpcReduction="20000"/>
          </a:bodyPr>
          <a:lstStyle/>
          <a:p>
            <a:r>
              <a:rPr lang="en-IN" dirty="0"/>
              <a:t>Create </a:t>
            </a:r>
            <a:r>
              <a:rPr lang="en-GB" dirty="0"/>
              <a:t>notes/qa_meeting.md</a:t>
            </a:r>
            <a:endParaRPr lang="en-IN" dirty="0"/>
          </a:p>
          <a:p>
            <a:r>
              <a:rPr lang="en-US" dirty="0"/>
              <a:t># QA Planning Meeting</a:t>
            </a:r>
          </a:p>
          <a:p>
            <a:endParaRPr lang="en-US" dirty="0"/>
          </a:p>
          <a:p>
            <a:r>
              <a:rPr lang="en-US" dirty="0"/>
              <a:t>## Test Scope</a:t>
            </a:r>
          </a:p>
          <a:p>
            <a:endParaRPr lang="en-US" dirty="0"/>
          </a:p>
          <a:p>
            <a:r>
              <a:rPr lang="en-US" dirty="0"/>
              <a:t>- Authentication</a:t>
            </a:r>
          </a:p>
          <a:p>
            <a:r>
              <a:rPr lang="en-US" dirty="0"/>
              <a:t>- User Profile</a:t>
            </a:r>
          </a:p>
          <a:p>
            <a:r>
              <a:rPr lang="en-US" dirty="0"/>
              <a:t>- API Security</a:t>
            </a:r>
          </a:p>
          <a:p>
            <a:endParaRPr lang="en-US" dirty="0"/>
          </a:p>
          <a:p>
            <a:r>
              <a:rPr lang="en-US" dirty="0"/>
              <a:t>## Decisions</a:t>
            </a:r>
          </a:p>
          <a:p>
            <a:endParaRPr lang="en-US" dirty="0"/>
          </a:p>
          <a:p>
            <a:r>
              <a:rPr lang="en-US" dirty="0"/>
              <a:t>- Performance testing must be completed before release.</a:t>
            </a:r>
          </a:p>
          <a:p>
            <a:r>
              <a:rPr lang="en-US" dirty="0"/>
              <a:t>- Security testing will include OWASP Top 10 checks.</a:t>
            </a:r>
          </a:p>
          <a:p>
            <a:endParaRPr lang="en-US" dirty="0"/>
          </a:p>
          <a:p>
            <a:r>
              <a:rPr lang="en-US" dirty="0"/>
              <a:t>## Concerns</a:t>
            </a:r>
          </a:p>
          <a:p>
            <a:endParaRPr lang="en-US" dirty="0"/>
          </a:p>
          <a:p>
            <a:r>
              <a:rPr lang="en-US" dirty="0"/>
              <a:t>- Authentication implementation still changing.</a:t>
            </a:r>
          </a:p>
          <a:p>
            <a:r>
              <a:rPr lang="en-US" dirty="0"/>
              <a:t>- Monitoring dashboards unavailable.</a:t>
            </a:r>
          </a:p>
          <a:p>
            <a:endParaRPr lang="en-US" dirty="0"/>
          </a:p>
          <a:p>
            <a:r>
              <a:rPr lang="en-US" dirty="0"/>
              <a:t>## Open Questions</a:t>
            </a:r>
          </a:p>
          <a:p>
            <a:endParaRPr lang="en-US" dirty="0"/>
          </a:p>
          <a:p>
            <a:r>
              <a:rPr lang="en-US" dirty="0"/>
              <a:t>- Who owns performance testing?</a:t>
            </a:r>
          </a:p>
          <a:p>
            <a:r>
              <a:rPr lang="en-US" dirty="0"/>
              <a:t>- Should load testing use JMeter or k6?</a:t>
            </a:r>
          </a:p>
          <a:p>
            <a:endParaRPr lang="en-US" dirty="0"/>
          </a:p>
          <a:p>
            <a:r>
              <a:rPr lang="en-US" dirty="0"/>
              <a:t>## Notes</a:t>
            </a:r>
          </a:p>
          <a:p>
            <a:endParaRPr lang="en-US" dirty="0"/>
          </a:p>
          <a:p>
            <a:r>
              <a:rPr lang="en-US" dirty="0"/>
              <a:t>API documentation will be used to generate automated tests.</a:t>
            </a:r>
            <a:endParaRPr lang="en-GB" dirty="0"/>
          </a:p>
        </p:txBody>
      </p:sp>
    </p:spTree>
    <p:extLst>
      <p:ext uri="{BB962C8B-B14F-4D97-AF65-F5344CB8AC3E}">
        <p14:creationId xmlns:p14="http://schemas.microsoft.com/office/powerpoint/2010/main" val="188102187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B873E-43EA-052B-9C6F-3D6BB12C2B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64851D-0EF8-8307-0F5D-631BDBECEC15}"/>
              </a:ext>
            </a:extLst>
          </p:cNvPr>
          <p:cNvSpPr>
            <a:spLocks noGrp="1"/>
          </p:cNvSpPr>
          <p:nvPr>
            <p:ph type="title"/>
          </p:nvPr>
        </p:nvSpPr>
        <p:spPr/>
        <p:txBody>
          <a:bodyPr/>
          <a:lstStyle/>
          <a:p>
            <a:r>
              <a:rPr lang="en-IN" dirty="0"/>
              <a:t>Exercise 2: Subagent (BA/PM)</a:t>
            </a:r>
            <a:endParaRPr lang="en-GB" dirty="0"/>
          </a:p>
        </p:txBody>
      </p:sp>
      <p:sp>
        <p:nvSpPr>
          <p:cNvPr id="3" name="Content Placeholder 2">
            <a:extLst>
              <a:ext uri="{FF2B5EF4-FFF2-40B4-BE49-F238E27FC236}">
                <a16:creationId xmlns:a16="http://schemas.microsoft.com/office/drawing/2014/main" id="{0EDBDDA4-969D-4FC4-3456-02639D79E92E}"/>
              </a:ext>
            </a:extLst>
          </p:cNvPr>
          <p:cNvSpPr>
            <a:spLocks noGrp="1"/>
          </p:cNvSpPr>
          <p:nvPr>
            <p:ph idx="1"/>
          </p:nvPr>
        </p:nvSpPr>
        <p:spPr/>
        <p:txBody>
          <a:bodyPr>
            <a:normAutofit fontScale="25000" lnSpcReduction="20000"/>
          </a:bodyPr>
          <a:lstStyle/>
          <a:p>
            <a:r>
              <a:rPr lang="en-IN" dirty="0"/>
              <a:t>Create </a:t>
            </a:r>
            <a:r>
              <a:rPr lang="en-GB" dirty="0"/>
              <a:t>notes/project_status_week2.md</a:t>
            </a:r>
            <a:endParaRPr lang="en-IN" dirty="0"/>
          </a:p>
          <a:p>
            <a:r>
              <a:rPr lang="en-US" dirty="0"/>
              <a:t># Weekly Project Status</a:t>
            </a:r>
          </a:p>
          <a:p>
            <a:endParaRPr lang="en-US" dirty="0"/>
          </a:p>
          <a:p>
            <a:r>
              <a:rPr lang="en-US" dirty="0"/>
              <a:t>Overall Progress: 65%</a:t>
            </a:r>
          </a:p>
          <a:p>
            <a:endParaRPr lang="en-US" dirty="0"/>
          </a:p>
          <a:p>
            <a:r>
              <a:rPr lang="en-US" dirty="0"/>
              <a:t>Completed</a:t>
            </a:r>
          </a:p>
          <a:p>
            <a:endParaRPr lang="en-US" dirty="0"/>
          </a:p>
          <a:p>
            <a:r>
              <a:rPr lang="en-US" dirty="0"/>
              <a:t>- OAuth architecture finalized.</a:t>
            </a:r>
          </a:p>
          <a:p>
            <a:r>
              <a:rPr lang="en-US" dirty="0"/>
              <a:t>- API documentation nearly complete.</a:t>
            </a:r>
          </a:p>
          <a:p>
            <a:r>
              <a:rPr lang="en-US" dirty="0"/>
              <a:t>- Docker development environment stable.</a:t>
            </a:r>
          </a:p>
          <a:p>
            <a:endParaRPr lang="en-US" dirty="0"/>
          </a:p>
          <a:p>
            <a:r>
              <a:rPr lang="en-US" dirty="0"/>
              <a:t>Current Risks</a:t>
            </a:r>
          </a:p>
          <a:p>
            <a:endParaRPr lang="en-US" dirty="0"/>
          </a:p>
          <a:p>
            <a:r>
              <a:rPr lang="en-US" dirty="0"/>
              <a:t>- Performance benchmarks not available.</a:t>
            </a:r>
          </a:p>
          <a:p>
            <a:r>
              <a:rPr lang="en-US" dirty="0"/>
              <a:t>- Monitoring platform decision delayed.</a:t>
            </a:r>
          </a:p>
          <a:p>
            <a:r>
              <a:rPr lang="en-US" dirty="0"/>
              <a:t>- Refresh token lifetime undecided.</a:t>
            </a:r>
          </a:p>
          <a:p>
            <a:endParaRPr lang="en-US" dirty="0"/>
          </a:p>
          <a:p>
            <a:r>
              <a:rPr lang="en-US" dirty="0"/>
              <a:t>Upcoming Work</a:t>
            </a:r>
          </a:p>
          <a:p>
            <a:endParaRPr lang="en-US" dirty="0"/>
          </a:p>
          <a:p>
            <a:r>
              <a:rPr lang="en-US" dirty="0"/>
              <a:t>- Finish authentication.</a:t>
            </a:r>
          </a:p>
          <a:p>
            <a:r>
              <a:rPr lang="en-US" dirty="0"/>
              <a:t>- Execute regression testing.</a:t>
            </a:r>
          </a:p>
          <a:p>
            <a:r>
              <a:rPr lang="en-US" dirty="0"/>
              <a:t>- Finalize monitoring stack.</a:t>
            </a:r>
          </a:p>
          <a:p>
            <a:endParaRPr lang="en-US" dirty="0"/>
          </a:p>
          <a:p>
            <a:r>
              <a:rPr lang="en-US" dirty="0"/>
              <a:t>Management Notes</a:t>
            </a:r>
          </a:p>
          <a:p>
            <a:endParaRPr lang="en-US" dirty="0"/>
          </a:p>
          <a:p>
            <a:r>
              <a:rPr lang="en-US" dirty="0"/>
              <a:t>Release date of 31 July is still achievable if authentication completes this week.</a:t>
            </a:r>
            <a:endParaRPr lang="en-GB" dirty="0"/>
          </a:p>
        </p:txBody>
      </p:sp>
    </p:spTree>
    <p:extLst>
      <p:ext uri="{BB962C8B-B14F-4D97-AF65-F5344CB8AC3E}">
        <p14:creationId xmlns:p14="http://schemas.microsoft.com/office/powerpoint/2010/main" val="206202521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F9DF4-D515-AC05-B452-66DFED9531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58B51F-EF21-5480-A6A1-D5FEC8ED313E}"/>
              </a:ext>
            </a:extLst>
          </p:cNvPr>
          <p:cNvSpPr>
            <a:spLocks noGrp="1"/>
          </p:cNvSpPr>
          <p:nvPr>
            <p:ph type="title"/>
          </p:nvPr>
        </p:nvSpPr>
        <p:spPr/>
        <p:txBody>
          <a:bodyPr/>
          <a:lstStyle/>
          <a:p>
            <a:r>
              <a:rPr lang="en-IN" dirty="0"/>
              <a:t>Exercise 2: Subagent (BA/PM)</a:t>
            </a:r>
            <a:endParaRPr lang="en-GB" dirty="0"/>
          </a:p>
        </p:txBody>
      </p:sp>
      <p:sp>
        <p:nvSpPr>
          <p:cNvPr id="3" name="Content Placeholder 2">
            <a:extLst>
              <a:ext uri="{FF2B5EF4-FFF2-40B4-BE49-F238E27FC236}">
                <a16:creationId xmlns:a16="http://schemas.microsoft.com/office/drawing/2014/main" id="{DD888A9D-19C6-F5B3-B03E-6844F97A8674}"/>
              </a:ext>
            </a:extLst>
          </p:cNvPr>
          <p:cNvSpPr>
            <a:spLocks noGrp="1"/>
          </p:cNvSpPr>
          <p:nvPr>
            <p:ph idx="1"/>
          </p:nvPr>
        </p:nvSpPr>
        <p:spPr/>
        <p:txBody>
          <a:bodyPr>
            <a:normAutofit fontScale="55000" lnSpcReduction="20000"/>
          </a:bodyPr>
          <a:lstStyle/>
          <a:p>
            <a:r>
              <a:rPr lang="en-IN" dirty="0"/>
              <a:t>Create </a:t>
            </a:r>
            <a:r>
              <a:rPr lang="en-GB" dirty="0"/>
              <a:t>.</a:t>
            </a:r>
            <a:r>
              <a:rPr lang="en-GB" dirty="0" err="1"/>
              <a:t>claude</a:t>
            </a:r>
            <a:r>
              <a:rPr lang="en-GB" dirty="0"/>
              <a:t>/agents/notes-digester.md</a:t>
            </a:r>
            <a:endParaRPr lang="en-IN" dirty="0"/>
          </a:p>
          <a:p>
            <a:r>
              <a:rPr lang="en-US" dirty="0"/>
              <a:t>---</a:t>
            </a:r>
          </a:p>
          <a:p>
            <a:r>
              <a:rPr lang="en-US" dirty="0"/>
              <a:t>name: notes-digester</a:t>
            </a:r>
          </a:p>
          <a:p>
            <a:r>
              <a:rPr lang="en-US" dirty="0"/>
              <a:t>description: Reads through multiple meeting notes or status documents and returns a consolidated summary. Use proactively when asked to review or summarize a batch of notes.</a:t>
            </a:r>
          </a:p>
          <a:p>
            <a:r>
              <a:rPr lang="en-US" dirty="0"/>
              <a:t>tools: Read, Grep, Glob</a:t>
            </a:r>
          </a:p>
          <a:p>
            <a:r>
              <a:rPr lang="en-US" dirty="0"/>
              <a:t>model: sonnet</a:t>
            </a:r>
          </a:p>
          <a:p>
            <a:r>
              <a:rPr lang="en-US" dirty="0"/>
              <a:t>---</a:t>
            </a:r>
          </a:p>
          <a:p>
            <a:endParaRPr lang="en-US" dirty="0"/>
          </a:p>
          <a:p>
            <a:r>
              <a:rPr lang="en-US" dirty="0"/>
              <a:t>You are a research digester for project notes. When invoked:</a:t>
            </a:r>
          </a:p>
          <a:p>
            <a:r>
              <a:rPr lang="en-US" dirty="0"/>
              <a:t>1. Read every file in the notes/ folder</a:t>
            </a:r>
          </a:p>
          <a:p>
            <a:r>
              <a:rPr lang="en-US" dirty="0"/>
              <a:t>2. Identify recurring themes, decisions made, and open questions across all files</a:t>
            </a:r>
          </a:p>
          <a:p>
            <a:r>
              <a:rPr lang="en-US" dirty="0"/>
              <a:t>3. Note which file each key point came from</a:t>
            </a:r>
          </a:p>
          <a:p>
            <a:r>
              <a:rPr lang="en-US" dirty="0"/>
              <a:t>4. Do not modify any files</a:t>
            </a:r>
          </a:p>
          <a:p>
            <a:r>
              <a:rPr lang="en-US" dirty="0"/>
              <a:t>5. Return a concise summary organized as: Key Decisions | Recurring Themes | Open Questions (with source file noted for each)</a:t>
            </a:r>
            <a:endParaRPr lang="en-GB" dirty="0"/>
          </a:p>
        </p:txBody>
      </p:sp>
    </p:spTree>
    <p:extLst>
      <p:ext uri="{BB962C8B-B14F-4D97-AF65-F5344CB8AC3E}">
        <p14:creationId xmlns:p14="http://schemas.microsoft.com/office/powerpoint/2010/main" val="103176336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CA6E1-5B5B-D0AC-958B-46AD71446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3E298C-181F-0D68-E710-AD9458543B67}"/>
              </a:ext>
            </a:extLst>
          </p:cNvPr>
          <p:cNvSpPr>
            <a:spLocks noGrp="1"/>
          </p:cNvSpPr>
          <p:nvPr>
            <p:ph type="title"/>
          </p:nvPr>
        </p:nvSpPr>
        <p:spPr/>
        <p:txBody>
          <a:bodyPr/>
          <a:lstStyle/>
          <a:p>
            <a:r>
              <a:rPr lang="en-IN" dirty="0"/>
              <a:t>Exercise 2: Subagent (BA/PM)</a:t>
            </a:r>
            <a:endParaRPr lang="en-GB" dirty="0"/>
          </a:p>
        </p:txBody>
      </p:sp>
      <p:sp>
        <p:nvSpPr>
          <p:cNvPr id="3" name="Content Placeholder 2">
            <a:extLst>
              <a:ext uri="{FF2B5EF4-FFF2-40B4-BE49-F238E27FC236}">
                <a16:creationId xmlns:a16="http://schemas.microsoft.com/office/drawing/2014/main" id="{2EEF212B-03BE-3581-6FD1-71AC377D2FD9}"/>
              </a:ext>
            </a:extLst>
          </p:cNvPr>
          <p:cNvSpPr>
            <a:spLocks noGrp="1"/>
          </p:cNvSpPr>
          <p:nvPr>
            <p:ph idx="1"/>
          </p:nvPr>
        </p:nvSpPr>
        <p:spPr/>
        <p:txBody>
          <a:bodyPr>
            <a:normAutofit/>
          </a:bodyPr>
          <a:lstStyle/>
          <a:p>
            <a:r>
              <a:rPr lang="en-IN" dirty="0"/>
              <a:t>Run the subagent: </a:t>
            </a:r>
            <a:r>
              <a:rPr lang="en-GB" dirty="0"/>
              <a:t>Run the notes-digester agent on the notes folder</a:t>
            </a:r>
          </a:p>
          <a:p>
            <a:r>
              <a:rPr lang="en-GB" dirty="0"/>
              <a:t>Other examples</a:t>
            </a:r>
          </a:p>
          <a:p>
            <a:pPr lvl="1"/>
            <a:r>
              <a:rPr lang="en-GB" dirty="0"/>
              <a:t>summarize this week's Slack exports</a:t>
            </a:r>
          </a:p>
          <a:p>
            <a:pPr lvl="1"/>
            <a:r>
              <a:rPr lang="en-GB" dirty="0"/>
              <a:t>consolidate feedback from 10 survey responses</a:t>
            </a:r>
          </a:p>
        </p:txBody>
      </p:sp>
    </p:spTree>
    <p:extLst>
      <p:ext uri="{BB962C8B-B14F-4D97-AF65-F5344CB8AC3E}">
        <p14:creationId xmlns:p14="http://schemas.microsoft.com/office/powerpoint/2010/main" val="335326335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B59B6-2410-DD38-BB9E-DD496CB1E9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688326-3F46-E541-4BCA-C2A9825E158C}"/>
              </a:ext>
            </a:extLst>
          </p:cNvPr>
          <p:cNvSpPr>
            <a:spLocks noGrp="1"/>
          </p:cNvSpPr>
          <p:nvPr>
            <p:ph type="title"/>
          </p:nvPr>
        </p:nvSpPr>
        <p:spPr/>
        <p:txBody>
          <a:bodyPr/>
          <a:lstStyle/>
          <a:p>
            <a:r>
              <a:rPr lang="en-IN" noProof="0" dirty="0"/>
              <a:t>Skill or Subagent?</a:t>
            </a:r>
          </a:p>
        </p:txBody>
      </p:sp>
      <p:sp>
        <p:nvSpPr>
          <p:cNvPr id="3" name="Content Placeholder 2">
            <a:extLst>
              <a:ext uri="{FF2B5EF4-FFF2-40B4-BE49-F238E27FC236}">
                <a16:creationId xmlns:a16="http://schemas.microsoft.com/office/drawing/2014/main" id="{F249C2C8-A105-97FA-8DD1-B38279B2359B}"/>
              </a:ext>
            </a:extLst>
          </p:cNvPr>
          <p:cNvSpPr>
            <a:spLocks noGrp="1"/>
          </p:cNvSpPr>
          <p:nvPr>
            <p:ph idx="1"/>
          </p:nvPr>
        </p:nvSpPr>
        <p:spPr/>
        <p:txBody>
          <a:bodyPr>
            <a:normAutofit/>
          </a:bodyPr>
          <a:lstStyle/>
          <a:p>
            <a:r>
              <a:rPr lang="en-IN" noProof="0" dirty="0"/>
              <a:t>Skill: Reusable content that runs in our current conversation</a:t>
            </a:r>
          </a:p>
          <a:p>
            <a:r>
              <a:rPr lang="en-IN" noProof="0" dirty="0"/>
              <a:t>Subagent: An isolated worker that runs separately and returns a summary</a:t>
            </a:r>
          </a:p>
        </p:txBody>
      </p:sp>
    </p:spTree>
    <p:extLst>
      <p:ext uri="{BB962C8B-B14F-4D97-AF65-F5344CB8AC3E}">
        <p14:creationId xmlns:p14="http://schemas.microsoft.com/office/powerpoint/2010/main" val="2640068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66FB0-E05C-27E1-1205-DAC22ECCF0C2}"/>
              </a:ext>
            </a:extLst>
          </p:cNvPr>
          <p:cNvSpPr>
            <a:spLocks noGrp="1"/>
          </p:cNvSpPr>
          <p:nvPr>
            <p:ph type="title"/>
          </p:nvPr>
        </p:nvSpPr>
        <p:spPr/>
        <p:txBody>
          <a:bodyPr/>
          <a:lstStyle/>
          <a:p>
            <a:r>
              <a:rPr lang="en-IN" dirty="0"/>
              <a:t>Skill or Subagent?</a:t>
            </a:r>
            <a:endParaRPr lang="en-GB" dirty="0"/>
          </a:p>
        </p:txBody>
      </p:sp>
      <p:graphicFrame>
        <p:nvGraphicFramePr>
          <p:cNvPr id="4" name="Content Placeholder 3">
            <a:extLst>
              <a:ext uri="{FF2B5EF4-FFF2-40B4-BE49-F238E27FC236}">
                <a16:creationId xmlns:a16="http://schemas.microsoft.com/office/drawing/2014/main" id="{6F43F617-A29B-36AB-529B-873C8085FC5F}"/>
              </a:ext>
            </a:extLst>
          </p:cNvPr>
          <p:cNvGraphicFramePr>
            <a:graphicFrameLocks noGrp="1"/>
          </p:cNvGraphicFramePr>
          <p:nvPr>
            <p:ph idx="1"/>
            <p:extLst>
              <p:ext uri="{D42A27DB-BD31-4B8C-83A1-F6EECF244321}">
                <p14:modId xmlns:p14="http://schemas.microsoft.com/office/powerpoint/2010/main" val="1429581677"/>
              </p:ext>
            </p:extLst>
          </p:nvPr>
        </p:nvGraphicFramePr>
        <p:xfrm>
          <a:off x="551432" y="1618426"/>
          <a:ext cx="11349729" cy="5050240"/>
        </p:xfrm>
        <a:graphic>
          <a:graphicData uri="http://schemas.openxmlformats.org/drawingml/2006/table">
            <a:tbl>
              <a:tblPr firstRow="1">
                <a:tableStyleId>{793D81CF-94F2-401A-BA57-92F5A7B2D0C5}</a:tableStyleId>
              </a:tblPr>
              <a:tblGrid>
                <a:gridCol w="691035">
                  <a:extLst>
                    <a:ext uri="{9D8B030D-6E8A-4147-A177-3AD203B41FA5}">
                      <a16:colId xmlns:a16="http://schemas.microsoft.com/office/drawing/2014/main" val="706850174"/>
                    </a:ext>
                  </a:extLst>
                </a:gridCol>
                <a:gridCol w="8983457">
                  <a:extLst>
                    <a:ext uri="{9D8B030D-6E8A-4147-A177-3AD203B41FA5}">
                      <a16:colId xmlns:a16="http://schemas.microsoft.com/office/drawing/2014/main" val="924576360"/>
                    </a:ext>
                  </a:extLst>
                </a:gridCol>
                <a:gridCol w="1675237">
                  <a:extLst>
                    <a:ext uri="{9D8B030D-6E8A-4147-A177-3AD203B41FA5}">
                      <a16:colId xmlns:a16="http://schemas.microsoft.com/office/drawing/2014/main" val="3656290427"/>
                    </a:ext>
                  </a:extLst>
                </a:gridCol>
              </a:tblGrid>
              <a:tr h="197788">
                <a:tc>
                  <a:txBody>
                    <a:bodyPr/>
                    <a:lstStyle/>
                    <a:p>
                      <a:pPr>
                        <a:buNone/>
                      </a:pPr>
                      <a:r>
                        <a:rPr lang="en-GB" sz="2000"/>
                        <a: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Scenario</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Skill or Subagent?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9648076"/>
                  </a:ext>
                </a:extLst>
              </a:tr>
              <a:tr h="494470">
                <a:tc>
                  <a:txBody>
                    <a:bodyPr/>
                    <a:lstStyle/>
                    <a:p>
                      <a:pPr>
                        <a:buNone/>
                      </a:pPr>
                      <a:r>
                        <a:rPr lang="en-GB" sz="2000"/>
                        <a:t>1</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Format every Python file according to the team's coding standards whenever Claude edits code.</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089776"/>
                  </a:ext>
                </a:extLst>
              </a:tr>
              <a:tr h="939493">
                <a:tc>
                  <a:txBody>
                    <a:bodyPr/>
                    <a:lstStyle/>
                    <a:p>
                      <a:pPr>
                        <a:buNone/>
                      </a:pPr>
                      <a:r>
                        <a:rPr lang="en-GB" sz="2000" dirty="0"/>
                        <a:t>2</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Search across 40 design documents and meeting notes to produce a consolidated summary with recurring themes and open issues, without cluttering the main conversation.</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65192388"/>
                  </a:ext>
                </a:extLst>
              </a:tr>
              <a:tr h="642811">
                <a:tc>
                  <a:txBody>
                    <a:bodyPr/>
                    <a:lstStyle/>
                    <a:p>
                      <a:pPr>
                        <a:buNone/>
                      </a:pPr>
                      <a:r>
                        <a:rPr lang="en-GB" sz="2000"/>
                        <a:t>3</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Generate a standard pull request description using your organization's template whenever a new PR is created.</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0198695"/>
                  </a:ext>
                </a:extLst>
              </a:tr>
              <a:tr h="791152">
                <a:tc>
                  <a:txBody>
                    <a:bodyPr/>
                    <a:lstStyle/>
                    <a:p>
                      <a:pPr>
                        <a:buNone/>
                      </a:pPr>
                      <a:r>
                        <a:rPr lang="en-GB" sz="2000"/>
                        <a:t>4</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Analyze an entire codebase to identify duplicate business logic, architectural inconsistencies, and technical debt, then produce a report.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4912736"/>
                  </a:ext>
                </a:extLst>
              </a:tr>
              <a:tr h="642811">
                <a:tc>
                  <a:txBody>
                    <a:bodyPr/>
                    <a:lstStyle/>
                    <a:p>
                      <a:pPr>
                        <a:buNone/>
                      </a:pPr>
                      <a:r>
                        <a:rPr lang="en-GB" sz="2000"/>
                        <a:t>5</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Convert raw meeting notes into a standard "Minutes of Meeting" document with the company's preferred structure and formatting.</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7198199"/>
                  </a:ext>
                </a:extLst>
              </a:tr>
              <a:tr h="642811">
                <a:tc>
                  <a:txBody>
                    <a:bodyPr/>
                    <a:lstStyle/>
                    <a:p>
                      <a:pPr>
                        <a:buNone/>
                      </a:pPr>
                      <a:r>
                        <a:rPr lang="en-GB" sz="2000"/>
                        <a:t>6</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Read hundreds of test execution logs, identify common failure patterns, group related issues, and recommend likely root causes.</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a:t>
                      </a:r>
                    </a:p>
                  </a:txBody>
                  <a:tcPr marL="49447" marR="49447" marT="24724" marB="247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0700472"/>
                  </a:ext>
                </a:extLst>
              </a:tr>
            </a:tbl>
          </a:graphicData>
        </a:graphic>
      </p:graphicFrame>
    </p:spTree>
    <p:extLst>
      <p:ext uri="{BB962C8B-B14F-4D97-AF65-F5344CB8AC3E}">
        <p14:creationId xmlns:p14="http://schemas.microsoft.com/office/powerpoint/2010/main" val="399927139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AF02B-F9E6-5D09-5A64-8B39B2884801}"/>
              </a:ext>
            </a:extLst>
          </p:cNvPr>
          <p:cNvSpPr>
            <a:spLocks noGrp="1"/>
          </p:cNvSpPr>
          <p:nvPr>
            <p:ph type="title"/>
          </p:nvPr>
        </p:nvSpPr>
        <p:spPr/>
        <p:txBody>
          <a:bodyPr/>
          <a:lstStyle/>
          <a:p>
            <a:r>
              <a:rPr lang="en-IN" dirty="0"/>
              <a:t>Skill or Subagent?</a:t>
            </a:r>
            <a:endParaRPr lang="en-GB" dirty="0"/>
          </a:p>
        </p:txBody>
      </p:sp>
      <p:graphicFrame>
        <p:nvGraphicFramePr>
          <p:cNvPr id="4" name="Content Placeholder 3">
            <a:extLst>
              <a:ext uri="{FF2B5EF4-FFF2-40B4-BE49-F238E27FC236}">
                <a16:creationId xmlns:a16="http://schemas.microsoft.com/office/drawing/2014/main" id="{864A196D-E46E-892B-CFAB-447DBE51F462}"/>
              </a:ext>
            </a:extLst>
          </p:cNvPr>
          <p:cNvGraphicFramePr>
            <a:graphicFrameLocks noGrp="1"/>
          </p:cNvGraphicFramePr>
          <p:nvPr>
            <p:ph idx="1"/>
            <p:extLst>
              <p:ext uri="{D42A27DB-BD31-4B8C-83A1-F6EECF244321}">
                <p14:modId xmlns:p14="http://schemas.microsoft.com/office/powerpoint/2010/main" val="342470147"/>
              </p:ext>
            </p:extLst>
          </p:nvPr>
        </p:nvGraphicFramePr>
        <p:xfrm>
          <a:off x="335048" y="1825625"/>
          <a:ext cx="11377647" cy="4702325"/>
        </p:xfrm>
        <a:graphic>
          <a:graphicData uri="http://schemas.openxmlformats.org/drawingml/2006/table">
            <a:tbl>
              <a:tblPr firstRow="1">
                <a:tableStyleId>{7E9639D4-E3E2-4D34-9284-5A2195B3D0D7}</a:tableStyleId>
              </a:tblPr>
              <a:tblGrid>
                <a:gridCol w="781776">
                  <a:extLst>
                    <a:ext uri="{9D8B030D-6E8A-4147-A177-3AD203B41FA5}">
                      <a16:colId xmlns:a16="http://schemas.microsoft.com/office/drawing/2014/main" val="2731969737"/>
                    </a:ext>
                  </a:extLst>
                </a:gridCol>
                <a:gridCol w="1738058">
                  <a:extLst>
                    <a:ext uri="{9D8B030D-6E8A-4147-A177-3AD203B41FA5}">
                      <a16:colId xmlns:a16="http://schemas.microsoft.com/office/drawing/2014/main" val="2163825412"/>
                    </a:ext>
                  </a:extLst>
                </a:gridCol>
                <a:gridCol w="8857813">
                  <a:extLst>
                    <a:ext uri="{9D8B030D-6E8A-4147-A177-3AD203B41FA5}">
                      <a16:colId xmlns:a16="http://schemas.microsoft.com/office/drawing/2014/main" val="1513958083"/>
                    </a:ext>
                  </a:extLst>
                </a:gridCol>
              </a:tblGrid>
              <a:tr h="164201">
                <a:tc>
                  <a:txBody>
                    <a:bodyPr/>
                    <a:lstStyle/>
                    <a:p>
                      <a:pPr>
                        <a:buNone/>
                      </a:pPr>
                      <a:r>
                        <a:rPr lang="en-GB" sz="2000"/>
                        <a:t>#</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Answer</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Why?</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4686477"/>
                  </a:ext>
                </a:extLst>
              </a:tr>
              <a:tr h="779957">
                <a:tc>
                  <a:txBody>
                    <a:bodyPr/>
                    <a:lstStyle/>
                    <a:p>
                      <a:pPr>
                        <a:buNone/>
                      </a:pPr>
                      <a:r>
                        <a:rPr lang="en-GB" sz="2000"/>
                        <a:t>1</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Skill</a:t>
                      </a:r>
                      <a:endParaRPr lang="en-GB" sz="2000"/>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A formatting workflow is a </a:t>
                      </a:r>
                      <a:r>
                        <a:rPr lang="en-GB" sz="2000" b="1"/>
                        <a:t>repeatable procedure</a:t>
                      </a:r>
                      <a:r>
                        <a:rPr lang="en-GB" sz="2000"/>
                        <a:t> with well-defined steps. Skills package reusable instructions for performing the same task consistently.</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963125"/>
                  </a:ext>
                </a:extLst>
              </a:tr>
              <a:tr h="656806">
                <a:tc>
                  <a:txBody>
                    <a:bodyPr/>
                    <a:lstStyle/>
                    <a:p>
                      <a:pPr>
                        <a:buNone/>
                      </a:pPr>
                      <a:r>
                        <a:rPr lang="en-GB" sz="2000" dirty="0"/>
                        <a:t>2</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Subagent</a:t>
                      </a:r>
                      <a:endParaRPr lang="en-GB" sz="2000"/>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This requires </a:t>
                      </a:r>
                      <a:r>
                        <a:rPr lang="en-GB" sz="2000" b="1"/>
                        <a:t>independent investigation</a:t>
                      </a:r>
                      <a:r>
                        <a:rPr lang="en-GB" sz="2000"/>
                        <a:t> across many files. A subagent performs the research and returns a concise summary, keeping the main context clean.</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52996454"/>
                  </a:ext>
                </a:extLst>
              </a:tr>
              <a:tr h="656806">
                <a:tc>
                  <a:txBody>
                    <a:bodyPr/>
                    <a:lstStyle/>
                    <a:p>
                      <a:pPr>
                        <a:buNone/>
                      </a:pPr>
                      <a:r>
                        <a:rPr lang="en-GB" sz="2000"/>
                        <a:t>3</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Skill</a:t>
                      </a:r>
                      <a:endParaRPr lang="en-GB" sz="2000"/>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Producing PR descriptions from a standard template is a </a:t>
                      </a:r>
                      <a:r>
                        <a:rPr lang="en-GB" sz="2000" b="1"/>
                        <a:t>repeatable task</a:t>
                      </a:r>
                      <a:r>
                        <a:rPr lang="en-GB" sz="2000"/>
                        <a:t> that benefits from reusable instructions rather than separate reasoning.</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0823489"/>
                  </a:ext>
                </a:extLst>
              </a:tr>
              <a:tr h="656806">
                <a:tc>
                  <a:txBody>
                    <a:bodyPr/>
                    <a:lstStyle/>
                    <a:p>
                      <a:pPr>
                        <a:buNone/>
                      </a:pPr>
                      <a:r>
                        <a:rPr lang="en-GB" sz="2000"/>
                        <a:t>4</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Subagent</a:t>
                      </a:r>
                      <a:endParaRPr lang="en-GB" sz="2000"/>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This is a </a:t>
                      </a:r>
                      <a:r>
                        <a:rPr lang="en-GB" sz="2000" b="1" dirty="0"/>
                        <a:t>large-scale analysis</a:t>
                      </a:r>
                      <a:r>
                        <a:rPr lang="en-GB" sz="2000" dirty="0"/>
                        <a:t> requiring exploration, comparison, and synthesis across many files. It is exactly the kind of delegated work subagents are designed for.</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71354729"/>
                  </a:ext>
                </a:extLst>
              </a:tr>
              <a:tr h="533655">
                <a:tc>
                  <a:txBody>
                    <a:bodyPr/>
                    <a:lstStyle/>
                    <a:p>
                      <a:pPr>
                        <a:buNone/>
                      </a:pPr>
                      <a:r>
                        <a:rPr lang="en-GB" sz="2000"/>
                        <a:t>5</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Skill</a:t>
                      </a:r>
                      <a:endParaRPr lang="en-GB" sz="2000"/>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a:t>Transforming notes into a standard company format follows a </a:t>
                      </a:r>
                      <a:r>
                        <a:rPr lang="en-GB" sz="2000" b="1"/>
                        <a:t>consistent workflow</a:t>
                      </a:r>
                      <a:r>
                        <a:rPr lang="en-GB" sz="2000"/>
                        <a:t>, making it ideal as a reusable skill.</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488686"/>
                  </a:ext>
                </a:extLst>
              </a:tr>
              <a:tr h="903108">
                <a:tc>
                  <a:txBody>
                    <a:bodyPr/>
                    <a:lstStyle/>
                    <a:p>
                      <a:pPr>
                        <a:buNone/>
                      </a:pPr>
                      <a:r>
                        <a:rPr lang="en-GB" sz="2000"/>
                        <a:t>6</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b="1"/>
                        <a:t>Subagent</a:t>
                      </a:r>
                      <a:endParaRPr lang="en-GB" sz="2000"/>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sz="2000" dirty="0"/>
                        <a:t>The task involves </a:t>
                      </a:r>
                      <a:r>
                        <a:rPr lang="en-GB" sz="2000" b="1" dirty="0"/>
                        <a:t>investigation, pattern discovery, and summarization</a:t>
                      </a:r>
                      <a:r>
                        <a:rPr lang="en-GB" sz="2000" dirty="0"/>
                        <a:t> over a large amount of information. Delegating it to a subagent prevents the primary conversation from becoming overloaded.</a:t>
                      </a:r>
                    </a:p>
                  </a:txBody>
                  <a:tcPr marL="41050" marR="41050" marT="20525" marB="205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3683167"/>
                  </a:ext>
                </a:extLst>
              </a:tr>
            </a:tbl>
          </a:graphicData>
        </a:graphic>
      </p:graphicFrame>
    </p:spTree>
    <p:extLst>
      <p:ext uri="{BB962C8B-B14F-4D97-AF65-F5344CB8AC3E}">
        <p14:creationId xmlns:p14="http://schemas.microsoft.com/office/powerpoint/2010/main" val="249042497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778A2-F50B-F3C8-3DCB-1480B3ACC96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F7F27ED-9E8E-4162-3279-E960051E5BD7}"/>
              </a:ext>
            </a:extLst>
          </p:cNvPr>
          <p:cNvSpPr>
            <a:spLocks noGrp="1"/>
          </p:cNvSpPr>
          <p:nvPr>
            <p:ph type="title"/>
          </p:nvPr>
        </p:nvSpPr>
        <p:spPr/>
        <p:txBody>
          <a:bodyPr/>
          <a:lstStyle/>
          <a:p>
            <a:r>
              <a:rPr lang="en-IN" dirty="0"/>
              <a:t>Section 8: Hooks</a:t>
            </a:r>
            <a:endParaRPr lang="en-GB" dirty="0"/>
          </a:p>
        </p:txBody>
      </p:sp>
      <p:sp>
        <p:nvSpPr>
          <p:cNvPr id="5" name="Text Placeholder 4">
            <a:extLst>
              <a:ext uri="{FF2B5EF4-FFF2-40B4-BE49-F238E27FC236}">
                <a16:creationId xmlns:a16="http://schemas.microsoft.com/office/drawing/2014/main" id="{DAF727B7-609E-A0CA-E1BC-3F0036D17682}"/>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8601977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7E422-01F9-757A-0647-5B0DA1B2316B}"/>
              </a:ext>
            </a:extLst>
          </p:cNvPr>
          <p:cNvSpPr>
            <a:spLocks noGrp="1"/>
          </p:cNvSpPr>
          <p:nvPr>
            <p:ph type="title"/>
          </p:nvPr>
        </p:nvSpPr>
        <p:spPr/>
        <p:txBody>
          <a:bodyPr/>
          <a:lstStyle/>
          <a:p>
            <a:r>
              <a:rPr lang="en-IN" noProof="0" dirty="0"/>
              <a:t>Hooks</a:t>
            </a:r>
          </a:p>
        </p:txBody>
      </p:sp>
      <p:sp>
        <p:nvSpPr>
          <p:cNvPr id="3" name="Content Placeholder 2">
            <a:extLst>
              <a:ext uri="{FF2B5EF4-FFF2-40B4-BE49-F238E27FC236}">
                <a16:creationId xmlns:a16="http://schemas.microsoft.com/office/drawing/2014/main" id="{3E633898-6E61-D8B1-0D97-28C5136F1782}"/>
              </a:ext>
            </a:extLst>
          </p:cNvPr>
          <p:cNvSpPr>
            <a:spLocks noGrp="1"/>
          </p:cNvSpPr>
          <p:nvPr>
            <p:ph idx="1"/>
          </p:nvPr>
        </p:nvSpPr>
        <p:spPr/>
        <p:txBody>
          <a:bodyPr/>
          <a:lstStyle/>
          <a:p>
            <a:r>
              <a:rPr lang="en-IN" noProof="0" dirty="0"/>
              <a:t>CLAUDE.md and skills -&gt; advisory</a:t>
            </a:r>
          </a:p>
          <a:p>
            <a:r>
              <a:rPr lang="en-IN" noProof="0" dirty="0"/>
              <a:t>Hooks -&gt; deterministic</a:t>
            </a:r>
          </a:p>
          <a:p>
            <a:r>
              <a:rPr lang="en-IN" noProof="0" dirty="0"/>
              <a:t>Hook = A shell command (or HTTP call, or even an LLM evaluation) that Claude Code runs automatically at a specific lifecycle event.</a:t>
            </a:r>
          </a:p>
          <a:p>
            <a:r>
              <a:rPr lang="en-IN" noProof="0" dirty="0"/>
              <a:t>Hooks guarantee an action happens rather than hoping the model chooses to do it — which is exactly what we want for “this must happen every time, no exceptions”</a:t>
            </a:r>
          </a:p>
          <a:p>
            <a:r>
              <a:rPr lang="en-IN" noProof="0" dirty="0"/>
              <a:t>Examples: formatting after every edit, blocking writes to protected files, logging for compliance, notifying us when Claude needs input</a:t>
            </a:r>
          </a:p>
        </p:txBody>
      </p:sp>
    </p:spTree>
    <p:extLst>
      <p:ext uri="{BB962C8B-B14F-4D97-AF65-F5344CB8AC3E}">
        <p14:creationId xmlns:p14="http://schemas.microsoft.com/office/powerpoint/2010/main" val="40453746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1AC78-D22F-0F86-6DDD-888A3DC85275}"/>
              </a:ext>
            </a:extLst>
          </p:cNvPr>
          <p:cNvSpPr>
            <a:spLocks noGrp="1"/>
          </p:cNvSpPr>
          <p:nvPr>
            <p:ph type="title"/>
          </p:nvPr>
        </p:nvSpPr>
        <p:spPr/>
        <p:txBody>
          <a:bodyPr/>
          <a:lstStyle/>
          <a:p>
            <a:r>
              <a:rPr lang="en-IN" noProof="0" dirty="0"/>
              <a:t>Hooks Example</a:t>
            </a:r>
          </a:p>
        </p:txBody>
      </p:sp>
      <p:sp>
        <p:nvSpPr>
          <p:cNvPr id="3" name="Content Placeholder 2">
            <a:extLst>
              <a:ext uri="{FF2B5EF4-FFF2-40B4-BE49-F238E27FC236}">
                <a16:creationId xmlns:a16="http://schemas.microsoft.com/office/drawing/2014/main" id="{37DC96F3-B131-DC5C-63AB-786EDA960CFC}"/>
              </a:ext>
            </a:extLst>
          </p:cNvPr>
          <p:cNvSpPr>
            <a:spLocks noGrp="1"/>
          </p:cNvSpPr>
          <p:nvPr>
            <p:ph idx="1"/>
          </p:nvPr>
        </p:nvSpPr>
        <p:spPr/>
        <p:txBody>
          <a:bodyPr>
            <a:normAutofit fontScale="92500" lnSpcReduction="10000"/>
          </a:bodyPr>
          <a:lstStyle/>
          <a:p>
            <a:r>
              <a:rPr lang="en-IN" noProof="0" dirty="0"/>
              <a:t>Run tests automatically: Edit .</a:t>
            </a:r>
            <a:r>
              <a:rPr lang="en-IN" noProof="0" dirty="0" err="1"/>
              <a:t>claude</a:t>
            </a:r>
            <a:r>
              <a:rPr lang="en-IN" noProof="0" dirty="0"/>
              <a:t>/</a:t>
            </a:r>
            <a:r>
              <a:rPr lang="en-IN" noProof="0" dirty="0" err="1"/>
              <a:t>settings.json</a:t>
            </a:r>
            <a:endParaRPr lang="en-IN" noProof="0" dirty="0"/>
          </a:p>
          <a:p>
            <a:pPr lvl="1"/>
            <a:r>
              <a:rPr lang="en-IN" noProof="0" dirty="0"/>
              <a:t>{</a:t>
            </a:r>
          </a:p>
          <a:p>
            <a:pPr lvl="1"/>
            <a:r>
              <a:rPr lang="en-IN" noProof="0" dirty="0"/>
              <a:t>  "hooks": {</a:t>
            </a:r>
          </a:p>
          <a:p>
            <a:pPr lvl="1"/>
            <a:r>
              <a:rPr lang="en-IN" noProof="0" dirty="0"/>
              <a:t>    "</a:t>
            </a:r>
            <a:r>
              <a:rPr lang="en-IN" noProof="0" dirty="0" err="1"/>
              <a:t>PostToolUse</a:t>
            </a:r>
            <a:r>
              <a:rPr lang="en-IN" noProof="0" dirty="0"/>
              <a:t>": [</a:t>
            </a:r>
          </a:p>
          <a:p>
            <a:pPr lvl="1"/>
            <a:r>
              <a:rPr lang="en-IN" noProof="0" dirty="0"/>
              <a:t>      {</a:t>
            </a:r>
          </a:p>
          <a:p>
            <a:pPr lvl="1"/>
            <a:r>
              <a:rPr lang="en-IN" noProof="0" dirty="0"/>
              <a:t>        "matcher": "Edit",</a:t>
            </a:r>
          </a:p>
          <a:p>
            <a:pPr lvl="1"/>
            <a:r>
              <a:rPr lang="en-IN" noProof="0" dirty="0"/>
              <a:t>        "command": "</a:t>
            </a:r>
            <a:r>
              <a:rPr lang="en-IN" noProof="0" dirty="0" err="1"/>
              <a:t>pytest</a:t>
            </a:r>
            <a:r>
              <a:rPr lang="en-IN" noProof="0" dirty="0"/>
              <a:t> tests/"</a:t>
            </a:r>
          </a:p>
          <a:p>
            <a:pPr lvl="1"/>
            <a:r>
              <a:rPr lang="en-IN" noProof="0" dirty="0"/>
              <a:t>      }</a:t>
            </a:r>
          </a:p>
          <a:p>
            <a:pPr lvl="1"/>
            <a:r>
              <a:rPr lang="en-IN" noProof="0" dirty="0"/>
              <a:t>    ]</a:t>
            </a:r>
          </a:p>
          <a:p>
            <a:pPr lvl="1"/>
            <a:r>
              <a:rPr lang="en-IN" noProof="0" dirty="0"/>
              <a:t>  }</a:t>
            </a:r>
          </a:p>
          <a:p>
            <a:pPr lvl="1"/>
            <a:r>
              <a:rPr lang="en-IN" noProof="0" dirty="0"/>
              <a:t>}</a:t>
            </a:r>
          </a:p>
          <a:p>
            <a:r>
              <a:rPr lang="en-IN" noProof="0" dirty="0"/>
              <a:t>Whenever any source code is modified, tests are run</a:t>
            </a:r>
          </a:p>
        </p:txBody>
      </p:sp>
    </p:spTree>
    <p:extLst>
      <p:ext uri="{BB962C8B-B14F-4D97-AF65-F5344CB8AC3E}">
        <p14:creationId xmlns:p14="http://schemas.microsoft.com/office/powerpoint/2010/main" val="29970402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BB83C-7A7B-234B-F6A5-97B8742BCCE0}"/>
              </a:ext>
            </a:extLst>
          </p:cNvPr>
          <p:cNvSpPr>
            <a:spLocks noGrp="1"/>
          </p:cNvSpPr>
          <p:nvPr>
            <p:ph type="title"/>
          </p:nvPr>
        </p:nvSpPr>
        <p:spPr/>
        <p:txBody>
          <a:bodyPr/>
          <a:lstStyle/>
          <a:p>
            <a:r>
              <a:rPr lang="en-IN" noProof="0" dirty="0"/>
              <a:t>More on Hooks</a:t>
            </a:r>
          </a:p>
        </p:txBody>
      </p:sp>
      <p:sp>
        <p:nvSpPr>
          <p:cNvPr id="3" name="Content Placeholder 2">
            <a:extLst>
              <a:ext uri="{FF2B5EF4-FFF2-40B4-BE49-F238E27FC236}">
                <a16:creationId xmlns:a16="http://schemas.microsoft.com/office/drawing/2014/main" id="{CE9AF156-742F-2A2A-2BB7-6B5DF3C36E8A}"/>
              </a:ext>
            </a:extLst>
          </p:cNvPr>
          <p:cNvSpPr>
            <a:spLocks noGrp="1"/>
          </p:cNvSpPr>
          <p:nvPr>
            <p:ph idx="1"/>
          </p:nvPr>
        </p:nvSpPr>
        <p:spPr/>
        <p:txBody>
          <a:bodyPr>
            <a:normAutofit fontScale="92500" lnSpcReduction="10000"/>
          </a:bodyPr>
          <a:lstStyle/>
          <a:p>
            <a:r>
              <a:rPr lang="en-IN" noProof="0" dirty="0"/>
              <a:t>Type /hooks to browse what is configured (the menu is read-only; edit the JSON or ask Claude to write the hook for us)</a:t>
            </a:r>
          </a:p>
          <a:p>
            <a:r>
              <a:rPr lang="en-IN" noProof="0" dirty="0"/>
              <a:t>We do not have to author these by hand — “write a hook that runs tests after every file edit” works</a:t>
            </a:r>
          </a:p>
          <a:p>
            <a:r>
              <a:rPr lang="en-IN" noProof="0" dirty="0"/>
              <a:t>Hooks fire at many lifecycle points – Most common ones</a:t>
            </a:r>
          </a:p>
          <a:p>
            <a:pPr lvl="1"/>
            <a:r>
              <a:rPr lang="en-IN" noProof="0" dirty="0" err="1"/>
              <a:t>PreToolUse</a:t>
            </a:r>
            <a:r>
              <a:rPr lang="en-IN" noProof="0" dirty="0"/>
              <a:t> (before a tool runs — can block it)</a:t>
            </a:r>
          </a:p>
          <a:p>
            <a:pPr lvl="1"/>
            <a:r>
              <a:rPr lang="en-IN" noProof="0" dirty="0" err="1"/>
              <a:t>PostToolUse</a:t>
            </a:r>
            <a:r>
              <a:rPr lang="en-IN" noProof="0" dirty="0"/>
              <a:t> (after success)</a:t>
            </a:r>
          </a:p>
          <a:p>
            <a:pPr lvl="1"/>
            <a:r>
              <a:rPr lang="en-IN" noProof="0" dirty="0"/>
              <a:t>Notification (Claude needs input)</a:t>
            </a:r>
          </a:p>
          <a:p>
            <a:pPr lvl="1"/>
            <a:r>
              <a:rPr lang="en-IN" noProof="0" dirty="0" err="1"/>
              <a:t>SessionStart</a:t>
            </a:r>
            <a:r>
              <a:rPr lang="en-IN" noProof="0" dirty="0"/>
              <a:t> (session begins or resumes; useful with a compact matcher to re-inject context after compaction)</a:t>
            </a:r>
          </a:p>
          <a:p>
            <a:pPr lvl="1"/>
            <a:r>
              <a:rPr lang="en-IN" noProof="0" dirty="0" err="1"/>
              <a:t>UserPromptSubmit</a:t>
            </a:r>
            <a:r>
              <a:rPr lang="en-IN" noProof="0" dirty="0"/>
              <a:t>, Stop (Claude finished responding) </a:t>
            </a:r>
          </a:p>
          <a:p>
            <a:pPr lvl="1"/>
            <a:r>
              <a:rPr lang="en-IN" noProof="0" dirty="0" err="1"/>
              <a:t>SubagentStart</a:t>
            </a:r>
            <a:r>
              <a:rPr lang="en-IN" noProof="0" dirty="0"/>
              <a:t>/</a:t>
            </a:r>
            <a:r>
              <a:rPr lang="en-IN" noProof="0" dirty="0" err="1"/>
              <a:t>SubagentStop</a:t>
            </a:r>
            <a:endParaRPr lang="en-IN" noProof="0" dirty="0"/>
          </a:p>
        </p:txBody>
      </p:sp>
    </p:spTree>
    <p:extLst>
      <p:ext uri="{BB962C8B-B14F-4D97-AF65-F5344CB8AC3E}">
        <p14:creationId xmlns:p14="http://schemas.microsoft.com/office/powerpoint/2010/main" val="1187899273"/>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CF020-FE74-62C9-307C-53527C49F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AFE5C5-2B4B-CA11-375A-FDB9367F2364}"/>
              </a:ext>
            </a:extLst>
          </p:cNvPr>
          <p:cNvSpPr>
            <a:spLocks noGrp="1"/>
          </p:cNvSpPr>
          <p:nvPr>
            <p:ph type="title"/>
          </p:nvPr>
        </p:nvSpPr>
        <p:spPr/>
        <p:txBody>
          <a:bodyPr/>
          <a:lstStyle/>
          <a:p>
            <a:r>
              <a:rPr lang="en-IN" noProof="0" dirty="0"/>
              <a:t>Hook Working</a:t>
            </a:r>
          </a:p>
        </p:txBody>
      </p:sp>
      <p:sp>
        <p:nvSpPr>
          <p:cNvPr id="3" name="Content Placeholder 2">
            <a:extLst>
              <a:ext uri="{FF2B5EF4-FFF2-40B4-BE49-F238E27FC236}">
                <a16:creationId xmlns:a16="http://schemas.microsoft.com/office/drawing/2014/main" id="{BCD834D7-7994-1B79-2968-7ACE5CEDBC16}"/>
              </a:ext>
            </a:extLst>
          </p:cNvPr>
          <p:cNvSpPr>
            <a:spLocks noGrp="1"/>
          </p:cNvSpPr>
          <p:nvPr>
            <p:ph idx="1"/>
          </p:nvPr>
        </p:nvSpPr>
        <p:spPr/>
        <p:txBody>
          <a:bodyPr>
            <a:normAutofit/>
          </a:bodyPr>
          <a:lstStyle/>
          <a:p>
            <a:r>
              <a:rPr lang="en-IN" noProof="0" dirty="0"/>
              <a:t>A hook receives event data as JSON on stdin (tool name, tool input, session ID, working directory) and communicates back through its exit code</a:t>
            </a:r>
          </a:p>
          <a:p>
            <a:pPr lvl="1"/>
            <a:r>
              <a:rPr lang="en-IN" noProof="0" dirty="0"/>
              <a:t>exit 0 lets the action proceed (and for some events, </a:t>
            </a:r>
            <a:r>
              <a:rPr lang="en-IN" noProof="0" dirty="0" err="1"/>
              <a:t>stdout</a:t>
            </a:r>
            <a:r>
              <a:rPr lang="en-IN" noProof="0" dirty="0"/>
              <a:t> is added to Claude’s context)</a:t>
            </a:r>
          </a:p>
          <a:p>
            <a:pPr lvl="1"/>
            <a:r>
              <a:rPr lang="en-IN" noProof="0" dirty="0"/>
              <a:t>exit 2 blocks the action and feeds stderr back to Claude as feedback</a:t>
            </a:r>
          </a:p>
          <a:p>
            <a:pPr lvl="1"/>
            <a:r>
              <a:rPr lang="en-IN" noProof="0" dirty="0"/>
              <a:t>Note: only exit 2 blocks, any other non-zero code — including the conventional 1 — is treated as a non-blocking error</a:t>
            </a:r>
          </a:p>
          <a:p>
            <a:r>
              <a:rPr lang="en-IN" noProof="0" dirty="0"/>
              <a:t>Anthropic does not validate hook commands – their safety is entirely up to us</a:t>
            </a:r>
          </a:p>
        </p:txBody>
      </p:sp>
    </p:spTree>
    <p:extLst>
      <p:ext uri="{BB962C8B-B14F-4D97-AF65-F5344CB8AC3E}">
        <p14:creationId xmlns:p14="http://schemas.microsoft.com/office/powerpoint/2010/main" val="275558157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4E9C8-F1DF-D541-985F-93404D3A41FE}"/>
              </a:ext>
            </a:extLst>
          </p:cNvPr>
          <p:cNvSpPr>
            <a:spLocks noGrp="1"/>
          </p:cNvSpPr>
          <p:nvPr>
            <p:ph type="title"/>
          </p:nvPr>
        </p:nvSpPr>
        <p:spPr/>
        <p:txBody>
          <a:bodyPr/>
          <a:lstStyle/>
          <a:p>
            <a:r>
              <a:rPr lang="en-IN" dirty="0"/>
              <a:t>Hooks for Safety</a:t>
            </a:r>
            <a:endParaRPr lang="en-GB" dirty="0"/>
          </a:p>
        </p:txBody>
      </p:sp>
      <p:sp>
        <p:nvSpPr>
          <p:cNvPr id="3" name="Content Placeholder 2">
            <a:extLst>
              <a:ext uri="{FF2B5EF4-FFF2-40B4-BE49-F238E27FC236}">
                <a16:creationId xmlns:a16="http://schemas.microsoft.com/office/drawing/2014/main" id="{E8D82BE3-C964-D9F5-E4E7-34C49FD16EBF}"/>
              </a:ext>
            </a:extLst>
          </p:cNvPr>
          <p:cNvSpPr>
            <a:spLocks noGrp="1"/>
          </p:cNvSpPr>
          <p:nvPr>
            <p:ph idx="1"/>
          </p:nvPr>
        </p:nvSpPr>
        <p:spPr/>
        <p:txBody>
          <a:bodyPr/>
          <a:lstStyle/>
          <a:p>
            <a:r>
              <a:rPr lang="en-GB" b="1" dirty="0"/>
              <a:t>Hooks</a:t>
            </a:r>
            <a:r>
              <a:rPr lang="en-GB" dirty="0"/>
              <a:t>:</a:t>
            </a:r>
            <a:r>
              <a:rPr lang="en-GB" b="1" dirty="0"/>
              <a:t> </a:t>
            </a:r>
            <a:r>
              <a:rPr lang="en-GB" dirty="0"/>
              <a:t>Automatically executed actions triggered by specific events in Claude Code</a:t>
            </a:r>
          </a:p>
          <a:p>
            <a:r>
              <a:rPr lang="en-GB" dirty="0"/>
              <a:t>Prompts ("don't edit production files") are requests, hooks are deterministic—they enforce organizational rules every time</a:t>
            </a:r>
          </a:p>
          <a:p>
            <a:r>
              <a:rPr lang="en-GB" dirty="0"/>
              <a:t>So, Hooks ~ Automated project policies or guardrails</a:t>
            </a:r>
          </a:p>
          <a:p>
            <a:endParaRPr lang="en-GB" dirty="0"/>
          </a:p>
          <a:p>
            <a:endParaRPr lang="en-GB" dirty="0"/>
          </a:p>
        </p:txBody>
      </p:sp>
      <p:graphicFrame>
        <p:nvGraphicFramePr>
          <p:cNvPr id="4" name="Table 3">
            <a:extLst>
              <a:ext uri="{FF2B5EF4-FFF2-40B4-BE49-F238E27FC236}">
                <a16:creationId xmlns:a16="http://schemas.microsoft.com/office/drawing/2014/main" id="{1ACF7BE2-A065-C4CF-25C0-7F6E5ACEDDA1}"/>
              </a:ext>
            </a:extLst>
          </p:cNvPr>
          <p:cNvGraphicFramePr>
            <a:graphicFrameLocks noGrp="1"/>
          </p:cNvGraphicFramePr>
          <p:nvPr/>
        </p:nvGraphicFramePr>
        <p:xfrm>
          <a:off x="977803" y="4230243"/>
          <a:ext cx="10515600" cy="2194560"/>
        </p:xfrm>
        <a:graphic>
          <a:graphicData uri="http://schemas.openxmlformats.org/drawingml/2006/table">
            <a:tbl>
              <a:tblPr firstRow="1">
                <a:tableStyleId>{9DCAF9ED-07DC-4A11-8D7F-57B35C25682E}</a:tableStyleId>
              </a:tblPr>
              <a:tblGrid>
                <a:gridCol w="3391773">
                  <a:extLst>
                    <a:ext uri="{9D8B030D-6E8A-4147-A177-3AD203B41FA5}">
                      <a16:colId xmlns:a16="http://schemas.microsoft.com/office/drawing/2014/main" val="1846248158"/>
                    </a:ext>
                  </a:extLst>
                </a:gridCol>
                <a:gridCol w="7123827">
                  <a:extLst>
                    <a:ext uri="{9D8B030D-6E8A-4147-A177-3AD203B41FA5}">
                      <a16:colId xmlns:a16="http://schemas.microsoft.com/office/drawing/2014/main" val="1195029715"/>
                    </a:ext>
                  </a:extLst>
                </a:gridCol>
              </a:tblGrid>
              <a:tr h="0">
                <a:tc>
                  <a:txBody>
                    <a:bodyPr/>
                    <a:lstStyle/>
                    <a:p>
                      <a:pPr>
                        <a:buNone/>
                      </a:pPr>
                      <a:r>
                        <a:rPr lang="en-GB"/>
                        <a:t>Role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GB"/>
                        <a:t>How Hooks Help</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3268491"/>
                  </a:ext>
                </a:extLst>
              </a:tr>
              <a:tr h="0">
                <a:tc>
                  <a:txBody>
                    <a:bodyPr/>
                    <a:lstStyle/>
                    <a:p>
                      <a:pPr>
                        <a:buNone/>
                      </a:pPr>
                      <a:r>
                        <a:rPr lang="en-GB" b="1"/>
                        <a:t>Project Manager</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GB" dirty="0"/>
                        <a:t>Enforce team policies automatically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63386117"/>
                  </a:ext>
                </a:extLst>
              </a:tr>
              <a:tr h="0">
                <a:tc>
                  <a:txBody>
                    <a:bodyPr/>
                    <a:lstStyle/>
                    <a:p>
                      <a:pPr>
                        <a:buNone/>
                      </a:pPr>
                      <a:r>
                        <a:rPr lang="en-GB" b="1"/>
                        <a:t>Business Analyst</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GB"/>
                        <a:t>Ensure required documentation is updated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48731685"/>
                  </a:ext>
                </a:extLst>
              </a:tr>
              <a:tr h="0">
                <a:tc>
                  <a:txBody>
                    <a:bodyPr/>
                    <a:lstStyle/>
                    <a:p>
                      <a:pPr>
                        <a:buNone/>
                      </a:pPr>
                      <a:r>
                        <a:rPr lang="en-GB" b="1"/>
                        <a:t>Tester / QA</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GB"/>
                        <a:t>Automatically run validation and regression tests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28782701"/>
                  </a:ext>
                </a:extLst>
              </a:tr>
              <a:tr h="0">
                <a:tc>
                  <a:txBody>
                    <a:bodyPr/>
                    <a:lstStyle/>
                    <a:p>
                      <a:pPr>
                        <a:buNone/>
                      </a:pPr>
                      <a:r>
                        <a:rPr lang="en-GB" b="1"/>
                        <a:t>Developer</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GB"/>
                        <a:t>Maintain code quality without manual effort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20523894"/>
                  </a:ext>
                </a:extLst>
              </a:tr>
              <a:tr h="0">
                <a:tc>
                  <a:txBody>
                    <a:bodyPr/>
                    <a:lstStyle/>
                    <a:p>
                      <a:pPr>
                        <a:buNone/>
                      </a:pPr>
                      <a:r>
                        <a:rPr lang="en-GB" b="1"/>
                        <a:t>DevOps</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GB" dirty="0"/>
                        <a:t>Prevent risky or unauthorized changes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48781227"/>
                  </a:ext>
                </a:extLst>
              </a:tr>
            </a:tbl>
          </a:graphicData>
        </a:graphic>
      </p:graphicFrame>
    </p:spTree>
    <p:extLst>
      <p:ext uri="{BB962C8B-B14F-4D97-AF65-F5344CB8AC3E}">
        <p14:creationId xmlns:p14="http://schemas.microsoft.com/office/powerpoint/2010/main" val="195012201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1484F-9D89-72A6-3C46-1FBCB0DBFD9B}"/>
              </a:ext>
            </a:extLst>
          </p:cNvPr>
          <p:cNvSpPr>
            <a:spLocks noGrp="1"/>
          </p:cNvSpPr>
          <p:nvPr>
            <p:ph type="title"/>
          </p:nvPr>
        </p:nvSpPr>
        <p:spPr/>
        <p:txBody>
          <a:bodyPr/>
          <a:lstStyle/>
          <a:p>
            <a:r>
              <a:rPr lang="en-IN" dirty="0"/>
              <a:t>Examples of Hooks</a:t>
            </a:r>
            <a:endParaRPr lang="en-GB" dirty="0"/>
          </a:p>
        </p:txBody>
      </p:sp>
      <p:sp>
        <p:nvSpPr>
          <p:cNvPr id="3" name="Content Placeholder 2">
            <a:extLst>
              <a:ext uri="{FF2B5EF4-FFF2-40B4-BE49-F238E27FC236}">
                <a16:creationId xmlns:a16="http://schemas.microsoft.com/office/drawing/2014/main" id="{1CEC51D4-44C8-5ED6-6365-36DEED247F29}"/>
              </a:ext>
            </a:extLst>
          </p:cNvPr>
          <p:cNvSpPr>
            <a:spLocks noGrp="1"/>
          </p:cNvSpPr>
          <p:nvPr>
            <p:ph idx="1"/>
          </p:nvPr>
        </p:nvSpPr>
        <p:spPr/>
        <p:txBody>
          <a:bodyPr>
            <a:normAutofit fontScale="40000" lnSpcReduction="20000"/>
          </a:bodyPr>
          <a:lstStyle/>
          <a:p>
            <a:r>
              <a:rPr lang="en-IN" dirty="0"/>
              <a:t>BA/Documentation</a:t>
            </a:r>
          </a:p>
          <a:p>
            <a:pPr lvl="1"/>
            <a:r>
              <a:rPr lang="en-GB" dirty="0"/>
              <a:t>Update API documentation after endpoint changes </a:t>
            </a:r>
          </a:p>
          <a:p>
            <a:pPr lvl="1"/>
            <a:r>
              <a:rPr lang="en-GB" dirty="0"/>
              <a:t>Verify user stories reference requirement IDs </a:t>
            </a:r>
          </a:p>
          <a:p>
            <a:pPr lvl="1"/>
            <a:r>
              <a:rPr lang="en-GB" dirty="0"/>
              <a:t>Check release notes are updated </a:t>
            </a:r>
          </a:p>
          <a:p>
            <a:pPr lvl="1"/>
            <a:r>
              <a:rPr lang="en-GB" dirty="0"/>
              <a:t>Ensure acceptance criteria remain synchronized </a:t>
            </a:r>
          </a:p>
          <a:p>
            <a:pPr lvl="1"/>
            <a:r>
              <a:rPr lang="en-GB" dirty="0"/>
              <a:t>Validate traceability between requirements and implementation</a:t>
            </a:r>
          </a:p>
          <a:p>
            <a:r>
              <a:rPr lang="en-GB" dirty="0"/>
              <a:t>QA/Testing</a:t>
            </a:r>
          </a:p>
          <a:p>
            <a:pPr lvl="1"/>
            <a:r>
              <a:rPr lang="en-GB" dirty="0"/>
              <a:t>Run unit tests after code generation </a:t>
            </a:r>
          </a:p>
          <a:p>
            <a:pPr lvl="1"/>
            <a:r>
              <a:rPr lang="en-GB" dirty="0"/>
              <a:t>Execute regression test suite </a:t>
            </a:r>
          </a:p>
          <a:p>
            <a:pPr lvl="1"/>
            <a:r>
              <a:rPr lang="en-GB" dirty="0"/>
              <a:t>Check code coverage thresholds </a:t>
            </a:r>
          </a:p>
          <a:p>
            <a:pPr lvl="1"/>
            <a:r>
              <a:rPr lang="en-GB" dirty="0"/>
              <a:t>Verify no critical test cases fail </a:t>
            </a:r>
          </a:p>
          <a:p>
            <a:pPr lvl="1"/>
            <a:r>
              <a:rPr lang="en-GB" dirty="0"/>
              <a:t>Prevent commits when tests fail</a:t>
            </a:r>
          </a:p>
          <a:p>
            <a:r>
              <a:rPr lang="en-GB" dirty="0"/>
              <a:t>PM</a:t>
            </a:r>
          </a:p>
          <a:p>
            <a:pPr lvl="1"/>
            <a:r>
              <a:rPr lang="en-GB" dirty="0"/>
              <a:t>Prevent edits to release branches </a:t>
            </a:r>
          </a:p>
          <a:p>
            <a:pPr lvl="1"/>
            <a:r>
              <a:rPr lang="en-GB" dirty="0"/>
              <a:t>Block modifications to production configuration </a:t>
            </a:r>
          </a:p>
          <a:p>
            <a:pPr lvl="1"/>
            <a:r>
              <a:rPr lang="en-GB" dirty="0"/>
              <a:t>Ensure coding standards are followed </a:t>
            </a:r>
          </a:p>
          <a:p>
            <a:pPr lvl="1"/>
            <a:r>
              <a:rPr lang="en-GB" dirty="0"/>
              <a:t>Require issue/ticket references in commit messages </a:t>
            </a:r>
          </a:p>
          <a:p>
            <a:pPr lvl="1"/>
            <a:r>
              <a:rPr lang="en-GB" dirty="0"/>
              <a:t>Verify mandatory project artifacts are present before release</a:t>
            </a:r>
          </a:p>
          <a:p>
            <a:r>
              <a:rPr lang="en-GB" dirty="0"/>
              <a:t>Hooks demo: </a:t>
            </a:r>
            <a:r>
              <a:rPr lang="en-US" dirty="0"/>
              <a:t>C:\lectures\Others\Edureka\Claude-Code\hooks-demo</a:t>
            </a:r>
          </a:p>
          <a:p>
            <a:r>
              <a:rPr lang="en-US" dirty="0"/>
              <a:t>Open audit-log.md file in some editor and keep open</a:t>
            </a:r>
          </a:p>
          <a:p>
            <a:r>
              <a:rPr lang="en-US" dirty="0"/>
              <a:t>In a terminal, run a command such as: </a:t>
            </a:r>
            <a:r>
              <a:rPr lang="en-US" dirty="0" err="1"/>
              <a:t>claude</a:t>
            </a:r>
            <a:r>
              <a:rPr lang="en-US" dirty="0"/>
              <a:t> ‘Add an empty today’s date.txt file in the project-docs directory’</a:t>
            </a:r>
          </a:p>
          <a:p>
            <a:r>
              <a:rPr lang="en-US" dirty="0"/>
              <a:t>See if the audit log file logs it</a:t>
            </a:r>
            <a:endParaRPr lang="en-GB" dirty="0"/>
          </a:p>
        </p:txBody>
      </p:sp>
    </p:spTree>
    <p:extLst>
      <p:ext uri="{BB962C8B-B14F-4D97-AF65-F5344CB8AC3E}">
        <p14:creationId xmlns:p14="http://schemas.microsoft.com/office/powerpoint/2010/main" val="207222734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E5DB7-DEED-5C2F-398A-1C5B99AABA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808D17-EA8A-454F-04BB-E53841BA6EFE}"/>
              </a:ext>
            </a:extLst>
          </p:cNvPr>
          <p:cNvSpPr>
            <a:spLocks noGrp="1"/>
          </p:cNvSpPr>
          <p:nvPr>
            <p:ph type="title"/>
          </p:nvPr>
        </p:nvSpPr>
        <p:spPr/>
        <p:txBody>
          <a:bodyPr/>
          <a:lstStyle/>
          <a:p>
            <a:r>
              <a:rPr lang="en-IN" dirty="0"/>
              <a:t>Hooks Exercise</a:t>
            </a:r>
            <a:endParaRPr lang="en-GB" dirty="0"/>
          </a:p>
        </p:txBody>
      </p:sp>
      <p:sp>
        <p:nvSpPr>
          <p:cNvPr id="3" name="Content Placeholder 2">
            <a:extLst>
              <a:ext uri="{FF2B5EF4-FFF2-40B4-BE49-F238E27FC236}">
                <a16:creationId xmlns:a16="http://schemas.microsoft.com/office/drawing/2014/main" id="{EEE94A1D-10E4-EBAD-F900-12DA415FC8A3}"/>
              </a:ext>
            </a:extLst>
          </p:cNvPr>
          <p:cNvSpPr>
            <a:spLocks noGrp="1"/>
          </p:cNvSpPr>
          <p:nvPr>
            <p:ph idx="1"/>
          </p:nvPr>
        </p:nvSpPr>
        <p:spPr/>
        <p:txBody>
          <a:bodyPr>
            <a:normAutofit/>
          </a:bodyPr>
          <a:lstStyle/>
          <a:p>
            <a:r>
              <a:rPr lang="en-GB" dirty="0"/>
              <a:t>Hooks demo: </a:t>
            </a:r>
            <a:r>
              <a:rPr lang="en-US" dirty="0"/>
              <a:t>C:\lectures\Others\Edureka\Claude-Code\hooks-demo</a:t>
            </a:r>
          </a:p>
          <a:p>
            <a:r>
              <a:rPr lang="en-US" dirty="0"/>
              <a:t>Open audit-log.md file in some editor and keep open</a:t>
            </a:r>
          </a:p>
          <a:p>
            <a:r>
              <a:rPr lang="en-US" dirty="0"/>
              <a:t>In a terminal, run a command such as: </a:t>
            </a:r>
            <a:r>
              <a:rPr lang="en-US" dirty="0" err="1"/>
              <a:t>claude</a:t>
            </a:r>
            <a:r>
              <a:rPr lang="en-US" dirty="0"/>
              <a:t> ‘Add an empty today’s date.txt file in the project-docs directory’</a:t>
            </a:r>
          </a:p>
          <a:p>
            <a:r>
              <a:rPr lang="en-US" dirty="0"/>
              <a:t>See if the audit log file logs it</a:t>
            </a:r>
            <a:endParaRPr lang="en-GB" dirty="0"/>
          </a:p>
        </p:txBody>
      </p:sp>
    </p:spTree>
    <p:extLst>
      <p:ext uri="{BB962C8B-B14F-4D97-AF65-F5344CB8AC3E}">
        <p14:creationId xmlns:p14="http://schemas.microsoft.com/office/powerpoint/2010/main" val="186232135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E9C1F-3011-1332-4740-8EE9C69717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FE01CD-24CD-CDAB-1902-796BFA9A9C8D}"/>
              </a:ext>
            </a:extLst>
          </p:cNvPr>
          <p:cNvSpPr>
            <a:spLocks noGrp="1"/>
          </p:cNvSpPr>
          <p:nvPr>
            <p:ph type="title"/>
          </p:nvPr>
        </p:nvSpPr>
        <p:spPr/>
        <p:txBody>
          <a:bodyPr/>
          <a:lstStyle/>
          <a:p>
            <a:r>
              <a:rPr lang="en-IN" dirty="0"/>
              <a:t>Hooks Exercise</a:t>
            </a:r>
            <a:endParaRPr lang="en-GB" dirty="0"/>
          </a:p>
        </p:txBody>
      </p:sp>
      <p:sp>
        <p:nvSpPr>
          <p:cNvPr id="3" name="Content Placeholder 2">
            <a:extLst>
              <a:ext uri="{FF2B5EF4-FFF2-40B4-BE49-F238E27FC236}">
                <a16:creationId xmlns:a16="http://schemas.microsoft.com/office/drawing/2014/main" id="{F601715E-0D22-3817-0199-B486B40D63D2}"/>
              </a:ext>
            </a:extLst>
          </p:cNvPr>
          <p:cNvSpPr>
            <a:spLocks noGrp="1"/>
          </p:cNvSpPr>
          <p:nvPr>
            <p:ph idx="1"/>
          </p:nvPr>
        </p:nvSpPr>
        <p:spPr/>
        <p:txBody>
          <a:bodyPr>
            <a:normAutofit fontScale="92500" lnSpcReduction="10000"/>
          </a:bodyPr>
          <a:lstStyle/>
          <a:p>
            <a:r>
              <a:rPr lang="en-IN" dirty="0"/>
              <a:t>Setup</a:t>
            </a:r>
          </a:p>
          <a:p>
            <a:pPr lvl="1"/>
            <a:r>
              <a:rPr lang="en-GB" dirty="0" err="1"/>
              <a:t>mkdir</a:t>
            </a:r>
            <a:r>
              <a:rPr lang="en-GB" dirty="0"/>
              <a:t> policy-hook-demo</a:t>
            </a:r>
          </a:p>
          <a:p>
            <a:pPr lvl="1"/>
            <a:r>
              <a:rPr lang="en-GB" dirty="0"/>
              <a:t>cd policy-hook-demo</a:t>
            </a:r>
          </a:p>
          <a:p>
            <a:pPr lvl="1"/>
            <a:r>
              <a:rPr lang="en-GB" dirty="0" err="1"/>
              <a:t>mkdir</a:t>
            </a:r>
            <a:r>
              <a:rPr lang="en-GB" dirty="0"/>
              <a:t> production</a:t>
            </a:r>
          </a:p>
          <a:p>
            <a:pPr lvl="1"/>
            <a:r>
              <a:rPr lang="en-GB" dirty="0"/>
              <a:t>echo "critical config - do not touch" &gt; production/config.txt</a:t>
            </a:r>
          </a:p>
          <a:p>
            <a:pPr lvl="1"/>
            <a:r>
              <a:rPr lang="en-GB" dirty="0" err="1"/>
              <a:t>claude</a:t>
            </a:r>
            <a:endParaRPr lang="en-GB" dirty="0"/>
          </a:p>
          <a:p>
            <a:r>
              <a:rPr lang="en-GB" dirty="0"/>
              <a:t>Without hook – Advisory style</a:t>
            </a:r>
          </a:p>
          <a:p>
            <a:pPr lvl="1"/>
            <a:r>
              <a:rPr lang="en-GB" dirty="0"/>
              <a:t>Nobody should be able to edit files in the production folder without review</a:t>
            </a:r>
          </a:p>
          <a:p>
            <a:pPr lvl="1"/>
            <a:r>
              <a:rPr lang="en-GB" dirty="0"/>
              <a:t>But immediately try to break the rule</a:t>
            </a:r>
          </a:p>
          <a:p>
            <a:pPr lvl="2"/>
            <a:r>
              <a:rPr lang="en-GB" dirty="0"/>
              <a:t>Update production/config.txt to say 'updated config’</a:t>
            </a:r>
          </a:p>
          <a:p>
            <a:pPr lvl="1"/>
            <a:r>
              <a:rPr lang="en-GB" dirty="0"/>
              <a:t>What happens?</a:t>
            </a:r>
          </a:p>
          <a:p>
            <a:pPr lvl="2"/>
            <a:r>
              <a:rPr lang="en-GB" dirty="0"/>
              <a:t>Even if Claude complies, will it do the same in a new session?</a:t>
            </a:r>
          </a:p>
          <a:p>
            <a:endParaRPr lang="en-GB" dirty="0"/>
          </a:p>
        </p:txBody>
      </p:sp>
    </p:spTree>
    <p:extLst>
      <p:ext uri="{BB962C8B-B14F-4D97-AF65-F5344CB8AC3E}">
        <p14:creationId xmlns:p14="http://schemas.microsoft.com/office/powerpoint/2010/main" val="80369328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ED071-C064-935F-796F-1946188965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A7B313-BEB0-0A19-A76D-7DDF2AC1FAA6}"/>
              </a:ext>
            </a:extLst>
          </p:cNvPr>
          <p:cNvSpPr>
            <a:spLocks noGrp="1"/>
          </p:cNvSpPr>
          <p:nvPr>
            <p:ph type="title"/>
          </p:nvPr>
        </p:nvSpPr>
        <p:spPr/>
        <p:txBody>
          <a:bodyPr/>
          <a:lstStyle/>
          <a:p>
            <a:r>
              <a:rPr lang="en-IN" dirty="0"/>
              <a:t>Hooks Exercise</a:t>
            </a:r>
            <a:endParaRPr lang="en-GB" dirty="0"/>
          </a:p>
        </p:txBody>
      </p:sp>
      <p:sp>
        <p:nvSpPr>
          <p:cNvPr id="3" name="Content Placeholder 2">
            <a:extLst>
              <a:ext uri="{FF2B5EF4-FFF2-40B4-BE49-F238E27FC236}">
                <a16:creationId xmlns:a16="http://schemas.microsoft.com/office/drawing/2014/main" id="{48B16D14-DAC0-8FE5-D395-8E9A2523FC61}"/>
              </a:ext>
            </a:extLst>
          </p:cNvPr>
          <p:cNvSpPr>
            <a:spLocks noGrp="1"/>
          </p:cNvSpPr>
          <p:nvPr>
            <p:ph idx="1"/>
          </p:nvPr>
        </p:nvSpPr>
        <p:spPr/>
        <p:txBody>
          <a:bodyPr>
            <a:normAutofit fontScale="92500" lnSpcReduction="20000"/>
          </a:bodyPr>
          <a:lstStyle/>
          <a:p>
            <a:r>
              <a:rPr lang="en-IN" dirty="0"/>
              <a:t>Now add a hook</a:t>
            </a:r>
          </a:p>
          <a:p>
            <a:r>
              <a:rPr lang="en-GB" dirty="0"/>
              <a:t>Exit Claude and create .</a:t>
            </a:r>
            <a:r>
              <a:rPr lang="en-GB" dirty="0" err="1"/>
              <a:t>claude</a:t>
            </a:r>
            <a:r>
              <a:rPr lang="en-GB" dirty="0"/>
              <a:t>/</a:t>
            </a:r>
            <a:r>
              <a:rPr lang="en-GB" dirty="0" err="1"/>
              <a:t>settings.json</a:t>
            </a:r>
            <a:r>
              <a:rPr lang="en-GB" dirty="0"/>
              <a:t> in the project folder</a:t>
            </a:r>
          </a:p>
          <a:p>
            <a:pPr lvl="1"/>
            <a:r>
              <a:rPr lang="en-IN" dirty="0"/>
              <a:t>{</a:t>
            </a:r>
          </a:p>
          <a:p>
            <a:pPr lvl="1"/>
            <a:r>
              <a:rPr lang="en-IN" dirty="0"/>
              <a:t>  "hooks": {</a:t>
            </a:r>
          </a:p>
          <a:p>
            <a:pPr lvl="1"/>
            <a:r>
              <a:rPr lang="en-IN" dirty="0"/>
              <a:t>    "</a:t>
            </a:r>
            <a:r>
              <a:rPr lang="en-IN" dirty="0" err="1"/>
              <a:t>PreToolUse</a:t>
            </a:r>
            <a:r>
              <a:rPr lang="en-IN" dirty="0"/>
              <a:t>": [</a:t>
            </a:r>
          </a:p>
          <a:p>
            <a:pPr lvl="1"/>
            <a:r>
              <a:rPr lang="en-IN" dirty="0"/>
              <a:t>      {</a:t>
            </a:r>
          </a:p>
          <a:p>
            <a:pPr lvl="1"/>
            <a:r>
              <a:rPr lang="en-IN" dirty="0"/>
              <a:t>        "matcher": "Edit",</a:t>
            </a:r>
          </a:p>
          <a:p>
            <a:pPr lvl="1"/>
            <a:r>
              <a:rPr lang="en-IN" dirty="0"/>
              <a:t>        "command": "python3 -c \"import </a:t>
            </a:r>
            <a:r>
              <a:rPr lang="en-IN" dirty="0" err="1"/>
              <a:t>json,sys</a:t>
            </a:r>
            <a:r>
              <a:rPr lang="en-IN" dirty="0"/>
              <a:t>; data=</a:t>
            </a:r>
            <a:r>
              <a:rPr lang="en-IN" dirty="0" err="1"/>
              <a:t>json.load</a:t>
            </a:r>
            <a:r>
              <a:rPr lang="en-IN" dirty="0"/>
              <a:t>(</a:t>
            </a:r>
            <a:r>
              <a:rPr lang="en-IN" dirty="0" err="1"/>
              <a:t>sys.stdin</a:t>
            </a:r>
            <a:r>
              <a:rPr lang="en-IN" dirty="0"/>
              <a:t>); path=</a:t>
            </a:r>
            <a:r>
              <a:rPr lang="en-IN" dirty="0" err="1"/>
              <a:t>data.get</a:t>
            </a:r>
            <a:r>
              <a:rPr lang="en-IN" dirty="0"/>
              <a:t>('</a:t>
            </a:r>
            <a:r>
              <a:rPr lang="en-IN" dirty="0" err="1"/>
              <a:t>tool_input</a:t>
            </a:r>
            <a:r>
              <a:rPr lang="en-IN" dirty="0"/>
              <a:t>',{}).get('</a:t>
            </a:r>
            <a:r>
              <a:rPr lang="en-IN" dirty="0" err="1"/>
              <a:t>file_path</a:t>
            </a:r>
            <a:r>
              <a:rPr lang="en-IN" dirty="0"/>
              <a:t>',''); </a:t>
            </a:r>
            <a:r>
              <a:rPr lang="en-IN" dirty="0" err="1"/>
              <a:t>sys.exit</a:t>
            </a:r>
            <a:r>
              <a:rPr lang="en-IN" dirty="0"/>
              <a:t>(2 if 'production' in path else 0)\""</a:t>
            </a:r>
          </a:p>
          <a:p>
            <a:pPr lvl="1"/>
            <a:r>
              <a:rPr lang="en-IN" dirty="0"/>
              <a:t>      }</a:t>
            </a:r>
          </a:p>
          <a:p>
            <a:pPr lvl="1"/>
            <a:r>
              <a:rPr lang="en-IN" dirty="0"/>
              <a:t>    ]</a:t>
            </a:r>
          </a:p>
          <a:p>
            <a:pPr lvl="1"/>
            <a:r>
              <a:rPr lang="en-IN" dirty="0"/>
              <a:t>  }</a:t>
            </a:r>
          </a:p>
          <a:p>
            <a:pPr lvl="1"/>
            <a:r>
              <a:rPr lang="en-IN" dirty="0"/>
              <a:t>}</a:t>
            </a:r>
          </a:p>
          <a:p>
            <a:pPr lvl="1"/>
            <a:endParaRPr lang="en-GB" dirty="0"/>
          </a:p>
        </p:txBody>
      </p:sp>
      <p:sp>
        <p:nvSpPr>
          <p:cNvPr id="4" name="TextBox 3">
            <a:extLst>
              <a:ext uri="{FF2B5EF4-FFF2-40B4-BE49-F238E27FC236}">
                <a16:creationId xmlns:a16="http://schemas.microsoft.com/office/drawing/2014/main" id="{A9A73380-B18D-D5BB-01DF-BEFC707C3113}"/>
              </a:ext>
            </a:extLst>
          </p:cNvPr>
          <p:cNvSpPr txBox="1"/>
          <p:nvPr/>
        </p:nvSpPr>
        <p:spPr>
          <a:xfrm>
            <a:off x="5612043" y="230188"/>
            <a:ext cx="6463621" cy="1477328"/>
          </a:xfrm>
          <a:prstGeom prst="rect">
            <a:avLst/>
          </a:prstGeom>
          <a:noFill/>
        </p:spPr>
        <p:txBody>
          <a:bodyPr wrap="square" rtlCol="0">
            <a:spAutoFit/>
          </a:bodyPr>
          <a:lstStyle/>
          <a:p>
            <a:r>
              <a:rPr lang="en-GB" dirty="0"/>
              <a:t>matcher: Edit — this hook fires before any file edit </a:t>
            </a:r>
          </a:p>
          <a:p>
            <a:r>
              <a:rPr lang="en-GB" dirty="0"/>
              <a:t>The command reads the tool's JSON input from stdin, checks whether production appears in the file path </a:t>
            </a:r>
          </a:p>
          <a:p>
            <a:r>
              <a:rPr lang="en-GB" dirty="0" err="1"/>
              <a:t>sys.exit</a:t>
            </a:r>
            <a:r>
              <a:rPr lang="en-GB" dirty="0"/>
              <a:t>(2) — exit code 2 blocks the action and sends the message back to Claude as feedback; </a:t>
            </a:r>
            <a:r>
              <a:rPr lang="en-GB" dirty="0" err="1"/>
              <a:t>sys.exit</a:t>
            </a:r>
            <a:r>
              <a:rPr lang="en-GB" dirty="0"/>
              <a:t>(0) lets it through</a:t>
            </a:r>
          </a:p>
        </p:txBody>
      </p:sp>
    </p:spTree>
    <p:extLst>
      <p:ext uri="{BB962C8B-B14F-4D97-AF65-F5344CB8AC3E}">
        <p14:creationId xmlns:p14="http://schemas.microsoft.com/office/powerpoint/2010/main" val="258127316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43993-0787-81CF-C4E6-6A86D81A86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68B918-1588-FFBC-DC7E-8C48ECB064DF}"/>
              </a:ext>
            </a:extLst>
          </p:cNvPr>
          <p:cNvSpPr>
            <a:spLocks noGrp="1"/>
          </p:cNvSpPr>
          <p:nvPr>
            <p:ph type="title"/>
          </p:nvPr>
        </p:nvSpPr>
        <p:spPr/>
        <p:txBody>
          <a:bodyPr/>
          <a:lstStyle/>
          <a:p>
            <a:r>
              <a:rPr lang="en-IN" dirty="0"/>
              <a:t>Hooks Exercise</a:t>
            </a:r>
            <a:endParaRPr lang="en-GB" dirty="0"/>
          </a:p>
        </p:txBody>
      </p:sp>
      <p:sp>
        <p:nvSpPr>
          <p:cNvPr id="3" name="Content Placeholder 2">
            <a:extLst>
              <a:ext uri="{FF2B5EF4-FFF2-40B4-BE49-F238E27FC236}">
                <a16:creationId xmlns:a16="http://schemas.microsoft.com/office/drawing/2014/main" id="{BC956435-FA4A-0AA2-4E4C-12B0E5A4698E}"/>
              </a:ext>
            </a:extLst>
          </p:cNvPr>
          <p:cNvSpPr>
            <a:spLocks noGrp="1"/>
          </p:cNvSpPr>
          <p:nvPr>
            <p:ph idx="1"/>
          </p:nvPr>
        </p:nvSpPr>
        <p:spPr/>
        <p:txBody>
          <a:bodyPr>
            <a:normAutofit/>
          </a:bodyPr>
          <a:lstStyle/>
          <a:p>
            <a:r>
              <a:rPr lang="en-IN" dirty="0"/>
              <a:t>Restart </a:t>
            </a:r>
            <a:r>
              <a:rPr lang="en-IN" dirty="0" err="1"/>
              <a:t>claude</a:t>
            </a:r>
            <a:r>
              <a:rPr lang="en-IN" dirty="0"/>
              <a:t> in the same directory: </a:t>
            </a:r>
            <a:r>
              <a:rPr lang="en-IN" dirty="0" err="1"/>
              <a:t>claude</a:t>
            </a:r>
            <a:endParaRPr lang="en-IN" dirty="0"/>
          </a:p>
          <a:p>
            <a:r>
              <a:rPr lang="en-GB" dirty="0"/>
              <a:t>Update production/config.txt to say 'updated config’</a:t>
            </a:r>
          </a:p>
          <a:p>
            <a:pPr lvl="1"/>
            <a:r>
              <a:rPr lang="en-GB" dirty="0"/>
              <a:t>This should be blocked</a:t>
            </a:r>
          </a:p>
          <a:p>
            <a:r>
              <a:rPr lang="en-GB" dirty="0"/>
              <a:t>echo "notes.txt" &gt; notes.txt</a:t>
            </a:r>
          </a:p>
          <a:p>
            <a:pPr lvl="1"/>
            <a:r>
              <a:rPr lang="en-GB" dirty="0"/>
              <a:t>This should be allowed</a:t>
            </a:r>
          </a:p>
        </p:txBody>
      </p:sp>
    </p:spTree>
    <p:extLst>
      <p:ext uri="{BB962C8B-B14F-4D97-AF65-F5344CB8AC3E}">
        <p14:creationId xmlns:p14="http://schemas.microsoft.com/office/powerpoint/2010/main" val="6638735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68854-43C5-28B9-216B-38FCF8B0A2E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1762FD3-AE2C-96C8-01C4-D8DD19C2EC2B}"/>
              </a:ext>
            </a:extLst>
          </p:cNvPr>
          <p:cNvSpPr>
            <a:spLocks noGrp="1"/>
          </p:cNvSpPr>
          <p:nvPr>
            <p:ph type="title"/>
          </p:nvPr>
        </p:nvSpPr>
        <p:spPr/>
        <p:txBody>
          <a:bodyPr/>
          <a:lstStyle/>
          <a:p>
            <a:r>
              <a:rPr lang="en-IN" dirty="0"/>
              <a:t>Section 9: MCP</a:t>
            </a:r>
            <a:endParaRPr lang="en-GB" dirty="0"/>
          </a:p>
        </p:txBody>
      </p:sp>
      <p:sp>
        <p:nvSpPr>
          <p:cNvPr id="5" name="Text Placeholder 4">
            <a:extLst>
              <a:ext uri="{FF2B5EF4-FFF2-40B4-BE49-F238E27FC236}">
                <a16:creationId xmlns:a16="http://schemas.microsoft.com/office/drawing/2014/main" id="{0CEDBD29-9DB7-6D5A-1D44-FE83851C4E45}"/>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58935548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87B0C2-3A23-7D7B-D06C-52AD03C50F0F}"/>
              </a:ext>
            </a:extLst>
          </p:cNvPr>
          <p:cNvSpPr>
            <a:spLocks noGrp="1"/>
          </p:cNvSpPr>
          <p:nvPr>
            <p:ph type="title"/>
          </p:nvPr>
        </p:nvSpPr>
        <p:spPr/>
        <p:txBody>
          <a:bodyPr/>
          <a:lstStyle/>
          <a:p>
            <a:r>
              <a:rPr lang="en-IN" noProof="0" dirty="0"/>
              <a:t>MCP</a:t>
            </a:r>
          </a:p>
        </p:txBody>
      </p:sp>
      <p:sp>
        <p:nvSpPr>
          <p:cNvPr id="3" name="Content Placeholder 2">
            <a:extLst>
              <a:ext uri="{FF2B5EF4-FFF2-40B4-BE49-F238E27FC236}">
                <a16:creationId xmlns:a16="http://schemas.microsoft.com/office/drawing/2014/main" id="{8BDEB5A0-FD31-E9F0-714E-85D799002F0A}"/>
              </a:ext>
            </a:extLst>
          </p:cNvPr>
          <p:cNvSpPr>
            <a:spLocks noGrp="1"/>
          </p:cNvSpPr>
          <p:nvPr>
            <p:ph idx="1"/>
          </p:nvPr>
        </p:nvSpPr>
        <p:spPr/>
        <p:txBody>
          <a:bodyPr/>
          <a:lstStyle/>
          <a:p>
            <a:r>
              <a:rPr lang="en-IN" noProof="0" dirty="0"/>
              <a:t>Remote MCP</a:t>
            </a:r>
          </a:p>
          <a:p>
            <a:pPr lvl="1"/>
            <a:r>
              <a:rPr lang="en-IN" noProof="0" dirty="0" err="1"/>
              <a:t>claude</a:t>
            </a:r>
            <a:r>
              <a:rPr lang="en-IN" noProof="0" dirty="0"/>
              <a:t> </a:t>
            </a:r>
            <a:r>
              <a:rPr lang="en-IN" noProof="0" dirty="0" err="1"/>
              <a:t>mcp</a:t>
            </a:r>
            <a:r>
              <a:rPr lang="en-IN" noProof="0" dirty="0"/>
              <a:t> add --transport http </a:t>
            </a:r>
            <a:r>
              <a:rPr lang="en-IN" noProof="0" dirty="0" err="1"/>
              <a:t>github</a:t>
            </a:r>
            <a:r>
              <a:rPr lang="en-IN" noProof="0" dirty="0"/>
              <a:t> https://api.githubcopilot.com/mcp/ \  --header "Authorization: Bearer YOUR_GITHUB_TOKEN“</a:t>
            </a:r>
          </a:p>
          <a:p>
            <a:r>
              <a:rPr lang="en-IN" noProof="0" dirty="0"/>
              <a:t>Local MCP</a:t>
            </a:r>
          </a:p>
          <a:p>
            <a:pPr lvl="1"/>
            <a:r>
              <a:rPr lang="en-IN" noProof="0" dirty="0" err="1"/>
              <a:t>claude</a:t>
            </a:r>
            <a:r>
              <a:rPr lang="en-IN" noProof="0" dirty="0"/>
              <a:t> </a:t>
            </a:r>
            <a:r>
              <a:rPr lang="en-IN" noProof="0" dirty="0" err="1"/>
              <a:t>mcp</a:t>
            </a:r>
            <a:r>
              <a:rPr lang="en-IN" noProof="0" dirty="0"/>
              <a:t> add --transport </a:t>
            </a:r>
            <a:r>
              <a:rPr lang="en-IN" noProof="0" dirty="0" err="1"/>
              <a:t>stdio</a:t>
            </a:r>
            <a:r>
              <a:rPr lang="en-IN" noProof="0" dirty="0"/>
              <a:t> </a:t>
            </a:r>
            <a:r>
              <a:rPr lang="en-IN" noProof="0" dirty="0" err="1"/>
              <a:t>db</a:t>
            </a:r>
            <a:r>
              <a:rPr lang="en-IN" noProof="0" dirty="0"/>
              <a:t> -- </a:t>
            </a:r>
            <a:r>
              <a:rPr lang="en-IN" noProof="0" dirty="0" err="1"/>
              <a:t>npx</a:t>
            </a:r>
            <a:r>
              <a:rPr lang="en-IN" noProof="0" dirty="0"/>
              <a:t> -y @bytebase/dbhub \  --</a:t>
            </a:r>
            <a:r>
              <a:rPr lang="en-IN" noProof="0" dirty="0" err="1"/>
              <a:t>dsn</a:t>
            </a:r>
            <a:r>
              <a:rPr lang="en-IN" noProof="0" dirty="0"/>
              <a:t> "</a:t>
            </a:r>
            <a:r>
              <a:rPr lang="en-IN" noProof="0" dirty="0" err="1"/>
              <a:t>postgresql</a:t>
            </a:r>
            <a:r>
              <a:rPr lang="en-IN" noProof="0" dirty="0"/>
              <a:t>://readonly:pass@localhost:5432/analytics« </a:t>
            </a:r>
          </a:p>
          <a:p>
            <a:r>
              <a:rPr lang="en-IN" noProof="0" dirty="0"/>
              <a:t>Automatically adding MCP servers added to Claude desktop</a:t>
            </a:r>
          </a:p>
          <a:p>
            <a:pPr lvl="1"/>
            <a:r>
              <a:rPr lang="en-IN" noProof="0" dirty="0" err="1"/>
              <a:t>claude</a:t>
            </a:r>
            <a:r>
              <a:rPr lang="en-IN" noProof="0" dirty="0"/>
              <a:t> </a:t>
            </a:r>
            <a:r>
              <a:rPr lang="en-IN" noProof="0" dirty="0" err="1"/>
              <a:t>mcp</a:t>
            </a:r>
            <a:r>
              <a:rPr lang="en-IN" noProof="0" dirty="0"/>
              <a:t> add-from-</a:t>
            </a:r>
            <a:r>
              <a:rPr lang="en-IN" noProof="0" dirty="0" err="1"/>
              <a:t>claude</a:t>
            </a:r>
            <a:r>
              <a:rPr lang="en-IN" noProof="0" dirty="0"/>
              <a:t>-desktop</a:t>
            </a:r>
          </a:p>
          <a:p>
            <a:r>
              <a:rPr lang="en-IN" noProof="0" dirty="0"/>
              <a:t>/</a:t>
            </a:r>
            <a:r>
              <a:rPr lang="en-IN" noProof="0" dirty="0" err="1"/>
              <a:t>mcp</a:t>
            </a:r>
            <a:r>
              <a:rPr lang="en-IN" noProof="0" dirty="0"/>
              <a:t> to know what servers and tools are available (or from the terminal: </a:t>
            </a:r>
            <a:r>
              <a:rPr lang="en-IN" noProof="0" dirty="0" err="1"/>
              <a:t>claude</a:t>
            </a:r>
            <a:r>
              <a:rPr lang="en-IN" noProof="0" dirty="0"/>
              <a:t> </a:t>
            </a:r>
            <a:r>
              <a:rPr lang="en-IN" noProof="0" dirty="0" err="1"/>
              <a:t>mcp</a:t>
            </a:r>
            <a:r>
              <a:rPr lang="en-IN" noProof="0" dirty="0"/>
              <a:t> list and to remove </a:t>
            </a:r>
            <a:r>
              <a:rPr lang="en-IN" noProof="0" dirty="0" err="1"/>
              <a:t>claude</a:t>
            </a:r>
            <a:r>
              <a:rPr lang="en-IN" noProof="0" dirty="0"/>
              <a:t> </a:t>
            </a:r>
            <a:r>
              <a:rPr lang="en-IN" noProof="0" dirty="0" err="1"/>
              <a:t>mcp</a:t>
            </a:r>
            <a:r>
              <a:rPr lang="en-IN" noProof="0" dirty="0"/>
              <a:t> remove &lt;server&gt;)</a:t>
            </a:r>
          </a:p>
          <a:p>
            <a:endParaRPr lang="en-IN" noProof="0" dirty="0"/>
          </a:p>
          <a:p>
            <a:endParaRPr lang="en-IN" noProof="0" dirty="0"/>
          </a:p>
        </p:txBody>
      </p:sp>
    </p:spTree>
    <p:extLst>
      <p:ext uri="{BB962C8B-B14F-4D97-AF65-F5344CB8AC3E}">
        <p14:creationId xmlns:p14="http://schemas.microsoft.com/office/powerpoint/2010/main" val="302555985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9B952-F72E-8E57-54AD-B9FDC2B28F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B49E6C-7D97-A8F4-30B7-E842B88378D8}"/>
              </a:ext>
            </a:extLst>
          </p:cNvPr>
          <p:cNvSpPr>
            <a:spLocks noGrp="1"/>
          </p:cNvSpPr>
          <p:nvPr>
            <p:ph type="title"/>
          </p:nvPr>
        </p:nvSpPr>
        <p:spPr/>
        <p:txBody>
          <a:bodyPr/>
          <a:lstStyle/>
          <a:p>
            <a:r>
              <a:rPr lang="en-IN" noProof="0" dirty="0"/>
              <a:t>MCP: Multiple Secrets</a:t>
            </a:r>
          </a:p>
        </p:txBody>
      </p:sp>
      <p:sp>
        <p:nvSpPr>
          <p:cNvPr id="3" name="Content Placeholder 2">
            <a:extLst>
              <a:ext uri="{FF2B5EF4-FFF2-40B4-BE49-F238E27FC236}">
                <a16:creationId xmlns:a16="http://schemas.microsoft.com/office/drawing/2014/main" id="{B92B310B-69B9-1901-DA0B-5D65CEF9BEC4}"/>
              </a:ext>
            </a:extLst>
          </p:cNvPr>
          <p:cNvSpPr>
            <a:spLocks noGrp="1"/>
          </p:cNvSpPr>
          <p:nvPr>
            <p:ph idx="1"/>
          </p:nvPr>
        </p:nvSpPr>
        <p:spPr/>
        <p:txBody>
          <a:bodyPr>
            <a:normAutofit fontScale="85000" lnSpcReduction="20000"/>
          </a:bodyPr>
          <a:lstStyle/>
          <a:p>
            <a:r>
              <a:rPr lang="en-IN" noProof="0" dirty="0"/>
              <a:t>Suppose we want an MCP server for GitHub for each team member</a:t>
            </a:r>
          </a:p>
          <a:p>
            <a:r>
              <a:rPr lang="en-IN" dirty="0"/>
              <a:t>Create a .</a:t>
            </a:r>
            <a:r>
              <a:rPr lang="en-IN" dirty="0" err="1"/>
              <a:t>mcp.json</a:t>
            </a:r>
            <a:r>
              <a:rPr lang="en-IN" dirty="0"/>
              <a:t> in project root directory -&gt; project scope</a:t>
            </a:r>
          </a:p>
          <a:p>
            <a:pPr lvl="1"/>
            <a:r>
              <a:rPr lang="en-IN" dirty="0"/>
              <a:t>{</a:t>
            </a:r>
          </a:p>
          <a:p>
            <a:pPr lvl="1"/>
            <a:r>
              <a:rPr lang="en-IN" dirty="0"/>
              <a:t>  "</a:t>
            </a:r>
            <a:r>
              <a:rPr lang="en-IN" dirty="0" err="1"/>
              <a:t>mcpServers</a:t>
            </a:r>
            <a:r>
              <a:rPr lang="en-IN" dirty="0"/>
              <a:t>": {</a:t>
            </a:r>
          </a:p>
          <a:p>
            <a:pPr lvl="1"/>
            <a:r>
              <a:rPr lang="en-IN" dirty="0"/>
              <a:t>    "sentry": { "type": "http", "</a:t>
            </a:r>
            <a:r>
              <a:rPr lang="en-IN" dirty="0" err="1"/>
              <a:t>url</a:t>
            </a:r>
            <a:r>
              <a:rPr lang="en-IN" dirty="0"/>
              <a:t>": "https://mcp.sentry.dev/mcp" },</a:t>
            </a:r>
          </a:p>
          <a:p>
            <a:pPr lvl="1"/>
            <a:r>
              <a:rPr lang="en-IN" dirty="0"/>
              <a:t>    "</a:t>
            </a:r>
            <a:r>
              <a:rPr lang="en-IN" dirty="0" err="1"/>
              <a:t>github</a:t>
            </a:r>
            <a:r>
              <a:rPr lang="en-IN" dirty="0"/>
              <a:t>": {</a:t>
            </a:r>
          </a:p>
          <a:p>
            <a:pPr lvl="1"/>
            <a:r>
              <a:rPr lang="en-IN" dirty="0"/>
              <a:t>      "type": "http",</a:t>
            </a:r>
          </a:p>
          <a:p>
            <a:pPr lvl="1"/>
            <a:r>
              <a:rPr lang="en-IN" dirty="0"/>
              <a:t>      "</a:t>
            </a:r>
            <a:r>
              <a:rPr lang="en-IN" dirty="0" err="1"/>
              <a:t>url</a:t>
            </a:r>
            <a:r>
              <a:rPr lang="en-IN" dirty="0"/>
              <a:t>": "https://api.githubcopilot.com/</a:t>
            </a:r>
            <a:r>
              <a:rPr lang="en-IN" dirty="0" err="1"/>
              <a:t>mcp</a:t>
            </a:r>
            <a:r>
              <a:rPr lang="en-IN" dirty="0"/>
              <a:t>/",</a:t>
            </a:r>
          </a:p>
          <a:p>
            <a:pPr lvl="1"/>
            <a:r>
              <a:rPr lang="en-IN" dirty="0"/>
              <a:t>      "headers": { "Authorization": "Bearer ${GITHUB_TOKEN}" }</a:t>
            </a:r>
          </a:p>
          <a:p>
            <a:pPr lvl="1"/>
            <a:r>
              <a:rPr lang="en-IN" dirty="0"/>
              <a:t>    }</a:t>
            </a:r>
          </a:p>
          <a:p>
            <a:pPr lvl="1"/>
            <a:r>
              <a:rPr lang="en-IN" dirty="0"/>
              <a:t>  }</a:t>
            </a:r>
          </a:p>
          <a:p>
            <a:pPr lvl="1"/>
            <a:r>
              <a:rPr lang="en-IN" dirty="0"/>
              <a:t>}</a:t>
            </a:r>
          </a:p>
          <a:p>
            <a:r>
              <a:rPr lang="en-US" dirty="0"/>
              <a:t>Each teammate sets GITHUB_TOKEN in their own environment; the repository never holds the secret</a:t>
            </a:r>
            <a:endParaRPr lang="en-IN" noProof="0" dirty="0"/>
          </a:p>
        </p:txBody>
      </p:sp>
    </p:spTree>
    <p:extLst>
      <p:ext uri="{BB962C8B-B14F-4D97-AF65-F5344CB8AC3E}">
        <p14:creationId xmlns:p14="http://schemas.microsoft.com/office/powerpoint/2010/main" val="293259424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7D890-B4BC-4AB9-1568-A161A8CCA202}"/>
              </a:ext>
            </a:extLst>
          </p:cNvPr>
          <p:cNvSpPr>
            <a:spLocks noGrp="1"/>
          </p:cNvSpPr>
          <p:nvPr>
            <p:ph type="title"/>
          </p:nvPr>
        </p:nvSpPr>
        <p:spPr/>
        <p:txBody>
          <a:bodyPr/>
          <a:lstStyle/>
          <a:p>
            <a:r>
              <a:rPr lang="en-IN" dirty="0"/>
              <a:t>Exercise: Adding an MCP Server</a:t>
            </a:r>
            <a:endParaRPr lang="en-GB" dirty="0"/>
          </a:p>
        </p:txBody>
      </p:sp>
      <p:sp>
        <p:nvSpPr>
          <p:cNvPr id="3" name="Content Placeholder 2">
            <a:extLst>
              <a:ext uri="{FF2B5EF4-FFF2-40B4-BE49-F238E27FC236}">
                <a16:creationId xmlns:a16="http://schemas.microsoft.com/office/drawing/2014/main" id="{EE492FBA-26AF-5376-8B70-CE45464183B7}"/>
              </a:ext>
            </a:extLst>
          </p:cNvPr>
          <p:cNvSpPr>
            <a:spLocks noGrp="1"/>
          </p:cNvSpPr>
          <p:nvPr>
            <p:ph idx="1"/>
          </p:nvPr>
        </p:nvSpPr>
        <p:spPr/>
        <p:txBody>
          <a:bodyPr>
            <a:normAutofit lnSpcReduction="10000"/>
          </a:bodyPr>
          <a:lstStyle/>
          <a:p>
            <a:r>
              <a:rPr lang="en-GB" dirty="0"/>
              <a:t>Setup</a:t>
            </a:r>
          </a:p>
          <a:p>
            <a:pPr lvl="1"/>
            <a:r>
              <a:rPr lang="en-GB" dirty="0" err="1"/>
              <a:t>mkdir</a:t>
            </a:r>
            <a:r>
              <a:rPr lang="en-GB" dirty="0"/>
              <a:t> </a:t>
            </a:r>
            <a:r>
              <a:rPr lang="en-GB" dirty="0" err="1"/>
              <a:t>mcp</a:t>
            </a:r>
            <a:r>
              <a:rPr lang="en-GB" dirty="0"/>
              <a:t>-demo</a:t>
            </a:r>
          </a:p>
          <a:p>
            <a:pPr lvl="1"/>
            <a:r>
              <a:rPr lang="en-GB" dirty="0"/>
              <a:t>cd </a:t>
            </a:r>
            <a:r>
              <a:rPr lang="en-GB" dirty="0" err="1"/>
              <a:t>mcp</a:t>
            </a:r>
            <a:r>
              <a:rPr lang="en-GB" dirty="0"/>
              <a:t>-demo</a:t>
            </a:r>
          </a:p>
          <a:p>
            <a:pPr lvl="1"/>
            <a:r>
              <a:rPr lang="en-GB" dirty="0" err="1"/>
              <a:t>mkdir</a:t>
            </a:r>
            <a:r>
              <a:rPr lang="en-GB" dirty="0"/>
              <a:t> sample-data</a:t>
            </a:r>
          </a:p>
          <a:p>
            <a:pPr lvl="1"/>
            <a:r>
              <a:rPr lang="en-GB" dirty="0"/>
              <a:t>echo "Q3 revenue: $482,000. Q3 target: $450,000. Status: ahead of target." &gt; sample-data/q3-report.txt</a:t>
            </a:r>
          </a:p>
          <a:p>
            <a:pPr lvl="1"/>
            <a:r>
              <a:rPr lang="en-GB" dirty="0"/>
              <a:t>echo "Q4 revenue: $390,000. Q4 target: $500,000. Status: behind target." &gt; sample-data/q4-report.txt</a:t>
            </a:r>
          </a:p>
          <a:p>
            <a:r>
              <a:rPr lang="en-GB" dirty="0"/>
              <a:t>Add </a:t>
            </a:r>
            <a:r>
              <a:rPr lang="en-GB" dirty="0" err="1"/>
              <a:t>Anthropic’s</a:t>
            </a:r>
            <a:r>
              <a:rPr lang="en-GB" dirty="0"/>
              <a:t> own filesystem MCP server (Read/Write access to a specified directory)</a:t>
            </a:r>
          </a:p>
          <a:p>
            <a:pPr lvl="1"/>
            <a:r>
              <a:rPr lang="en-GB" dirty="0" err="1"/>
              <a:t>claude</a:t>
            </a:r>
            <a:r>
              <a:rPr lang="en-GB" dirty="0"/>
              <a:t> </a:t>
            </a:r>
            <a:r>
              <a:rPr lang="en-GB" dirty="0" err="1"/>
              <a:t>mcp</a:t>
            </a:r>
            <a:r>
              <a:rPr lang="en-GB" dirty="0"/>
              <a:t> add filesystem -- </a:t>
            </a:r>
            <a:r>
              <a:rPr lang="en-GB" dirty="0" err="1"/>
              <a:t>npx</a:t>
            </a:r>
            <a:r>
              <a:rPr lang="en-GB" dirty="0"/>
              <a:t> -y @modelcontextprotocol/server-filesystem ./sample-data</a:t>
            </a:r>
          </a:p>
        </p:txBody>
      </p:sp>
    </p:spTree>
    <p:extLst>
      <p:ext uri="{BB962C8B-B14F-4D97-AF65-F5344CB8AC3E}">
        <p14:creationId xmlns:p14="http://schemas.microsoft.com/office/powerpoint/2010/main" val="5865928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4548-158B-CE5E-B29D-012BB273A9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983EBE-CF74-9510-636D-76B6E5930830}"/>
              </a:ext>
            </a:extLst>
          </p:cNvPr>
          <p:cNvSpPr>
            <a:spLocks noGrp="1"/>
          </p:cNvSpPr>
          <p:nvPr>
            <p:ph type="title"/>
          </p:nvPr>
        </p:nvSpPr>
        <p:spPr/>
        <p:txBody>
          <a:bodyPr/>
          <a:lstStyle/>
          <a:p>
            <a:r>
              <a:rPr lang="en-IN" dirty="0"/>
              <a:t>Exercise: Adding an MCP Server</a:t>
            </a:r>
            <a:endParaRPr lang="en-GB" dirty="0"/>
          </a:p>
        </p:txBody>
      </p:sp>
      <p:sp>
        <p:nvSpPr>
          <p:cNvPr id="3" name="Content Placeholder 2">
            <a:extLst>
              <a:ext uri="{FF2B5EF4-FFF2-40B4-BE49-F238E27FC236}">
                <a16:creationId xmlns:a16="http://schemas.microsoft.com/office/drawing/2014/main" id="{2616BF53-BC52-177D-5FE6-9754E0997755}"/>
              </a:ext>
            </a:extLst>
          </p:cNvPr>
          <p:cNvSpPr>
            <a:spLocks noGrp="1"/>
          </p:cNvSpPr>
          <p:nvPr>
            <p:ph idx="1"/>
          </p:nvPr>
        </p:nvSpPr>
        <p:spPr/>
        <p:txBody>
          <a:bodyPr>
            <a:normAutofit lnSpcReduction="10000"/>
          </a:bodyPr>
          <a:lstStyle/>
          <a:p>
            <a:r>
              <a:rPr lang="en-GB" dirty="0"/>
              <a:t>Check MCP server registration: </a:t>
            </a:r>
            <a:r>
              <a:rPr lang="en-GB" dirty="0" err="1"/>
              <a:t>claude</a:t>
            </a:r>
            <a:r>
              <a:rPr lang="en-GB" dirty="0"/>
              <a:t> </a:t>
            </a:r>
            <a:r>
              <a:rPr lang="en-GB" dirty="0" err="1"/>
              <a:t>mcp</a:t>
            </a:r>
            <a:r>
              <a:rPr lang="en-GB" dirty="0"/>
              <a:t> list</a:t>
            </a:r>
          </a:p>
          <a:p>
            <a:r>
              <a:rPr lang="en-GB" dirty="0"/>
              <a:t>Start Claude and check from inside the session</a:t>
            </a:r>
          </a:p>
          <a:p>
            <a:pPr lvl="1"/>
            <a:r>
              <a:rPr lang="en-GB" dirty="0" err="1"/>
              <a:t>claude</a:t>
            </a:r>
            <a:endParaRPr lang="en-GB" dirty="0"/>
          </a:p>
          <a:p>
            <a:pPr lvl="1"/>
            <a:r>
              <a:rPr lang="en-GB" dirty="0"/>
              <a:t>/</a:t>
            </a:r>
            <a:r>
              <a:rPr lang="en-GB" dirty="0" err="1"/>
              <a:t>mcp</a:t>
            </a:r>
            <a:endParaRPr lang="en-GB" dirty="0"/>
          </a:p>
          <a:p>
            <a:r>
              <a:rPr lang="en-GB" dirty="0"/>
              <a:t>Ask a question</a:t>
            </a:r>
          </a:p>
          <a:p>
            <a:pPr lvl="1"/>
            <a:r>
              <a:rPr lang="en-GB" dirty="0"/>
              <a:t>Using the filesystem tools, look at both reports in sample-data and tell me: which quarter was ahead of target, and what was the dollar gap in the quarter that missed?</a:t>
            </a:r>
          </a:p>
          <a:p>
            <a:r>
              <a:rPr lang="en-GB" dirty="0"/>
              <a:t>Cleanup</a:t>
            </a:r>
          </a:p>
          <a:p>
            <a:pPr lvl="1"/>
            <a:r>
              <a:rPr lang="en-GB" dirty="0" err="1"/>
              <a:t>claude</a:t>
            </a:r>
            <a:r>
              <a:rPr lang="en-GB" dirty="0"/>
              <a:t> </a:t>
            </a:r>
            <a:r>
              <a:rPr lang="en-GB" dirty="0" err="1"/>
              <a:t>mcp</a:t>
            </a:r>
            <a:r>
              <a:rPr lang="en-GB" dirty="0"/>
              <a:t> remove filesystem</a:t>
            </a:r>
          </a:p>
          <a:p>
            <a:pPr lvl="1"/>
            <a:r>
              <a:rPr lang="en-GB" dirty="0" err="1"/>
              <a:t>claude</a:t>
            </a:r>
            <a:r>
              <a:rPr lang="en-GB" dirty="0"/>
              <a:t> </a:t>
            </a:r>
            <a:r>
              <a:rPr lang="en-GB" dirty="0" err="1"/>
              <a:t>mcp</a:t>
            </a:r>
            <a:r>
              <a:rPr lang="en-GB" dirty="0"/>
              <a:t> list</a:t>
            </a:r>
          </a:p>
          <a:p>
            <a:endParaRPr lang="en-GB" dirty="0"/>
          </a:p>
        </p:txBody>
      </p:sp>
    </p:spTree>
    <p:extLst>
      <p:ext uri="{BB962C8B-B14F-4D97-AF65-F5344CB8AC3E}">
        <p14:creationId xmlns:p14="http://schemas.microsoft.com/office/powerpoint/2010/main" val="797743221"/>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63589-E029-53B2-F316-CE545DE6A12B}"/>
              </a:ext>
            </a:extLst>
          </p:cNvPr>
          <p:cNvSpPr>
            <a:spLocks noGrp="1"/>
          </p:cNvSpPr>
          <p:nvPr>
            <p:ph type="title"/>
          </p:nvPr>
        </p:nvSpPr>
        <p:spPr/>
        <p:txBody>
          <a:bodyPr/>
          <a:lstStyle/>
          <a:p>
            <a:r>
              <a:rPr lang="en-IN" dirty="0"/>
              <a:t>Exercise: Context7 MCP Server</a:t>
            </a:r>
            <a:endParaRPr lang="en-GB" dirty="0"/>
          </a:p>
        </p:txBody>
      </p:sp>
      <p:sp>
        <p:nvSpPr>
          <p:cNvPr id="3" name="Content Placeholder 2">
            <a:extLst>
              <a:ext uri="{FF2B5EF4-FFF2-40B4-BE49-F238E27FC236}">
                <a16:creationId xmlns:a16="http://schemas.microsoft.com/office/drawing/2014/main" id="{B66BAB35-9223-5F11-1CAF-3F4CCF92DA5A}"/>
              </a:ext>
            </a:extLst>
          </p:cNvPr>
          <p:cNvSpPr>
            <a:spLocks noGrp="1"/>
          </p:cNvSpPr>
          <p:nvPr>
            <p:ph idx="1"/>
          </p:nvPr>
        </p:nvSpPr>
        <p:spPr/>
        <p:txBody>
          <a:bodyPr>
            <a:normAutofit fontScale="85000" lnSpcReduction="10000"/>
          </a:bodyPr>
          <a:lstStyle/>
          <a:p>
            <a:r>
              <a:rPr lang="en-IN" dirty="0"/>
              <a:t>Context7: Used to get the latest docs into Claude, Cursor, and other AI agents</a:t>
            </a:r>
          </a:p>
          <a:p>
            <a:r>
              <a:rPr lang="en-IN" dirty="0"/>
              <a:t>Install: </a:t>
            </a:r>
            <a:r>
              <a:rPr lang="en-IN" dirty="0" err="1"/>
              <a:t>claude</a:t>
            </a:r>
            <a:r>
              <a:rPr lang="en-IN" dirty="0"/>
              <a:t> </a:t>
            </a:r>
            <a:r>
              <a:rPr lang="en-IN" dirty="0" err="1"/>
              <a:t>mcp</a:t>
            </a:r>
            <a:r>
              <a:rPr lang="en-IN" dirty="0"/>
              <a:t> add --scope user context7 -- </a:t>
            </a:r>
            <a:r>
              <a:rPr lang="en-IN" dirty="0" err="1"/>
              <a:t>npx</a:t>
            </a:r>
            <a:r>
              <a:rPr lang="en-IN" dirty="0"/>
              <a:t> -y @upstash/context7-mcp</a:t>
            </a:r>
          </a:p>
          <a:p>
            <a:r>
              <a:rPr lang="en-IN" dirty="0"/>
              <a:t>If rate limit issues come up, get a free API key and then install: </a:t>
            </a:r>
            <a:r>
              <a:rPr lang="en-US" dirty="0" err="1"/>
              <a:t>claude</a:t>
            </a:r>
            <a:r>
              <a:rPr lang="en-US" dirty="0"/>
              <a:t> </a:t>
            </a:r>
            <a:r>
              <a:rPr lang="en-US" dirty="0" err="1"/>
              <a:t>mcp</a:t>
            </a:r>
            <a:r>
              <a:rPr lang="en-US" dirty="0"/>
              <a:t> add --scope user context7 -- </a:t>
            </a:r>
            <a:r>
              <a:rPr lang="en-US" dirty="0" err="1"/>
              <a:t>npx</a:t>
            </a:r>
            <a:r>
              <a:rPr lang="en-US" dirty="0"/>
              <a:t> -y @upstash/context7-mcp --</a:t>
            </a:r>
            <a:r>
              <a:rPr lang="en-US" dirty="0" err="1"/>
              <a:t>api</a:t>
            </a:r>
            <a:r>
              <a:rPr lang="en-US" dirty="0"/>
              <a:t>-key YOUR_API_KEY</a:t>
            </a:r>
          </a:p>
          <a:p>
            <a:r>
              <a:rPr lang="en-GB" dirty="0" err="1"/>
              <a:t>claude</a:t>
            </a:r>
            <a:r>
              <a:rPr lang="en-GB" dirty="0"/>
              <a:t> </a:t>
            </a:r>
            <a:r>
              <a:rPr lang="en-GB" dirty="0" err="1"/>
              <a:t>mcp</a:t>
            </a:r>
            <a:r>
              <a:rPr lang="en-GB" dirty="0"/>
              <a:t> list</a:t>
            </a:r>
          </a:p>
          <a:p>
            <a:r>
              <a:rPr lang="en-GB" dirty="0"/>
              <a:t>Ask Claude: Use context7 to list the most significant changes in the latest version of </a:t>
            </a:r>
            <a:r>
              <a:rPr lang="en-GB" dirty="0" err="1"/>
              <a:t>LangChain</a:t>
            </a:r>
            <a:endParaRPr lang="en-GB" dirty="0"/>
          </a:p>
          <a:p>
            <a:r>
              <a:rPr lang="en-GB" dirty="0"/>
              <a:t>Cleanup</a:t>
            </a:r>
          </a:p>
          <a:p>
            <a:pPr lvl="1"/>
            <a:r>
              <a:rPr lang="en-GB" dirty="0" err="1"/>
              <a:t>claude</a:t>
            </a:r>
            <a:r>
              <a:rPr lang="en-GB" dirty="0"/>
              <a:t> </a:t>
            </a:r>
            <a:r>
              <a:rPr lang="en-GB" dirty="0" err="1"/>
              <a:t>mcp</a:t>
            </a:r>
            <a:r>
              <a:rPr lang="en-GB" dirty="0"/>
              <a:t> remove context7</a:t>
            </a:r>
          </a:p>
          <a:p>
            <a:pPr lvl="1"/>
            <a:r>
              <a:rPr lang="en-GB" dirty="0" err="1"/>
              <a:t>claude</a:t>
            </a:r>
            <a:r>
              <a:rPr lang="en-GB" dirty="0"/>
              <a:t> </a:t>
            </a:r>
            <a:r>
              <a:rPr lang="en-GB" dirty="0" err="1"/>
              <a:t>mcp</a:t>
            </a:r>
            <a:r>
              <a:rPr lang="en-GB" dirty="0"/>
              <a:t> list</a:t>
            </a:r>
          </a:p>
        </p:txBody>
      </p:sp>
    </p:spTree>
    <p:extLst>
      <p:ext uri="{BB962C8B-B14F-4D97-AF65-F5344CB8AC3E}">
        <p14:creationId xmlns:p14="http://schemas.microsoft.com/office/powerpoint/2010/main" val="79246843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B7FC91-40C9-CEE2-A780-55DD50DB653E}"/>
              </a:ext>
            </a:extLst>
          </p:cNvPr>
          <p:cNvSpPr>
            <a:spLocks noGrp="1"/>
          </p:cNvSpPr>
          <p:nvPr>
            <p:ph type="title"/>
          </p:nvPr>
        </p:nvSpPr>
        <p:spPr/>
        <p:txBody>
          <a:bodyPr/>
          <a:lstStyle/>
          <a:p>
            <a:r>
              <a:rPr lang="en-IN" dirty="0"/>
              <a:t>Section 10: Building Sample Projects Using Claude Code</a:t>
            </a:r>
            <a:endParaRPr lang="en-GB" dirty="0"/>
          </a:p>
        </p:txBody>
      </p:sp>
      <p:sp>
        <p:nvSpPr>
          <p:cNvPr id="5" name="Text Placeholder 4">
            <a:extLst>
              <a:ext uri="{FF2B5EF4-FFF2-40B4-BE49-F238E27FC236}">
                <a16:creationId xmlns:a16="http://schemas.microsoft.com/office/drawing/2014/main" id="{60FD98C7-7A5D-D740-0589-D0D3D9C2DC52}"/>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2126316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427D9-4CD9-5333-ACB6-40C31A703856}"/>
              </a:ext>
            </a:extLst>
          </p:cNvPr>
          <p:cNvSpPr>
            <a:spLocks noGrp="1"/>
          </p:cNvSpPr>
          <p:nvPr>
            <p:ph type="title"/>
          </p:nvPr>
        </p:nvSpPr>
        <p:spPr/>
        <p:txBody>
          <a:bodyPr/>
          <a:lstStyle/>
          <a:p>
            <a:r>
              <a:rPr lang="en-US" noProof="0" dirty="0"/>
              <a:t>Project 1: Personal Website</a:t>
            </a:r>
          </a:p>
        </p:txBody>
      </p:sp>
      <p:sp>
        <p:nvSpPr>
          <p:cNvPr id="3" name="Content Placeholder 2">
            <a:extLst>
              <a:ext uri="{FF2B5EF4-FFF2-40B4-BE49-F238E27FC236}">
                <a16:creationId xmlns:a16="http://schemas.microsoft.com/office/drawing/2014/main" id="{17B21167-0E9F-F1AF-3256-2EACD42BFB52}"/>
              </a:ext>
            </a:extLst>
          </p:cNvPr>
          <p:cNvSpPr>
            <a:spLocks noGrp="1"/>
          </p:cNvSpPr>
          <p:nvPr>
            <p:ph idx="1"/>
          </p:nvPr>
        </p:nvSpPr>
        <p:spPr/>
        <p:txBody>
          <a:bodyPr>
            <a:normAutofit fontScale="92500" lnSpcReduction="10000"/>
          </a:bodyPr>
          <a:lstStyle/>
          <a:p>
            <a:r>
              <a:rPr lang="en-US" noProof="0" dirty="0"/>
              <a:t>Create a folder called about-me in the current directory and navigate to it</a:t>
            </a:r>
          </a:p>
          <a:p>
            <a:r>
              <a:rPr lang="en-US" noProof="0" dirty="0"/>
              <a:t>Ask Claude: Create a simple personal webpage about me. My name is Atul Kahate and I work as an AI, ML, DevOps Consultant and Trainer. Include a professional greeting and a short bio section. Make it look clean and modern.</a:t>
            </a:r>
          </a:p>
          <a:p>
            <a:r>
              <a:rPr lang="en-US" noProof="0" dirty="0"/>
              <a:t>Open the webpage in my browser</a:t>
            </a:r>
          </a:p>
          <a:p>
            <a:r>
              <a:rPr lang="en-US" noProof="0" dirty="0"/>
              <a:t>Some refinements</a:t>
            </a:r>
          </a:p>
          <a:p>
            <a:pPr lvl="1"/>
            <a:r>
              <a:rPr lang="en-US" noProof="0" dirty="0"/>
              <a:t>Change the </a:t>
            </a:r>
            <a:r>
              <a:rPr lang="en-US" noProof="0" dirty="0" err="1"/>
              <a:t>colour</a:t>
            </a:r>
            <a:r>
              <a:rPr lang="en-US" noProof="0" dirty="0"/>
              <a:t> scheme to blue tones</a:t>
            </a:r>
          </a:p>
          <a:p>
            <a:pPr lvl="1"/>
            <a:r>
              <a:rPr lang="en-US" noProof="0" dirty="0"/>
              <a:t>Add a section listing three things I am interested in</a:t>
            </a:r>
          </a:p>
          <a:p>
            <a:pPr lvl="1"/>
            <a:r>
              <a:rPr lang="en-US" noProof="0" dirty="0"/>
              <a:t>Make the font larger and easier to read</a:t>
            </a:r>
          </a:p>
          <a:p>
            <a:pPr lvl="1"/>
            <a:r>
              <a:rPr lang="en-US" noProof="0" dirty="0"/>
              <a:t>Add my email address as a contact link</a:t>
            </a:r>
          </a:p>
        </p:txBody>
      </p:sp>
    </p:spTree>
    <p:extLst>
      <p:ext uri="{BB962C8B-B14F-4D97-AF65-F5344CB8AC3E}">
        <p14:creationId xmlns:p14="http://schemas.microsoft.com/office/powerpoint/2010/main" val="419584148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18FF3F4-B022-3CE5-22FD-505225C448FB}"/>
              </a:ext>
            </a:extLst>
          </p:cNvPr>
          <p:cNvSpPr>
            <a:spLocks noGrp="1"/>
          </p:cNvSpPr>
          <p:nvPr>
            <p:ph type="title"/>
          </p:nvPr>
        </p:nvSpPr>
        <p:spPr/>
        <p:txBody>
          <a:bodyPr/>
          <a:lstStyle/>
          <a:p>
            <a:r>
              <a:rPr lang="en-IN" dirty="0"/>
              <a:t>Project 2: Personal Notes Manager</a:t>
            </a:r>
            <a:endParaRPr lang="en-GB" dirty="0"/>
          </a:p>
        </p:txBody>
      </p:sp>
      <p:sp>
        <p:nvSpPr>
          <p:cNvPr id="5" name="Content Placeholder 4">
            <a:extLst>
              <a:ext uri="{FF2B5EF4-FFF2-40B4-BE49-F238E27FC236}">
                <a16:creationId xmlns:a16="http://schemas.microsoft.com/office/drawing/2014/main" id="{45C6148E-F304-05DE-90BF-2390B8B5C9BF}"/>
              </a:ext>
            </a:extLst>
          </p:cNvPr>
          <p:cNvSpPr>
            <a:spLocks noGrp="1"/>
          </p:cNvSpPr>
          <p:nvPr>
            <p:ph idx="1"/>
          </p:nvPr>
        </p:nvSpPr>
        <p:spPr/>
        <p:txBody>
          <a:bodyPr>
            <a:normAutofit fontScale="47500" lnSpcReduction="20000"/>
          </a:bodyPr>
          <a:lstStyle/>
          <a:p>
            <a:r>
              <a:rPr lang="en-IN" dirty="0"/>
              <a:t>Step 1: Create project</a:t>
            </a:r>
          </a:p>
          <a:p>
            <a:pPr lvl="1"/>
            <a:r>
              <a:rPr lang="fr-FR" dirty="0" err="1"/>
              <a:t>mkdir</a:t>
            </a:r>
            <a:r>
              <a:rPr lang="fr-FR" dirty="0"/>
              <a:t> notes-manager</a:t>
            </a:r>
          </a:p>
          <a:p>
            <a:pPr lvl="1"/>
            <a:r>
              <a:rPr lang="fr-FR" dirty="0"/>
              <a:t>cd notes-manager</a:t>
            </a:r>
          </a:p>
          <a:p>
            <a:pPr lvl="1"/>
            <a:r>
              <a:rPr lang="fr-FR" dirty="0"/>
              <a:t>Claude</a:t>
            </a:r>
          </a:p>
          <a:p>
            <a:pPr lvl="1"/>
            <a:r>
              <a:rPr lang="fr-FR" dirty="0"/>
              <a:t>Ask Claude: </a:t>
            </a:r>
            <a:r>
              <a:rPr lang="en-GB" dirty="0"/>
              <a:t>Build a command-line notes manager in Python. Ask me before generating code.</a:t>
            </a:r>
          </a:p>
          <a:p>
            <a:r>
              <a:rPr lang="en-GB" dirty="0"/>
              <a:t>Step 2: Observe the generated project structure, planning, file creation</a:t>
            </a:r>
          </a:p>
          <a:p>
            <a:r>
              <a:rPr lang="en-GB" dirty="0"/>
              <a:t>Step 3: Ask Claude: Add note</a:t>
            </a:r>
          </a:p>
          <a:p>
            <a:pPr lvl="1"/>
            <a:r>
              <a:rPr lang="en-GB" dirty="0"/>
              <a:t>Show the /accept (or similar endpoint)</a:t>
            </a:r>
          </a:p>
          <a:p>
            <a:r>
              <a:rPr lang="en-GB" dirty="0"/>
              <a:t>Step 4: Ask Claude: Implement List notes</a:t>
            </a:r>
          </a:p>
          <a:p>
            <a:r>
              <a:rPr lang="en-GB" dirty="0"/>
              <a:t>Step 5: Ask Claude: Implement Search notes</a:t>
            </a:r>
          </a:p>
          <a:p>
            <a:r>
              <a:rPr lang="en-GB" dirty="0"/>
              <a:t>Step 6: Ask Claude: Implement Delete notes</a:t>
            </a:r>
          </a:p>
          <a:p>
            <a:r>
              <a:rPr lang="en-GB" dirty="0"/>
              <a:t>Step 7: Ask Claude: Make the output colourful using Rich UI</a:t>
            </a:r>
          </a:p>
          <a:p>
            <a:r>
              <a:rPr lang="en-GB" dirty="0"/>
              <a:t>Step 8: Manually delete an import statement and ask Claude: Find and fix errors</a:t>
            </a:r>
          </a:p>
          <a:p>
            <a:r>
              <a:rPr lang="en-GB" dirty="0"/>
              <a:t>Step 9: Ask Claude: Generate tests</a:t>
            </a:r>
          </a:p>
          <a:p>
            <a:r>
              <a:rPr lang="en-GB" dirty="0"/>
              <a:t>Step 10: Ask Claude: Refactor this project to improve maintainability without changing functionality.</a:t>
            </a:r>
          </a:p>
          <a:p>
            <a:r>
              <a:rPr lang="en-GB" dirty="0"/>
              <a:t>Step 11: Ask Claude: Create a professional README file.</a:t>
            </a:r>
          </a:p>
          <a:p>
            <a:r>
              <a:rPr lang="en-GB" dirty="0"/>
              <a:t>Step 12: Ask Claude: </a:t>
            </a:r>
            <a:r>
              <a:rPr lang="en-US" dirty="0"/>
              <a:t>Initialize git and create meaningful commits.</a:t>
            </a:r>
          </a:p>
          <a:p>
            <a:r>
              <a:rPr lang="en-US" dirty="0"/>
              <a:t>Step 13: Make it installable using </a:t>
            </a:r>
            <a:r>
              <a:rPr lang="en-US" dirty="0" err="1"/>
              <a:t>uv</a:t>
            </a:r>
            <a:r>
              <a:rPr lang="en-US" dirty="0"/>
              <a:t>.</a:t>
            </a:r>
            <a:endParaRPr lang="en-GB" dirty="0"/>
          </a:p>
          <a:p>
            <a:endParaRPr lang="en-GB" dirty="0"/>
          </a:p>
          <a:p>
            <a:endParaRPr lang="en-GB" dirty="0"/>
          </a:p>
          <a:p>
            <a:endParaRPr lang="en-GB" dirty="0"/>
          </a:p>
          <a:p>
            <a:endParaRPr lang="en-GB" dirty="0"/>
          </a:p>
          <a:p>
            <a:endParaRPr lang="en-GB" dirty="0"/>
          </a:p>
          <a:p>
            <a:endParaRPr lang="en-GB" dirty="0"/>
          </a:p>
          <a:p>
            <a:endParaRPr lang="en-GB" dirty="0"/>
          </a:p>
        </p:txBody>
      </p:sp>
    </p:spTree>
    <p:extLst>
      <p:ext uri="{BB962C8B-B14F-4D97-AF65-F5344CB8AC3E}">
        <p14:creationId xmlns:p14="http://schemas.microsoft.com/office/powerpoint/2010/main" val="2195623164"/>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6ACBC-3424-ECAF-661E-B205643C0C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46E84C-114F-B707-6D2A-0B76C44FCD13}"/>
              </a:ext>
            </a:extLst>
          </p:cNvPr>
          <p:cNvSpPr>
            <a:spLocks noGrp="1"/>
          </p:cNvSpPr>
          <p:nvPr>
            <p:ph type="title"/>
          </p:nvPr>
        </p:nvSpPr>
        <p:spPr/>
        <p:txBody>
          <a:bodyPr/>
          <a:lstStyle/>
          <a:p>
            <a:r>
              <a:rPr lang="en-IN" dirty="0"/>
              <a:t>Project 3: Expense Tracker - Exercise</a:t>
            </a:r>
            <a:endParaRPr lang="en-GB" dirty="0"/>
          </a:p>
        </p:txBody>
      </p:sp>
      <p:sp>
        <p:nvSpPr>
          <p:cNvPr id="5" name="Content Placeholder 4">
            <a:extLst>
              <a:ext uri="{FF2B5EF4-FFF2-40B4-BE49-F238E27FC236}">
                <a16:creationId xmlns:a16="http://schemas.microsoft.com/office/drawing/2014/main" id="{7858EA65-4CC0-C6E2-F62E-9CF6699AC64C}"/>
              </a:ext>
            </a:extLst>
          </p:cNvPr>
          <p:cNvSpPr>
            <a:spLocks noGrp="1"/>
          </p:cNvSpPr>
          <p:nvPr>
            <p:ph idx="1"/>
          </p:nvPr>
        </p:nvSpPr>
        <p:spPr/>
        <p:txBody>
          <a:bodyPr>
            <a:normAutofit/>
          </a:bodyPr>
          <a:lstStyle/>
          <a:p>
            <a:r>
              <a:rPr lang="en-IN" dirty="0"/>
              <a:t>Use Claude Code to create an expense tracker</a:t>
            </a:r>
          </a:p>
          <a:p>
            <a:r>
              <a:rPr lang="en-IN" dirty="0"/>
              <a:t>Features should include</a:t>
            </a:r>
          </a:p>
          <a:p>
            <a:pPr lvl="1"/>
            <a:r>
              <a:rPr lang="en-US" dirty="0"/>
              <a:t>Add expense</a:t>
            </a:r>
          </a:p>
          <a:p>
            <a:pPr lvl="1"/>
            <a:r>
              <a:rPr lang="en-US" dirty="0"/>
              <a:t>View expenses</a:t>
            </a:r>
          </a:p>
          <a:p>
            <a:pPr lvl="1"/>
            <a:r>
              <a:rPr lang="en-US" dirty="0"/>
              <a:t>Monthly report</a:t>
            </a:r>
          </a:p>
          <a:p>
            <a:pPr lvl="1"/>
            <a:r>
              <a:rPr lang="en-US" dirty="0"/>
              <a:t>Search</a:t>
            </a:r>
          </a:p>
          <a:p>
            <a:pPr lvl="1"/>
            <a:r>
              <a:rPr lang="en-US" dirty="0"/>
              <a:t>Export CSV</a:t>
            </a:r>
          </a:p>
          <a:p>
            <a:pPr lvl="1"/>
            <a:r>
              <a:rPr lang="en-US" dirty="0"/>
              <a:t>Create pie chart of expense categories</a:t>
            </a:r>
            <a:endParaRPr lang="en-GB" dirty="0"/>
          </a:p>
        </p:txBody>
      </p:sp>
    </p:spTree>
    <p:extLst>
      <p:ext uri="{BB962C8B-B14F-4D97-AF65-F5344CB8AC3E}">
        <p14:creationId xmlns:p14="http://schemas.microsoft.com/office/powerpoint/2010/main" val="393233673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AA272-EA7B-F956-43F7-ED0D6331E4E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A611E9E-2820-D8B8-EC27-F2AF90CFDAD6}"/>
              </a:ext>
            </a:extLst>
          </p:cNvPr>
          <p:cNvSpPr>
            <a:spLocks noGrp="1"/>
          </p:cNvSpPr>
          <p:nvPr>
            <p:ph type="title"/>
          </p:nvPr>
        </p:nvSpPr>
        <p:spPr/>
        <p:txBody>
          <a:bodyPr/>
          <a:lstStyle/>
          <a:p>
            <a:r>
              <a:rPr lang="en-IN" dirty="0"/>
              <a:t>Project 4: PDF Knowledge Search (RAG)</a:t>
            </a:r>
            <a:endParaRPr lang="en-GB" dirty="0"/>
          </a:p>
        </p:txBody>
      </p:sp>
      <p:sp>
        <p:nvSpPr>
          <p:cNvPr id="5" name="Content Placeholder 4">
            <a:extLst>
              <a:ext uri="{FF2B5EF4-FFF2-40B4-BE49-F238E27FC236}">
                <a16:creationId xmlns:a16="http://schemas.microsoft.com/office/drawing/2014/main" id="{7CFABACC-5C5E-4036-32C7-146B30FF5132}"/>
              </a:ext>
            </a:extLst>
          </p:cNvPr>
          <p:cNvSpPr>
            <a:spLocks noGrp="1"/>
          </p:cNvSpPr>
          <p:nvPr>
            <p:ph idx="1"/>
          </p:nvPr>
        </p:nvSpPr>
        <p:spPr/>
        <p:txBody>
          <a:bodyPr>
            <a:normAutofit fontScale="25000" lnSpcReduction="20000"/>
          </a:bodyPr>
          <a:lstStyle/>
          <a:p>
            <a:r>
              <a:rPr lang="en-IN" dirty="0"/>
              <a:t>Give PDFs and let Claude build a RAG system</a:t>
            </a:r>
          </a:p>
          <a:p>
            <a:r>
              <a:rPr lang="en-IN" dirty="0"/>
              <a:t>Step 1: Ask Claude: </a:t>
            </a:r>
            <a:r>
              <a:rPr lang="en-GB" dirty="0"/>
              <a:t>Create a Python project called pdf-rag using </a:t>
            </a:r>
            <a:r>
              <a:rPr lang="en-GB" dirty="0" err="1"/>
              <a:t>uv</a:t>
            </a:r>
            <a:r>
              <a:rPr lang="en-GB" dirty="0"/>
              <a:t>. Create the following</a:t>
            </a:r>
          </a:p>
          <a:p>
            <a:pPr lvl="1"/>
            <a:r>
              <a:rPr lang="en-US" dirty="0"/>
              <a:t>pdf-rag/</a:t>
            </a:r>
          </a:p>
          <a:p>
            <a:pPr lvl="2"/>
            <a:r>
              <a:rPr lang="en-US" dirty="0"/>
              <a:t>    data/</a:t>
            </a:r>
          </a:p>
          <a:p>
            <a:pPr lvl="2"/>
            <a:r>
              <a:rPr lang="en-US" dirty="0"/>
              <a:t>    </a:t>
            </a:r>
            <a:r>
              <a:rPr lang="en-US" dirty="0" err="1"/>
              <a:t>chroma_db</a:t>
            </a:r>
            <a:r>
              <a:rPr lang="en-US" dirty="0"/>
              <a:t>/</a:t>
            </a:r>
          </a:p>
          <a:p>
            <a:pPr lvl="2"/>
            <a:r>
              <a:rPr lang="en-US" dirty="0"/>
              <a:t>    app.py</a:t>
            </a:r>
          </a:p>
          <a:p>
            <a:pPr lvl="2"/>
            <a:r>
              <a:rPr lang="en-US" dirty="0"/>
              <a:t>    requirements.txt</a:t>
            </a:r>
            <a:endParaRPr lang="en-GB" dirty="0"/>
          </a:p>
          <a:p>
            <a:r>
              <a:rPr lang="en-GB" dirty="0"/>
              <a:t>Step 2: Ask Claude: Add the required Python libraries for a PDF RAG application.</a:t>
            </a:r>
          </a:p>
          <a:p>
            <a:r>
              <a:rPr lang="en-GB" dirty="0"/>
              <a:t>Step 3: Ask Claude: Write Python code to read every page of every PDF inside the data folder using </a:t>
            </a:r>
            <a:r>
              <a:rPr lang="en-GB" dirty="0" err="1"/>
              <a:t>PyMuPDF</a:t>
            </a:r>
            <a:r>
              <a:rPr lang="en-GB" dirty="0"/>
              <a:t>.</a:t>
            </a:r>
          </a:p>
          <a:p>
            <a:pPr lvl="1"/>
            <a:r>
              <a:rPr lang="en-GB" dirty="0"/>
              <a:t>Add at least one PDF file to ‘data’ directory</a:t>
            </a:r>
          </a:p>
          <a:p>
            <a:pPr lvl="1"/>
            <a:r>
              <a:rPr lang="en-GB" dirty="0"/>
              <a:t>Show one sample of what Claude has done</a:t>
            </a:r>
          </a:p>
          <a:p>
            <a:r>
              <a:rPr lang="en-GB" dirty="0"/>
              <a:t>Step 4: Ask Claude: Split the extracted text into chunks of about 500 characters with 100 characters overlap.</a:t>
            </a:r>
          </a:p>
          <a:p>
            <a:pPr lvl="1"/>
            <a:r>
              <a:rPr lang="en-GB" dirty="0"/>
              <a:t>Explain why chunking is needed</a:t>
            </a:r>
          </a:p>
          <a:p>
            <a:r>
              <a:rPr lang="en-GB" dirty="0"/>
              <a:t>Step 5: Ask Claude: Generate embeddings for every chunk using the </a:t>
            </a:r>
            <a:r>
              <a:rPr lang="en-GB" dirty="0" err="1"/>
              <a:t>HuggingFace</a:t>
            </a:r>
            <a:r>
              <a:rPr lang="en-GB" dirty="0"/>
              <a:t> embeddings API.</a:t>
            </a:r>
          </a:p>
          <a:p>
            <a:r>
              <a:rPr lang="en-GB" dirty="0"/>
              <a:t>Step 6: Ask Claude: Store every chunk and its embedding in a Chroma database.</a:t>
            </a:r>
          </a:p>
          <a:p>
            <a:r>
              <a:rPr lang="en-GB" dirty="0"/>
              <a:t>Step 7: Ask Claude: Accept a question from the user and convert it into an embedding.</a:t>
            </a:r>
          </a:p>
          <a:p>
            <a:pPr lvl="1"/>
            <a:r>
              <a:rPr lang="en-GB" dirty="0"/>
              <a:t>Example: </a:t>
            </a:r>
            <a:r>
              <a:rPr lang="en-US" dirty="0"/>
              <a:t>Question: What is reinforcement learning?</a:t>
            </a:r>
          </a:p>
          <a:p>
            <a:r>
              <a:rPr lang="en-US" dirty="0"/>
              <a:t>Step 8: Ask Claude: </a:t>
            </a:r>
            <a:r>
              <a:rPr lang="en-GB" dirty="0"/>
              <a:t>Retrieve the five most relevant chunks from Chroma for the above.</a:t>
            </a:r>
          </a:p>
          <a:p>
            <a:r>
              <a:rPr lang="en-GB" dirty="0"/>
              <a:t>Step 9: Ask Claude: Create a .env file</a:t>
            </a:r>
          </a:p>
          <a:p>
            <a:pPr lvl="1"/>
            <a:r>
              <a:rPr lang="en-GB" dirty="0"/>
              <a:t>Add OpenAI API key manually</a:t>
            </a:r>
          </a:p>
          <a:p>
            <a:r>
              <a:rPr lang="en-GB" dirty="0"/>
              <a:t>Step 10: Ask Claude: Combine the retrieved chunks with the user's question and send them to GPT-4o-mini to generate an answer. Build a prompt for this.</a:t>
            </a:r>
          </a:p>
          <a:p>
            <a:r>
              <a:rPr lang="en-GB" dirty="0"/>
              <a:t>Step 11: Ask </a:t>
            </a:r>
            <a:r>
              <a:rPr lang="en-GB" dirty="0" err="1"/>
              <a:t>Caude</a:t>
            </a:r>
            <a:r>
              <a:rPr lang="en-GB" dirty="0"/>
              <a:t>: Modify the prompt so the model only answers using the supplied context. If the answer is not present, say "I don't know.“ (Reduce Hallucinations)</a:t>
            </a:r>
          </a:p>
          <a:p>
            <a:r>
              <a:rPr lang="en-GB" dirty="0"/>
              <a:t>Step 12: Add more files and ask Claude: Index every PDF in the data folder and remember which file and page number(s) each chunk came from.</a:t>
            </a:r>
          </a:p>
          <a:p>
            <a:r>
              <a:rPr lang="en-GB" dirty="0"/>
              <a:t>Step 13: Retest</a:t>
            </a:r>
          </a:p>
          <a:p>
            <a:endParaRPr lang="en-GB" dirty="0"/>
          </a:p>
          <a:p>
            <a:endParaRPr lang="en-GB" dirty="0"/>
          </a:p>
        </p:txBody>
      </p:sp>
    </p:spTree>
    <p:extLst>
      <p:ext uri="{BB962C8B-B14F-4D97-AF65-F5344CB8AC3E}">
        <p14:creationId xmlns:p14="http://schemas.microsoft.com/office/powerpoint/2010/main" val="109816874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043E1-47DF-8506-03DD-D29301F1DF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68927DE-D282-6B8A-2C77-C32EE5CFF70D}"/>
              </a:ext>
            </a:extLst>
          </p:cNvPr>
          <p:cNvSpPr>
            <a:spLocks noGrp="1"/>
          </p:cNvSpPr>
          <p:nvPr>
            <p:ph type="title"/>
          </p:nvPr>
        </p:nvSpPr>
        <p:spPr/>
        <p:txBody>
          <a:bodyPr/>
          <a:lstStyle/>
          <a:p>
            <a:r>
              <a:rPr lang="en-IN" dirty="0"/>
              <a:t>Project 5: Image Caption Creator</a:t>
            </a:r>
            <a:endParaRPr lang="en-GB" dirty="0"/>
          </a:p>
        </p:txBody>
      </p:sp>
      <p:sp>
        <p:nvSpPr>
          <p:cNvPr id="5" name="Content Placeholder 4">
            <a:extLst>
              <a:ext uri="{FF2B5EF4-FFF2-40B4-BE49-F238E27FC236}">
                <a16:creationId xmlns:a16="http://schemas.microsoft.com/office/drawing/2014/main" id="{79431619-A23B-D2B7-F2AA-24413984740D}"/>
              </a:ext>
            </a:extLst>
          </p:cNvPr>
          <p:cNvSpPr>
            <a:spLocks noGrp="1"/>
          </p:cNvSpPr>
          <p:nvPr>
            <p:ph idx="1"/>
          </p:nvPr>
        </p:nvSpPr>
        <p:spPr/>
        <p:txBody>
          <a:bodyPr>
            <a:normAutofit fontScale="32500" lnSpcReduction="20000"/>
          </a:bodyPr>
          <a:lstStyle/>
          <a:p>
            <a:r>
              <a:rPr lang="en-IN" dirty="0"/>
              <a:t>Step 1: Ask Claude: </a:t>
            </a:r>
            <a:r>
              <a:rPr lang="en-GB" dirty="0"/>
              <a:t>Create a Python project called image-caption-generator using </a:t>
            </a:r>
            <a:r>
              <a:rPr lang="en-GB" dirty="0" err="1"/>
              <a:t>uv</a:t>
            </a:r>
            <a:r>
              <a:rPr lang="en-GB" dirty="0"/>
              <a:t>. Create the following structure:</a:t>
            </a:r>
          </a:p>
          <a:p>
            <a:pPr lvl="1"/>
            <a:r>
              <a:rPr lang="en-GB" dirty="0"/>
              <a:t>image-caption-generator/</a:t>
            </a:r>
          </a:p>
          <a:p>
            <a:pPr lvl="1"/>
            <a:r>
              <a:rPr lang="en-GB" dirty="0"/>
              <a:t>    images/</a:t>
            </a:r>
          </a:p>
          <a:p>
            <a:pPr lvl="1"/>
            <a:r>
              <a:rPr lang="en-GB" dirty="0"/>
              <a:t>    app.py</a:t>
            </a:r>
          </a:p>
          <a:p>
            <a:pPr lvl="1"/>
            <a:r>
              <a:rPr lang="en-GB" dirty="0"/>
              <a:t>    .env</a:t>
            </a:r>
          </a:p>
          <a:p>
            <a:pPr lvl="1"/>
            <a:r>
              <a:rPr lang="en-GB" dirty="0"/>
              <a:t>    requirements.txt</a:t>
            </a:r>
          </a:p>
          <a:p>
            <a:r>
              <a:rPr lang="en-GB" dirty="0"/>
              <a:t>Step 2: Ask Claude: Add the required Python libraries for generating image captions using the OpenAI Vision API.</a:t>
            </a:r>
          </a:p>
          <a:p>
            <a:r>
              <a:rPr lang="en-GB" dirty="0"/>
              <a:t>Step 3: Ask Claude: Create .env file</a:t>
            </a:r>
          </a:p>
          <a:p>
            <a:pPr lvl="1"/>
            <a:r>
              <a:rPr lang="en-GB" dirty="0"/>
              <a:t>Add OPENAI_API_KEY</a:t>
            </a:r>
          </a:p>
          <a:p>
            <a:r>
              <a:rPr lang="en-GB" dirty="0"/>
              <a:t>Step 4: Ask Claude: Write Python code to read an image from the images folder using Pillow.</a:t>
            </a:r>
          </a:p>
          <a:p>
            <a:r>
              <a:rPr lang="en-GB" dirty="0"/>
              <a:t>Step 5: Ask Claude: Convert the image into the format required by the OpenAI Vision API.</a:t>
            </a:r>
          </a:p>
          <a:p>
            <a:r>
              <a:rPr lang="en-GB" dirty="0"/>
              <a:t>Step 6: Ask Claude: Send the image to the OpenAI vision model and ask it to generate a detailed caption.</a:t>
            </a:r>
          </a:p>
          <a:p>
            <a:r>
              <a:rPr lang="en-GB" dirty="0"/>
              <a:t>Step 7: Try this for an image</a:t>
            </a:r>
          </a:p>
          <a:p>
            <a:r>
              <a:rPr lang="en-GB" dirty="0"/>
              <a:t>Step 8: Experiment with different prompts</a:t>
            </a:r>
          </a:p>
          <a:p>
            <a:pPr lvl="1"/>
            <a:r>
              <a:rPr lang="en-US" dirty="0"/>
              <a:t>Describe this image in one sentence.</a:t>
            </a:r>
          </a:p>
          <a:p>
            <a:pPr lvl="1"/>
            <a:r>
              <a:rPr lang="en-GB" dirty="0"/>
              <a:t>Generate a social media caption.</a:t>
            </a:r>
          </a:p>
          <a:p>
            <a:pPr lvl="1"/>
            <a:r>
              <a:rPr lang="en-GB" dirty="0"/>
              <a:t>Write an alt-text description.</a:t>
            </a:r>
          </a:p>
          <a:p>
            <a:pPr lvl="1"/>
            <a:r>
              <a:rPr lang="en-US" dirty="0"/>
              <a:t>Describe all objects in the image.</a:t>
            </a:r>
          </a:p>
          <a:p>
            <a:pPr lvl="1"/>
            <a:r>
              <a:rPr lang="en-US" dirty="0"/>
              <a:t>Describe the scene for a visually impaired user.</a:t>
            </a:r>
          </a:p>
          <a:p>
            <a:r>
              <a:rPr lang="en-US" dirty="0"/>
              <a:t>Step 9: Ask Claude: </a:t>
            </a:r>
            <a:r>
              <a:rPr lang="en-GB" dirty="0"/>
              <a:t>Save the generated caption into a text file having the same name as the image.</a:t>
            </a:r>
          </a:p>
          <a:p>
            <a:r>
              <a:rPr lang="en-GB" dirty="0"/>
              <a:t>Step 10: Ask Claude: Skip unsupported files, Handle missing images, Catch API errors, Display meaningful error messages</a:t>
            </a:r>
          </a:p>
          <a:p>
            <a:r>
              <a:rPr lang="en-GB" dirty="0"/>
              <a:t>Step 11: Ask Claude: Create a menu-driven application where the user selects an image and receives a caption.</a:t>
            </a:r>
          </a:p>
        </p:txBody>
      </p:sp>
    </p:spTree>
    <p:extLst>
      <p:ext uri="{BB962C8B-B14F-4D97-AF65-F5344CB8AC3E}">
        <p14:creationId xmlns:p14="http://schemas.microsoft.com/office/powerpoint/2010/main" val="230355914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AE16F2-3F29-A38B-8D63-2BA5306731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5DB4A5-DEEC-2C3D-8309-32B452F91389}"/>
              </a:ext>
            </a:extLst>
          </p:cNvPr>
          <p:cNvSpPr>
            <a:spLocks noGrp="1"/>
          </p:cNvSpPr>
          <p:nvPr>
            <p:ph type="title"/>
          </p:nvPr>
        </p:nvSpPr>
        <p:spPr/>
        <p:txBody>
          <a:bodyPr/>
          <a:lstStyle/>
          <a:p>
            <a:r>
              <a:rPr lang="en-IN" noProof="0" dirty="0"/>
              <a:t>Project 6: Deliberate Login Bug Detection</a:t>
            </a:r>
          </a:p>
        </p:txBody>
      </p:sp>
      <p:sp>
        <p:nvSpPr>
          <p:cNvPr id="3" name="Content Placeholder 2">
            <a:extLst>
              <a:ext uri="{FF2B5EF4-FFF2-40B4-BE49-F238E27FC236}">
                <a16:creationId xmlns:a16="http://schemas.microsoft.com/office/drawing/2014/main" id="{91C921B3-10E8-CB4A-5B5A-7079D8C84337}"/>
              </a:ext>
            </a:extLst>
          </p:cNvPr>
          <p:cNvSpPr>
            <a:spLocks noGrp="1"/>
          </p:cNvSpPr>
          <p:nvPr>
            <p:ph idx="1"/>
          </p:nvPr>
        </p:nvSpPr>
        <p:spPr/>
        <p:txBody>
          <a:bodyPr>
            <a:normAutofit fontScale="77500" lnSpcReduction="20000"/>
          </a:bodyPr>
          <a:lstStyle/>
          <a:p>
            <a:r>
              <a:rPr lang="en-IN" noProof="0" dirty="0"/>
              <a:t>Open a terminal and </a:t>
            </a:r>
            <a:r>
              <a:rPr lang="en-IN" b="1" noProof="0" dirty="0"/>
              <a:t>cd \</a:t>
            </a:r>
          </a:p>
          <a:p>
            <a:r>
              <a:rPr lang="en-IN" noProof="0" dirty="0"/>
              <a:t>Clone a GitHub repository: </a:t>
            </a:r>
            <a:r>
              <a:rPr lang="en-IN" b="1" noProof="0" dirty="0"/>
              <a:t>git clone </a:t>
            </a:r>
            <a:r>
              <a:rPr lang="en-IN" b="1" noProof="0" dirty="0">
                <a:hlinkClick r:id="rId2"/>
              </a:rPr>
              <a:t>https://github.com/atulkahatecdac/login_bug.git</a:t>
            </a:r>
            <a:endParaRPr lang="en-IN" b="1" noProof="0" dirty="0"/>
          </a:p>
          <a:p>
            <a:r>
              <a:rPr lang="en-IN" noProof="0" dirty="0"/>
              <a:t>Run it</a:t>
            </a:r>
          </a:p>
          <a:p>
            <a:pPr lvl="1"/>
            <a:r>
              <a:rPr lang="en-IN" b="1" noProof="0" dirty="0"/>
              <a:t>cd    </a:t>
            </a:r>
            <a:r>
              <a:rPr lang="en-IN" b="1" noProof="0" dirty="0" err="1"/>
              <a:t>login_bug</a:t>
            </a:r>
            <a:endParaRPr lang="en-IN" b="1" noProof="0" dirty="0"/>
          </a:p>
          <a:p>
            <a:pPr lvl="1"/>
            <a:r>
              <a:rPr lang="en-IN" b="1" noProof="0" dirty="0" err="1"/>
              <a:t>npm</a:t>
            </a:r>
            <a:r>
              <a:rPr lang="en-IN" b="1" noProof="0" dirty="0"/>
              <a:t>   install</a:t>
            </a:r>
          </a:p>
          <a:p>
            <a:pPr lvl="1"/>
            <a:r>
              <a:rPr lang="en-IN" b="1" noProof="0" dirty="0" err="1"/>
              <a:t>npm</a:t>
            </a:r>
            <a:r>
              <a:rPr lang="en-IN" b="1" noProof="0" dirty="0"/>
              <a:t>   run   dev</a:t>
            </a:r>
          </a:p>
          <a:p>
            <a:r>
              <a:rPr lang="en-IN" noProof="0" dirty="0"/>
              <a:t>Browser: </a:t>
            </a:r>
            <a:r>
              <a:rPr lang="en-IN" b="1" noProof="0" dirty="0"/>
              <a:t>localhost:5173</a:t>
            </a:r>
            <a:r>
              <a:rPr lang="en-IN" noProof="0" dirty="0"/>
              <a:t>, </a:t>
            </a:r>
            <a:r>
              <a:rPr lang="en-IN" b="1" noProof="0" dirty="0"/>
              <a:t>admin</a:t>
            </a:r>
            <a:r>
              <a:rPr lang="en-IN" noProof="0" dirty="0"/>
              <a:t>, </a:t>
            </a:r>
            <a:r>
              <a:rPr lang="en-IN" b="1" noProof="0" dirty="0"/>
              <a:t>password123</a:t>
            </a:r>
          </a:p>
          <a:p>
            <a:r>
              <a:rPr lang="en-IN" noProof="0" dirty="0"/>
              <a:t>It will say Invalid Username or Password</a:t>
            </a:r>
          </a:p>
          <a:p>
            <a:r>
              <a:rPr lang="en-IN" noProof="0" dirty="0"/>
              <a:t>Start Claude Code: </a:t>
            </a:r>
            <a:r>
              <a:rPr lang="en-IN" b="1" noProof="0" dirty="0" err="1"/>
              <a:t>claude</a:t>
            </a:r>
            <a:endParaRPr lang="en-IN" b="1" noProof="0" dirty="0"/>
          </a:p>
          <a:p>
            <a:r>
              <a:rPr lang="en-IN" noProof="0" dirty="0"/>
              <a:t>Ask Claude to fix the login bug: </a:t>
            </a:r>
            <a:r>
              <a:rPr lang="en-IN" b="1" noProof="0" dirty="0"/>
              <a:t>Fix the login bug</a:t>
            </a:r>
          </a:p>
          <a:p>
            <a:r>
              <a:rPr lang="en-IN" noProof="0" dirty="0"/>
              <a:t>After it fixes the bug: </a:t>
            </a:r>
            <a:r>
              <a:rPr lang="en-IN" b="1" noProof="0" dirty="0"/>
              <a:t>exit</a:t>
            </a:r>
          </a:p>
          <a:p>
            <a:r>
              <a:rPr lang="en-IN" noProof="0" dirty="0"/>
              <a:t>Again </a:t>
            </a:r>
            <a:r>
              <a:rPr lang="en-IN" b="1" noProof="0" dirty="0" err="1"/>
              <a:t>npm</a:t>
            </a:r>
            <a:r>
              <a:rPr lang="en-IN" b="1" noProof="0" dirty="0"/>
              <a:t> run dev</a:t>
            </a:r>
            <a:r>
              <a:rPr lang="en-IN" noProof="0" dirty="0"/>
              <a:t> and browser: </a:t>
            </a:r>
            <a:r>
              <a:rPr lang="en-IN" b="1" noProof="0" dirty="0"/>
              <a:t>localhost:5173</a:t>
            </a:r>
            <a:r>
              <a:rPr lang="en-IN" noProof="0" dirty="0"/>
              <a:t>, </a:t>
            </a:r>
            <a:r>
              <a:rPr lang="en-IN" b="1" noProof="0" dirty="0"/>
              <a:t>admin</a:t>
            </a:r>
            <a:r>
              <a:rPr lang="en-IN" noProof="0" dirty="0"/>
              <a:t>, </a:t>
            </a:r>
            <a:r>
              <a:rPr lang="en-IN" b="1" noProof="0" dirty="0"/>
              <a:t>password123</a:t>
            </a:r>
            <a:endParaRPr lang="en-IN" noProof="0" dirty="0"/>
          </a:p>
        </p:txBody>
      </p:sp>
    </p:spTree>
    <p:extLst>
      <p:ext uri="{BB962C8B-B14F-4D97-AF65-F5344CB8AC3E}">
        <p14:creationId xmlns:p14="http://schemas.microsoft.com/office/powerpoint/2010/main" val="280059060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F2DF4-6F02-E970-8CEB-7C01A2D8D2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70DFB4-55EA-B701-A66E-355154C0F112}"/>
              </a:ext>
            </a:extLst>
          </p:cNvPr>
          <p:cNvSpPr>
            <a:spLocks noGrp="1"/>
          </p:cNvSpPr>
          <p:nvPr>
            <p:ph type="title"/>
          </p:nvPr>
        </p:nvSpPr>
        <p:spPr/>
        <p:txBody>
          <a:bodyPr/>
          <a:lstStyle/>
          <a:p>
            <a:r>
              <a:rPr lang="en-IN" noProof="0" dirty="0"/>
              <a:t>Project 7: Ask Claude to Explain Code and Add Something</a:t>
            </a:r>
          </a:p>
        </p:txBody>
      </p:sp>
      <p:sp>
        <p:nvSpPr>
          <p:cNvPr id="3" name="Content Placeholder 2">
            <a:extLst>
              <a:ext uri="{FF2B5EF4-FFF2-40B4-BE49-F238E27FC236}">
                <a16:creationId xmlns:a16="http://schemas.microsoft.com/office/drawing/2014/main" id="{3E68417B-9E11-F742-DA0B-C42D9FB6B2CE}"/>
              </a:ext>
            </a:extLst>
          </p:cNvPr>
          <p:cNvSpPr>
            <a:spLocks noGrp="1"/>
          </p:cNvSpPr>
          <p:nvPr>
            <p:ph idx="1"/>
          </p:nvPr>
        </p:nvSpPr>
        <p:spPr/>
        <p:txBody>
          <a:bodyPr>
            <a:normAutofit fontScale="92500" lnSpcReduction="20000"/>
          </a:bodyPr>
          <a:lstStyle/>
          <a:p>
            <a:r>
              <a:rPr lang="en-IN" b="1" noProof="0" dirty="0"/>
              <a:t>cd \</a:t>
            </a:r>
          </a:p>
          <a:p>
            <a:r>
              <a:rPr lang="en-IN" noProof="0" dirty="0"/>
              <a:t>Clone a GitHub repository: </a:t>
            </a:r>
            <a:r>
              <a:rPr lang="en-IN" b="1" noProof="0" dirty="0"/>
              <a:t>git clone https://github.com/atulkahatecdac/demo-springboot.git</a:t>
            </a:r>
          </a:p>
          <a:p>
            <a:r>
              <a:rPr lang="en-IN" noProof="0" dirty="0"/>
              <a:t>Open it</a:t>
            </a:r>
          </a:p>
          <a:p>
            <a:pPr lvl="1"/>
            <a:r>
              <a:rPr lang="en-IN" b="1" noProof="0" dirty="0"/>
              <a:t>cd    </a:t>
            </a:r>
            <a:r>
              <a:rPr lang="en-IN" b="1" noProof="0" dirty="0" err="1"/>
              <a:t>login_bug</a:t>
            </a:r>
            <a:endParaRPr lang="en-IN" b="1" noProof="0" dirty="0"/>
          </a:p>
          <a:p>
            <a:pPr lvl="1"/>
            <a:r>
              <a:rPr lang="en-IN" b="1" noProof="0" dirty="0" err="1"/>
              <a:t>claude</a:t>
            </a:r>
            <a:endParaRPr lang="en-IN" b="1" noProof="0" dirty="0"/>
          </a:p>
          <a:p>
            <a:r>
              <a:rPr lang="en-IN" noProof="0" dirty="0"/>
              <a:t>Ask Claude about it: </a:t>
            </a:r>
            <a:r>
              <a:rPr lang="en-IN" b="1" noProof="0" dirty="0"/>
              <a:t>give me an overview of this codebase</a:t>
            </a:r>
          </a:p>
          <a:p>
            <a:r>
              <a:rPr lang="en-IN" noProof="0" dirty="0"/>
              <a:t>More: </a:t>
            </a:r>
            <a:r>
              <a:rPr lang="en-IN" b="1" noProof="0" dirty="0"/>
              <a:t>where is the main entry point, and how is the code organized?</a:t>
            </a:r>
          </a:p>
          <a:p>
            <a:r>
              <a:rPr lang="en-IN" noProof="0" dirty="0"/>
              <a:t>Ask Claude Code to add something: </a:t>
            </a:r>
            <a:r>
              <a:rPr lang="en-IN" b="1" noProof="0" dirty="0"/>
              <a:t>now add functionality for adding a new customer</a:t>
            </a:r>
          </a:p>
          <a:p>
            <a:r>
              <a:rPr lang="en-IN" noProof="0" dirty="0"/>
              <a:t>Ask about changes: </a:t>
            </a:r>
            <a:r>
              <a:rPr lang="en-IN" b="1" noProof="0" dirty="0"/>
              <a:t>what files have I changed?</a:t>
            </a:r>
          </a:p>
        </p:txBody>
      </p:sp>
    </p:spTree>
    <p:extLst>
      <p:ext uri="{BB962C8B-B14F-4D97-AF65-F5344CB8AC3E}">
        <p14:creationId xmlns:p14="http://schemas.microsoft.com/office/powerpoint/2010/main" val="112516443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8F89BFD-F610-B1C7-7057-0FE3BDC43C43}"/>
              </a:ext>
            </a:extLst>
          </p:cNvPr>
          <p:cNvSpPr>
            <a:spLocks noGrp="1"/>
          </p:cNvSpPr>
          <p:nvPr>
            <p:ph type="title"/>
          </p:nvPr>
        </p:nvSpPr>
        <p:spPr/>
        <p:txBody>
          <a:bodyPr/>
          <a:lstStyle/>
          <a:p>
            <a:r>
              <a:rPr lang="en-US" noProof="0" dirty="0"/>
              <a:t>Project 8: Spring Boot API</a:t>
            </a:r>
          </a:p>
        </p:txBody>
      </p:sp>
      <p:sp>
        <p:nvSpPr>
          <p:cNvPr id="6" name="Content Placeholder 5">
            <a:extLst>
              <a:ext uri="{FF2B5EF4-FFF2-40B4-BE49-F238E27FC236}">
                <a16:creationId xmlns:a16="http://schemas.microsoft.com/office/drawing/2014/main" id="{88F840BE-1602-44A3-13C8-69E3F9197BFE}"/>
              </a:ext>
            </a:extLst>
          </p:cNvPr>
          <p:cNvSpPr>
            <a:spLocks noGrp="1"/>
          </p:cNvSpPr>
          <p:nvPr>
            <p:ph idx="1"/>
          </p:nvPr>
        </p:nvSpPr>
        <p:spPr/>
        <p:txBody>
          <a:bodyPr/>
          <a:lstStyle/>
          <a:p>
            <a:pPr marL="514350" indent="-514350">
              <a:buFont typeface="+mj-lt"/>
              <a:buAutoNum type="arabicPeriod"/>
            </a:pPr>
            <a:r>
              <a:rPr lang="en-US" noProof="0" dirty="0"/>
              <a:t>Create Spring Boot API</a:t>
            </a:r>
          </a:p>
          <a:p>
            <a:pPr marL="514350" indent="-514350">
              <a:buFont typeface="+mj-lt"/>
              <a:buAutoNum type="arabicPeriod"/>
            </a:pPr>
            <a:r>
              <a:rPr lang="en-US" noProof="0" dirty="0"/>
              <a:t>Add health check</a:t>
            </a:r>
          </a:p>
          <a:p>
            <a:pPr marL="514350" indent="-514350">
              <a:buFont typeface="+mj-lt"/>
              <a:buAutoNum type="arabicPeriod"/>
            </a:pPr>
            <a:r>
              <a:rPr lang="en-US" noProof="0" dirty="0"/>
              <a:t>Add CRUD APIs</a:t>
            </a:r>
          </a:p>
          <a:p>
            <a:pPr marL="514350" indent="-514350">
              <a:buFont typeface="+mj-lt"/>
              <a:buAutoNum type="arabicPeriod"/>
            </a:pPr>
            <a:r>
              <a:rPr lang="en-US" noProof="0" dirty="0"/>
              <a:t>Database configuration</a:t>
            </a:r>
          </a:p>
          <a:p>
            <a:pPr marL="514350" indent="-514350">
              <a:buFont typeface="+mj-lt"/>
              <a:buAutoNum type="arabicPeriod"/>
            </a:pPr>
            <a:r>
              <a:rPr lang="en-US" noProof="0" dirty="0"/>
              <a:t>Organize the code</a:t>
            </a:r>
          </a:p>
          <a:p>
            <a:pPr marL="514350" indent="-514350">
              <a:buFont typeface="+mj-lt"/>
              <a:buAutoNum type="arabicPeriod"/>
            </a:pPr>
            <a:r>
              <a:rPr lang="en-US" noProof="0" dirty="0"/>
              <a:t>Verify in Postman</a:t>
            </a:r>
          </a:p>
        </p:txBody>
      </p:sp>
    </p:spTree>
    <p:extLst>
      <p:ext uri="{BB962C8B-B14F-4D97-AF65-F5344CB8AC3E}">
        <p14:creationId xmlns:p14="http://schemas.microsoft.com/office/powerpoint/2010/main" val="150342674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A21774-9956-EF34-AA47-688E888883A0}"/>
              </a:ext>
            </a:extLst>
          </p:cNvPr>
          <p:cNvSpPr>
            <a:spLocks noGrp="1"/>
          </p:cNvSpPr>
          <p:nvPr>
            <p:ph type="title"/>
          </p:nvPr>
        </p:nvSpPr>
        <p:spPr/>
        <p:txBody>
          <a:bodyPr/>
          <a:lstStyle/>
          <a:p>
            <a:r>
              <a:rPr lang="en-US" noProof="0" dirty="0"/>
              <a:t>Spring Initializer</a:t>
            </a:r>
          </a:p>
        </p:txBody>
      </p:sp>
      <p:pic>
        <p:nvPicPr>
          <p:cNvPr id="5" name="Picture 4">
            <a:extLst>
              <a:ext uri="{FF2B5EF4-FFF2-40B4-BE49-F238E27FC236}">
                <a16:creationId xmlns:a16="http://schemas.microsoft.com/office/drawing/2014/main" id="{FBB4FD81-9FEA-84BA-6A36-157A9C4606E3}"/>
              </a:ext>
            </a:extLst>
          </p:cNvPr>
          <p:cNvPicPr>
            <a:picLocks noChangeAspect="1"/>
          </p:cNvPicPr>
          <p:nvPr/>
        </p:nvPicPr>
        <p:blipFill>
          <a:blip r:embed="rId2"/>
          <a:stretch>
            <a:fillRect/>
          </a:stretch>
        </p:blipFill>
        <p:spPr>
          <a:xfrm>
            <a:off x="663113" y="1511017"/>
            <a:ext cx="9867609" cy="4561442"/>
          </a:xfrm>
          <a:prstGeom prst="rect">
            <a:avLst/>
          </a:prstGeom>
        </p:spPr>
      </p:pic>
    </p:spTree>
    <p:extLst>
      <p:ext uri="{BB962C8B-B14F-4D97-AF65-F5344CB8AC3E}">
        <p14:creationId xmlns:p14="http://schemas.microsoft.com/office/powerpoint/2010/main" val="427335518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B9AFB-0F9B-443D-D14F-06514C2CFD51}"/>
              </a:ext>
            </a:extLst>
          </p:cNvPr>
          <p:cNvSpPr>
            <a:spLocks noGrp="1"/>
          </p:cNvSpPr>
          <p:nvPr>
            <p:ph type="title"/>
          </p:nvPr>
        </p:nvSpPr>
        <p:spPr/>
        <p:txBody>
          <a:bodyPr/>
          <a:lstStyle/>
          <a:p>
            <a:r>
              <a:rPr lang="en-US" noProof="0" dirty="0"/>
              <a:t>Creating Project</a:t>
            </a:r>
          </a:p>
        </p:txBody>
      </p:sp>
      <p:sp>
        <p:nvSpPr>
          <p:cNvPr id="3" name="Content Placeholder 2">
            <a:extLst>
              <a:ext uri="{FF2B5EF4-FFF2-40B4-BE49-F238E27FC236}">
                <a16:creationId xmlns:a16="http://schemas.microsoft.com/office/drawing/2014/main" id="{962CD92F-7F1B-8B8C-13BE-B71B06130921}"/>
              </a:ext>
            </a:extLst>
          </p:cNvPr>
          <p:cNvSpPr>
            <a:spLocks noGrp="1"/>
          </p:cNvSpPr>
          <p:nvPr>
            <p:ph idx="1"/>
          </p:nvPr>
        </p:nvSpPr>
        <p:spPr/>
        <p:txBody>
          <a:bodyPr/>
          <a:lstStyle/>
          <a:p>
            <a:r>
              <a:rPr lang="en-US" noProof="0" dirty="0"/>
              <a:t>Generate and download the zip file and extract it somewhere on the local machine (e.g. c:\delthis\demo)</a:t>
            </a:r>
          </a:p>
          <a:p>
            <a:r>
              <a:rPr lang="en-US" noProof="0" dirty="0"/>
              <a:t>C:\delthis\demo&gt;</a:t>
            </a:r>
            <a:r>
              <a:rPr lang="en-US" b="1" noProof="0" dirty="0"/>
              <a:t>wsl -d ubuntu</a:t>
            </a:r>
          </a:p>
          <a:p>
            <a:r>
              <a:rPr lang="en-US" noProof="0" dirty="0" err="1"/>
              <a:t>atul@atul-laptop</a:t>
            </a:r>
            <a:r>
              <a:rPr lang="en-US" noProof="0" dirty="0"/>
              <a:t>:/</a:t>
            </a:r>
            <a:r>
              <a:rPr lang="en-US" noProof="0" dirty="0" err="1"/>
              <a:t>mnt</a:t>
            </a:r>
            <a:r>
              <a:rPr lang="en-US" noProof="0" dirty="0"/>
              <a:t>/c/</a:t>
            </a:r>
            <a:r>
              <a:rPr lang="en-US" noProof="0" dirty="0" err="1"/>
              <a:t>delthis</a:t>
            </a:r>
            <a:r>
              <a:rPr lang="en-US" noProof="0" dirty="0"/>
              <a:t>/demo$ </a:t>
            </a:r>
            <a:r>
              <a:rPr lang="en-US" b="1" noProof="0" dirty="0"/>
              <a:t>code .</a:t>
            </a:r>
          </a:p>
          <a:p>
            <a:r>
              <a:rPr lang="en-US" noProof="0" dirty="0"/>
              <a:t>Install and start Claude Code extension for VS Code</a:t>
            </a:r>
          </a:p>
          <a:p>
            <a:endParaRPr lang="en-US" noProof="0" dirty="0"/>
          </a:p>
        </p:txBody>
      </p:sp>
    </p:spTree>
    <p:extLst>
      <p:ext uri="{BB962C8B-B14F-4D97-AF65-F5344CB8AC3E}">
        <p14:creationId xmlns:p14="http://schemas.microsoft.com/office/powerpoint/2010/main" val="31280306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9D980-301D-BD82-1B14-E1EE4442A76B}"/>
              </a:ext>
            </a:extLst>
          </p:cNvPr>
          <p:cNvSpPr>
            <a:spLocks noGrp="1"/>
          </p:cNvSpPr>
          <p:nvPr>
            <p:ph type="title"/>
          </p:nvPr>
        </p:nvSpPr>
        <p:spPr/>
        <p:txBody>
          <a:bodyPr/>
          <a:lstStyle/>
          <a:p>
            <a:r>
              <a:rPr lang="en-US" noProof="0" dirty="0"/>
              <a:t>Using Claude Code</a:t>
            </a:r>
          </a:p>
        </p:txBody>
      </p:sp>
      <p:sp>
        <p:nvSpPr>
          <p:cNvPr id="3" name="Content Placeholder 2">
            <a:extLst>
              <a:ext uri="{FF2B5EF4-FFF2-40B4-BE49-F238E27FC236}">
                <a16:creationId xmlns:a16="http://schemas.microsoft.com/office/drawing/2014/main" id="{240E3547-9D6C-B6FD-7047-1330324451B0}"/>
              </a:ext>
            </a:extLst>
          </p:cNvPr>
          <p:cNvSpPr>
            <a:spLocks noGrp="1"/>
          </p:cNvSpPr>
          <p:nvPr>
            <p:ph idx="1"/>
          </p:nvPr>
        </p:nvSpPr>
        <p:spPr/>
        <p:txBody>
          <a:bodyPr>
            <a:normAutofit lnSpcReduction="10000"/>
          </a:bodyPr>
          <a:lstStyle/>
          <a:p>
            <a:r>
              <a:rPr lang="en-US" noProof="0" dirty="0"/>
              <a:t>First prompt: </a:t>
            </a:r>
            <a:r>
              <a:rPr lang="en-US" b="1" noProof="0" dirty="0"/>
              <a:t>add health check endpoint</a:t>
            </a:r>
          </a:p>
          <a:p>
            <a:r>
              <a:rPr lang="en-US" noProof="0" dirty="0"/>
              <a:t>It will add HealthController.java</a:t>
            </a:r>
          </a:p>
          <a:p>
            <a:r>
              <a:rPr lang="en-US" b="1" noProof="0" dirty="0"/>
              <a:t>add CRUD </a:t>
            </a:r>
            <a:r>
              <a:rPr lang="en-US" b="1" noProof="0" dirty="0" err="1"/>
              <a:t>apis</a:t>
            </a:r>
            <a:r>
              <a:rPr lang="en-US" b="1" noProof="0" dirty="0"/>
              <a:t> to resource named “notes”</a:t>
            </a:r>
          </a:p>
          <a:p>
            <a:r>
              <a:rPr lang="en-US" b="1" noProof="0" dirty="0"/>
              <a:t>add h2 configuration</a:t>
            </a:r>
          </a:p>
          <a:p>
            <a:r>
              <a:rPr lang="en-US" b="1" noProof="0" dirty="0"/>
              <a:t>refactor java files into appropriate packages and add support for </a:t>
            </a:r>
            <a:r>
              <a:rPr lang="en-US" b="1" noProof="0" dirty="0" err="1"/>
              <a:t>lombok</a:t>
            </a:r>
            <a:endParaRPr lang="en-US" b="1" noProof="0" dirty="0"/>
          </a:p>
          <a:p>
            <a:r>
              <a:rPr lang="en-US" noProof="0" dirty="0"/>
              <a:t>Now open a terminal: </a:t>
            </a:r>
            <a:r>
              <a:rPr lang="en-US" b="1" noProof="0" dirty="0"/>
              <a:t>./</a:t>
            </a:r>
            <a:r>
              <a:rPr lang="en-US" b="1" noProof="0" dirty="0" err="1"/>
              <a:t>gradlew</a:t>
            </a:r>
            <a:r>
              <a:rPr lang="en-US" b="1" noProof="0" dirty="0"/>
              <a:t> </a:t>
            </a:r>
            <a:r>
              <a:rPr lang="en-US" b="1" noProof="0" dirty="0" err="1"/>
              <a:t>bootRun</a:t>
            </a:r>
            <a:endParaRPr lang="en-US" b="1" noProof="0" dirty="0"/>
          </a:p>
          <a:p>
            <a:r>
              <a:rPr lang="en-US" noProof="0" dirty="0"/>
              <a:t>If we get a Java error</a:t>
            </a:r>
          </a:p>
          <a:p>
            <a:pPr lvl="1"/>
            <a:r>
              <a:rPr lang="en-US" b="1" noProof="0" dirty="0" err="1"/>
              <a:t>sudo</a:t>
            </a:r>
            <a:r>
              <a:rPr lang="en-US" b="1" noProof="0" dirty="0"/>
              <a:t>   apt   update</a:t>
            </a:r>
          </a:p>
          <a:p>
            <a:pPr lvl="1"/>
            <a:r>
              <a:rPr lang="en-US" b="1" noProof="0" dirty="0" err="1"/>
              <a:t>sudo</a:t>
            </a:r>
            <a:r>
              <a:rPr lang="en-US" b="1" noProof="0" dirty="0"/>
              <a:t>   apt   install   openjdk-17-jdk   -y</a:t>
            </a:r>
          </a:p>
        </p:txBody>
      </p:sp>
    </p:spTree>
    <p:extLst>
      <p:ext uri="{BB962C8B-B14F-4D97-AF65-F5344CB8AC3E}">
        <p14:creationId xmlns:p14="http://schemas.microsoft.com/office/powerpoint/2010/main" val="7086471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875D4-F7C7-8AB9-0734-5CB655819544}"/>
              </a:ext>
            </a:extLst>
          </p:cNvPr>
          <p:cNvSpPr>
            <a:spLocks noGrp="1"/>
          </p:cNvSpPr>
          <p:nvPr>
            <p:ph type="title"/>
          </p:nvPr>
        </p:nvSpPr>
        <p:spPr/>
        <p:txBody>
          <a:bodyPr/>
          <a:lstStyle/>
          <a:p>
            <a:r>
              <a:rPr lang="en-US" noProof="0" dirty="0"/>
              <a:t>Testing</a:t>
            </a:r>
          </a:p>
        </p:txBody>
      </p:sp>
      <p:sp>
        <p:nvSpPr>
          <p:cNvPr id="3" name="Content Placeholder 2">
            <a:extLst>
              <a:ext uri="{FF2B5EF4-FFF2-40B4-BE49-F238E27FC236}">
                <a16:creationId xmlns:a16="http://schemas.microsoft.com/office/drawing/2014/main" id="{DA552C78-477C-C480-FD0A-4021EDC9668B}"/>
              </a:ext>
            </a:extLst>
          </p:cNvPr>
          <p:cNvSpPr>
            <a:spLocks noGrp="1"/>
          </p:cNvSpPr>
          <p:nvPr>
            <p:ph idx="1"/>
          </p:nvPr>
        </p:nvSpPr>
        <p:spPr/>
        <p:txBody>
          <a:bodyPr/>
          <a:lstStyle/>
          <a:p>
            <a:r>
              <a:rPr lang="en-US" b="1" noProof="0" dirty="0"/>
              <a:t>generate postman collection for all </a:t>
            </a:r>
            <a:r>
              <a:rPr lang="en-US" b="1" noProof="0" dirty="0" err="1"/>
              <a:t>apis</a:t>
            </a:r>
            <a:r>
              <a:rPr lang="en-US" b="1" noProof="0" dirty="0"/>
              <a:t> and store in resources folder</a:t>
            </a:r>
          </a:p>
          <a:p>
            <a:r>
              <a:rPr lang="en-US" noProof="0" dirty="0"/>
              <a:t>Start postman</a:t>
            </a:r>
          </a:p>
          <a:p>
            <a:r>
              <a:rPr lang="en-US" noProof="0" dirty="0"/>
              <a:t>In the three dots after + select </a:t>
            </a:r>
            <a:r>
              <a:rPr lang="en-US" i="1" noProof="0" dirty="0"/>
              <a:t>Import</a:t>
            </a:r>
          </a:p>
          <a:p>
            <a:r>
              <a:rPr lang="en-US" noProof="0" dirty="0"/>
              <a:t>Drag C:\delthis\demo\src\main\resources folder there</a:t>
            </a:r>
          </a:p>
          <a:p>
            <a:r>
              <a:rPr lang="en-US" noProof="0" dirty="0"/>
              <a:t>If you get format error, add the JSON file in some AI and get it corrected, then retry</a:t>
            </a:r>
          </a:p>
          <a:p>
            <a:r>
              <a:rPr lang="en-US" noProof="0" dirty="0"/>
              <a:t>Test in postman</a:t>
            </a:r>
          </a:p>
          <a:p>
            <a:r>
              <a:rPr lang="en-US" b="1" noProof="0" dirty="0"/>
              <a:t>generate swagger </a:t>
            </a:r>
            <a:r>
              <a:rPr lang="en-US" b="1" noProof="0" dirty="0" err="1"/>
              <a:t>api</a:t>
            </a:r>
            <a:r>
              <a:rPr lang="en-US" b="1" noProof="0" dirty="0"/>
              <a:t> documentation</a:t>
            </a:r>
          </a:p>
          <a:p>
            <a:endParaRPr lang="en-US" noProof="0" dirty="0"/>
          </a:p>
        </p:txBody>
      </p:sp>
    </p:spTree>
    <p:extLst>
      <p:ext uri="{BB962C8B-B14F-4D97-AF65-F5344CB8AC3E}">
        <p14:creationId xmlns:p14="http://schemas.microsoft.com/office/powerpoint/2010/main" val="202024045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95F79-9558-258D-1CE8-84C6EBA5E06E}"/>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A1BDA4C9-D920-D7BE-02C1-1DC493DDD03A}"/>
              </a:ext>
            </a:extLst>
          </p:cNvPr>
          <p:cNvSpPr>
            <a:spLocks noGrp="1"/>
          </p:cNvSpPr>
          <p:nvPr>
            <p:ph idx="1"/>
          </p:nvPr>
        </p:nvSpPr>
        <p:spPr/>
        <p:txBody>
          <a:bodyPr>
            <a:normAutofit/>
          </a:bodyPr>
          <a:lstStyle/>
          <a:p>
            <a:r>
              <a:rPr lang="en-GB" dirty="0"/>
              <a:t>First clone the repository</a:t>
            </a:r>
          </a:p>
          <a:p>
            <a:pPr lvl="1"/>
            <a:r>
              <a:rPr lang="en-GB" dirty="0"/>
              <a:t>C:\lectures\Others\Edureka\Claude-Code\claude-projects&gt;git clone </a:t>
            </a:r>
            <a:r>
              <a:rPr lang="en-GB" dirty="0">
                <a:hlinkClick r:id="rId2"/>
              </a:rPr>
              <a:t>https://github.com/shopizer-ecommerce/shopizer.git</a:t>
            </a:r>
            <a:endParaRPr lang="en-GB" dirty="0"/>
          </a:p>
        </p:txBody>
      </p:sp>
    </p:spTree>
    <p:extLst>
      <p:ext uri="{BB962C8B-B14F-4D97-AF65-F5344CB8AC3E}">
        <p14:creationId xmlns:p14="http://schemas.microsoft.com/office/powerpoint/2010/main" val="392236385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8BC67-C6C9-B174-E142-0627A6ED43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AA6F6A-D73D-BE94-CF23-765405BA1542}"/>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546E42C3-67B3-A524-6705-A03C581ADFD1}"/>
              </a:ext>
            </a:extLst>
          </p:cNvPr>
          <p:cNvSpPr>
            <a:spLocks noGrp="1"/>
          </p:cNvSpPr>
          <p:nvPr>
            <p:ph idx="1"/>
          </p:nvPr>
        </p:nvSpPr>
        <p:spPr/>
        <p:txBody>
          <a:bodyPr>
            <a:normAutofit fontScale="77500" lnSpcReduction="20000"/>
          </a:bodyPr>
          <a:lstStyle/>
          <a:p>
            <a:r>
              <a:rPr lang="en-GB" dirty="0"/>
              <a:t>Understand the repository</a:t>
            </a:r>
          </a:p>
          <a:p>
            <a:pPr lvl="1"/>
            <a:r>
              <a:rPr lang="en-US" dirty="0"/>
              <a:t>Spend a few minutes understanding this repository.</a:t>
            </a:r>
          </a:p>
          <a:p>
            <a:pPr lvl="1"/>
            <a:endParaRPr lang="en-US" dirty="0"/>
          </a:p>
          <a:p>
            <a:pPr lvl="1"/>
            <a:r>
              <a:rPr lang="en-US" dirty="0"/>
              <a:t>Then summarize:</a:t>
            </a:r>
          </a:p>
          <a:p>
            <a:pPr lvl="1"/>
            <a:endParaRPr lang="en-US" dirty="0"/>
          </a:p>
          <a:p>
            <a:pPr lvl="1"/>
            <a:r>
              <a:rPr lang="en-US" dirty="0"/>
              <a:t>- Overall architecture</a:t>
            </a:r>
          </a:p>
          <a:p>
            <a:pPr lvl="1"/>
            <a:r>
              <a:rPr lang="en-US" dirty="0"/>
              <a:t>- Main modules</a:t>
            </a:r>
          </a:p>
          <a:p>
            <a:pPr lvl="1"/>
            <a:r>
              <a:rPr lang="en-US" dirty="0"/>
              <a:t>- Technologies used</a:t>
            </a:r>
          </a:p>
          <a:p>
            <a:pPr lvl="1"/>
            <a:r>
              <a:rPr lang="en-US" dirty="0"/>
              <a:t>- Package organization</a:t>
            </a:r>
          </a:p>
          <a:p>
            <a:pPr lvl="1"/>
            <a:r>
              <a:rPr lang="en-US" dirty="0"/>
              <a:t>- How a request flows through the application</a:t>
            </a:r>
          </a:p>
          <a:p>
            <a:pPr lvl="1"/>
            <a:r>
              <a:rPr lang="en-US" dirty="0"/>
              <a:t>- Coding conventions</a:t>
            </a:r>
          </a:p>
          <a:p>
            <a:pPr lvl="1"/>
            <a:r>
              <a:rPr lang="en-US" dirty="0"/>
              <a:t>- Interesting design patterns</a:t>
            </a:r>
          </a:p>
          <a:p>
            <a:pPr lvl="1"/>
            <a:r>
              <a:rPr lang="en-US" dirty="0"/>
              <a:t>- Things that surprised you</a:t>
            </a:r>
          </a:p>
          <a:p>
            <a:pPr lvl="1"/>
            <a:endParaRPr lang="en-US" dirty="0"/>
          </a:p>
          <a:p>
            <a:pPr lvl="1"/>
            <a:r>
              <a:rPr lang="en-US" dirty="0"/>
              <a:t>Do not explain every package. Give me a high-level overview suitable for onboarding a new developer.</a:t>
            </a:r>
            <a:endParaRPr lang="en-GB" dirty="0"/>
          </a:p>
        </p:txBody>
      </p:sp>
    </p:spTree>
    <p:extLst>
      <p:ext uri="{BB962C8B-B14F-4D97-AF65-F5344CB8AC3E}">
        <p14:creationId xmlns:p14="http://schemas.microsoft.com/office/powerpoint/2010/main" val="3069867052"/>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A2F11-A2E0-BE3C-DE79-7D76B756A0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AE8008-BC21-B484-7874-70CBE4A332BC}"/>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13CAEBDA-39C3-91E6-35A1-BA4146895216}"/>
              </a:ext>
            </a:extLst>
          </p:cNvPr>
          <p:cNvSpPr>
            <a:spLocks noGrp="1"/>
          </p:cNvSpPr>
          <p:nvPr>
            <p:ph idx="1"/>
          </p:nvPr>
        </p:nvSpPr>
        <p:spPr/>
        <p:txBody>
          <a:bodyPr>
            <a:normAutofit/>
          </a:bodyPr>
          <a:lstStyle/>
          <a:p>
            <a:r>
              <a:rPr lang="en-GB" dirty="0"/>
              <a:t>Repository tour</a:t>
            </a:r>
          </a:p>
          <a:p>
            <a:pPr lvl="1"/>
            <a:r>
              <a:rPr lang="en-US" dirty="0"/>
              <a:t>If I had only one hour to understand this codebase, which files should I read first?</a:t>
            </a:r>
          </a:p>
          <a:p>
            <a:pPr lvl="1"/>
            <a:endParaRPr lang="en-US" dirty="0"/>
          </a:p>
          <a:p>
            <a:pPr lvl="1"/>
            <a:r>
              <a:rPr lang="en-US" dirty="0"/>
              <a:t>Rank the top 15 files.</a:t>
            </a:r>
          </a:p>
          <a:p>
            <a:pPr lvl="1"/>
            <a:endParaRPr lang="en-US" dirty="0"/>
          </a:p>
          <a:p>
            <a:pPr lvl="1"/>
            <a:r>
              <a:rPr lang="en-US" dirty="0"/>
              <a:t>Explain why each is important.</a:t>
            </a:r>
            <a:endParaRPr lang="en-GB" dirty="0"/>
          </a:p>
        </p:txBody>
      </p:sp>
    </p:spTree>
    <p:extLst>
      <p:ext uri="{BB962C8B-B14F-4D97-AF65-F5344CB8AC3E}">
        <p14:creationId xmlns:p14="http://schemas.microsoft.com/office/powerpoint/2010/main" val="40791789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F1901A-0162-0125-0A8B-4B613DD2C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CDB11-CD96-7548-DC5A-FB2BB0199AC0}"/>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2CD2D1D0-4FC4-8969-CB09-7C63518A4FFB}"/>
              </a:ext>
            </a:extLst>
          </p:cNvPr>
          <p:cNvSpPr>
            <a:spLocks noGrp="1"/>
          </p:cNvSpPr>
          <p:nvPr>
            <p:ph idx="1"/>
          </p:nvPr>
        </p:nvSpPr>
        <p:spPr/>
        <p:txBody>
          <a:bodyPr>
            <a:normAutofit/>
          </a:bodyPr>
          <a:lstStyle/>
          <a:p>
            <a:r>
              <a:rPr lang="en-GB" dirty="0"/>
              <a:t>Architecture diagrams</a:t>
            </a:r>
          </a:p>
          <a:p>
            <a:pPr lvl="1"/>
            <a:r>
              <a:rPr lang="en-US" dirty="0"/>
              <a:t>Generate a Mermaid diagram showing the high-level architecture.</a:t>
            </a:r>
          </a:p>
          <a:p>
            <a:pPr lvl="1"/>
            <a:endParaRPr lang="en-US" dirty="0"/>
          </a:p>
          <a:p>
            <a:pPr lvl="1"/>
            <a:r>
              <a:rPr lang="en-US" dirty="0"/>
              <a:t>Generate a sequence diagram for placing an order.</a:t>
            </a:r>
            <a:endParaRPr lang="en-GB" dirty="0"/>
          </a:p>
        </p:txBody>
      </p:sp>
    </p:spTree>
    <p:extLst>
      <p:ext uri="{BB962C8B-B14F-4D97-AF65-F5344CB8AC3E}">
        <p14:creationId xmlns:p14="http://schemas.microsoft.com/office/powerpoint/2010/main" val="127461404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1E2D7-538E-1D9B-D692-6D61DA69DB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F162F2-9D5F-B328-7416-C58117C056E2}"/>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412ACFBA-4D2D-61EE-91BD-2DE98558653D}"/>
              </a:ext>
            </a:extLst>
          </p:cNvPr>
          <p:cNvSpPr>
            <a:spLocks noGrp="1"/>
          </p:cNvSpPr>
          <p:nvPr>
            <p:ph idx="1"/>
          </p:nvPr>
        </p:nvSpPr>
        <p:spPr/>
        <p:txBody>
          <a:bodyPr>
            <a:normAutofit/>
          </a:bodyPr>
          <a:lstStyle/>
          <a:p>
            <a:r>
              <a:rPr lang="en-GB" dirty="0"/>
              <a:t>Explain a business flow</a:t>
            </a:r>
          </a:p>
          <a:p>
            <a:pPr lvl="1"/>
            <a:r>
              <a:rPr lang="en-US" dirty="0"/>
              <a:t>Trace the complete flow when a customer places an order.</a:t>
            </a:r>
          </a:p>
          <a:p>
            <a:pPr lvl="1"/>
            <a:endParaRPr lang="en-US" dirty="0"/>
          </a:p>
          <a:p>
            <a:pPr lvl="1"/>
            <a:r>
              <a:rPr lang="en-US" dirty="0"/>
              <a:t>Start from the HTTP request and continue until the database is updated.</a:t>
            </a:r>
          </a:p>
          <a:p>
            <a:pPr lvl="1"/>
            <a:endParaRPr lang="en-US" dirty="0"/>
          </a:p>
          <a:p>
            <a:pPr lvl="1"/>
            <a:r>
              <a:rPr lang="en-US" dirty="0"/>
              <a:t>Mention every important class involved.</a:t>
            </a:r>
            <a:endParaRPr lang="en-GB" dirty="0"/>
          </a:p>
        </p:txBody>
      </p:sp>
    </p:spTree>
    <p:extLst>
      <p:ext uri="{BB962C8B-B14F-4D97-AF65-F5344CB8AC3E}">
        <p14:creationId xmlns:p14="http://schemas.microsoft.com/office/powerpoint/2010/main" val="77686676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8E4F2-BF54-CED7-19E4-DEA5703CD1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738D60-D4A8-4701-076C-A5CAC08108DC}"/>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516E0198-B7EE-D838-76BF-CFF75496B2CC}"/>
              </a:ext>
            </a:extLst>
          </p:cNvPr>
          <p:cNvSpPr>
            <a:spLocks noGrp="1"/>
          </p:cNvSpPr>
          <p:nvPr>
            <p:ph idx="1"/>
          </p:nvPr>
        </p:nvSpPr>
        <p:spPr/>
        <p:txBody>
          <a:bodyPr>
            <a:normAutofit fontScale="92500" lnSpcReduction="20000"/>
          </a:bodyPr>
          <a:lstStyle/>
          <a:p>
            <a:r>
              <a:rPr lang="en-GB" dirty="0"/>
              <a:t>Find technical debt</a:t>
            </a:r>
          </a:p>
          <a:p>
            <a:pPr lvl="1"/>
            <a:r>
              <a:rPr lang="en-US" dirty="0"/>
              <a:t>Review this repository like a senior software architect.</a:t>
            </a:r>
          </a:p>
          <a:p>
            <a:pPr lvl="1"/>
            <a:endParaRPr lang="en-US" dirty="0"/>
          </a:p>
          <a:p>
            <a:pPr lvl="1"/>
            <a:r>
              <a:rPr lang="en-US" dirty="0"/>
              <a:t>Identify</a:t>
            </a:r>
          </a:p>
          <a:p>
            <a:pPr lvl="1"/>
            <a:endParaRPr lang="en-US" dirty="0"/>
          </a:p>
          <a:p>
            <a:pPr lvl="1"/>
            <a:r>
              <a:rPr lang="en-US" dirty="0"/>
              <a:t>- duplicated logic</a:t>
            </a:r>
          </a:p>
          <a:p>
            <a:pPr lvl="1"/>
            <a:r>
              <a:rPr lang="en-US" dirty="0"/>
              <a:t>- long methods</a:t>
            </a:r>
          </a:p>
          <a:p>
            <a:pPr lvl="1"/>
            <a:r>
              <a:rPr lang="en-US" dirty="0"/>
              <a:t>- God classes</a:t>
            </a:r>
          </a:p>
          <a:p>
            <a:pPr lvl="1"/>
            <a:r>
              <a:rPr lang="en-US" dirty="0"/>
              <a:t>- cyclic dependencies</a:t>
            </a:r>
          </a:p>
          <a:p>
            <a:pPr lvl="1"/>
            <a:r>
              <a:rPr lang="en-US" dirty="0"/>
              <a:t>- code smells</a:t>
            </a:r>
          </a:p>
          <a:p>
            <a:pPr lvl="1"/>
            <a:r>
              <a:rPr lang="en-US" dirty="0"/>
              <a:t>- architectural problems</a:t>
            </a:r>
          </a:p>
          <a:p>
            <a:pPr lvl="1"/>
            <a:endParaRPr lang="en-US" dirty="0"/>
          </a:p>
          <a:p>
            <a:pPr lvl="1"/>
            <a:r>
              <a:rPr lang="en-US" dirty="0"/>
              <a:t>Rank them by severity.</a:t>
            </a:r>
            <a:endParaRPr lang="en-GB" dirty="0"/>
          </a:p>
        </p:txBody>
      </p:sp>
    </p:spTree>
    <p:extLst>
      <p:ext uri="{BB962C8B-B14F-4D97-AF65-F5344CB8AC3E}">
        <p14:creationId xmlns:p14="http://schemas.microsoft.com/office/powerpoint/2010/main" val="61785227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16F6A-27F2-D481-40F7-23D4C82FA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ACA9D1-C964-60F3-390A-FFEB65682E9A}"/>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A2DE8FB0-9756-F373-809A-FDB6A6C87820}"/>
              </a:ext>
            </a:extLst>
          </p:cNvPr>
          <p:cNvSpPr>
            <a:spLocks noGrp="1"/>
          </p:cNvSpPr>
          <p:nvPr>
            <p:ph idx="1"/>
          </p:nvPr>
        </p:nvSpPr>
        <p:spPr/>
        <p:txBody>
          <a:bodyPr>
            <a:normAutofit/>
          </a:bodyPr>
          <a:lstStyle/>
          <a:p>
            <a:r>
              <a:rPr lang="en-GB" dirty="0"/>
              <a:t>Find dead code</a:t>
            </a:r>
          </a:p>
          <a:p>
            <a:pPr lvl="1"/>
            <a:r>
              <a:rPr lang="en-US" dirty="0"/>
              <a:t>Look for</a:t>
            </a:r>
          </a:p>
          <a:p>
            <a:pPr lvl="1"/>
            <a:endParaRPr lang="en-US" dirty="0"/>
          </a:p>
          <a:p>
            <a:pPr lvl="1"/>
            <a:r>
              <a:rPr lang="en-US" dirty="0"/>
              <a:t>- unused classes</a:t>
            </a:r>
          </a:p>
          <a:p>
            <a:pPr lvl="1"/>
            <a:r>
              <a:rPr lang="en-US" dirty="0"/>
              <a:t>- unused services</a:t>
            </a:r>
          </a:p>
          <a:p>
            <a:pPr lvl="1"/>
            <a:r>
              <a:rPr lang="en-US" dirty="0"/>
              <a:t>- unreachable code</a:t>
            </a:r>
          </a:p>
          <a:p>
            <a:pPr lvl="1"/>
            <a:r>
              <a:rPr lang="en-US" dirty="0"/>
              <a:t>- duplicated utility methods</a:t>
            </a:r>
          </a:p>
          <a:p>
            <a:pPr lvl="1"/>
            <a:r>
              <a:rPr lang="en-US" dirty="0"/>
              <a:t>- obsolete APIs</a:t>
            </a:r>
          </a:p>
          <a:p>
            <a:pPr lvl="1"/>
            <a:endParaRPr lang="en-US" dirty="0"/>
          </a:p>
          <a:p>
            <a:pPr lvl="1"/>
            <a:r>
              <a:rPr lang="en-US" dirty="0"/>
              <a:t>Explain why you think they are unused.</a:t>
            </a:r>
            <a:endParaRPr lang="en-GB" dirty="0"/>
          </a:p>
        </p:txBody>
      </p:sp>
    </p:spTree>
    <p:extLst>
      <p:ext uri="{BB962C8B-B14F-4D97-AF65-F5344CB8AC3E}">
        <p14:creationId xmlns:p14="http://schemas.microsoft.com/office/powerpoint/2010/main" val="308669003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57C91-6893-D818-0293-3CC646A9E8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803BAF-A5C7-3CF2-242A-FCC6C6DB8108}"/>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2F72150E-F8A2-4FE4-BAA1-A63473C663A0}"/>
              </a:ext>
            </a:extLst>
          </p:cNvPr>
          <p:cNvSpPr>
            <a:spLocks noGrp="1"/>
          </p:cNvSpPr>
          <p:nvPr>
            <p:ph idx="1"/>
          </p:nvPr>
        </p:nvSpPr>
        <p:spPr/>
        <p:txBody>
          <a:bodyPr>
            <a:normAutofit/>
          </a:bodyPr>
          <a:lstStyle/>
          <a:p>
            <a:r>
              <a:rPr lang="en-GB" dirty="0"/>
              <a:t>New developer onboarding</a:t>
            </a:r>
          </a:p>
          <a:p>
            <a:pPr lvl="1"/>
            <a:r>
              <a:rPr lang="en-US" dirty="0"/>
              <a:t>Imagine I joined the team today.</a:t>
            </a:r>
          </a:p>
          <a:p>
            <a:pPr lvl="1"/>
            <a:endParaRPr lang="en-US" dirty="0"/>
          </a:p>
          <a:p>
            <a:pPr lvl="1"/>
            <a:r>
              <a:rPr lang="en-US" dirty="0"/>
              <a:t>Create a 3-day onboarding plan.</a:t>
            </a:r>
          </a:p>
          <a:p>
            <a:pPr lvl="1"/>
            <a:endParaRPr lang="en-US" dirty="0"/>
          </a:p>
          <a:p>
            <a:pPr lvl="1"/>
            <a:r>
              <a:rPr lang="en-US" dirty="0"/>
              <a:t>Tell me what to learn first.</a:t>
            </a:r>
          </a:p>
          <a:p>
            <a:pPr lvl="1"/>
            <a:endParaRPr lang="en-US" dirty="0"/>
          </a:p>
          <a:p>
            <a:pPr lvl="1"/>
            <a:r>
              <a:rPr lang="en-US" dirty="0"/>
              <a:t>Suggest reading order.</a:t>
            </a:r>
          </a:p>
          <a:p>
            <a:pPr lvl="1"/>
            <a:endParaRPr lang="en-US" dirty="0"/>
          </a:p>
          <a:p>
            <a:pPr lvl="1"/>
            <a:r>
              <a:rPr lang="en-US" dirty="0"/>
              <a:t>Mention common pitfalls.</a:t>
            </a:r>
            <a:endParaRPr lang="en-GB" dirty="0"/>
          </a:p>
        </p:txBody>
      </p:sp>
    </p:spTree>
    <p:extLst>
      <p:ext uri="{BB962C8B-B14F-4D97-AF65-F5344CB8AC3E}">
        <p14:creationId xmlns:p14="http://schemas.microsoft.com/office/powerpoint/2010/main" val="1568163587"/>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B771E-0A03-6848-0E8E-163D7D536F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0ED2BF-D06C-47E9-9D52-5E936399FF5E}"/>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BA61C22F-5C3C-EB67-6D81-2900471F93AF}"/>
              </a:ext>
            </a:extLst>
          </p:cNvPr>
          <p:cNvSpPr>
            <a:spLocks noGrp="1"/>
          </p:cNvSpPr>
          <p:nvPr>
            <p:ph idx="1"/>
          </p:nvPr>
        </p:nvSpPr>
        <p:spPr/>
        <p:txBody>
          <a:bodyPr>
            <a:normAutofit fontScale="62500" lnSpcReduction="20000"/>
          </a:bodyPr>
          <a:lstStyle/>
          <a:p>
            <a:r>
              <a:rPr lang="en-GB" dirty="0"/>
              <a:t>Security review</a:t>
            </a:r>
          </a:p>
          <a:p>
            <a:pPr lvl="1"/>
            <a:r>
              <a:rPr lang="en-US" dirty="0"/>
              <a:t>Perform a security review.</a:t>
            </a:r>
          </a:p>
          <a:p>
            <a:pPr lvl="1"/>
            <a:endParaRPr lang="en-US" dirty="0"/>
          </a:p>
          <a:p>
            <a:pPr lvl="1"/>
            <a:r>
              <a:rPr lang="en-US" dirty="0"/>
              <a:t>Look for</a:t>
            </a:r>
          </a:p>
          <a:p>
            <a:pPr lvl="1"/>
            <a:endParaRPr lang="en-US" dirty="0"/>
          </a:p>
          <a:p>
            <a:pPr lvl="1"/>
            <a:r>
              <a:rPr lang="en-US" dirty="0"/>
              <a:t>OWASP top 10</a:t>
            </a:r>
          </a:p>
          <a:p>
            <a:pPr lvl="1"/>
            <a:endParaRPr lang="en-US" dirty="0"/>
          </a:p>
          <a:p>
            <a:pPr lvl="1"/>
            <a:r>
              <a:rPr lang="en-US" dirty="0"/>
              <a:t>- authentication issues</a:t>
            </a:r>
          </a:p>
          <a:p>
            <a:pPr lvl="1"/>
            <a:endParaRPr lang="en-US" dirty="0"/>
          </a:p>
          <a:p>
            <a:pPr lvl="1"/>
            <a:r>
              <a:rPr lang="en-US" dirty="0"/>
              <a:t>- authorization issues</a:t>
            </a:r>
          </a:p>
          <a:p>
            <a:pPr lvl="1"/>
            <a:endParaRPr lang="en-US" dirty="0"/>
          </a:p>
          <a:p>
            <a:pPr lvl="1"/>
            <a:r>
              <a:rPr lang="en-US" dirty="0"/>
              <a:t>- insecure configuration</a:t>
            </a:r>
          </a:p>
          <a:p>
            <a:pPr lvl="1"/>
            <a:endParaRPr lang="en-US" dirty="0"/>
          </a:p>
          <a:p>
            <a:pPr lvl="1"/>
            <a:r>
              <a:rPr lang="en-US" dirty="0"/>
              <a:t>- secrets</a:t>
            </a:r>
          </a:p>
          <a:p>
            <a:pPr lvl="1"/>
            <a:endParaRPr lang="en-US" dirty="0"/>
          </a:p>
          <a:p>
            <a:pPr lvl="1"/>
            <a:r>
              <a:rPr lang="en-US" dirty="0"/>
              <a:t>- insecure logging</a:t>
            </a:r>
          </a:p>
          <a:p>
            <a:pPr lvl="1"/>
            <a:endParaRPr lang="en-US" dirty="0"/>
          </a:p>
          <a:p>
            <a:pPr lvl="1"/>
            <a:r>
              <a:rPr lang="en-US" dirty="0"/>
              <a:t>Prioritize findings.</a:t>
            </a:r>
            <a:endParaRPr lang="en-GB" dirty="0"/>
          </a:p>
        </p:txBody>
      </p:sp>
    </p:spTree>
    <p:extLst>
      <p:ext uri="{BB962C8B-B14F-4D97-AF65-F5344CB8AC3E}">
        <p14:creationId xmlns:p14="http://schemas.microsoft.com/office/powerpoint/2010/main" val="59583493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83327-42FB-24FE-0E0A-6C5B7A6B55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90953-69B1-5A83-0441-80F97D4C8431}"/>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48194119-1C2F-AE27-060A-F329BE5EC530}"/>
              </a:ext>
            </a:extLst>
          </p:cNvPr>
          <p:cNvSpPr>
            <a:spLocks noGrp="1"/>
          </p:cNvSpPr>
          <p:nvPr>
            <p:ph idx="1"/>
          </p:nvPr>
        </p:nvSpPr>
        <p:spPr/>
        <p:txBody>
          <a:bodyPr>
            <a:normAutofit fontScale="77500" lnSpcReduction="20000"/>
          </a:bodyPr>
          <a:lstStyle/>
          <a:p>
            <a:r>
              <a:rPr lang="en-GB" dirty="0"/>
              <a:t>Performance  review</a:t>
            </a:r>
          </a:p>
          <a:p>
            <a:pPr lvl="1"/>
            <a:r>
              <a:rPr lang="en-US" dirty="0"/>
              <a:t>Find possible performance bottlenecks.</a:t>
            </a:r>
          </a:p>
          <a:p>
            <a:pPr lvl="1"/>
            <a:endParaRPr lang="en-US" dirty="0"/>
          </a:p>
          <a:p>
            <a:pPr lvl="1"/>
            <a:r>
              <a:rPr lang="en-US" dirty="0"/>
              <a:t>Look for</a:t>
            </a:r>
          </a:p>
          <a:p>
            <a:pPr lvl="1"/>
            <a:endParaRPr lang="en-US" dirty="0"/>
          </a:p>
          <a:p>
            <a:pPr lvl="1"/>
            <a:r>
              <a:rPr lang="en-US" dirty="0"/>
              <a:t>- N+1 queries</a:t>
            </a:r>
          </a:p>
          <a:p>
            <a:pPr lvl="1"/>
            <a:endParaRPr lang="en-US" dirty="0"/>
          </a:p>
          <a:p>
            <a:pPr lvl="1"/>
            <a:r>
              <a:rPr lang="en-US" dirty="0"/>
              <a:t>- unnecessary database calls</a:t>
            </a:r>
          </a:p>
          <a:p>
            <a:pPr lvl="1"/>
            <a:endParaRPr lang="en-US" dirty="0"/>
          </a:p>
          <a:p>
            <a:pPr lvl="1"/>
            <a:r>
              <a:rPr lang="en-US" dirty="0"/>
              <a:t>- repeated computations</a:t>
            </a:r>
          </a:p>
          <a:p>
            <a:pPr lvl="1"/>
            <a:endParaRPr lang="en-US" dirty="0"/>
          </a:p>
          <a:p>
            <a:pPr lvl="1"/>
            <a:r>
              <a:rPr lang="en-US" dirty="0"/>
              <a:t>- expensive loops</a:t>
            </a:r>
          </a:p>
          <a:p>
            <a:pPr lvl="1"/>
            <a:endParaRPr lang="en-US" dirty="0"/>
          </a:p>
          <a:p>
            <a:pPr lvl="1"/>
            <a:r>
              <a:rPr lang="en-US" dirty="0"/>
              <a:t>- synchronization issues</a:t>
            </a:r>
          </a:p>
          <a:p>
            <a:pPr lvl="1"/>
            <a:endParaRPr lang="en-US" dirty="0"/>
          </a:p>
          <a:p>
            <a:pPr lvl="1"/>
            <a:r>
              <a:rPr lang="en-US" dirty="0"/>
              <a:t>Explain why each may become a bottleneck.</a:t>
            </a:r>
            <a:endParaRPr lang="en-GB" dirty="0"/>
          </a:p>
        </p:txBody>
      </p:sp>
    </p:spTree>
    <p:extLst>
      <p:ext uri="{BB962C8B-B14F-4D97-AF65-F5344CB8AC3E}">
        <p14:creationId xmlns:p14="http://schemas.microsoft.com/office/powerpoint/2010/main" val="76189196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8EE512-2119-DD0B-192F-5A23EFB67E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20C3E2-AB3F-2943-43CF-C843BA715771}"/>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5AA1F966-C1E0-8473-0344-3B747A53297E}"/>
              </a:ext>
            </a:extLst>
          </p:cNvPr>
          <p:cNvSpPr>
            <a:spLocks noGrp="1"/>
          </p:cNvSpPr>
          <p:nvPr>
            <p:ph idx="1"/>
          </p:nvPr>
        </p:nvSpPr>
        <p:spPr/>
        <p:txBody>
          <a:bodyPr>
            <a:normAutofit/>
          </a:bodyPr>
          <a:lstStyle/>
          <a:p>
            <a:r>
              <a:rPr lang="en-GB" dirty="0"/>
              <a:t>Database analysis</a:t>
            </a:r>
          </a:p>
          <a:p>
            <a:pPr lvl="1"/>
            <a:r>
              <a:rPr lang="en-US" dirty="0"/>
              <a:t>Explain the database model.</a:t>
            </a:r>
          </a:p>
          <a:p>
            <a:pPr lvl="1"/>
            <a:endParaRPr lang="en-US" dirty="0"/>
          </a:p>
          <a:p>
            <a:pPr lvl="1"/>
            <a:r>
              <a:rPr lang="en-US" dirty="0"/>
              <a:t>Which entities are central?</a:t>
            </a:r>
          </a:p>
          <a:p>
            <a:pPr lvl="1"/>
            <a:endParaRPr lang="en-US" dirty="0"/>
          </a:p>
          <a:p>
            <a:pPr lvl="1"/>
            <a:r>
              <a:rPr lang="en-US" dirty="0"/>
              <a:t>Generate an ER diagram.</a:t>
            </a:r>
          </a:p>
          <a:p>
            <a:pPr lvl="1"/>
            <a:endParaRPr lang="en-US" dirty="0"/>
          </a:p>
          <a:p>
            <a:pPr lvl="1"/>
            <a:r>
              <a:rPr lang="en-US" dirty="0"/>
              <a:t>Point out interesting relationships.</a:t>
            </a:r>
            <a:endParaRPr lang="en-GB" dirty="0"/>
          </a:p>
        </p:txBody>
      </p:sp>
    </p:spTree>
    <p:extLst>
      <p:ext uri="{BB962C8B-B14F-4D97-AF65-F5344CB8AC3E}">
        <p14:creationId xmlns:p14="http://schemas.microsoft.com/office/powerpoint/2010/main" val="588939420"/>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BA9CA-3BCF-F081-8FED-80DAB305ED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C7584-9AB8-6190-353A-02FC1BFC13FB}"/>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5E1F9575-4B1B-2F16-E83E-1E6253124FCC}"/>
              </a:ext>
            </a:extLst>
          </p:cNvPr>
          <p:cNvSpPr>
            <a:spLocks noGrp="1"/>
          </p:cNvSpPr>
          <p:nvPr>
            <p:ph idx="1"/>
          </p:nvPr>
        </p:nvSpPr>
        <p:spPr/>
        <p:txBody>
          <a:bodyPr>
            <a:normAutofit fontScale="77500" lnSpcReduction="20000"/>
          </a:bodyPr>
          <a:lstStyle/>
          <a:p>
            <a:r>
              <a:rPr lang="en-GB" dirty="0"/>
              <a:t>REST API discovery</a:t>
            </a:r>
          </a:p>
          <a:p>
            <a:pPr lvl="1"/>
            <a:r>
              <a:rPr lang="en-US" dirty="0"/>
              <a:t>Create a table containing</a:t>
            </a:r>
          </a:p>
          <a:p>
            <a:pPr lvl="1"/>
            <a:endParaRPr lang="en-US" dirty="0"/>
          </a:p>
          <a:p>
            <a:pPr lvl="1"/>
            <a:r>
              <a:rPr lang="en-US" dirty="0"/>
              <a:t>Endpoint</a:t>
            </a:r>
          </a:p>
          <a:p>
            <a:pPr lvl="1"/>
            <a:endParaRPr lang="en-US" dirty="0"/>
          </a:p>
          <a:p>
            <a:pPr lvl="1"/>
            <a:r>
              <a:rPr lang="en-US" dirty="0"/>
              <a:t>HTTP Method</a:t>
            </a:r>
          </a:p>
          <a:p>
            <a:pPr lvl="1"/>
            <a:endParaRPr lang="en-US" dirty="0"/>
          </a:p>
          <a:p>
            <a:pPr lvl="1"/>
            <a:r>
              <a:rPr lang="en-US" dirty="0"/>
              <a:t>Controller</a:t>
            </a:r>
          </a:p>
          <a:p>
            <a:pPr lvl="1"/>
            <a:endParaRPr lang="en-US" dirty="0"/>
          </a:p>
          <a:p>
            <a:pPr lvl="1"/>
            <a:r>
              <a:rPr lang="en-US" dirty="0"/>
              <a:t>Service</a:t>
            </a:r>
          </a:p>
          <a:p>
            <a:pPr lvl="1"/>
            <a:endParaRPr lang="en-US" dirty="0"/>
          </a:p>
          <a:p>
            <a:pPr lvl="1"/>
            <a:r>
              <a:rPr lang="en-US" dirty="0"/>
              <a:t>Main Entity</a:t>
            </a:r>
          </a:p>
          <a:p>
            <a:pPr lvl="1"/>
            <a:endParaRPr lang="en-US" dirty="0"/>
          </a:p>
          <a:p>
            <a:pPr lvl="1"/>
            <a:r>
              <a:rPr lang="en-US" dirty="0"/>
              <a:t>Authentication Required</a:t>
            </a:r>
          </a:p>
          <a:p>
            <a:pPr lvl="1"/>
            <a:endParaRPr lang="en-US" dirty="0"/>
          </a:p>
          <a:p>
            <a:pPr lvl="1"/>
            <a:r>
              <a:rPr lang="en-US" dirty="0"/>
              <a:t>Purpose</a:t>
            </a:r>
            <a:endParaRPr lang="en-GB" dirty="0"/>
          </a:p>
        </p:txBody>
      </p:sp>
    </p:spTree>
    <p:extLst>
      <p:ext uri="{BB962C8B-B14F-4D97-AF65-F5344CB8AC3E}">
        <p14:creationId xmlns:p14="http://schemas.microsoft.com/office/powerpoint/2010/main" val="2317631370"/>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E4C5D-4C02-6BF7-3C9C-18CC9E7EA8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8C8EF7-BAB0-960A-4687-A6F5197AC9A1}"/>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E281BDA3-9148-ED09-E2FC-758E78CF5914}"/>
              </a:ext>
            </a:extLst>
          </p:cNvPr>
          <p:cNvSpPr>
            <a:spLocks noGrp="1"/>
          </p:cNvSpPr>
          <p:nvPr>
            <p:ph idx="1"/>
          </p:nvPr>
        </p:nvSpPr>
        <p:spPr/>
        <p:txBody>
          <a:bodyPr>
            <a:normAutofit fontScale="77500" lnSpcReduction="20000"/>
          </a:bodyPr>
          <a:lstStyle/>
          <a:p>
            <a:r>
              <a:rPr lang="en-GB" dirty="0"/>
              <a:t>Spring Boot analysis</a:t>
            </a:r>
          </a:p>
          <a:p>
            <a:pPr lvl="1"/>
            <a:r>
              <a:rPr lang="en-US" dirty="0"/>
              <a:t>Find all</a:t>
            </a:r>
          </a:p>
          <a:p>
            <a:pPr lvl="1"/>
            <a:endParaRPr lang="en-US" dirty="0"/>
          </a:p>
          <a:p>
            <a:pPr lvl="1"/>
            <a:r>
              <a:rPr lang="en-US" dirty="0"/>
              <a:t>@Configuration</a:t>
            </a:r>
          </a:p>
          <a:p>
            <a:pPr lvl="1"/>
            <a:endParaRPr lang="en-US" dirty="0"/>
          </a:p>
          <a:p>
            <a:pPr lvl="1"/>
            <a:r>
              <a:rPr lang="en-US" dirty="0"/>
              <a:t>@Component</a:t>
            </a:r>
          </a:p>
          <a:p>
            <a:pPr lvl="1"/>
            <a:endParaRPr lang="en-US" dirty="0"/>
          </a:p>
          <a:p>
            <a:pPr lvl="1"/>
            <a:r>
              <a:rPr lang="en-US" dirty="0"/>
              <a:t>@Service</a:t>
            </a:r>
          </a:p>
          <a:p>
            <a:pPr lvl="1"/>
            <a:endParaRPr lang="en-US" dirty="0"/>
          </a:p>
          <a:p>
            <a:pPr lvl="1"/>
            <a:r>
              <a:rPr lang="en-US" dirty="0"/>
              <a:t>@Repository</a:t>
            </a:r>
          </a:p>
          <a:p>
            <a:pPr lvl="1"/>
            <a:endParaRPr lang="en-US" dirty="0"/>
          </a:p>
          <a:p>
            <a:pPr lvl="1"/>
            <a:r>
              <a:rPr lang="en-US" dirty="0"/>
              <a:t>@Controller</a:t>
            </a:r>
          </a:p>
          <a:p>
            <a:pPr lvl="1"/>
            <a:endParaRPr lang="en-US" dirty="0"/>
          </a:p>
          <a:p>
            <a:pPr lvl="1"/>
            <a:r>
              <a:rPr lang="en-US" dirty="0"/>
              <a:t>@RestController</a:t>
            </a:r>
          </a:p>
          <a:p>
            <a:pPr lvl="1"/>
            <a:endParaRPr lang="en-US" dirty="0"/>
          </a:p>
          <a:p>
            <a:pPr lvl="1"/>
            <a:r>
              <a:rPr lang="en-US" dirty="0"/>
              <a:t>Explain how Spring wires everything together.</a:t>
            </a:r>
            <a:endParaRPr lang="en-GB" dirty="0"/>
          </a:p>
        </p:txBody>
      </p:sp>
    </p:spTree>
    <p:extLst>
      <p:ext uri="{BB962C8B-B14F-4D97-AF65-F5344CB8AC3E}">
        <p14:creationId xmlns:p14="http://schemas.microsoft.com/office/powerpoint/2010/main" val="386580375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6B04C-1270-4A64-B0BD-08E80B40C2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C1EC3C-8CA1-DDB5-F8F9-EC95B2DB2097}"/>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26CFD4A7-91F6-782A-AD74-4C50EC4FB2AC}"/>
              </a:ext>
            </a:extLst>
          </p:cNvPr>
          <p:cNvSpPr>
            <a:spLocks noGrp="1"/>
          </p:cNvSpPr>
          <p:nvPr>
            <p:ph idx="1"/>
          </p:nvPr>
        </p:nvSpPr>
        <p:spPr/>
        <p:txBody>
          <a:bodyPr>
            <a:normAutofit fontScale="92500" lnSpcReduction="10000"/>
          </a:bodyPr>
          <a:lstStyle/>
          <a:p>
            <a:r>
              <a:rPr lang="en-GB" dirty="0"/>
              <a:t>Refactoring applications</a:t>
            </a:r>
          </a:p>
          <a:p>
            <a:pPr lvl="1"/>
            <a:r>
              <a:rPr lang="en-US" dirty="0"/>
              <a:t>Choose one package that would benefit most from refactoring.</a:t>
            </a:r>
          </a:p>
          <a:p>
            <a:pPr lvl="1"/>
            <a:endParaRPr lang="en-US" dirty="0"/>
          </a:p>
          <a:p>
            <a:pPr lvl="1"/>
            <a:r>
              <a:rPr lang="en-US" dirty="0"/>
              <a:t>Explain</a:t>
            </a:r>
          </a:p>
          <a:p>
            <a:pPr lvl="1"/>
            <a:endParaRPr lang="en-US" dirty="0"/>
          </a:p>
          <a:p>
            <a:pPr lvl="1"/>
            <a:r>
              <a:rPr lang="en-US" dirty="0"/>
              <a:t>- current issues</a:t>
            </a:r>
          </a:p>
          <a:p>
            <a:pPr lvl="1"/>
            <a:endParaRPr lang="en-US" dirty="0"/>
          </a:p>
          <a:p>
            <a:pPr lvl="1"/>
            <a:r>
              <a:rPr lang="en-US" dirty="0"/>
              <a:t>- proposed design</a:t>
            </a:r>
          </a:p>
          <a:p>
            <a:pPr lvl="1"/>
            <a:endParaRPr lang="en-US" dirty="0"/>
          </a:p>
          <a:p>
            <a:pPr lvl="1"/>
            <a:r>
              <a:rPr lang="en-US" dirty="0"/>
              <a:t>- expected benefits</a:t>
            </a:r>
          </a:p>
          <a:p>
            <a:pPr lvl="1"/>
            <a:endParaRPr lang="en-US" dirty="0"/>
          </a:p>
          <a:p>
            <a:pPr lvl="1"/>
            <a:r>
              <a:rPr lang="en-US" dirty="0"/>
              <a:t>Generate the refactored code.</a:t>
            </a:r>
            <a:endParaRPr lang="en-GB" dirty="0"/>
          </a:p>
        </p:txBody>
      </p:sp>
    </p:spTree>
    <p:extLst>
      <p:ext uri="{BB962C8B-B14F-4D97-AF65-F5344CB8AC3E}">
        <p14:creationId xmlns:p14="http://schemas.microsoft.com/office/powerpoint/2010/main" val="139636553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8D9A2-DFF7-1730-F364-7DFF130B78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862E4D-D100-A675-3122-F2627F434990}"/>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6415F820-807F-3635-656C-9AB35CD1B10D}"/>
              </a:ext>
            </a:extLst>
          </p:cNvPr>
          <p:cNvSpPr>
            <a:spLocks noGrp="1"/>
          </p:cNvSpPr>
          <p:nvPr>
            <p:ph idx="1"/>
          </p:nvPr>
        </p:nvSpPr>
        <p:spPr/>
        <p:txBody>
          <a:bodyPr>
            <a:normAutofit fontScale="55000" lnSpcReduction="20000"/>
          </a:bodyPr>
          <a:lstStyle/>
          <a:p>
            <a:r>
              <a:rPr lang="en-GB" dirty="0"/>
              <a:t>Generate documentation</a:t>
            </a:r>
          </a:p>
          <a:p>
            <a:pPr lvl="1"/>
            <a:r>
              <a:rPr lang="en-US" dirty="0"/>
              <a:t>Generate developer documentation for this repository.</a:t>
            </a:r>
          </a:p>
          <a:p>
            <a:pPr lvl="1"/>
            <a:endParaRPr lang="en-US" dirty="0"/>
          </a:p>
          <a:p>
            <a:pPr lvl="1"/>
            <a:r>
              <a:rPr lang="en-US" dirty="0"/>
              <a:t>Include</a:t>
            </a:r>
          </a:p>
          <a:p>
            <a:pPr lvl="1"/>
            <a:endParaRPr lang="en-US" dirty="0"/>
          </a:p>
          <a:p>
            <a:pPr lvl="1"/>
            <a:r>
              <a:rPr lang="en-US" dirty="0"/>
              <a:t>Architecture</a:t>
            </a:r>
          </a:p>
          <a:p>
            <a:pPr lvl="1"/>
            <a:endParaRPr lang="en-US" dirty="0"/>
          </a:p>
          <a:p>
            <a:pPr lvl="1"/>
            <a:r>
              <a:rPr lang="en-US" dirty="0"/>
              <a:t>Modules</a:t>
            </a:r>
          </a:p>
          <a:p>
            <a:pPr lvl="1"/>
            <a:endParaRPr lang="en-US" dirty="0"/>
          </a:p>
          <a:p>
            <a:pPr lvl="1"/>
            <a:r>
              <a:rPr lang="en-US" dirty="0"/>
              <a:t>Package layout</a:t>
            </a:r>
          </a:p>
          <a:p>
            <a:pPr lvl="1"/>
            <a:endParaRPr lang="en-US" dirty="0"/>
          </a:p>
          <a:p>
            <a:pPr lvl="1"/>
            <a:r>
              <a:rPr lang="en-US" dirty="0"/>
              <a:t>Build process</a:t>
            </a:r>
          </a:p>
          <a:p>
            <a:pPr lvl="1"/>
            <a:endParaRPr lang="en-US" dirty="0"/>
          </a:p>
          <a:p>
            <a:pPr lvl="1"/>
            <a:r>
              <a:rPr lang="en-US" dirty="0"/>
              <a:t>Deployment</a:t>
            </a:r>
          </a:p>
          <a:p>
            <a:pPr lvl="1"/>
            <a:endParaRPr lang="en-US" dirty="0"/>
          </a:p>
          <a:p>
            <a:pPr lvl="1"/>
            <a:r>
              <a:rPr lang="en-US" dirty="0"/>
              <a:t>Coding conventions</a:t>
            </a:r>
          </a:p>
          <a:p>
            <a:pPr lvl="1"/>
            <a:endParaRPr lang="en-US" dirty="0"/>
          </a:p>
          <a:p>
            <a:pPr lvl="1"/>
            <a:r>
              <a:rPr lang="en-US" dirty="0"/>
              <a:t>Important workflows</a:t>
            </a:r>
          </a:p>
          <a:p>
            <a:pPr lvl="1"/>
            <a:endParaRPr lang="en-US" dirty="0"/>
          </a:p>
          <a:p>
            <a:pPr lvl="1"/>
            <a:r>
              <a:rPr lang="en-US" dirty="0"/>
              <a:t>Keep it suitable for a README.</a:t>
            </a:r>
            <a:endParaRPr lang="en-GB" dirty="0"/>
          </a:p>
        </p:txBody>
      </p:sp>
    </p:spTree>
    <p:extLst>
      <p:ext uri="{BB962C8B-B14F-4D97-AF65-F5344CB8AC3E}">
        <p14:creationId xmlns:p14="http://schemas.microsoft.com/office/powerpoint/2010/main" val="398957392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DEFC1-4960-C003-F6A2-B7E808B2E4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73E5F-0730-A52C-6830-458662FEE3EE}"/>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7ACFDD89-5289-4C28-6088-B5286AD77CB4}"/>
              </a:ext>
            </a:extLst>
          </p:cNvPr>
          <p:cNvSpPr>
            <a:spLocks noGrp="1"/>
          </p:cNvSpPr>
          <p:nvPr>
            <p:ph idx="1"/>
          </p:nvPr>
        </p:nvSpPr>
        <p:spPr/>
        <p:txBody>
          <a:bodyPr>
            <a:normAutofit fontScale="92500" lnSpcReduction="10000"/>
          </a:bodyPr>
          <a:lstStyle/>
          <a:p>
            <a:r>
              <a:rPr lang="en-GB" dirty="0"/>
              <a:t>Find “good issues”</a:t>
            </a:r>
          </a:p>
          <a:p>
            <a:pPr lvl="1"/>
            <a:r>
              <a:rPr lang="en-US" dirty="0"/>
              <a:t>Suggest ten good first issues for a junior developer.</a:t>
            </a:r>
          </a:p>
          <a:p>
            <a:pPr lvl="1"/>
            <a:endParaRPr lang="en-US" dirty="0"/>
          </a:p>
          <a:p>
            <a:pPr lvl="1"/>
            <a:r>
              <a:rPr lang="en-US" dirty="0"/>
              <a:t>Each should</a:t>
            </a:r>
          </a:p>
          <a:p>
            <a:pPr lvl="1"/>
            <a:endParaRPr lang="en-US" dirty="0"/>
          </a:p>
          <a:p>
            <a:pPr lvl="1"/>
            <a:r>
              <a:rPr lang="en-US" dirty="0"/>
              <a:t>- take under one day</a:t>
            </a:r>
          </a:p>
          <a:p>
            <a:pPr lvl="1"/>
            <a:endParaRPr lang="en-US" dirty="0"/>
          </a:p>
          <a:p>
            <a:pPr lvl="1"/>
            <a:r>
              <a:rPr lang="en-US" dirty="0"/>
              <a:t>- improve the code</a:t>
            </a:r>
          </a:p>
          <a:p>
            <a:pPr lvl="1"/>
            <a:endParaRPr lang="en-US" dirty="0"/>
          </a:p>
          <a:p>
            <a:pPr lvl="1"/>
            <a:r>
              <a:rPr lang="en-US" dirty="0"/>
              <a:t>- have low risk</a:t>
            </a:r>
          </a:p>
          <a:p>
            <a:pPr lvl="1"/>
            <a:endParaRPr lang="en-US" dirty="0"/>
          </a:p>
          <a:p>
            <a:pPr lvl="1"/>
            <a:r>
              <a:rPr lang="en-US" dirty="0"/>
              <a:t>Estimate difficulty.</a:t>
            </a:r>
            <a:endParaRPr lang="en-GB" dirty="0"/>
          </a:p>
        </p:txBody>
      </p:sp>
    </p:spTree>
    <p:extLst>
      <p:ext uri="{BB962C8B-B14F-4D97-AF65-F5344CB8AC3E}">
        <p14:creationId xmlns:p14="http://schemas.microsoft.com/office/powerpoint/2010/main" val="2718579584"/>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6199D-C3F1-DE38-1413-816E132564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4322FA-CDD2-A970-0459-643614EC3254}"/>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A017760C-88FF-449B-4169-37182A783E90}"/>
              </a:ext>
            </a:extLst>
          </p:cNvPr>
          <p:cNvSpPr>
            <a:spLocks noGrp="1"/>
          </p:cNvSpPr>
          <p:nvPr>
            <p:ph idx="1"/>
          </p:nvPr>
        </p:nvSpPr>
        <p:spPr/>
        <p:txBody>
          <a:bodyPr>
            <a:normAutofit fontScale="55000" lnSpcReduction="20000"/>
          </a:bodyPr>
          <a:lstStyle/>
          <a:p>
            <a:r>
              <a:rPr lang="en-GB" dirty="0"/>
              <a:t>Code quality scoring</a:t>
            </a:r>
          </a:p>
          <a:p>
            <a:pPr lvl="1"/>
            <a:r>
              <a:rPr lang="en-US" dirty="0"/>
              <a:t>Pretend you're performing a code review before an acquisition.</a:t>
            </a:r>
          </a:p>
          <a:p>
            <a:pPr lvl="1"/>
            <a:endParaRPr lang="en-US" dirty="0"/>
          </a:p>
          <a:p>
            <a:pPr lvl="1"/>
            <a:r>
              <a:rPr lang="en-US" dirty="0"/>
              <a:t>Score</a:t>
            </a:r>
          </a:p>
          <a:p>
            <a:pPr lvl="1"/>
            <a:endParaRPr lang="en-US" dirty="0"/>
          </a:p>
          <a:p>
            <a:pPr lvl="1"/>
            <a:r>
              <a:rPr lang="en-US" dirty="0"/>
              <a:t>Architecture</a:t>
            </a:r>
          </a:p>
          <a:p>
            <a:pPr lvl="1"/>
            <a:endParaRPr lang="en-US" dirty="0"/>
          </a:p>
          <a:p>
            <a:pPr lvl="1"/>
            <a:r>
              <a:rPr lang="en-US" dirty="0"/>
              <a:t>Maintainability</a:t>
            </a:r>
          </a:p>
          <a:p>
            <a:pPr lvl="1"/>
            <a:endParaRPr lang="en-US" dirty="0"/>
          </a:p>
          <a:p>
            <a:pPr lvl="1"/>
            <a:r>
              <a:rPr lang="en-US" dirty="0"/>
              <a:t>Readability</a:t>
            </a:r>
          </a:p>
          <a:p>
            <a:pPr lvl="1"/>
            <a:endParaRPr lang="en-US" dirty="0"/>
          </a:p>
          <a:p>
            <a:pPr lvl="1"/>
            <a:r>
              <a:rPr lang="en-US" dirty="0"/>
              <a:t>Testability</a:t>
            </a:r>
          </a:p>
          <a:p>
            <a:pPr lvl="1"/>
            <a:endParaRPr lang="en-US" dirty="0"/>
          </a:p>
          <a:p>
            <a:pPr lvl="1"/>
            <a:r>
              <a:rPr lang="en-US" dirty="0"/>
              <a:t>Security</a:t>
            </a:r>
          </a:p>
          <a:p>
            <a:pPr lvl="1"/>
            <a:endParaRPr lang="en-US" dirty="0"/>
          </a:p>
          <a:p>
            <a:pPr lvl="1"/>
            <a:r>
              <a:rPr lang="en-US" dirty="0"/>
              <a:t>Documentation</a:t>
            </a:r>
          </a:p>
          <a:p>
            <a:pPr lvl="1"/>
            <a:endParaRPr lang="en-US" dirty="0"/>
          </a:p>
          <a:p>
            <a:pPr lvl="1"/>
            <a:r>
              <a:rPr lang="en-US" dirty="0"/>
              <a:t>Performance</a:t>
            </a:r>
          </a:p>
          <a:p>
            <a:pPr lvl="1"/>
            <a:endParaRPr lang="en-US" dirty="0"/>
          </a:p>
          <a:p>
            <a:pPr lvl="1"/>
            <a:r>
              <a:rPr lang="en-US" dirty="0"/>
              <a:t>Explain every score.</a:t>
            </a:r>
            <a:endParaRPr lang="en-GB" dirty="0"/>
          </a:p>
        </p:txBody>
      </p:sp>
    </p:spTree>
    <p:extLst>
      <p:ext uri="{BB962C8B-B14F-4D97-AF65-F5344CB8AC3E}">
        <p14:creationId xmlns:p14="http://schemas.microsoft.com/office/powerpoint/2010/main" val="307311459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97580-F5CF-16BC-28FC-64DDD34970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00543-805E-0D2A-F438-4092B0239E9C}"/>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024EA489-42DD-4C75-06E1-C884F7102AE3}"/>
              </a:ext>
            </a:extLst>
          </p:cNvPr>
          <p:cNvSpPr>
            <a:spLocks noGrp="1"/>
          </p:cNvSpPr>
          <p:nvPr>
            <p:ph idx="1"/>
          </p:nvPr>
        </p:nvSpPr>
        <p:spPr/>
        <p:txBody>
          <a:bodyPr>
            <a:normAutofit fontScale="62500" lnSpcReduction="20000"/>
          </a:bodyPr>
          <a:lstStyle/>
          <a:p>
            <a:r>
              <a:rPr lang="en-GB" dirty="0"/>
              <a:t>Add a realistic feature</a:t>
            </a:r>
          </a:p>
          <a:p>
            <a:pPr lvl="1"/>
            <a:r>
              <a:rPr lang="en-US" dirty="0"/>
              <a:t>Implement a </a:t>
            </a:r>
            <a:r>
              <a:rPr lang="en-US" dirty="0" err="1"/>
              <a:t>wishlist</a:t>
            </a:r>
            <a:r>
              <a:rPr lang="en-US" dirty="0"/>
              <a:t> feature.</a:t>
            </a:r>
          </a:p>
          <a:p>
            <a:pPr lvl="1"/>
            <a:endParaRPr lang="en-US" dirty="0"/>
          </a:p>
          <a:p>
            <a:pPr lvl="1"/>
            <a:r>
              <a:rPr lang="en-US" dirty="0"/>
              <a:t>Think before coding.</a:t>
            </a:r>
          </a:p>
          <a:p>
            <a:pPr lvl="1"/>
            <a:endParaRPr lang="en-US" dirty="0"/>
          </a:p>
          <a:p>
            <a:pPr lvl="1"/>
            <a:r>
              <a:rPr lang="en-US" dirty="0"/>
              <a:t>First produce</a:t>
            </a:r>
          </a:p>
          <a:p>
            <a:pPr lvl="1"/>
            <a:endParaRPr lang="en-US" dirty="0"/>
          </a:p>
          <a:p>
            <a:pPr lvl="1"/>
            <a:r>
              <a:rPr lang="en-US" dirty="0"/>
              <a:t>- affected modules</a:t>
            </a:r>
          </a:p>
          <a:p>
            <a:pPr lvl="1"/>
            <a:endParaRPr lang="en-US" dirty="0"/>
          </a:p>
          <a:p>
            <a:pPr lvl="1"/>
            <a:r>
              <a:rPr lang="en-US" dirty="0"/>
              <a:t>- classes to modify</a:t>
            </a:r>
          </a:p>
          <a:p>
            <a:pPr lvl="1"/>
            <a:endParaRPr lang="en-US" dirty="0"/>
          </a:p>
          <a:p>
            <a:pPr lvl="1"/>
            <a:r>
              <a:rPr lang="en-US" dirty="0"/>
              <a:t>- database changes</a:t>
            </a:r>
          </a:p>
          <a:p>
            <a:pPr lvl="1"/>
            <a:endParaRPr lang="en-US" dirty="0"/>
          </a:p>
          <a:p>
            <a:pPr lvl="1"/>
            <a:r>
              <a:rPr lang="en-US" dirty="0"/>
              <a:t>- REST endpoints</a:t>
            </a:r>
          </a:p>
          <a:p>
            <a:pPr lvl="1"/>
            <a:endParaRPr lang="en-US" dirty="0"/>
          </a:p>
          <a:p>
            <a:pPr lvl="1"/>
            <a:r>
              <a:rPr lang="en-US" dirty="0"/>
              <a:t>- UI changes</a:t>
            </a:r>
          </a:p>
          <a:p>
            <a:pPr lvl="1"/>
            <a:endParaRPr lang="en-US" dirty="0"/>
          </a:p>
          <a:p>
            <a:pPr lvl="1"/>
            <a:r>
              <a:rPr lang="en-US" dirty="0"/>
              <a:t>Only after approval should you write code.</a:t>
            </a:r>
            <a:endParaRPr lang="en-GB" dirty="0"/>
          </a:p>
        </p:txBody>
      </p:sp>
    </p:spTree>
    <p:extLst>
      <p:ext uri="{BB962C8B-B14F-4D97-AF65-F5344CB8AC3E}">
        <p14:creationId xmlns:p14="http://schemas.microsoft.com/office/powerpoint/2010/main" val="61771208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2C73C-19CF-1534-0679-1256ACCE36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D891FD-272B-0962-BB9C-8DE6F74A0C71}"/>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FF08FA0C-6A62-7725-3A76-6BE9C43FBA42}"/>
              </a:ext>
            </a:extLst>
          </p:cNvPr>
          <p:cNvSpPr>
            <a:spLocks noGrp="1"/>
          </p:cNvSpPr>
          <p:nvPr>
            <p:ph idx="1"/>
          </p:nvPr>
        </p:nvSpPr>
        <p:spPr/>
        <p:txBody>
          <a:bodyPr>
            <a:normAutofit/>
          </a:bodyPr>
          <a:lstStyle/>
          <a:p>
            <a:r>
              <a:rPr lang="en-GB" dirty="0"/>
              <a:t>Generate tests</a:t>
            </a:r>
          </a:p>
          <a:p>
            <a:pPr lvl="1"/>
            <a:r>
              <a:rPr lang="en-US" dirty="0"/>
              <a:t>Find classes with poor test coverage.</a:t>
            </a:r>
          </a:p>
          <a:p>
            <a:pPr lvl="1"/>
            <a:endParaRPr lang="en-US" dirty="0"/>
          </a:p>
          <a:p>
            <a:pPr lvl="1"/>
            <a:r>
              <a:rPr lang="en-US" dirty="0"/>
              <a:t>Generate high-value JUnit tests.</a:t>
            </a:r>
          </a:p>
          <a:p>
            <a:pPr lvl="1"/>
            <a:endParaRPr lang="en-US" dirty="0"/>
          </a:p>
          <a:p>
            <a:pPr lvl="1"/>
            <a:r>
              <a:rPr lang="en-US" dirty="0"/>
              <a:t>Explain why you selected those classes.</a:t>
            </a:r>
            <a:endParaRPr lang="en-GB" dirty="0"/>
          </a:p>
        </p:txBody>
      </p:sp>
    </p:spTree>
    <p:extLst>
      <p:ext uri="{BB962C8B-B14F-4D97-AF65-F5344CB8AC3E}">
        <p14:creationId xmlns:p14="http://schemas.microsoft.com/office/powerpoint/2010/main" val="11546358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B9678-49CA-0223-544E-C0A01ABDD0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1346DB-5AD8-C588-17DB-E02BF842B6FB}"/>
              </a:ext>
            </a:extLst>
          </p:cNvPr>
          <p:cNvSpPr>
            <a:spLocks noGrp="1"/>
          </p:cNvSpPr>
          <p:nvPr>
            <p:ph type="title"/>
          </p:nvPr>
        </p:nvSpPr>
        <p:spPr/>
        <p:txBody>
          <a:bodyPr/>
          <a:lstStyle/>
          <a:p>
            <a:r>
              <a:rPr lang="en-IN" dirty="0"/>
              <a:t>Project 9: </a:t>
            </a:r>
            <a:r>
              <a:rPr lang="en-IN" dirty="0" err="1"/>
              <a:t>Shopizer</a:t>
            </a:r>
            <a:r>
              <a:rPr lang="en-IN" dirty="0"/>
              <a:t> (Open Source E-commerce Software)</a:t>
            </a:r>
            <a:endParaRPr lang="en-GB" dirty="0"/>
          </a:p>
        </p:txBody>
      </p:sp>
      <p:sp>
        <p:nvSpPr>
          <p:cNvPr id="3" name="Content Placeholder 2">
            <a:extLst>
              <a:ext uri="{FF2B5EF4-FFF2-40B4-BE49-F238E27FC236}">
                <a16:creationId xmlns:a16="http://schemas.microsoft.com/office/drawing/2014/main" id="{45D0AAE1-6054-0F57-24F8-7FB90762834F}"/>
              </a:ext>
            </a:extLst>
          </p:cNvPr>
          <p:cNvSpPr>
            <a:spLocks noGrp="1"/>
          </p:cNvSpPr>
          <p:nvPr>
            <p:ph idx="1"/>
          </p:nvPr>
        </p:nvSpPr>
        <p:spPr/>
        <p:txBody>
          <a:bodyPr>
            <a:normAutofit fontScale="25000" lnSpcReduction="20000"/>
          </a:bodyPr>
          <a:lstStyle/>
          <a:p>
            <a:r>
              <a:rPr lang="en-US" dirty="0"/>
              <a:t>Imagine you're replacing the original lead architect.</a:t>
            </a:r>
          </a:p>
          <a:p>
            <a:endParaRPr lang="en-US" dirty="0"/>
          </a:p>
          <a:p>
            <a:r>
              <a:rPr lang="en-US" dirty="0"/>
              <a:t>You have 30 minutes to understand this repository.</a:t>
            </a:r>
          </a:p>
          <a:p>
            <a:endParaRPr lang="en-US" dirty="0"/>
          </a:p>
          <a:p>
            <a:r>
              <a:rPr lang="en-US" dirty="0"/>
              <a:t>Prepare a presentation for the CTO covering</a:t>
            </a:r>
          </a:p>
          <a:p>
            <a:endParaRPr lang="en-US" dirty="0"/>
          </a:p>
          <a:p>
            <a:r>
              <a:rPr lang="en-US" dirty="0"/>
              <a:t>- architecture</a:t>
            </a:r>
          </a:p>
          <a:p>
            <a:endParaRPr lang="en-US" dirty="0"/>
          </a:p>
          <a:p>
            <a:r>
              <a:rPr lang="en-US" dirty="0"/>
              <a:t>- strengths</a:t>
            </a:r>
          </a:p>
          <a:p>
            <a:endParaRPr lang="en-US" dirty="0"/>
          </a:p>
          <a:p>
            <a:r>
              <a:rPr lang="en-US" dirty="0"/>
              <a:t>- weaknesses</a:t>
            </a:r>
          </a:p>
          <a:p>
            <a:endParaRPr lang="en-US" dirty="0"/>
          </a:p>
          <a:p>
            <a:r>
              <a:rPr lang="en-US" dirty="0"/>
              <a:t>- technical debt</a:t>
            </a:r>
          </a:p>
          <a:p>
            <a:endParaRPr lang="en-US" dirty="0"/>
          </a:p>
          <a:p>
            <a:r>
              <a:rPr lang="en-US" dirty="0"/>
              <a:t>- scalability</a:t>
            </a:r>
          </a:p>
          <a:p>
            <a:endParaRPr lang="en-US" dirty="0"/>
          </a:p>
          <a:p>
            <a:r>
              <a:rPr lang="en-US" dirty="0"/>
              <a:t>- security</a:t>
            </a:r>
          </a:p>
          <a:p>
            <a:endParaRPr lang="en-US" dirty="0"/>
          </a:p>
          <a:p>
            <a:r>
              <a:rPr lang="en-US" dirty="0"/>
              <a:t>- maintainability</a:t>
            </a:r>
          </a:p>
          <a:p>
            <a:endParaRPr lang="en-US" dirty="0"/>
          </a:p>
          <a:p>
            <a:r>
              <a:rPr lang="en-US" dirty="0"/>
              <a:t>- estimated development maturity</a:t>
            </a:r>
          </a:p>
          <a:p>
            <a:endParaRPr lang="en-US" dirty="0"/>
          </a:p>
          <a:p>
            <a:r>
              <a:rPr lang="en-US" dirty="0"/>
              <a:t>Conclude with your top ten recommendations.</a:t>
            </a:r>
            <a:endParaRPr lang="en-GB" dirty="0"/>
          </a:p>
        </p:txBody>
      </p:sp>
    </p:spTree>
    <p:extLst>
      <p:ext uri="{BB962C8B-B14F-4D97-AF65-F5344CB8AC3E}">
        <p14:creationId xmlns:p14="http://schemas.microsoft.com/office/powerpoint/2010/main" val="411576691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5F806A-5799-FEE2-2A19-BC30D5F6BD99}"/>
              </a:ext>
            </a:extLst>
          </p:cNvPr>
          <p:cNvSpPr>
            <a:spLocks noGrp="1"/>
          </p:cNvSpPr>
          <p:nvPr>
            <p:ph type="title"/>
          </p:nvPr>
        </p:nvSpPr>
        <p:spPr/>
        <p:txBody>
          <a:bodyPr>
            <a:noAutofit/>
          </a:bodyPr>
          <a:lstStyle/>
          <a:p>
            <a:r>
              <a:rPr lang="en-IN" sz="3600" dirty="0"/>
              <a:t>Project 10: Customer Churn Prediction (Machine Learning)</a:t>
            </a:r>
            <a:br>
              <a:rPr lang="en-IN" sz="3600" dirty="0"/>
            </a:br>
            <a:r>
              <a:rPr lang="en-IN" sz="3600" dirty="0"/>
              <a:t>Step 1: Create a New Project</a:t>
            </a:r>
            <a:endParaRPr lang="en-GB" sz="3600" dirty="0"/>
          </a:p>
        </p:txBody>
      </p:sp>
      <p:sp>
        <p:nvSpPr>
          <p:cNvPr id="3" name="Content Placeholder 2">
            <a:extLst>
              <a:ext uri="{FF2B5EF4-FFF2-40B4-BE49-F238E27FC236}">
                <a16:creationId xmlns:a16="http://schemas.microsoft.com/office/drawing/2014/main" id="{3929CDF3-BA7F-492D-897C-D12135D4DF0A}"/>
              </a:ext>
            </a:extLst>
          </p:cNvPr>
          <p:cNvSpPr>
            <a:spLocks noGrp="1"/>
          </p:cNvSpPr>
          <p:nvPr>
            <p:ph idx="1"/>
          </p:nvPr>
        </p:nvSpPr>
        <p:spPr/>
        <p:txBody>
          <a:bodyPr/>
          <a:lstStyle/>
          <a:p>
            <a:r>
              <a:rPr lang="en-US" dirty="0" err="1"/>
              <a:t>mkdir</a:t>
            </a:r>
            <a:r>
              <a:rPr lang="en-US" dirty="0"/>
              <a:t> customer-churn</a:t>
            </a:r>
          </a:p>
          <a:p>
            <a:r>
              <a:rPr lang="en-US" dirty="0"/>
              <a:t>cd customer-churn</a:t>
            </a:r>
          </a:p>
          <a:p>
            <a:r>
              <a:rPr lang="en-US" dirty="0"/>
              <a:t>git </a:t>
            </a:r>
            <a:r>
              <a:rPr lang="en-US" dirty="0" err="1"/>
              <a:t>init</a:t>
            </a:r>
            <a:endParaRPr lang="en-US" dirty="0"/>
          </a:p>
          <a:p>
            <a:r>
              <a:rPr lang="en-US" dirty="0"/>
              <a:t>code .</a:t>
            </a:r>
          </a:p>
          <a:p>
            <a:r>
              <a:rPr lang="en-US" dirty="0"/>
              <a:t>Open terminal: </a:t>
            </a:r>
            <a:r>
              <a:rPr lang="en-US" dirty="0" err="1"/>
              <a:t>claude</a:t>
            </a:r>
            <a:endParaRPr lang="en-US" dirty="0"/>
          </a:p>
          <a:p>
            <a:r>
              <a:rPr lang="en-US" dirty="0"/>
              <a:t>/</a:t>
            </a:r>
            <a:r>
              <a:rPr lang="en-US" dirty="0" err="1"/>
              <a:t>init</a:t>
            </a:r>
            <a:r>
              <a:rPr lang="en-US" dirty="0"/>
              <a:t>					</a:t>
            </a:r>
            <a:r>
              <a:rPr lang="en-US" dirty="0">
                <a:sym typeface="Wingdings" panose="05000000000000000000" pitchFamily="2" charset="2"/>
              </a:rPr>
              <a:t>… Claude will scan the repository</a:t>
            </a:r>
            <a:endParaRPr lang="en-US" dirty="0"/>
          </a:p>
          <a:p>
            <a:endParaRPr lang="en-GB" dirty="0"/>
          </a:p>
        </p:txBody>
      </p:sp>
    </p:spTree>
    <p:extLst>
      <p:ext uri="{BB962C8B-B14F-4D97-AF65-F5344CB8AC3E}">
        <p14:creationId xmlns:p14="http://schemas.microsoft.com/office/powerpoint/2010/main" val="1387236120"/>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8E78A-526C-70D8-10D4-BD5A655EA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23F0D5-32D4-8432-0399-269B17D5FAE3}"/>
              </a:ext>
            </a:extLst>
          </p:cNvPr>
          <p:cNvSpPr>
            <a:spLocks noGrp="1"/>
          </p:cNvSpPr>
          <p:nvPr>
            <p:ph type="title"/>
          </p:nvPr>
        </p:nvSpPr>
        <p:spPr/>
        <p:txBody>
          <a:bodyPr/>
          <a:lstStyle/>
          <a:p>
            <a:r>
              <a:rPr lang="en-IN" dirty="0"/>
              <a:t>Step 2: Create CLAUDE.md</a:t>
            </a:r>
            <a:endParaRPr lang="en-GB" dirty="0"/>
          </a:p>
        </p:txBody>
      </p:sp>
      <p:sp>
        <p:nvSpPr>
          <p:cNvPr id="3" name="Content Placeholder 2">
            <a:extLst>
              <a:ext uri="{FF2B5EF4-FFF2-40B4-BE49-F238E27FC236}">
                <a16:creationId xmlns:a16="http://schemas.microsoft.com/office/drawing/2014/main" id="{6E5F275B-E48C-7E5D-9D30-D78908F3BA28}"/>
              </a:ext>
            </a:extLst>
          </p:cNvPr>
          <p:cNvSpPr>
            <a:spLocks noGrp="1"/>
          </p:cNvSpPr>
          <p:nvPr>
            <p:ph idx="1"/>
          </p:nvPr>
        </p:nvSpPr>
        <p:spPr/>
        <p:txBody>
          <a:bodyPr>
            <a:normAutofit fontScale="85000" lnSpcReduction="20000"/>
          </a:bodyPr>
          <a:lstStyle/>
          <a:p>
            <a:r>
              <a:rPr lang="en-IN" dirty="0"/>
              <a:t>Give this prompt to Claude</a:t>
            </a:r>
          </a:p>
          <a:p>
            <a:pPr lvl="1"/>
            <a:r>
              <a:rPr lang="en-GB" dirty="0"/>
              <a:t>Create a CLAUDE.md file for a customer churn prediction project.</a:t>
            </a:r>
          </a:p>
          <a:p>
            <a:pPr lvl="1"/>
            <a:endParaRPr lang="en-GB" dirty="0"/>
          </a:p>
          <a:p>
            <a:pPr lvl="1"/>
            <a:r>
              <a:rPr lang="en-GB" dirty="0"/>
              <a:t>Technology stack:</a:t>
            </a:r>
          </a:p>
          <a:p>
            <a:pPr lvl="1"/>
            <a:r>
              <a:rPr lang="en-GB" dirty="0"/>
              <a:t>- Python</a:t>
            </a:r>
          </a:p>
          <a:p>
            <a:pPr lvl="1"/>
            <a:r>
              <a:rPr lang="en-GB" dirty="0"/>
              <a:t>- pandas</a:t>
            </a:r>
          </a:p>
          <a:p>
            <a:pPr lvl="1"/>
            <a:r>
              <a:rPr lang="en-GB" dirty="0"/>
              <a:t>- scikit-learn</a:t>
            </a:r>
          </a:p>
          <a:p>
            <a:pPr lvl="1"/>
            <a:r>
              <a:rPr lang="en-GB" dirty="0"/>
              <a:t>- matplotlib</a:t>
            </a:r>
          </a:p>
          <a:p>
            <a:pPr lvl="1"/>
            <a:r>
              <a:rPr lang="en-GB" dirty="0"/>
              <a:t>- </a:t>
            </a:r>
            <a:r>
              <a:rPr lang="en-GB" dirty="0" err="1"/>
              <a:t>pytest</a:t>
            </a:r>
            <a:endParaRPr lang="en-GB" dirty="0"/>
          </a:p>
          <a:p>
            <a:pPr lvl="1"/>
            <a:endParaRPr lang="en-GB" dirty="0"/>
          </a:p>
          <a:p>
            <a:pPr lvl="1"/>
            <a:r>
              <a:rPr lang="en-GB" dirty="0"/>
              <a:t>Always:</a:t>
            </a:r>
          </a:p>
          <a:p>
            <a:pPr lvl="1"/>
            <a:r>
              <a:rPr lang="en-GB" dirty="0"/>
              <a:t>- write tests</a:t>
            </a:r>
          </a:p>
          <a:p>
            <a:pPr lvl="1"/>
            <a:r>
              <a:rPr lang="en-GB" dirty="0"/>
              <a:t>- update README</a:t>
            </a:r>
          </a:p>
          <a:p>
            <a:pPr lvl="1"/>
            <a:r>
              <a:rPr lang="en-GB" dirty="0"/>
              <a:t>- explain changes</a:t>
            </a:r>
          </a:p>
          <a:p>
            <a:pPr lvl="1"/>
            <a:r>
              <a:rPr lang="en-GB" dirty="0"/>
              <a:t>- keep code modular</a:t>
            </a:r>
          </a:p>
        </p:txBody>
      </p:sp>
    </p:spTree>
    <p:extLst>
      <p:ext uri="{BB962C8B-B14F-4D97-AF65-F5344CB8AC3E}">
        <p14:creationId xmlns:p14="http://schemas.microsoft.com/office/powerpoint/2010/main" val="5649954"/>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62779-DA1F-8D90-23F0-3F77BF61C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947489-B4A8-4B34-59FA-A88917A6E8A1}"/>
              </a:ext>
            </a:extLst>
          </p:cNvPr>
          <p:cNvSpPr>
            <a:spLocks noGrp="1"/>
          </p:cNvSpPr>
          <p:nvPr>
            <p:ph type="title"/>
          </p:nvPr>
        </p:nvSpPr>
        <p:spPr/>
        <p:txBody>
          <a:bodyPr/>
          <a:lstStyle/>
          <a:p>
            <a:r>
              <a:rPr lang="en-IN" dirty="0"/>
              <a:t>Step 3: Create Repository Structure</a:t>
            </a:r>
            <a:endParaRPr lang="en-GB" dirty="0"/>
          </a:p>
        </p:txBody>
      </p:sp>
      <p:sp>
        <p:nvSpPr>
          <p:cNvPr id="3" name="Content Placeholder 2">
            <a:extLst>
              <a:ext uri="{FF2B5EF4-FFF2-40B4-BE49-F238E27FC236}">
                <a16:creationId xmlns:a16="http://schemas.microsoft.com/office/drawing/2014/main" id="{6F9A1AC3-0800-D8E7-45ED-089B41C830F1}"/>
              </a:ext>
            </a:extLst>
          </p:cNvPr>
          <p:cNvSpPr>
            <a:spLocks noGrp="1"/>
          </p:cNvSpPr>
          <p:nvPr>
            <p:ph idx="1"/>
          </p:nvPr>
        </p:nvSpPr>
        <p:spPr/>
        <p:txBody>
          <a:bodyPr>
            <a:normAutofit/>
          </a:bodyPr>
          <a:lstStyle/>
          <a:p>
            <a:r>
              <a:rPr lang="en-IN" dirty="0"/>
              <a:t>Prompt</a:t>
            </a:r>
          </a:p>
          <a:p>
            <a:pPr marL="457200" lvl="1" indent="0">
              <a:buNone/>
            </a:pPr>
            <a:r>
              <a:rPr lang="en-IN" dirty="0"/>
              <a:t>Create a complete repository structure for a customer churn analytics platform.</a:t>
            </a:r>
          </a:p>
          <a:p>
            <a:pPr marL="457200" lvl="1" indent="0">
              <a:buNone/>
            </a:pPr>
            <a:r>
              <a:rPr lang="en-IN" dirty="0"/>
              <a:t>Include folders for data, source code, models, tests, API, notebooks and documentation.</a:t>
            </a:r>
          </a:p>
          <a:p>
            <a:pPr marL="457200" lvl="1" indent="0">
              <a:buNone/>
            </a:pPr>
            <a:r>
              <a:rPr lang="en-IN" dirty="0"/>
              <a:t>Also generate requirements.txt and </a:t>
            </a:r>
            <a:r>
              <a:rPr lang="en-IN" dirty="0" err="1"/>
              <a:t>Dockerfile</a:t>
            </a:r>
            <a:r>
              <a:rPr lang="en-IN" dirty="0"/>
              <a:t>.</a:t>
            </a:r>
          </a:p>
        </p:txBody>
      </p:sp>
    </p:spTree>
    <p:extLst>
      <p:ext uri="{BB962C8B-B14F-4D97-AF65-F5344CB8AC3E}">
        <p14:creationId xmlns:p14="http://schemas.microsoft.com/office/powerpoint/2010/main" val="400598637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82484-4EF7-A5E4-E80D-F74A16D210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E28AC7-5217-D00D-EB11-19493E4623F6}"/>
              </a:ext>
            </a:extLst>
          </p:cNvPr>
          <p:cNvSpPr>
            <a:spLocks noGrp="1"/>
          </p:cNvSpPr>
          <p:nvPr>
            <p:ph type="title"/>
          </p:nvPr>
        </p:nvSpPr>
        <p:spPr/>
        <p:txBody>
          <a:bodyPr/>
          <a:lstStyle/>
          <a:p>
            <a:r>
              <a:rPr lang="en-IN" dirty="0"/>
              <a:t>Step 4: Review</a:t>
            </a:r>
            <a:endParaRPr lang="en-GB" dirty="0"/>
          </a:p>
        </p:txBody>
      </p:sp>
      <p:sp>
        <p:nvSpPr>
          <p:cNvPr id="3" name="Content Placeholder 2">
            <a:extLst>
              <a:ext uri="{FF2B5EF4-FFF2-40B4-BE49-F238E27FC236}">
                <a16:creationId xmlns:a16="http://schemas.microsoft.com/office/drawing/2014/main" id="{43B991D8-1A59-27B8-BC3E-A15A869A349B}"/>
              </a:ext>
            </a:extLst>
          </p:cNvPr>
          <p:cNvSpPr>
            <a:spLocks noGrp="1"/>
          </p:cNvSpPr>
          <p:nvPr>
            <p:ph idx="1"/>
          </p:nvPr>
        </p:nvSpPr>
        <p:spPr/>
        <p:txBody>
          <a:bodyPr>
            <a:normAutofit/>
          </a:bodyPr>
          <a:lstStyle/>
          <a:p>
            <a:r>
              <a:rPr lang="en-IN" dirty="0"/>
              <a:t>Type the </a:t>
            </a:r>
            <a:r>
              <a:rPr lang="en-IN" b="1" dirty="0"/>
              <a:t>/review</a:t>
            </a:r>
            <a:r>
              <a:rPr lang="en-IN" dirty="0"/>
              <a:t> command</a:t>
            </a:r>
          </a:p>
          <a:p>
            <a:r>
              <a:rPr lang="en-IN" dirty="0"/>
              <a:t>Claude explains</a:t>
            </a:r>
          </a:p>
          <a:p>
            <a:pPr lvl="1"/>
            <a:r>
              <a:rPr lang="en-GB" dirty="0"/>
              <a:t>what files were added </a:t>
            </a:r>
          </a:p>
          <a:p>
            <a:pPr lvl="1"/>
            <a:r>
              <a:rPr lang="en-GB" dirty="0"/>
              <a:t>why they were created </a:t>
            </a:r>
          </a:p>
          <a:p>
            <a:pPr lvl="1"/>
            <a:r>
              <a:rPr lang="en-GB" dirty="0"/>
              <a:t>possible improvements</a:t>
            </a:r>
            <a:endParaRPr lang="en-IN" dirty="0"/>
          </a:p>
        </p:txBody>
      </p:sp>
    </p:spTree>
    <p:extLst>
      <p:ext uri="{BB962C8B-B14F-4D97-AF65-F5344CB8AC3E}">
        <p14:creationId xmlns:p14="http://schemas.microsoft.com/office/powerpoint/2010/main" val="33134506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6B8C3-A66D-CEB6-1030-A9EC4722CF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7E1C02-84DA-67E4-1161-CB6F3BE3F2F5}"/>
              </a:ext>
            </a:extLst>
          </p:cNvPr>
          <p:cNvSpPr>
            <a:spLocks noGrp="1"/>
          </p:cNvSpPr>
          <p:nvPr>
            <p:ph type="title"/>
          </p:nvPr>
        </p:nvSpPr>
        <p:spPr/>
        <p:txBody>
          <a:bodyPr/>
          <a:lstStyle/>
          <a:p>
            <a:r>
              <a:rPr lang="en-IN" dirty="0"/>
              <a:t>Step 5: Generate requirements.txt</a:t>
            </a:r>
            <a:endParaRPr lang="en-GB" dirty="0"/>
          </a:p>
        </p:txBody>
      </p:sp>
      <p:sp>
        <p:nvSpPr>
          <p:cNvPr id="3" name="Content Placeholder 2">
            <a:extLst>
              <a:ext uri="{FF2B5EF4-FFF2-40B4-BE49-F238E27FC236}">
                <a16:creationId xmlns:a16="http://schemas.microsoft.com/office/drawing/2014/main" id="{AE2E53FF-1C9B-C93A-F19F-490AF3A76361}"/>
              </a:ext>
            </a:extLst>
          </p:cNvPr>
          <p:cNvSpPr>
            <a:spLocks noGrp="1"/>
          </p:cNvSpPr>
          <p:nvPr>
            <p:ph idx="1"/>
          </p:nvPr>
        </p:nvSpPr>
        <p:spPr/>
        <p:txBody>
          <a:bodyPr>
            <a:normAutofit/>
          </a:bodyPr>
          <a:lstStyle/>
          <a:p>
            <a:r>
              <a:rPr lang="en-US" dirty="0"/>
              <a:t>Populate requirements.txt with the libraries required for customer churn analysis.</a:t>
            </a:r>
            <a:endParaRPr lang="en-IN" dirty="0"/>
          </a:p>
        </p:txBody>
      </p:sp>
    </p:spTree>
    <p:extLst>
      <p:ext uri="{BB962C8B-B14F-4D97-AF65-F5344CB8AC3E}">
        <p14:creationId xmlns:p14="http://schemas.microsoft.com/office/powerpoint/2010/main" val="129124744"/>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81A10-0089-F798-855E-6AE8040838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93C74-388C-DDFF-F127-446525AF373F}"/>
              </a:ext>
            </a:extLst>
          </p:cNvPr>
          <p:cNvSpPr>
            <a:spLocks noGrp="1"/>
          </p:cNvSpPr>
          <p:nvPr>
            <p:ph type="title"/>
          </p:nvPr>
        </p:nvSpPr>
        <p:spPr/>
        <p:txBody>
          <a:bodyPr/>
          <a:lstStyle/>
          <a:p>
            <a:r>
              <a:rPr lang="en-IN" dirty="0"/>
              <a:t>Step 6: Generate readme File</a:t>
            </a:r>
            <a:endParaRPr lang="en-GB" dirty="0"/>
          </a:p>
        </p:txBody>
      </p:sp>
      <p:sp>
        <p:nvSpPr>
          <p:cNvPr id="3" name="Content Placeholder 2">
            <a:extLst>
              <a:ext uri="{FF2B5EF4-FFF2-40B4-BE49-F238E27FC236}">
                <a16:creationId xmlns:a16="http://schemas.microsoft.com/office/drawing/2014/main" id="{5FA826FB-57ED-2E20-833D-A382A7408FEA}"/>
              </a:ext>
            </a:extLst>
          </p:cNvPr>
          <p:cNvSpPr>
            <a:spLocks noGrp="1"/>
          </p:cNvSpPr>
          <p:nvPr>
            <p:ph idx="1"/>
          </p:nvPr>
        </p:nvSpPr>
        <p:spPr/>
        <p:txBody>
          <a:bodyPr>
            <a:normAutofit/>
          </a:bodyPr>
          <a:lstStyle/>
          <a:p>
            <a:r>
              <a:rPr lang="en-US" dirty="0"/>
              <a:t>Generate a professional README for this project.</a:t>
            </a:r>
          </a:p>
          <a:p>
            <a:r>
              <a:rPr lang="en-US" dirty="0"/>
              <a:t>Include:</a:t>
            </a:r>
          </a:p>
          <a:p>
            <a:endParaRPr lang="en-US" dirty="0"/>
          </a:p>
          <a:p>
            <a:pPr lvl="1"/>
            <a:r>
              <a:rPr lang="en-US" dirty="0"/>
              <a:t>- project objective</a:t>
            </a:r>
          </a:p>
          <a:p>
            <a:pPr lvl="1"/>
            <a:r>
              <a:rPr lang="en-US" dirty="0"/>
              <a:t>- folder structure</a:t>
            </a:r>
          </a:p>
          <a:p>
            <a:pPr lvl="1"/>
            <a:r>
              <a:rPr lang="en-US" dirty="0"/>
              <a:t>- future roadmap</a:t>
            </a:r>
          </a:p>
          <a:p>
            <a:pPr lvl="1"/>
            <a:r>
              <a:rPr lang="en-US" dirty="0"/>
              <a:t>- setup instructions</a:t>
            </a:r>
            <a:endParaRPr lang="en-IN" dirty="0"/>
          </a:p>
        </p:txBody>
      </p:sp>
    </p:spTree>
    <p:extLst>
      <p:ext uri="{BB962C8B-B14F-4D97-AF65-F5344CB8AC3E}">
        <p14:creationId xmlns:p14="http://schemas.microsoft.com/office/powerpoint/2010/main" val="226750269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FDE4A-22FA-AF03-221E-F4070CFB80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68805A-CFF0-9DBA-BEBB-4C4FAA827ADE}"/>
              </a:ext>
            </a:extLst>
          </p:cNvPr>
          <p:cNvSpPr>
            <a:spLocks noGrp="1"/>
          </p:cNvSpPr>
          <p:nvPr>
            <p:ph type="title"/>
          </p:nvPr>
        </p:nvSpPr>
        <p:spPr/>
        <p:txBody>
          <a:bodyPr/>
          <a:lstStyle/>
          <a:p>
            <a:r>
              <a:rPr lang="en-IN" dirty="0"/>
              <a:t>Step 7: Download Dataset</a:t>
            </a:r>
            <a:endParaRPr lang="en-GB" dirty="0"/>
          </a:p>
        </p:txBody>
      </p:sp>
      <p:sp>
        <p:nvSpPr>
          <p:cNvPr id="3" name="Content Placeholder 2">
            <a:extLst>
              <a:ext uri="{FF2B5EF4-FFF2-40B4-BE49-F238E27FC236}">
                <a16:creationId xmlns:a16="http://schemas.microsoft.com/office/drawing/2014/main" id="{E16018BE-E0B4-F244-8A65-653B9E3D0BA2}"/>
              </a:ext>
            </a:extLst>
          </p:cNvPr>
          <p:cNvSpPr>
            <a:spLocks noGrp="1"/>
          </p:cNvSpPr>
          <p:nvPr>
            <p:ph idx="1"/>
          </p:nvPr>
        </p:nvSpPr>
        <p:spPr/>
        <p:txBody>
          <a:bodyPr>
            <a:normAutofit/>
          </a:bodyPr>
          <a:lstStyle/>
          <a:p>
            <a:r>
              <a:rPr lang="en-US" dirty="0"/>
              <a:t>Download: </a:t>
            </a:r>
            <a:r>
              <a:rPr lang="en-US" dirty="0">
                <a:hlinkClick r:id="rId2"/>
              </a:rPr>
              <a:t>https://www.kaggle.com/datasets/yeanzc/telco-customer-churn-ibm-dataset</a:t>
            </a:r>
            <a:endParaRPr lang="en-US" dirty="0"/>
          </a:p>
          <a:p>
            <a:endParaRPr lang="en-US" dirty="0"/>
          </a:p>
          <a:p>
            <a:r>
              <a:rPr lang="en-US" dirty="0"/>
              <a:t>Copy it manually under C:\delthis\claude_code_apps\customer-churn\data\raw</a:t>
            </a:r>
          </a:p>
          <a:p>
            <a:endParaRPr lang="en-US" dirty="0"/>
          </a:p>
          <a:p>
            <a:endParaRPr lang="en-IN" dirty="0"/>
          </a:p>
        </p:txBody>
      </p:sp>
    </p:spTree>
    <p:extLst>
      <p:ext uri="{BB962C8B-B14F-4D97-AF65-F5344CB8AC3E}">
        <p14:creationId xmlns:p14="http://schemas.microsoft.com/office/powerpoint/2010/main" val="186396899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DD66E-42EE-9BC3-9609-FE85D6FFC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AC5050-69E3-87A7-6F3F-7BB596270B80}"/>
              </a:ext>
            </a:extLst>
          </p:cNvPr>
          <p:cNvSpPr>
            <a:spLocks noGrp="1"/>
          </p:cNvSpPr>
          <p:nvPr>
            <p:ph type="title"/>
          </p:nvPr>
        </p:nvSpPr>
        <p:spPr/>
        <p:txBody>
          <a:bodyPr/>
          <a:lstStyle/>
          <a:p>
            <a:r>
              <a:rPr lang="en-IN" dirty="0"/>
              <a:t>Step 8: Ask Claude to Explore the Dataset</a:t>
            </a:r>
            <a:endParaRPr lang="en-GB" dirty="0"/>
          </a:p>
        </p:txBody>
      </p:sp>
      <p:sp>
        <p:nvSpPr>
          <p:cNvPr id="3" name="Content Placeholder 2">
            <a:extLst>
              <a:ext uri="{FF2B5EF4-FFF2-40B4-BE49-F238E27FC236}">
                <a16:creationId xmlns:a16="http://schemas.microsoft.com/office/drawing/2014/main" id="{270BF010-2B9F-EEBD-A4F8-D30BA09A975D}"/>
              </a:ext>
            </a:extLst>
          </p:cNvPr>
          <p:cNvSpPr>
            <a:spLocks noGrp="1"/>
          </p:cNvSpPr>
          <p:nvPr>
            <p:ph idx="1"/>
          </p:nvPr>
        </p:nvSpPr>
        <p:spPr/>
        <p:txBody>
          <a:bodyPr>
            <a:normAutofit fontScale="92500" lnSpcReduction="10000"/>
          </a:bodyPr>
          <a:lstStyle/>
          <a:p>
            <a:r>
              <a:rPr lang="en-US" dirty="0"/>
              <a:t>Analyze the dataset located in data/raw/Telco-Customer-Churn.csv.</a:t>
            </a:r>
          </a:p>
          <a:p>
            <a:endParaRPr lang="en-US" dirty="0"/>
          </a:p>
          <a:p>
            <a:r>
              <a:rPr lang="en-US" dirty="0"/>
              <a:t>Generate a notebook that:</a:t>
            </a:r>
          </a:p>
          <a:p>
            <a:endParaRPr lang="en-US" dirty="0"/>
          </a:p>
          <a:p>
            <a:pPr lvl="1"/>
            <a:r>
              <a:rPr lang="en-US" dirty="0"/>
              <a:t>1. loads the data</a:t>
            </a:r>
          </a:p>
          <a:p>
            <a:pPr lvl="1"/>
            <a:r>
              <a:rPr lang="en-US" dirty="0"/>
              <a:t>2. prints shape</a:t>
            </a:r>
          </a:p>
          <a:p>
            <a:pPr lvl="1"/>
            <a:r>
              <a:rPr lang="en-US" dirty="0"/>
              <a:t>3. shows missing values</a:t>
            </a:r>
          </a:p>
          <a:p>
            <a:pPr lvl="1"/>
            <a:r>
              <a:rPr lang="en-US" dirty="0"/>
              <a:t>4. shows class distribution</a:t>
            </a:r>
          </a:p>
          <a:p>
            <a:pPr lvl="1"/>
            <a:r>
              <a:rPr lang="en-US" dirty="0"/>
              <a:t>5. plots histograms</a:t>
            </a:r>
          </a:p>
          <a:p>
            <a:pPr lvl="1"/>
            <a:r>
              <a:rPr lang="en-US" dirty="0"/>
              <a:t>6. computes correlations</a:t>
            </a:r>
          </a:p>
          <a:p>
            <a:pPr lvl="1"/>
            <a:r>
              <a:rPr lang="en-US" dirty="0"/>
              <a:t>7. summarizes findings</a:t>
            </a:r>
            <a:endParaRPr lang="en-IN" dirty="0"/>
          </a:p>
        </p:txBody>
      </p:sp>
    </p:spTree>
    <p:extLst>
      <p:ext uri="{BB962C8B-B14F-4D97-AF65-F5344CB8AC3E}">
        <p14:creationId xmlns:p14="http://schemas.microsoft.com/office/powerpoint/2010/main" val="63377283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95445-45AA-DE44-9862-F4A58DC92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37514F-9460-2E46-BD6A-35CB2799C073}"/>
              </a:ext>
            </a:extLst>
          </p:cNvPr>
          <p:cNvSpPr>
            <a:spLocks noGrp="1"/>
          </p:cNvSpPr>
          <p:nvPr>
            <p:ph type="title"/>
          </p:nvPr>
        </p:nvSpPr>
        <p:spPr/>
        <p:txBody>
          <a:bodyPr/>
          <a:lstStyle/>
          <a:p>
            <a:r>
              <a:rPr lang="en-IN" dirty="0"/>
              <a:t>Step 9: Ask for Better Visualizations</a:t>
            </a:r>
            <a:endParaRPr lang="en-GB" dirty="0"/>
          </a:p>
        </p:txBody>
      </p:sp>
      <p:sp>
        <p:nvSpPr>
          <p:cNvPr id="3" name="Content Placeholder 2">
            <a:extLst>
              <a:ext uri="{FF2B5EF4-FFF2-40B4-BE49-F238E27FC236}">
                <a16:creationId xmlns:a16="http://schemas.microsoft.com/office/drawing/2014/main" id="{6C5C1D0E-57C5-F334-076C-ADA7A71B2387}"/>
              </a:ext>
            </a:extLst>
          </p:cNvPr>
          <p:cNvSpPr>
            <a:spLocks noGrp="1"/>
          </p:cNvSpPr>
          <p:nvPr>
            <p:ph idx="1"/>
          </p:nvPr>
        </p:nvSpPr>
        <p:spPr/>
        <p:txBody>
          <a:bodyPr>
            <a:normAutofit/>
          </a:bodyPr>
          <a:lstStyle/>
          <a:p>
            <a:r>
              <a:rPr lang="en-US" dirty="0"/>
              <a:t>Improve the visualizations.</a:t>
            </a:r>
          </a:p>
          <a:p>
            <a:endParaRPr lang="en-US" dirty="0"/>
          </a:p>
          <a:p>
            <a:r>
              <a:rPr lang="en-US" dirty="0"/>
              <a:t>Add:</a:t>
            </a:r>
          </a:p>
          <a:p>
            <a:endParaRPr lang="en-US" dirty="0"/>
          </a:p>
          <a:p>
            <a:pPr lvl="1"/>
            <a:r>
              <a:rPr lang="en-US" dirty="0"/>
              <a:t>- churn distribution</a:t>
            </a:r>
          </a:p>
          <a:p>
            <a:pPr lvl="1"/>
            <a:r>
              <a:rPr lang="en-US" dirty="0"/>
              <a:t>- tenure histogram</a:t>
            </a:r>
          </a:p>
          <a:p>
            <a:pPr lvl="1"/>
            <a:r>
              <a:rPr lang="en-US" dirty="0"/>
              <a:t>- monthly charges histogram</a:t>
            </a:r>
          </a:p>
          <a:p>
            <a:pPr lvl="1"/>
            <a:r>
              <a:rPr lang="en-US" dirty="0"/>
              <a:t>- contract type count plot</a:t>
            </a:r>
          </a:p>
          <a:p>
            <a:pPr lvl="1"/>
            <a:r>
              <a:rPr lang="en-US" dirty="0"/>
              <a:t>- heatmap</a:t>
            </a:r>
            <a:endParaRPr lang="en-IN" dirty="0"/>
          </a:p>
        </p:txBody>
      </p:sp>
    </p:spTree>
    <p:extLst>
      <p:ext uri="{BB962C8B-B14F-4D97-AF65-F5344CB8AC3E}">
        <p14:creationId xmlns:p14="http://schemas.microsoft.com/office/powerpoint/2010/main" val="393374622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599A1-BCE9-30E2-36DB-23C101B33E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CE8915-C17C-6679-64AD-9E4A5360925F}"/>
              </a:ext>
            </a:extLst>
          </p:cNvPr>
          <p:cNvSpPr>
            <a:spLocks noGrp="1"/>
          </p:cNvSpPr>
          <p:nvPr>
            <p:ph type="title"/>
          </p:nvPr>
        </p:nvSpPr>
        <p:spPr/>
        <p:txBody>
          <a:bodyPr/>
          <a:lstStyle/>
          <a:p>
            <a:r>
              <a:rPr lang="en-IN" dirty="0"/>
              <a:t>Step 10: Explain Code</a:t>
            </a:r>
            <a:endParaRPr lang="en-GB" dirty="0"/>
          </a:p>
        </p:txBody>
      </p:sp>
      <p:sp>
        <p:nvSpPr>
          <p:cNvPr id="3" name="Content Placeholder 2">
            <a:extLst>
              <a:ext uri="{FF2B5EF4-FFF2-40B4-BE49-F238E27FC236}">
                <a16:creationId xmlns:a16="http://schemas.microsoft.com/office/drawing/2014/main" id="{020C1DE4-4EAD-3787-149E-B910F0C45B1F}"/>
              </a:ext>
            </a:extLst>
          </p:cNvPr>
          <p:cNvSpPr>
            <a:spLocks noGrp="1"/>
          </p:cNvSpPr>
          <p:nvPr>
            <p:ph idx="1"/>
          </p:nvPr>
        </p:nvSpPr>
        <p:spPr/>
        <p:txBody>
          <a:bodyPr>
            <a:normAutofit/>
          </a:bodyPr>
          <a:lstStyle/>
          <a:p>
            <a:r>
              <a:rPr lang="en-US" dirty="0"/>
              <a:t>Explain code: notebooks/</a:t>
            </a:r>
            <a:r>
              <a:rPr lang="en-US" dirty="0" err="1"/>
              <a:t>eda.ipynb</a:t>
            </a:r>
            <a:endParaRPr lang="en-IN" dirty="0"/>
          </a:p>
        </p:txBody>
      </p:sp>
    </p:spTree>
    <p:extLst>
      <p:ext uri="{BB962C8B-B14F-4D97-AF65-F5344CB8AC3E}">
        <p14:creationId xmlns:p14="http://schemas.microsoft.com/office/powerpoint/2010/main" val="218516159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2BB9C-2227-E02F-7C29-6FBB5E493D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2E1105-8E8C-08F7-3E5B-B7B2DC86E5BD}"/>
              </a:ext>
            </a:extLst>
          </p:cNvPr>
          <p:cNvSpPr>
            <a:spLocks noGrp="1"/>
          </p:cNvSpPr>
          <p:nvPr>
            <p:ph type="title"/>
          </p:nvPr>
        </p:nvSpPr>
        <p:spPr/>
        <p:txBody>
          <a:bodyPr/>
          <a:lstStyle/>
          <a:p>
            <a:r>
              <a:rPr lang="en-IN" dirty="0"/>
              <a:t>Step 11: Dataset Documentation</a:t>
            </a:r>
            <a:endParaRPr lang="en-GB" dirty="0"/>
          </a:p>
        </p:txBody>
      </p:sp>
      <p:sp>
        <p:nvSpPr>
          <p:cNvPr id="3" name="Content Placeholder 2">
            <a:extLst>
              <a:ext uri="{FF2B5EF4-FFF2-40B4-BE49-F238E27FC236}">
                <a16:creationId xmlns:a16="http://schemas.microsoft.com/office/drawing/2014/main" id="{86BA5599-4A47-3EBE-FBCE-87F1D4FB69E2}"/>
              </a:ext>
            </a:extLst>
          </p:cNvPr>
          <p:cNvSpPr>
            <a:spLocks noGrp="1"/>
          </p:cNvSpPr>
          <p:nvPr>
            <p:ph idx="1"/>
          </p:nvPr>
        </p:nvSpPr>
        <p:spPr/>
        <p:txBody>
          <a:bodyPr>
            <a:normAutofit fontScale="92500" lnSpcReduction="20000"/>
          </a:bodyPr>
          <a:lstStyle/>
          <a:p>
            <a:r>
              <a:rPr lang="en-US" dirty="0"/>
              <a:t>Create documentation describing every important feature in the telecom dataset.</a:t>
            </a:r>
          </a:p>
          <a:p>
            <a:endParaRPr lang="en-US" dirty="0"/>
          </a:p>
          <a:p>
            <a:r>
              <a:rPr lang="en-US" dirty="0"/>
              <a:t>Explain:</a:t>
            </a:r>
          </a:p>
          <a:p>
            <a:endParaRPr lang="en-US" dirty="0"/>
          </a:p>
          <a:p>
            <a:pPr lvl="1"/>
            <a:r>
              <a:rPr lang="en-US" dirty="0"/>
              <a:t>- tenure</a:t>
            </a:r>
          </a:p>
          <a:p>
            <a:pPr lvl="1"/>
            <a:r>
              <a:rPr lang="en-US" dirty="0"/>
              <a:t>- contract</a:t>
            </a:r>
          </a:p>
          <a:p>
            <a:pPr lvl="1"/>
            <a:r>
              <a:rPr lang="en-US" dirty="0"/>
              <a:t>- internet service</a:t>
            </a:r>
          </a:p>
          <a:p>
            <a:pPr lvl="1"/>
            <a:r>
              <a:rPr lang="en-US" dirty="0"/>
              <a:t>- monthly charges</a:t>
            </a:r>
          </a:p>
          <a:p>
            <a:pPr lvl="1"/>
            <a:r>
              <a:rPr lang="en-US" dirty="0"/>
              <a:t>- churn</a:t>
            </a:r>
          </a:p>
          <a:p>
            <a:endParaRPr lang="en-US" dirty="0"/>
          </a:p>
          <a:p>
            <a:r>
              <a:rPr lang="en-US" dirty="0"/>
              <a:t>Store inside docs/dataset_description.md</a:t>
            </a:r>
            <a:endParaRPr lang="en-IN" dirty="0"/>
          </a:p>
        </p:txBody>
      </p:sp>
    </p:spTree>
    <p:extLst>
      <p:ext uri="{BB962C8B-B14F-4D97-AF65-F5344CB8AC3E}">
        <p14:creationId xmlns:p14="http://schemas.microsoft.com/office/powerpoint/2010/main" val="28493867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63B59B-E5D5-486F-9B78-B6B0DD3095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200842-E4E9-A3E7-9BD3-E5A47EE1C76C}"/>
              </a:ext>
            </a:extLst>
          </p:cNvPr>
          <p:cNvSpPr>
            <a:spLocks noGrp="1"/>
          </p:cNvSpPr>
          <p:nvPr>
            <p:ph type="title"/>
          </p:nvPr>
        </p:nvSpPr>
        <p:spPr/>
        <p:txBody>
          <a:bodyPr/>
          <a:lstStyle/>
          <a:p>
            <a:r>
              <a:rPr lang="en-IN" dirty="0"/>
              <a:t>Step 12: Generate Architecture Diagram</a:t>
            </a:r>
            <a:endParaRPr lang="en-GB" dirty="0"/>
          </a:p>
        </p:txBody>
      </p:sp>
      <p:sp>
        <p:nvSpPr>
          <p:cNvPr id="3" name="Content Placeholder 2">
            <a:extLst>
              <a:ext uri="{FF2B5EF4-FFF2-40B4-BE49-F238E27FC236}">
                <a16:creationId xmlns:a16="http://schemas.microsoft.com/office/drawing/2014/main" id="{862329DD-378B-E549-D744-6C764B34D8C7}"/>
              </a:ext>
            </a:extLst>
          </p:cNvPr>
          <p:cNvSpPr>
            <a:spLocks noGrp="1"/>
          </p:cNvSpPr>
          <p:nvPr>
            <p:ph idx="1"/>
          </p:nvPr>
        </p:nvSpPr>
        <p:spPr/>
        <p:txBody>
          <a:bodyPr>
            <a:normAutofit fontScale="85000" lnSpcReduction="20000"/>
          </a:bodyPr>
          <a:lstStyle/>
          <a:p>
            <a:r>
              <a:rPr lang="en-US" dirty="0"/>
              <a:t>Create an architecture diagram in Mermaid format for this project.</a:t>
            </a:r>
          </a:p>
          <a:p>
            <a:endParaRPr lang="en-US" dirty="0"/>
          </a:p>
          <a:p>
            <a:r>
              <a:rPr lang="en-US" dirty="0"/>
              <a:t>Flow:</a:t>
            </a:r>
          </a:p>
          <a:p>
            <a:endParaRPr lang="en-US" dirty="0"/>
          </a:p>
          <a:p>
            <a:r>
              <a:rPr lang="en-US" dirty="0"/>
              <a:t>Raw Data</a:t>
            </a:r>
          </a:p>
          <a:p>
            <a:pPr lvl="1"/>
            <a:r>
              <a:rPr lang="en-US" dirty="0"/>
              <a:t>→ Cleaning</a:t>
            </a:r>
          </a:p>
          <a:p>
            <a:pPr lvl="1"/>
            <a:r>
              <a:rPr lang="en-US" dirty="0"/>
              <a:t>→ Feature Engineering</a:t>
            </a:r>
          </a:p>
          <a:p>
            <a:pPr lvl="1"/>
            <a:r>
              <a:rPr lang="en-US" dirty="0"/>
              <a:t>→ ML Model</a:t>
            </a:r>
          </a:p>
          <a:p>
            <a:pPr lvl="1"/>
            <a:r>
              <a:rPr lang="en-US" dirty="0"/>
              <a:t>→ Prediction API</a:t>
            </a:r>
          </a:p>
          <a:p>
            <a:pPr lvl="1"/>
            <a:r>
              <a:rPr lang="en-US" dirty="0"/>
              <a:t>→ Dashboard</a:t>
            </a:r>
          </a:p>
          <a:p>
            <a:pPr lvl="1"/>
            <a:r>
              <a:rPr lang="en-US" dirty="0"/>
              <a:t>→ Business Alerts</a:t>
            </a:r>
          </a:p>
          <a:p>
            <a:endParaRPr lang="en-US" dirty="0"/>
          </a:p>
          <a:p>
            <a:r>
              <a:rPr lang="en-US" dirty="0"/>
              <a:t>Also save it as jpg/</a:t>
            </a:r>
            <a:r>
              <a:rPr lang="en-US" dirty="0" err="1"/>
              <a:t>png</a:t>
            </a:r>
            <a:endParaRPr lang="en-IN" dirty="0"/>
          </a:p>
        </p:txBody>
      </p:sp>
    </p:spTree>
    <p:extLst>
      <p:ext uri="{BB962C8B-B14F-4D97-AF65-F5344CB8AC3E}">
        <p14:creationId xmlns:p14="http://schemas.microsoft.com/office/powerpoint/2010/main" val="1568659956"/>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0E9BC-70DC-0282-645B-238E4570D25E}"/>
              </a:ext>
            </a:extLst>
          </p:cNvPr>
          <p:cNvSpPr>
            <a:spLocks noGrp="1"/>
          </p:cNvSpPr>
          <p:nvPr>
            <p:ph type="title"/>
          </p:nvPr>
        </p:nvSpPr>
        <p:spPr/>
        <p:txBody>
          <a:bodyPr/>
          <a:lstStyle/>
          <a:p>
            <a:r>
              <a:rPr lang="en-IN" dirty="0"/>
              <a:t>Step 13: Generate a Development Roadmap</a:t>
            </a:r>
            <a:endParaRPr lang="en-GB" dirty="0"/>
          </a:p>
        </p:txBody>
      </p:sp>
      <p:sp>
        <p:nvSpPr>
          <p:cNvPr id="3" name="Content Placeholder 2">
            <a:extLst>
              <a:ext uri="{FF2B5EF4-FFF2-40B4-BE49-F238E27FC236}">
                <a16:creationId xmlns:a16="http://schemas.microsoft.com/office/drawing/2014/main" id="{1CE953C5-27F1-B5DD-3567-037206F8E575}"/>
              </a:ext>
            </a:extLst>
          </p:cNvPr>
          <p:cNvSpPr>
            <a:spLocks noGrp="1"/>
          </p:cNvSpPr>
          <p:nvPr>
            <p:ph idx="1"/>
          </p:nvPr>
        </p:nvSpPr>
        <p:spPr/>
        <p:txBody>
          <a:bodyPr>
            <a:normAutofit fontScale="62500" lnSpcReduction="20000"/>
          </a:bodyPr>
          <a:lstStyle/>
          <a:p>
            <a:r>
              <a:rPr lang="en-IN" dirty="0"/>
              <a:t>Understand Claude Code’s ability to plan a project before coding</a:t>
            </a:r>
          </a:p>
          <a:p>
            <a:endParaRPr lang="en-IN" dirty="0"/>
          </a:p>
          <a:p>
            <a:r>
              <a:rPr lang="en-US" dirty="0"/>
              <a:t>Create a development roadmap for this project.</a:t>
            </a:r>
          </a:p>
          <a:p>
            <a:endParaRPr lang="en-US" dirty="0"/>
          </a:p>
          <a:p>
            <a:r>
              <a:rPr lang="en-US" dirty="0"/>
              <a:t>Break the implementation into logical milestones.</a:t>
            </a:r>
          </a:p>
          <a:p>
            <a:endParaRPr lang="en-US" dirty="0"/>
          </a:p>
          <a:p>
            <a:r>
              <a:rPr lang="en-US" dirty="0"/>
              <a:t>For each milestone include:</a:t>
            </a:r>
          </a:p>
          <a:p>
            <a:r>
              <a:rPr lang="en-US" dirty="0"/>
              <a:t>- objective</a:t>
            </a:r>
          </a:p>
          <a:p>
            <a:r>
              <a:rPr lang="en-US" dirty="0"/>
              <a:t>- files to be created</a:t>
            </a:r>
          </a:p>
          <a:p>
            <a:r>
              <a:rPr lang="en-US" dirty="0"/>
              <a:t>- expected output</a:t>
            </a:r>
          </a:p>
          <a:p>
            <a:r>
              <a:rPr lang="en-US" dirty="0"/>
              <a:t>- dependencies</a:t>
            </a:r>
          </a:p>
          <a:p>
            <a:endParaRPr lang="en-US" dirty="0"/>
          </a:p>
          <a:p>
            <a:r>
              <a:rPr lang="en-US" dirty="0"/>
              <a:t>Save as docs/development_plan.md.</a:t>
            </a:r>
            <a:endParaRPr lang="en-GB" dirty="0"/>
          </a:p>
        </p:txBody>
      </p:sp>
    </p:spTree>
    <p:extLst>
      <p:ext uri="{BB962C8B-B14F-4D97-AF65-F5344CB8AC3E}">
        <p14:creationId xmlns:p14="http://schemas.microsoft.com/office/powerpoint/2010/main" val="406724849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6D4E2-7F42-C616-6272-2B7AF03120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68CF46-B758-FF9D-2988-90E078515FE9}"/>
              </a:ext>
            </a:extLst>
          </p:cNvPr>
          <p:cNvSpPr>
            <a:spLocks noGrp="1"/>
          </p:cNvSpPr>
          <p:nvPr>
            <p:ph type="title"/>
          </p:nvPr>
        </p:nvSpPr>
        <p:spPr/>
        <p:txBody>
          <a:bodyPr/>
          <a:lstStyle/>
          <a:p>
            <a:r>
              <a:rPr lang="en-IN" dirty="0"/>
              <a:t>Step 14: Ask Claude to Understand the Repo</a:t>
            </a:r>
            <a:endParaRPr lang="en-GB" dirty="0"/>
          </a:p>
        </p:txBody>
      </p:sp>
      <p:sp>
        <p:nvSpPr>
          <p:cNvPr id="3" name="Content Placeholder 2">
            <a:extLst>
              <a:ext uri="{FF2B5EF4-FFF2-40B4-BE49-F238E27FC236}">
                <a16:creationId xmlns:a16="http://schemas.microsoft.com/office/drawing/2014/main" id="{04E832C8-5A6D-7229-2480-B700ABA761E0}"/>
              </a:ext>
            </a:extLst>
          </p:cNvPr>
          <p:cNvSpPr>
            <a:spLocks noGrp="1"/>
          </p:cNvSpPr>
          <p:nvPr>
            <p:ph idx="1"/>
          </p:nvPr>
        </p:nvSpPr>
        <p:spPr/>
        <p:txBody>
          <a:bodyPr>
            <a:normAutofit/>
          </a:bodyPr>
          <a:lstStyle/>
          <a:p>
            <a:r>
              <a:rPr lang="en-US" dirty="0"/>
              <a:t>Analyze the repository.</a:t>
            </a:r>
          </a:p>
          <a:p>
            <a:endParaRPr lang="en-US" dirty="0"/>
          </a:p>
          <a:p>
            <a:r>
              <a:rPr lang="en-US" dirty="0"/>
              <a:t>Explain:</a:t>
            </a:r>
          </a:p>
          <a:p>
            <a:r>
              <a:rPr lang="en-US" dirty="0"/>
              <a:t>- purpose of every folder</a:t>
            </a:r>
          </a:p>
          <a:p>
            <a:r>
              <a:rPr lang="en-US" dirty="0"/>
              <a:t>- files that are currently missing</a:t>
            </a:r>
          </a:p>
          <a:p>
            <a:r>
              <a:rPr lang="en-US" dirty="0"/>
              <a:t>- recommended implementation order</a:t>
            </a:r>
          </a:p>
          <a:p>
            <a:r>
              <a:rPr lang="en-US" dirty="0"/>
              <a:t>- potential risks</a:t>
            </a:r>
            <a:endParaRPr lang="en-GB" dirty="0"/>
          </a:p>
        </p:txBody>
      </p:sp>
    </p:spTree>
    <p:extLst>
      <p:ext uri="{BB962C8B-B14F-4D97-AF65-F5344CB8AC3E}">
        <p14:creationId xmlns:p14="http://schemas.microsoft.com/office/powerpoint/2010/main" val="1751091020"/>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CA9EB-ADF4-5C3D-34D0-AD6215E6BC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DA92FA-8062-655D-0EC5-33D273A79756}"/>
              </a:ext>
            </a:extLst>
          </p:cNvPr>
          <p:cNvSpPr>
            <a:spLocks noGrp="1"/>
          </p:cNvSpPr>
          <p:nvPr>
            <p:ph type="title"/>
          </p:nvPr>
        </p:nvSpPr>
        <p:spPr/>
        <p:txBody>
          <a:bodyPr/>
          <a:lstStyle/>
          <a:p>
            <a:r>
              <a:rPr lang="en-IN" dirty="0"/>
              <a:t>Step 15: Generate Coding Standards</a:t>
            </a:r>
            <a:endParaRPr lang="en-GB" dirty="0"/>
          </a:p>
        </p:txBody>
      </p:sp>
      <p:sp>
        <p:nvSpPr>
          <p:cNvPr id="3" name="Content Placeholder 2">
            <a:extLst>
              <a:ext uri="{FF2B5EF4-FFF2-40B4-BE49-F238E27FC236}">
                <a16:creationId xmlns:a16="http://schemas.microsoft.com/office/drawing/2014/main" id="{62EBCF56-A462-F20A-1488-A70D6C0629DB}"/>
              </a:ext>
            </a:extLst>
          </p:cNvPr>
          <p:cNvSpPr>
            <a:spLocks noGrp="1"/>
          </p:cNvSpPr>
          <p:nvPr>
            <p:ph idx="1"/>
          </p:nvPr>
        </p:nvSpPr>
        <p:spPr/>
        <p:txBody>
          <a:bodyPr>
            <a:normAutofit fontScale="85000" lnSpcReduction="20000"/>
          </a:bodyPr>
          <a:lstStyle/>
          <a:p>
            <a:r>
              <a:rPr lang="en-US" dirty="0"/>
              <a:t>Generate a coding standards document for this project.</a:t>
            </a:r>
          </a:p>
          <a:p>
            <a:endParaRPr lang="en-US" dirty="0"/>
          </a:p>
          <a:p>
            <a:r>
              <a:rPr lang="en-US" dirty="0"/>
              <a:t>Include:</a:t>
            </a:r>
          </a:p>
          <a:p>
            <a:r>
              <a:rPr lang="en-US" dirty="0"/>
              <a:t>- naming conventions</a:t>
            </a:r>
          </a:p>
          <a:p>
            <a:r>
              <a:rPr lang="en-US" dirty="0"/>
              <a:t>- folder organization</a:t>
            </a:r>
          </a:p>
          <a:p>
            <a:r>
              <a:rPr lang="en-US" dirty="0"/>
              <a:t>- commenting style</a:t>
            </a:r>
          </a:p>
          <a:p>
            <a:r>
              <a:rPr lang="en-US" dirty="0"/>
              <a:t>- logging guidelines</a:t>
            </a:r>
          </a:p>
          <a:p>
            <a:r>
              <a:rPr lang="en-US" dirty="0"/>
              <a:t>- error handling guidelines</a:t>
            </a:r>
          </a:p>
          <a:p>
            <a:r>
              <a:rPr lang="en-US" dirty="0"/>
              <a:t>- testing guidelines</a:t>
            </a:r>
          </a:p>
          <a:p>
            <a:endParaRPr lang="en-US" dirty="0"/>
          </a:p>
          <a:p>
            <a:r>
              <a:rPr lang="en-US" dirty="0"/>
              <a:t>Save as docs/coding_standards.md.</a:t>
            </a:r>
            <a:endParaRPr lang="en-GB" dirty="0"/>
          </a:p>
        </p:txBody>
      </p:sp>
    </p:spTree>
    <p:extLst>
      <p:ext uri="{BB962C8B-B14F-4D97-AF65-F5344CB8AC3E}">
        <p14:creationId xmlns:p14="http://schemas.microsoft.com/office/powerpoint/2010/main" val="272858633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15B691-A646-F4CA-331D-095D9FA58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78E8D-CF79-AA1D-7926-510A586401B2}"/>
              </a:ext>
            </a:extLst>
          </p:cNvPr>
          <p:cNvSpPr>
            <a:spLocks noGrp="1"/>
          </p:cNvSpPr>
          <p:nvPr>
            <p:ph type="title"/>
          </p:nvPr>
        </p:nvSpPr>
        <p:spPr/>
        <p:txBody>
          <a:bodyPr/>
          <a:lstStyle/>
          <a:p>
            <a:r>
              <a:rPr lang="en-IN" dirty="0"/>
              <a:t>Step 16: Project Risk Review</a:t>
            </a:r>
            <a:endParaRPr lang="en-GB" dirty="0"/>
          </a:p>
        </p:txBody>
      </p:sp>
      <p:sp>
        <p:nvSpPr>
          <p:cNvPr id="3" name="Content Placeholder 2">
            <a:extLst>
              <a:ext uri="{FF2B5EF4-FFF2-40B4-BE49-F238E27FC236}">
                <a16:creationId xmlns:a16="http://schemas.microsoft.com/office/drawing/2014/main" id="{427D16F9-5037-CE7C-678D-02E350E76263}"/>
              </a:ext>
            </a:extLst>
          </p:cNvPr>
          <p:cNvSpPr>
            <a:spLocks noGrp="1"/>
          </p:cNvSpPr>
          <p:nvPr>
            <p:ph idx="1"/>
          </p:nvPr>
        </p:nvSpPr>
        <p:spPr/>
        <p:txBody>
          <a:bodyPr>
            <a:normAutofit fontScale="62500" lnSpcReduction="20000"/>
          </a:bodyPr>
          <a:lstStyle/>
          <a:p>
            <a:r>
              <a:rPr lang="en-US" dirty="0"/>
              <a:t>Review this project as if you were the lead architect.</a:t>
            </a:r>
          </a:p>
          <a:p>
            <a:endParaRPr lang="en-US" dirty="0"/>
          </a:p>
          <a:p>
            <a:r>
              <a:rPr lang="en-US" dirty="0"/>
              <a:t>Identify:</a:t>
            </a:r>
          </a:p>
          <a:p>
            <a:endParaRPr lang="en-US" dirty="0"/>
          </a:p>
          <a:p>
            <a:r>
              <a:rPr lang="en-US" dirty="0"/>
              <a:t>- technical risks</a:t>
            </a:r>
          </a:p>
          <a:p>
            <a:r>
              <a:rPr lang="en-US" dirty="0"/>
              <a:t>- data quality risks</a:t>
            </a:r>
          </a:p>
          <a:p>
            <a:r>
              <a:rPr lang="en-US" dirty="0"/>
              <a:t>- model risks</a:t>
            </a:r>
          </a:p>
          <a:p>
            <a:r>
              <a:rPr lang="en-US" dirty="0"/>
              <a:t>- deployment risks</a:t>
            </a:r>
          </a:p>
          <a:p>
            <a:r>
              <a:rPr lang="en-US" dirty="0"/>
              <a:t>- security concerns</a:t>
            </a:r>
          </a:p>
          <a:p>
            <a:endParaRPr lang="en-US" dirty="0"/>
          </a:p>
          <a:p>
            <a:r>
              <a:rPr lang="en-US" dirty="0"/>
              <a:t>Suggest mitigations for each.</a:t>
            </a:r>
          </a:p>
          <a:p>
            <a:endParaRPr lang="en-US" dirty="0"/>
          </a:p>
          <a:p>
            <a:r>
              <a:rPr lang="en-US" dirty="0"/>
              <a:t>Save as docs/project_risks.md.</a:t>
            </a:r>
            <a:endParaRPr lang="en-GB" dirty="0"/>
          </a:p>
        </p:txBody>
      </p:sp>
    </p:spTree>
    <p:extLst>
      <p:ext uri="{BB962C8B-B14F-4D97-AF65-F5344CB8AC3E}">
        <p14:creationId xmlns:p14="http://schemas.microsoft.com/office/powerpoint/2010/main" val="422711259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1B7340-680D-8ADF-4A2D-81E49250F8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FD62DD-10F5-03E4-1C78-D30E650D385C}"/>
              </a:ext>
            </a:extLst>
          </p:cNvPr>
          <p:cNvSpPr>
            <a:spLocks noGrp="1"/>
          </p:cNvSpPr>
          <p:nvPr>
            <p:ph type="title"/>
          </p:nvPr>
        </p:nvSpPr>
        <p:spPr/>
        <p:txBody>
          <a:bodyPr/>
          <a:lstStyle/>
          <a:p>
            <a:r>
              <a:rPr lang="en-IN" dirty="0"/>
              <a:t>Step 17: Generate Development Tasks</a:t>
            </a:r>
            <a:endParaRPr lang="en-GB" dirty="0"/>
          </a:p>
        </p:txBody>
      </p:sp>
      <p:sp>
        <p:nvSpPr>
          <p:cNvPr id="3" name="Content Placeholder 2">
            <a:extLst>
              <a:ext uri="{FF2B5EF4-FFF2-40B4-BE49-F238E27FC236}">
                <a16:creationId xmlns:a16="http://schemas.microsoft.com/office/drawing/2014/main" id="{AAADACE6-3B98-78B0-9BC7-DD339E03ADD0}"/>
              </a:ext>
            </a:extLst>
          </p:cNvPr>
          <p:cNvSpPr>
            <a:spLocks noGrp="1"/>
          </p:cNvSpPr>
          <p:nvPr>
            <p:ph idx="1"/>
          </p:nvPr>
        </p:nvSpPr>
        <p:spPr/>
        <p:txBody>
          <a:bodyPr>
            <a:normAutofit fontScale="62500" lnSpcReduction="20000"/>
          </a:bodyPr>
          <a:lstStyle/>
          <a:p>
            <a:r>
              <a:rPr lang="en-US" dirty="0"/>
              <a:t>Break the entire project into developer tasks.</a:t>
            </a:r>
          </a:p>
          <a:p>
            <a:endParaRPr lang="en-US" dirty="0"/>
          </a:p>
          <a:p>
            <a:r>
              <a:rPr lang="en-US" dirty="0"/>
              <a:t>For each task provide:</a:t>
            </a:r>
          </a:p>
          <a:p>
            <a:endParaRPr lang="en-US" dirty="0"/>
          </a:p>
          <a:p>
            <a:r>
              <a:rPr lang="en-US" dirty="0"/>
              <a:t>- task ID</a:t>
            </a:r>
          </a:p>
          <a:p>
            <a:r>
              <a:rPr lang="en-US" dirty="0"/>
              <a:t>- description</a:t>
            </a:r>
          </a:p>
          <a:p>
            <a:r>
              <a:rPr lang="en-US" dirty="0"/>
              <a:t>- priority</a:t>
            </a:r>
          </a:p>
          <a:p>
            <a:r>
              <a:rPr lang="en-US" dirty="0"/>
              <a:t>- estimated effort</a:t>
            </a:r>
          </a:p>
          <a:p>
            <a:r>
              <a:rPr lang="en-US" dirty="0"/>
              <a:t>- dependencies</a:t>
            </a:r>
          </a:p>
          <a:p>
            <a:endParaRPr lang="en-US" dirty="0"/>
          </a:p>
          <a:p>
            <a:r>
              <a:rPr lang="en-US" dirty="0"/>
              <a:t>Format as a Markdown checklist.</a:t>
            </a:r>
          </a:p>
          <a:p>
            <a:endParaRPr lang="en-US" dirty="0"/>
          </a:p>
          <a:p>
            <a:r>
              <a:rPr lang="en-US" dirty="0"/>
              <a:t>Save as docs/task_list.md.</a:t>
            </a:r>
            <a:endParaRPr lang="en-GB" dirty="0"/>
          </a:p>
        </p:txBody>
      </p:sp>
    </p:spTree>
    <p:extLst>
      <p:ext uri="{BB962C8B-B14F-4D97-AF65-F5344CB8AC3E}">
        <p14:creationId xmlns:p14="http://schemas.microsoft.com/office/powerpoint/2010/main" val="135753516"/>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252FA-3113-40CC-6A94-045B482BE8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82EE9F-BB54-55C1-D1B8-F9BB71311FE8}"/>
              </a:ext>
            </a:extLst>
          </p:cNvPr>
          <p:cNvSpPr>
            <a:spLocks noGrp="1"/>
          </p:cNvSpPr>
          <p:nvPr>
            <p:ph type="title"/>
          </p:nvPr>
        </p:nvSpPr>
        <p:spPr/>
        <p:txBody>
          <a:bodyPr/>
          <a:lstStyle/>
          <a:p>
            <a:r>
              <a:rPr lang="en-IN" dirty="0"/>
              <a:t>Step 18: Commit with Git</a:t>
            </a:r>
            <a:endParaRPr lang="en-GB" dirty="0"/>
          </a:p>
        </p:txBody>
      </p:sp>
      <p:sp>
        <p:nvSpPr>
          <p:cNvPr id="3" name="Content Placeholder 2">
            <a:extLst>
              <a:ext uri="{FF2B5EF4-FFF2-40B4-BE49-F238E27FC236}">
                <a16:creationId xmlns:a16="http://schemas.microsoft.com/office/drawing/2014/main" id="{B326139D-5E82-9A8D-8CF8-11FC34EF8AA8}"/>
              </a:ext>
            </a:extLst>
          </p:cNvPr>
          <p:cNvSpPr>
            <a:spLocks noGrp="1"/>
          </p:cNvSpPr>
          <p:nvPr>
            <p:ph idx="1"/>
          </p:nvPr>
        </p:nvSpPr>
        <p:spPr/>
        <p:txBody>
          <a:bodyPr>
            <a:normAutofit/>
          </a:bodyPr>
          <a:lstStyle/>
          <a:p>
            <a:r>
              <a:rPr lang="en-US" dirty="0"/>
              <a:t>git add .</a:t>
            </a:r>
          </a:p>
          <a:p>
            <a:r>
              <a:rPr lang="en-US" dirty="0"/>
              <a:t>git commit -m “Project completed"</a:t>
            </a:r>
            <a:endParaRPr lang="en-IN" dirty="0"/>
          </a:p>
        </p:txBody>
      </p:sp>
    </p:spTree>
    <p:extLst>
      <p:ext uri="{BB962C8B-B14F-4D97-AF65-F5344CB8AC3E}">
        <p14:creationId xmlns:p14="http://schemas.microsoft.com/office/powerpoint/2010/main" val="100151463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C0759-ADB8-4878-2004-768F81543C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B6CDBB-8352-9177-4240-EA0928BB0213}"/>
              </a:ext>
            </a:extLst>
          </p:cNvPr>
          <p:cNvSpPr>
            <a:spLocks noGrp="1"/>
          </p:cNvSpPr>
          <p:nvPr>
            <p:ph type="title"/>
          </p:nvPr>
        </p:nvSpPr>
        <p:spPr/>
        <p:txBody>
          <a:bodyPr/>
          <a:lstStyle/>
          <a:p>
            <a:r>
              <a:rPr lang="en-IN" dirty="0"/>
              <a:t>Ask Claude Questions – Conversational Repo</a:t>
            </a:r>
            <a:endParaRPr lang="en-GB" dirty="0"/>
          </a:p>
        </p:txBody>
      </p:sp>
      <p:sp>
        <p:nvSpPr>
          <p:cNvPr id="3" name="Content Placeholder 2">
            <a:extLst>
              <a:ext uri="{FF2B5EF4-FFF2-40B4-BE49-F238E27FC236}">
                <a16:creationId xmlns:a16="http://schemas.microsoft.com/office/drawing/2014/main" id="{E74757C5-F77C-1CCE-F3FD-F7BFB8C50D47}"/>
              </a:ext>
            </a:extLst>
          </p:cNvPr>
          <p:cNvSpPr>
            <a:spLocks noGrp="1"/>
          </p:cNvSpPr>
          <p:nvPr>
            <p:ph idx="1"/>
          </p:nvPr>
        </p:nvSpPr>
        <p:spPr/>
        <p:txBody>
          <a:bodyPr>
            <a:normAutofit/>
          </a:bodyPr>
          <a:lstStyle/>
          <a:p>
            <a:r>
              <a:rPr lang="en-US" dirty="0"/>
              <a:t>Which folder should contain preprocessing code?</a:t>
            </a:r>
          </a:p>
          <a:p>
            <a:r>
              <a:rPr lang="en-US" dirty="0"/>
              <a:t>Where should unit tests be stored?</a:t>
            </a:r>
          </a:p>
          <a:p>
            <a:r>
              <a:rPr lang="en-US" dirty="0"/>
              <a:t>Which files are still missing before the project is production-ready?</a:t>
            </a:r>
          </a:p>
          <a:p>
            <a:r>
              <a:rPr lang="en-US" dirty="0"/>
              <a:t>What should be implemented first and why?</a:t>
            </a:r>
          </a:p>
          <a:p>
            <a:r>
              <a:rPr lang="en-US" dirty="0"/>
              <a:t>If I add another ML model later, which files will need modification?</a:t>
            </a:r>
          </a:p>
          <a:p>
            <a:r>
              <a:rPr lang="en-US" dirty="0"/>
              <a:t>Estimate the complexity of this project on a scale of 1–10.</a:t>
            </a:r>
            <a:endParaRPr lang="en-IN" dirty="0"/>
          </a:p>
        </p:txBody>
      </p:sp>
    </p:spTree>
    <p:extLst>
      <p:ext uri="{BB962C8B-B14F-4D97-AF65-F5344CB8AC3E}">
        <p14:creationId xmlns:p14="http://schemas.microsoft.com/office/powerpoint/2010/main" val="16240816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05770-DA3A-8D22-DFB7-0CA23049E240}"/>
              </a:ext>
            </a:extLst>
          </p:cNvPr>
          <p:cNvSpPr>
            <a:spLocks noGrp="1"/>
          </p:cNvSpPr>
          <p:nvPr>
            <p:ph type="title"/>
          </p:nvPr>
        </p:nvSpPr>
        <p:spPr/>
        <p:txBody>
          <a:bodyPr/>
          <a:lstStyle/>
          <a:p>
            <a:r>
              <a:rPr lang="en-IN" dirty="0"/>
              <a:t>Project 11 – Claude Code for Testing</a:t>
            </a:r>
            <a:endParaRPr lang="en-GB" dirty="0"/>
          </a:p>
        </p:txBody>
      </p:sp>
      <p:sp>
        <p:nvSpPr>
          <p:cNvPr id="3" name="Content Placeholder 2">
            <a:extLst>
              <a:ext uri="{FF2B5EF4-FFF2-40B4-BE49-F238E27FC236}">
                <a16:creationId xmlns:a16="http://schemas.microsoft.com/office/drawing/2014/main" id="{C5C68C49-9216-ED5E-F23C-0797EC4D567B}"/>
              </a:ext>
            </a:extLst>
          </p:cNvPr>
          <p:cNvSpPr>
            <a:spLocks noGrp="1"/>
          </p:cNvSpPr>
          <p:nvPr>
            <p:ph idx="1"/>
          </p:nvPr>
        </p:nvSpPr>
        <p:spPr/>
        <p:txBody>
          <a:bodyPr>
            <a:normAutofit fontScale="70000" lnSpcReduction="20000"/>
          </a:bodyPr>
          <a:lstStyle/>
          <a:p>
            <a:r>
              <a:rPr lang="en-IN" dirty="0" err="1"/>
              <a:t>mkdir</a:t>
            </a:r>
            <a:r>
              <a:rPr lang="en-IN" dirty="0"/>
              <a:t>   </a:t>
            </a:r>
            <a:r>
              <a:rPr lang="en-US" dirty="0"/>
              <a:t>C:\lectures\Others\Edureka\Claude-Code\claude-projects\internet</a:t>
            </a:r>
          </a:p>
          <a:p>
            <a:r>
              <a:rPr lang="en-US" dirty="0"/>
              <a:t>Open a terminal and start Claude: </a:t>
            </a:r>
            <a:r>
              <a:rPr lang="en-US" dirty="0" err="1"/>
              <a:t>claude</a:t>
            </a:r>
            <a:endParaRPr lang="en-US" dirty="0"/>
          </a:p>
          <a:p>
            <a:r>
              <a:rPr lang="en-US" dirty="0"/>
              <a:t>Ask Claude:</a:t>
            </a:r>
          </a:p>
          <a:p>
            <a:pPr lvl="1"/>
            <a:r>
              <a:rPr lang="en-US" dirty="0"/>
              <a:t>1. Check whether Playwright and the Playwright MCP server are installed.</a:t>
            </a:r>
          </a:p>
          <a:p>
            <a:pPr lvl="1"/>
            <a:r>
              <a:rPr lang="en-US" dirty="0"/>
              <a:t>2. If not, install and configure them using the recommended approach.</a:t>
            </a:r>
          </a:p>
          <a:p>
            <a:pPr lvl="1"/>
            <a:r>
              <a:rPr lang="en-US" dirty="0"/>
              <a:t>3. Verify that you can launch a browser and control it.</a:t>
            </a:r>
          </a:p>
          <a:p>
            <a:pPr lvl="1"/>
            <a:r>
              <a:rPr lang="en-US" dirty="0"/>
              <a:t>4. Open https://the-internet.herokuapp.com/.</a:t>
            </a:r>
          </a:p>
          <a:p>
            <a:pPr lvl="1"/>
            <a:r>
              <a:rPr lang="en-US" dirty="0"/>
              <a:t>5. Explore the application and identify good end-to-end testing scenarios.</a:t>
            </a:r>
          </a:p>
          <a:p>
            <a:pPr lvl="1"/>
            <a:r>
              <a:rPr lang="en-US" dirty="0"/>
              <a:t>6. Demonstrate browser interaction by testing the Form Authentication page:</a:t>
            </a:r>
          </a:p>
          <a:p>
            <a:pPr lvl="1"/>
            <a:r>
              <a:rPr lang="en-US" dirty="0"/>
              <a:t>   - Open the login page.</a:t>
            </a:r>
          </a:p>
          <a:p>
            <a:pPr lvl="1"/>
            <a:r>
              <a:rPr lang="en-US" dirty="0"/>
              <a:t>   - Log in using the demo credentials (</a:t>
            </a:r>
            <a:r>
              <a:rPr lang="en-US" dirty="0" err="1"/>
              <a:t>tomsmith</a:t>
            </a:r>
            <a:r>
              <a:rPr lang="en-US" dirty="0"/>
              <a:t> / </a:t>
            </a:r>
            <a:r>
              <a:rPr lang="en-US" dirty="0" err="1"/>
              <a:t>SuperSecretPassword</a:t>
            </a:r>
            <a:r>
              <a:rPr lang="en-US" dirty="0"/>
              <a:t>!).</a:t>
            </a:r>
          </a:p>
          <a:p>
            <a:pPr lvl="1"/>
            <a:r>
              <a:rPr lang="en-US" dirty="0"/>
              <a:t>   - Verify successful login.</a:t>
            </a:r>
          </a:p>
          <a:p>
            <a:pPr lvl="1"/>
            <a:r>
              <a:rPr lang="en-US" dirty="0"/>
              <a:t>   - Log out.</a:t>
            </a:r>
          </a:p>
          <a:p>
            <a:pPr lvl="1"/>
            <a:r>
              <a:rPr lang="en-US" dirty="0"/>
              <a:t>7. Explain each step as you perform it.</a:t>
            </a:r>
          </a:p>
          <a:p>
            <a:pPr lvl="1"/>
            <a:r>
              <a:rPr lang="en-US" dirty="0"/>
              <a:t>8. Save the Playwright test in this project and execute it.</a:t>
            </a:r>
          </a:p>
          <a:p>
            <a:pPr lvl="1"/>
            <a:r>
              <a:rPr lang="en-US" dirty="0"/>
              <a:t>9. If anything fails, diagnose the problem and fix it.</a:t>
            </a:r>
            <a:endParaRPr lang="en-GB" dirty="0"/>
          </a:p>
        </p:txBody>
      </p:sp>
    </p:spTree>
    <p:extLst>
      <p:ext uri="{BB962C8B-B14F-4D97-AF65-F5344CB8AC3E}">
        <p14:creationId xmlns:p14="http://schemas.microsoft.com/office/powerpoint/2010/main" val="320204817"/>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5FB64-691E-FB01-78C4-5D82F9969B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108E0-A676-7F4A-CF99-27525CD40A65}"/>
              </a:ext>
            </a:extLst>
          </p:cNvPr>
          <p:cNvSpPr>
            <a:spLocks noGrp="1"/>
          </p:cNvSpPr>
          <p:nvPr>
            <p:ph type="title"/>
          </p:nvPr>
        </p:nvSpPr>
        <p:spPr/>
        <p:txBody>
          <a:bodyPr/>
          <a:lstStyle/>
          <a:p>
            <a:r>
              <a:rPr lang="en-IN" dirty="0"/>
              <a:t>Project 11 – Claude Code for Testing</a:t>
            </a:r>
            <a:endParaRPr lang="en-GB" dirty="0"/>
          </a:p>
        </p:txBody>
      </p:sp>
      <p:sp>
        <p:nvSpPr>
          <p:cNvPr id="3" name="Content Placeholder 2">
            <a:extLst>
              <a:ext uri="{FF2B5EF4-FFF2-40B4-BE49-F238E27FC236}">
                <a16:creationId xmlns:a16="http://schemas.microsoft.com/office/drawing/2014/main" id="{A338D607-84A8-13A2-7668-03C29FB6F9F2}"/>
              </a:ext>
            </a:extLst>
          </p:cNvPr>
          <p:cNvSpPr>
            <a:spLocks noGrp="1"/>
          </p:cNvSpPr>
          <p:nvPr>
            <p:ph idx="1"/>
          </p:nvPr>
        </p:nvSpPr>
        <p:spPr/>
        <p:txBody>
          <a:bodyPr>
            <a:normAutofit fontScale="62500" lnSpcReduction="20000"/>
          </a:bodyPr>
          <a:lstStyle/>
          <a:p>
            <a:r>
              <a:rPr lang="en-US" dirty="0"/>
              <a:t>Ask Claude:</a:t>
            </a:r>
          </a:p>
          <a:p>
            <a:pPr lvl="1"/>
            <a:r>
              <a:rPr lang="en-US" dirty="0"/>
              <a:t>Open https://the-internet.herokuapp.com/dynamic_controls.</a:t>
            </a:r>
          </a:p>
          <a:p>
            <a:pPr lvl="1"/>
            <a:endParaRPr lang="en-US" dirty="0"/>
          </a:p>
          <a:p>
            <a:pPr lvl="1"/>
            <a:r>
              <a:rPr lang="en-US" dirty="0"/>
              <a:t>Explore the page first.</a:t>
            </a:r>
          </a:p>
          <a:p>
            <a:pPr lvl="1"/>
            <a:endParaRPr lang="en-US" dirty="0"/>
          </a:p>
          <a:p>
            <a:pPr lvl="1"/>
            <a:r>
              <a:rPr lang="en-US" dirty="0"/>
              <a:t>Then create and execute Playwright tests that verify:</a:t>
            </a:r>
          </a:p>
          <a:p>
            <a:pPr lvl="1"/>
            <a:endParaRPr lang="en-US" dirty="0"/>
          </a:p>
          <a:p>
            <a:pPr lvl="1"/>
            <a:r>
              <a:rPr lang="en-US" dirty="0"/>
              <a:t>1. The checkbox can be removed.</a:t>
            </a:r>
          </a:p>
          <a:p>
            <a:pPr lvl="1"/>
            <a:r>
              <a:rPr lang="en-US" dirty="0"/>
              <a:t>2. The "It's gone!" message appears.</a:t>
            </a:r>
          </a:p>
          <a:p>
            <a:pPr lvl="1"/>
            <a:r>
              <a:rPr lang="en-US" dirty="0"/>
              <a:t>3. The Add button restores the checkbox.</a:t>
            </a:r>
          </a:p>
          <a:p>
            <a:pPr lvl="1"/>
            <a:r>
              <a:rPr lang="en-US" dirty="0"/>
              <a:t>4. The textbox is initially disabled.</a:t>
            </a:r>
          </a:p>
          <a:p>
            <a:pPr lvl="1"/>
            <a:r>
              <a:rPr lang="en-US" dirty="0"/>
              <a:t>5. Clicking Enable enables the textbox.</a:t>
            </a:r>
          </a:p>
          <a:p>
            <a:pPr lvl="1"/>
            <a:r>
              <a:rPr lang="en-US" dirty="0"/>
              <a:t>6. Enter the text "Claude Code Demo".</a:t>
            </a:r>
          </a:p>
          <a:p>
            <a:pPr lvl="1"/>
            <a:r>
              <a:rPr lang="en-US" dirty="0"/>
              <a:t>7. Verify the entered value.</a:t>
            </a:r>
          </a:p>
          <a:p>
            <a:pPr lvl="1"/>
            <a:endParaRPr lang="en-US" dirty="0"/>
          </a:p>
          <a:p>
            <a:pPr lvl="1"/>
            <a:r>
              <a:rPr lang="en-US" dirty="0"/>
              <a:t>Use Playwright best practices.</a:t>
            </a:r>
          </a:p>
          <a:p>
            <a:pPr lvl="1"/>
            <a:r>
              <a:rPr lang="en-US" dirty="0"/>
              <a:t>Do not use fixed delays or </a:t>
            </a:r>
            <a:r>
              <a:rPr lang="en-US" dirty="0" err="1"/>
              <a:t>waitForTimeout</a:t>
            </a:r>
            <a:r>
              <a:rPr lang="en-US" dirty="0"/>
              <a:t>().</a:t>
            </a:r>
          </a:p>
          <a:p>
            <a:pPr lvl="1"/>
            <a:r>
              <a:rPr lang="en-US" dirty="0"/>
              <a:t>Use assertions and automatic waiting.</a:t>
            </a:r>
          </a:p>
          <a:p>
            <a:pPr lvl="1"/>
            <a:r>
              <a:rPr lang="en-US" dirty="0"/>
              <a:t>Explain any synchronization challenges you encounter.</a:t>
            </a:r>
            <a:endParaRPr lang="en-GB" dirty="0"/>
          </a:p>
        </p:txBody>
      </p:sp>
    </p:spTree>
    <p:extLst>
      <p:ext uri="{BB962C8B-B14F-4D97-AF65-F5344CB8AC3E}">
        <p14:creationId xmlns:p14="http://schemas.microsoft.com/office/powerpoint/2010/main" val="383589445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0786E-8611-3BD5-E865-12B225795A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2FA9DF-7602-9087-0A40-D9CF59271365}"/>
              </a:ext>
            </a:extLst>
          </p:cNvPr>
          <p:cNvSpPr>
            <a:spLocks noGrp="1"/>
          </p:cNvSpPr>
          <p:nvPr>
            <p:ph type="title"/>
          </p:nvPr>
        </p:nvSpPr>
        <p:spPr/>
        <p:txBody>
          <a:bodyPr/>
          <a:lstStyle/>
          <a:p>
            <a:r>
              <a:rPr lang="en-IN" dirty="0"/>
              <a:t>Project 11 – Claude Code for Testing</a:t>
            </a:r>
            <a:endParaRPr lang="en-GB" dirty="0"/>
          </a:p>
        </p:txBody>
      </p:sp>
      <p:sp>
        <p:nvSpPr>
          <p:cNvPr id="3" name="Content Placeholder 2">
            <a:extLst>
              <a:ext uri="{FF2B5EF4-FFF2-40B4-BE49-F238E27FC236}">
                <a16:creationId xmlns:a16="http://schemas.microsoft.com/office/drawing/2014/main" id="{4CD2FD50-6E1F-3687-1DD1-25915215BCF6}"/>
              </a:ext>
            </a:extLst>
          </p:cNvPr>
          <p:cNvSpPr>
            <a:spLocks noGrp="1"/>
          </p:cNvSpPr>
          <p:nvPr>
            <p:ph idx="1"/>
          </p:nvPr>
        </p:nvSpPr>
        <p:spPr/>
        <p:txBody>
          <a:bodyPr>
            <a:normAutofit/>
          </a:bodyPr>
          <a:lstStyle/>
          <a:p>
            <a:r>
              <a:rPr lang="en-US" dirty="0"/>
              <a:t>Ask Claude:</a:t>
            </a:r>
          </a:p>
          <a:p>
            <a:pPr lvl="1"/>
            <a:r>
              <a:rPr lang="en-US" dirty="0"/>
              <a:t>Open the File Upload page.</a:t>
            </a:r>
          </a:p>
          <a:p>
            <a:pPr lvl="1"/>
            <a:endParaRPr lang="en-US" dirty="0"/>
          </a:p>
          <a:p>
            <a:pPr lvl="1"/>
            <a:r>
              <a:rPr lang="en-US" dirty="0"/>
              <a:t>Create a temporary text file named demo.txt.</a:t>
            </a:r>
          </a:p>
          <a:p>
            <a:pPr lvl="1"/>
            <a:endParaRPr lang="en-US" dirty="0"/>
          </a:p>
          <a:p>
            <a:pPr lvl="1"/>
            <a:r>
              <a:rPr lang="en-US" dirty="0"/>
              <a:t>Upload it using Playwright.</a:t>
            </a:r>
          </a:p>
          <a:p>
            <a:pPr lvl="1"/>
            <a:endParaRPr lang="en-US" dirty="0"/>
          </a:p>
          <a:p>
            <a:pPr lvl="1"/>
            <a:r>
              <a:rPr lang="en-US" dirty="0"/>
              <a:t>Verify the upload succeeded.</a:t>
            </a:r>
          </a:p>
          <a:p>
            <a:pPr lvl="1"/>
            <a:endParaRPr lang="en-US" dirty="0"/>
          </a:p>
          <a:p>
            <a:pPr lvl="1"/>
            <a:r>
              <a:rPr lang="en-US" dirty="0"/>
              <a:t>Run the test and explain each step.</a:t>
            </a:r>
            <a:endParaRPr lang="en-GB" dirty="0"/>
          </a:p>
        </p:txBody>
      </p:sp>
    </p:spTree>
    <p:extLst>
      <p:ext uri="{BB962C8B-B14F-4D97-AF65-F5344CB8AC3E}">
        <p14:creationId xmlns:p14="http://schemas.microsoft.com/office/powerpoint/2010/main" val="105220622"/>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65B22-C736-22B4-A278-9258C171CE65}"/>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4EC696FB-41F3-E7C6-E2A6-12FADE9A17C8}"/>
              </a:ext>
            </a:extLst>
          </p:cNvPr>
          <p:cNvSpPr>
            <a:spLocks noGrp="1"/>
          </p:cNvSpPr>
          <p:nvPr>
            <p:ph idx="1"/>
          </p:nvPr>
        </p:nvSpPr>
        <p:spPr/>
        <p:txBody>
          <a:bodyPr/>
          <a:lstStyle/>
          <a:p>
            <a:r>
              <a:rPr lang="en-IN" dirty="0"/>
              <a:t>Typical work life cycle</a:t>
            </a:r>
          </a:p>
          <a:p>
            <a:pPr lvl="1"/>
            <a:r>
              <a:rPr lang="en-GB" dirty="0"/>
              <a:t>Implement one feature → launch browser → run test → verify → move to next feature</a:t>
            </a:r>
          </a:p>
          <a:p>
            <a:r>
              <a:rPr lang="en-GB" dirty="0"/>
              <a:t>Create a new directory: automation</a:t>
            </a:r>
          </a:p>
          <a:p>
            <a:r>
              <a:rPr lang="en-GB" dirty="0"/>
              <a:t>Start Claude</a:t>
            </a:r>
          </a:p>
        </p:txBody>
      </p:sp>
    </p:spTree>
    <p:extLst>
      <p:ext uri="{BB962C8B-B14F-4D97-AF65-F5344CB8AC3E}">
        <p14:creationId xmlns:p14="http://schemas.microsoft.com/office/powerpoint/2010/main" val="123052890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B234D-2468-A39A-B3AB-603C351A20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3F2F04-D9F4-2CB0-CABA-D0CC7B1707EE}"/>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C2CF91AC-4C1E-737E-16A5-2AF276719F53}"/>
              </a:ext>
            </a:extLst>
          </p:cNvPr>
          <p:cNvSpPr>
            <a:spLocks noGrp="1"/>
          </p:cNvSpPr>
          <p:nvPr>
            <p:ph idx="1"/>
          </p:nvPr>
        </p:nvSpPr>
        <p:spPr/>
        <p:txBody>
          <a:bodyPr>
            <a:normAutofit fontScale="25000" lnSpcReduction="20000"/>
          </a:bodyPr>
          <a:lstStyle/>
          <a:p>
            <a:r>
              <a:rPr lang="en-IN" dirty="0"/>
              <a:t>Step 1: </a:t>
            </a:r>
            <a:r>
              <a:rPr lang="en-US" dirty="0"/>
              <a:t>Create a new full-stack application named </a:t>
            </a:r>
            <a:r>
              <a:rPr lang="en-US" dirty="0" err="1"/>
              <a:t>BankDemo</a:t>
            </a:r>
            <a:r>
              <a:rPr lang="en-US" dirty="0"/>
              <a:t>.</a:t>
            </a:r>
          </a:p>
          <a:p>
            <a:endParaRPr lang="en-US" dirty="0"/>
          </a:p>
          <a:p>
            <a:r>
              <a:rPr lang="en-US" dirty="0"/>
              <a:t>Backend requirements</a:t>
            </a:r>
          </a:p>
          <a:p>
            <a:endParaRPr lang="en-US" dirty="0"/>
          </a:p>
          <a:p>
            <a:r>
              <a:rPr lang="en-US" dirty="0"/>
              <a:t>- Spring Boot 3</a:t>
            </a:r>
          </a:p>
          <a:p>
            <a:r>
              <a:rPr lang="en-US" dirty="0"/>
              <a:t>- Java 21</a:t>
            </a:r>
          </a:p>
          <a:p>
            <a:r>
              <a:rPr lang="en-US" dirty="0"/>
              <a:t>- Maven</a:t>
            </a:r>
          </a:p>
          <a:p>
            <a:r>
              <a:rPr lang="en-US" dirty="0"/>
              <a:t>- Spring Web (REST APIs)</a:t>
            </a:r>
          </a:p>
          <a:p>
            <a:r>
              <a:rPr lang="en-US" dirty="0"/>
              <a:t>- Store all data in memory (no database)</a:t>
            </a:r>
          </a:p>
          <a:p>
            <a:endParaRPr lang="en-US" dirty="0"/>
          </a:p>
          <a:p>
            <a:r>
              <a:rPr lang="en-US" dirty="0"/>
              <a:t>Frontend requirements</a:t>
            </a:r>
          </a:p>
          <a:p>
            <a:endParaRPr lang="en-US" dirty="0"/>
          </a:p>
          <a:p>
            <a:r>
              <a:rPr lang="en-US" dirty="0"/>
              <a:t>- React</a:t>
            </a:r>
          </a:p>
          <a:p>
            <a:r>
              <a:rPr lang="en-US" dirty="0"/>
              <a:t>- Vite</a:t>
            </a:r>
          </a:p>
          <a:p>
            <a:r>
              <a:rPr lang="en-US" dirty="0"/>
              <a:t>- Bootstrap 5</a:t>
            </a:r>
          </a:p>
          <a:p>
            <a:r>
              <a:rPr lang="en-US" dirty="0"/>
              <a:t>- Communicate with the backend using REST APIs</a:t>
            </a:r>
          </a:p>
          <a:p>
            <a:endParaRPr lang="en-US" dirty="0"/>
          </a:p>
          <a:p>
            <a:r>
              <a:rPr lang="en-US" dirty="0"/>
              <a:t>Project requirements</a:t>
            </a:r>
          </a:p>
          <a:p>
            <a:endParaRPr lang="en-US" dirty="0"/>
          </a:p>
          <a:p>
            <a:r>
              <a:rPr lang="en-US" dirty="0"/>
              <a:t>- Keep the frontend and backend in separate folders.</a:t>
            </a:r>
          </a:p>
          <a:p>
            <a:r>
              <a:rPr lang="en-US" dirty="0"/>
              <a:t>- Configure CORS appropriately.</a:t>
            </a:r>
          </a:p>
          <a:p>
            <a:r>
              <a:rPr lang="en-US" dirty="0"/>
              <a:t>- Provide scripts or commands to start both applications.</a:t>
            </a:r>
          </a:p>
          <a:p>
            <a:r>
              <a:rPr lang="en-US" dirty="0"/>
              <a:t>- Use clean, production-quality project structure.</a:t>
            </a:r>
          </a:p>
          <a:p>
            <a:endParaRPr lang="en-US" dirty="0"/>
          </a:p>
          <a:p>
            <a:r>
              <a:rPr lang="en-US" dirty="0"/>
              <a:t>After generating the project:</a:t>
            </a:r>
          </a:p>
          <a:p>
            <a:endParaRPr lang="en-US" dirty="0"/>
          </a:p>
          <a:p>
            <a:r>
              <a:rPr lang="en-US" dirty="0"/>
              <a:t>1. Build and start both the Spring Boot backend and the React frontend.</a:t>
            </a:r>
          </a:p>
          <a:p>
            <a:r>
              <a:rPr lang="en-US" dirty="0"/>
              <a:t>2. Verify that both applications are running correctly.</a:t>
            </a:r>
          </a:p>
          <a:p>
            <a:r>
              <a:rPr lang="en-US" dirty="0"/>
              <a:t>3. Open the application in a browser so I can see the home page.</a:t>
            </a:r>
          </a:p>
          <a:p>
            <a:r>
              <a:rPr lang="en-US" dirty="0"/>
              <a:t>4. Explain the project structure before we begin adding features.</a:t>
            </a:r>
            <a:endParaRPr lang="en-GB" dirty="0"/>
          </a:p>
        </p:txBody>
      </p:sp>
    </p:spTree>
    <p:extLst>
      <p:ext uri="{BB962C8B-B14F-4D97-AF65-F5344CB8AC3E}">
        <p14:creationId xmlns:p14="http://schemas.microsoft.com/office/powerpoint/2010/main" val="1247347537"/>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AA8E5-991A-76B4-BFEB-29B6225945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68ECF0-7E2B-626D-9B72-AE9DE24DED55}"/>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D9E1902A-911A-DACB-071E-D9F7B91AD67C}"/>
              </a:ext>
            </a:extLst>
          </p:cNvPr>
          <p:cNvSpPr>
            <a:spLocks noGrp="1"/>
          </p:cNvSpPr>
          <p:nvPr>
            <p:ph idx="1"/>
          </p:nvPr>
        </p:nvSpPr>
        <p:spPr/>
        <p:txBody>
          <a:bodyPr>
            <a:normAutofit fontScale="47500" lnSpcReduction="20000"/>
          </a:bodyPr>
          <a:lstStyle/>
          <a:p>
            <a:r>
              <a:rPr lang="en-IN" dirty="0"/>
              <a:t>Step 2: </a:t>
            </a:r>
            <a:r>
              <a:rPr lang="en-US" dirty="0"/>
              <a:t>The application is now running.</a:t>
            </a:r>
          </a:p>
          <a:p>
            <a:endParaRPr lang="en-US" dirty="0"/>
          </a:p>
          <a:p>
            <a:r>
              <a:rPr lang="en-US" dirty="0"/>
              <a:t>Create a Playwright smoke test for the home page.</a:t>
            </a:r>
          </a:p>
          <a:p>
            <a:endParaRPr lang="en-US" dirty="0"/>
          </a:p>
          <a:p>
            <a:r>
              <a:rPr lang="en-US" dirty="0"/>
              <a:t>Requirements</a:t>
            </a:r>
          </a:p>
          <a:p>
            <a:endParaRPr lang="en-US" dirty="0"/>
          </a:p>
          <a:p>
            <a:r>
              <a:rPr lang="en-US" dirty="0"/>
              <a:t>- Launch a visible browser (not headless).</a:t>
            </a:r>
          </a:p>
          <a:p>
            <a:r>
              <a:rPr lang="en-US" dirty="0"/>
              <a:t>- Navigate to the application.</a:t>
            </a:r>
          </a:p>
          <a:p>
            <a:r>
              <a:rPr lang="en-US" dirty="0"/>
              <a:t>- Verify the page title.</a:t>
            </a:r>
          </a:p>
          <a:p>
            <a:r>
              <a:rPr lang="en-US" dirty="0"/>
              <a:t>- Verify "</a:t>
            </a:r>
            <a:r>
              <a:rPr lang="en-US" dirty="0" err="1"/>
              <a:t>BankDemo</a:t>
            </a:r>
            <a:r>
              <a:rPr lang="en-US" dirty="0"/>
              <a:t>" appears in the navigation bar.</a:t>
            </a:r>
          </a:p>
          <a:p>
            <a:r>
              <a:rPr lang="en-US" dirty="0"/>
              <a:t>- Verify that at least three account cards are displayed.</a:t>
            </a:r>
          </a:p>
          <a:p>
            <a:r>
              <a:rPr lang="en-US" dirty="0"/>
              <a:t>- Verify that the Total Balance is visible.</a:t>
            </a:r>
          </a:p>
          <a:p>
            <a:endParaRPr lang="en-US" dirty="0"/>
          </a:p>
          <a:p>
            <a:r>
              <a:rPr lang="en-US" dirty="0"/>
              <a:t>Execute the test immediately.</a:t>
            </a:r>
          </a:p>
          <a:p>
            <a:endParaRPr lang="en-US" dirty="0"/>
          </a:p>
          <a:p>
            <a:r>
              <a:rPr lang="en-US" dirty="0"/>
              <a:t>Keep the browser open while the test runs and explain each action as you perform it.</a:t>
            </a:r>
            <a:endParaRPr lang="en-GB" dirty="0"/>
          </a:p>
        </p:txBody>
      </p:sp>
    </p:spTree>
    <p:extLst>
      <p:ext uri="{BB962C8B-B14F-4D97-AF65-F5344CB8AC3E}">
        <p14:creationId xmlns:p14="http://schemas.microsoft.com/office/powerpoint/2010/main" val="227223207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50EF9-1FFD-3D40-B863-2EFEF6D9E5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860120-E889-5ADA-5EF1-2045C0D01FC6}"/>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50EEB0F4-6F8B-91BC-B546-855522B220A5}"/>
              </a:ext>
            </a:extLst>
          </p:cNvPr>
          <p:cNvSpPr>
            <a:spLocks noGrp="1"/>
          </p:cNvSpPr>
          <p:nvPr>
            <p:ph idx="1"/>
          </p:nvPr>
        </p:nvSpPr>
        <p:spPr/>
        <p:txBody>
          <a:bodyPr>
            <a:normAutofit fontScale="77500" lnSpcReduction="20000"/>
          </a:bodyPr>
          <a:lstStyle/>
          <a:p>
            <a:r>
              <a:rPr lang="en-IN" dirty="0"/>
              <a:t>Step 3: </a:t>
            </a:r>
            <a:r>
              <a:rPr lang="en-US" dirty="0"/>
              <a:t>Create a Playwright test for depositing money.</a:t>
            </a:r>
          </a:p>
          <a:p>
            <a:endParaRPr lang="en-US" dirty="0"/>
          </a:p>
          <a:p>
            <a:r>
              <a:rPr lang="en-US" dirty="0"/>
              <a:t>Requirements</a:t>
            </a:r>
          </a:p>
          <a:p>
            <a:endParaRPr lang="en-US" dirty="0"/>
          </a:p>
          <a:p>
            <a:r>
              <a:rPr lang="en-US" dirty="0"/>
              <a:t>- Deposit $500 into Alice Johnson's account.</a:t>
            </a:r>
          </a:p>
          <a:p>
            <a:r>
              <a:rPr lang="en-US" dirty="0"/>
              <a:t>- Verify the success message.</a:t>
            </a:r>
          </a:p>
          <a:p>
            <a:r>
              <a:rPr lang="en-US" dirty="0"/>
              <a:t>- Verify Alice's balance increased by exactly $500.</a:t>
            </a:r>
          </a:p>
          <a:p>
            <a:r>
              <a:rPr lang="en-US" dirty="0"/>
              <a:t>- Verify the Total Balance has also increased correctly.</a:t>
            </a:r>
          </a:p>
          <a:p>
            <a:endParaRPr lang="en-US" dirty="0"/>
          </a:p>
          <a:p>
            <a:r>
              <a:rPr lang="en-US" dirty="0"/>
              <a:t>Execute the test immediately.</a:t>
            </a:r>
          </a:p>
          <a:p>
            <a:endParaRPr lang="en-US" dirty="0"/>
          </a:p>
          <a:p>
            <a:r>
              <a:rPr lang="en-US" dirty="0"/>
              <a:t>Narrate each browser interaction while it runs.</a:t>
            </a:r>
            <a:endParaRPr lang="en-GB" dirty="0"/>
          </a:p>
        </p:txBody>
      </p:sp>
    </p:spTree>
    <p:extLst>
      <p:ext uri="{BB962C8B-B14F-4D97-AF65-F5344CB8AC3E}">
        <p14:creationId xmlns:p14="http://schemas.microsoft.com/office/powerpoint/2010/main" val="1150387592"/>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C2841C-F5BE-65A1-332A-CC835158F1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43D1A3-3F0B-775C-B37E-08B069E932E7}"/>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47EE6C38-041E-4875-A8EA-C8CAD9C05533}"/>
              </a:ext>
            </a:extLst>
          </p:cNvPr>
          <p:cNvSpPr>
            <a:spLocks noGrp="1"/>
          </p:cNvSpPr>
          <p:nvPr>
            <p:ph idx="1"/>
          </p:nvPr>
        </p:nvSpPr>
        <p:spPr/>
        <p:txBody>
          <a:bodyPr>
            <a:normAutofit fontScale="77500" lnSpcReduction="20000"/>
          </a:bodyPr>
          <a:lstStyle/>
          <a:p>
            <a:r>
              <a:rPr lang="en-IN" dirty="0"/>
              <a:t>Step 4: </a:t>
            </a:r>
            <a:r>
              <a:rPr lang="en-US" dirty="0"/>
              <a:t>Create and execute a Playwright test that</a:t>
            </a:r>
          </a:p>
          <a:p>
            <a:endParaRPr lang="en-US" dirty="0"/>
          </a:p>
          <a:p>
            <a:r>
              <a:rPr lang="en-US" dirty="0"/>
              <a:t>- Withdraws $300 from Bob Smith.</a:t>
            </a:r>
          </a:p>
          <a:p>
            <a:r>
              <a:rPr lang="en-US" dirty="0"/>
              <a:t>- Verifies the success message.</a:t>
            </a:r>
          </a:p>
          <a:p>
            <a:r>
              <a:rPr lang="en-US" dirty="0"/>
              <a:t>- Verifies the updated account balance.</a:t>
            </a:r>
          </a:p>
          <a:p>
            <a:endParaRPr lang="en-US" dirty="0"/>
          </a:p>
          <a:p>
            <a:r>
              <a:rPr lang="en-US" dirty="0"/>
              <a:t>Then immediately perform a second withdrawal of $100000.</a:t>
            </a:r>
          </a:p>
          <a:p>
            <a:endParaRPr lang="en-US" dirty="0"/>
          </a:p>
          <a:p>
            <a:r>
              <a:rPr lang="en-US" dirty="0"/>
              <a:t>Verify that the validation message is displayed and that the balance remains unchanged.</a:t>
            </a:r>
          </a:p>
          <a:p>
            <a:endParaRPr lang="en-US" dirty="0"/>
          </a:p>
          <a:p>
            <a:r>
              <a:rPr lang="en-US" dirty="0"/>
              <a:t>Keep the browser visible.</a:t>
            </a:r>
            <a:endParaRPr lang="en-GB" dirty="0"/>
          </a:p>
        </p:txBody>
      </p:sp>
    </p:spTree>
    <p:extLst>
      <p:ext uri="{BB962C8B-B14F-4D97-AF65-F5344CB8AC3E}">
        <p14:creationId xmlns:p14="http://schemas.microsoft.com/office/powerpoint/2010/main" val="3549150712"/>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AB733-59DD-4F83-45B7-BE8962BAE1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47B561-0312-EC08-0828-5AF2CBDAA8A1}"/>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F695122E-EACB-1800-A2F0-44683FFA1E9B}"/>
              </a:ext>
            </a:extLst>
          </p:cNvPr>
          <p:cNvSpPr>
            <a:spLocks noGrp="1"/>
          </p:cNvSpPr>
          <p:nvPr>
            <p:ph idx="1"/>
          </p:nvPr>
        </p:nvSpPr>
        <p:spPr/>
        <p:txBody>
          <a:bodyPr>
            <a:normAutofit fontScale="62500" lnSpcReduction="20000"/>
          </a:bodyPr>
          <a:lstStyle/>
          <a:p>
            <a:r>
              <a:rPr lang="en-IN" dirty="0"/>
              <a:t>Step 5: </a:t>
            </a:r>
            <a:r>
              <a:rPr lang="en-US" dirty="0"/>
              <a:t>Create a Playwright end-to-end test for transferring funds.</a:t>
            </a:r>
          </a:p>
          <a:p>
            <a:endParaRPr lang="en-US" dirty="0"/>
          </a:p>
          <a:p>
            <a:r>
              <a:rPr lang="en-US" dirty="0"/>
              <a:t>Requirements</a:t>
            </a:r>
          </a:p>
          <a:p>
            <a:endParaRPr lang="en-US" dirty="0"/>
          </a:p>
          <a:p>
            <a:r>
              <a:rPr lang="en-US" dirty="0"/>
              <a:t>- Transfer $250 from Alice Johnson to Priya Patel.</a:t>
            </a:r>
          </a:p>
          <a:p>
            <a:r>
              <a:rPr lang="en-US" dirty="0"/>
              <a:t>- Verify the confirmation message.</a:t>
            </a:r>
          </a:p>
          <a:p>
            <a:r>
              <a:rPr lang="en-US" dirty="0"/>
              <a:t>- Verify Alice's balance decreased.</a:t>
            </a:r>
          </a:p>
          <a:p>
            <a:r>
              <a:rPr lang="en-US" dirty="0"/>
              <a:t>- Verify Priya's balance increased.</a:t>
            </a:r>
          </a:p>
          <a:p>
            <a:r>
              <a:rPr lang="en-US" dirty="0"/>
              <a:t>- Verify the Total Balance remains unchanged.</a:t>
            </a:r>
          </a:p>
          <a:p>
            <a:endParaRPr lang="en-US" dirty="0"/>
          </a:p>
          <a:p>
            <a:r>
              <a:rPr lang="en-US" dirty="0"/>
              <a:t>Execute the test immediately.</a:t>
            </a:r>
          </a:p>
          <a:p>
            <a:endParaRPr lang="en-US" dirty="0"/>
          </a:p>
          <a:p>
            <a:r>
              <a:rPr lang="en-US" dirty="0"/>
              <a:t>Explain every browser interaction.</a:t>
            </a:r>
            <a:endParaRPr lang="en-GB" dirty="0"/>
          </a:p>
        </p:txBody>
      </p:sp>
    </p:spTree>
    <p:extLst>
      <p:ext uri="{BB962C8B-B14F-4D97-AF65-F5344CB8AC3E}">
        <p14:creationId xmlns:p14="http://schemas.microsoft.com/office/powerpoint/2010/main" val="203230109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D152E-93F5-03F0-743E-BB05F5ED70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6C0D3D-3F69-2A67-EE4A-0FB4D86AC881}"/>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FC30EF1E-D0DA-F3F0-BE43-4A14FC07D5F6}"/>
              </a:ext>
            </a:extLst>
          </p:cNvPr>
          <p:cNvSpPr>
            <a:spLocks noGrp="1"/>
          </p:cNvSpPr>
          <p:nvPr>
            <p:ph idx="1"/>
          </p:nvPr>
        </p:nvSpPr>
        <p:spPr/>
        <p:txBody>
          <a:bodyPr>
            <a:normAutofit fontScale="55000" lnSpcReduction="20000"/>
          </a:bodyPr>
          <a:lstStyle/>
          <a:p>
            <a:r>
              <a:rPr lang="en-IN" dirty="0"/>
              <a:t>Step 6: </a:t>
            </a:r>
            <a:r>
              <a:rPr lang="en-US" dirty="0"/>
              <a:t>Create a Playwright test.</a:t>
            </a:r>
          </a:p>
          <a:p>
            <a:endParaRPr lang="en-US" dirty="0"/>
          </a:p>
          <a:p>
            <a:r>
              <a:rPr lang="en-US" dirty="0"/>
              <a:t>Create a new Savings account for</a:t>
            </a:r>
          </a:p>
          <a:p>
            <a:endParaRPr lang="en-US" dirty="0"/>
          </a:p>
          <a:p>
            <a:r>
              <a:rPr lang="en-US" dirty="0"/>
              <a:t>Charlie Shaw</a:t>
            </a:r>
          </a:p>
          <a:p>
            <a:endParaRPr lang="en-US" dirty="0"/>
          </a:p>
          <a:p>
            <a:r>
              <a:rPr lang="en-US" dirty="0"/>
              <a:t>with an initial deposit of $1000.</a:t>
            </a:r>
          </a:p>
          <a:p>
            <a:endParaRPr lang="en-US" dirty="0"/>
          </a:p>
          <a:p>
            <a:r>
              <a:rPr lang="en-US" dirty="0"/>
              <a:t>Verify</a:t>
            </a:r>
          </a:p>
          <a:p>
            <a:endParaRPr lang="en-US" dirty="0"/>
          </a:p>
          <a:p>
            <a:r>
              <a:rPr lang="en-US" dirty="0"/>
              <a:t>- confirmation message</a:t>
            </a:r>
          </a:p>
          <a:p>
            <a:r>
              <a:rPr lang="en-US" dirty="0"/>
              <a:t>- account appears on the dashboard</a:t>
            </a:r>
          </a:p>
          <a:p>
            <a:r>
              <a:rPr lang="en-US" dirty="0"/>
              <a:t>- total balance updates</a:t>
            </a:r>
          </a:p>
          <a:p>
            <a:endParaRPr lang="en-US" dirty="0"/>
          </a:p>
          <a:p>
            <a:r>
              <a:rPr lang="en-US" dirty="0"/>
              <a:t>Execute immediately.</a:t>
            </a:r>
            <a:endParaRPr lang="en-GB" dirty="0"/>
          </a:p>
        </p:txBody>
      </p:sp>
    </p:spTree>
    <p:extLst>
      <p:ext uri="{BB962C8B-B14F-4D97-AF65-F5344CB8AC3E}">
        <p14:creationId xmlns:p14="http://schemas.microsoft.com/office/powerpoint/2010/main" val="394962063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BD769-9346-7683-D801-63A1895475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7DE5C6-9C0F-8476-AAA9-25FFECE66637}"/>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E996CC70-1F91-5E4A-EFB1-A0D8E8E636D3}"/>
              </a:ext>
            </a:extLst>
          </p:cNvPr>
          <p:cNvSpPr>
            <a:spLocks noGrp="1"/>
          </p:cNvSpPr>
          <p:nvPr>
            <p:ph idx="1"/>
          </p:nvPr>
        </p:nvSpPr>
        <p:spPr/>
        <p:txBody>
          <a:bodyPr>
            <a:normAutofit fontScale="77500" lnSpcReduction="20000"/>
          </a:bodyPr>
          <a:lstStyle/>
          <a:p>
            <a:r>
              <a:rPr lang="en-IN" dirty="0"/>
              <a:t>Step 7: </a:t>
            </a:r>
            <a:r>
              <a:rPr lang="en-US" dirty="0"/>
              <a:t>Create a Playwright test.</a:t>
            </a:r>
          </a:p>
          <a:p>
            <a:endParaRPr lang="en-US" dirty="0"/>
          </a:p>
          <a:p>
            <a:r>
              <a:rPr lang="en-US" dirty="0"/>
              <a:t>Open Alice Johnson's transaction history.</a:t>
            </a:r>
          </a:p>
          <a:p>
            <a:endParaRPr lang="en-US" dirty="0"/>
          </a:p>
          <a:p>
            <a:r>
              <a:rPr lang="en-US" dirty="0"/>
              <a:t>Verify</a:t>
            </a:r>
          </a:p>
          <a:p>
            <a:endParaRPr lang="en-US" dirty="0"/>
          </a:p>
          <a:p>
            <a:r>
              <a:rPr lang="en-US" dirty="0"/>
              <a:t>- the page opens</a:t>
            </a:r>
          </a:p>
          <a:p>
            <a:r>
              <a:rPr lang="en-US" dirty="0"/>
              <a:t>- previous transactions are listed</a:t>
            </a:r>
          </a:p>
          <a:p>
            <a:r>
              <a:rPr lang="en-US" dirty="0"/>
              <a:t>- today's transaction appears</a:t>
            </a:r>
          </a:p>
          <a:p>
            <a:r>
              <a:rPr lang="en-US" dirty="0"/>
              <a:t>- balances are correct</a:t>
            </a:r>
          </a:p>
          <a:p>
            <a:endParaRPr lang="en-US" dirty="0"/>
          </a:p>
          <a:p>
            <a:r>
              <a:rPr lang="en-US" dirty="0"/>
              <a:t>Execute immediately.</a:t>
            </a:r>
            <a:endParaRPr lang="en-GB" dirty="0"/>
          </a:p>
        </p:txBody>
      </p:sp>
    </p:spTree>
    <p:extLst>
      <p:ext uri="{BB962C8B-B14F-4D97-AF65-F5344CB8AC3E}">
        <p14:creationId xmlns:p14="http://schemas.microsoft.com/office/powerpoint/2010/main" val="913379703"/>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7F22C-D674-3FB7-E58B-9CDE941797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1CC2A7-2E99-A946-E323-A48B539EC0EB}"/>
              </a:ext>
            </a:extLst>
          </p:cNvPr>
          <p:cNvSpPr>
            <a:spLocks noGrp="1"/>
          </p:cNvSpPr>
          <p:nvPr>
            <p:ph type="title"/>
          </p:nvPr>
        </p:nvSpPr>
        <p:spPr/>
        <p:txBody>
          <a:bodyPr/>
          <a:lstStyle/>
          <a:p>
            <a:r>
              <a:rPr lang="en-IN" dirty="0"/>
              <a:t>Project 12 – Automation Engineer</a:t>
            </a:r>
            <a:endParaRPr lang="en-GB" dirty="0"/>
          </a:p>
        </p:txBody>
      </p:sp>
      <p:sp>
        <p:nvSpPr>
          <p:cNvPr id="3" name="Content Placeholder 2">
            <a:extLst>
              <a:ext uri="{FF2B5EF4-FFF2-40B4-BE49-F238E27FC236}">
                <a16:creationId xmlns:a16="http://schemas.microsoft.com/office/drawing/2014/main" id="{8CA8382F-D1A2-7F9E-E58C-C7647F281E78}"/>
              </a:ext>
            </a:extLst>
          </p:cNvPr>
          <p:cNvSpPr>
            <a:spLocks noGrp="1"/>
          </p:cNvSpPr>
          <p:nvPr>
            <p:ph idx="1"/>
          </p:nvPr>
        </p:nvSpPr>
        <p:spPr/>
        <p:txBody>
          <a:bodyPr>
            <a:normAutofit fontScale="32500" lnSpcReduction="20000"/>
          </a:bodyPr>
          <a:lstStyle/>
          <a:p>
            <a:r>
              <a:rPr lang="en-IN" dirty="0"/>
              <a:t>Step 8 (Responsive test): </a:t>
            </a:r>
            <a:r>
              <a:rPr lang="en-US" dirty="0"/>
              <a:t>Create a Playwright test.</a:t>
            </a:r>
          </a:p>
          <a:p>
            <a:endParaRPr lang="en-US" dirty="0"/>
          </a:p>
          <a:p>
            <a:r>
              <a:rPr lang="en-US" dirty="0"/>
              <a:t>Run it twice.</a:t>
            </a:r>
          </a:p>
          <a:p>
            <a:endParaRPr lang="en-US" dirty="0"/>
          </a:p>
          <a:p>
            <a:r>
              <a:rPr lang="en-US" dirty="0"/>
              <a:t>Desktop:</a:t>
            </a:r>
          </a:p>
          <a:p>
            <a:r>
              <a:rPr lang="en-US" dirty="0"/>
              <a:t>1920x1080</a:t>
            </a:r>
          </a:p>
          <a:p>
            <a:endParaRPr lang="en-US" dirty="0"/>
          </a:p>
          <a:p>
            <a:r>
              <a:rPr lang="en-US" dirty="0"/>
              <a:t>Tablet:</a:t>
            </a:r>
          </a:p>
          <a:p>
            <a:r>
              <a:rPr lang="en-US" dirty="0"/>
              <a:t>768x1024</a:t>
            </a:r>
          </a:p>
          <a:p>
            <a:endParaRPr lang="en-US" dirty="0"/>
          </a:p>
          <a:p>
            <a:r>
              <a:rPr lang="en-US" dirty="0"/>
              <a:t>Verify that</a:t>
            </a:r>
          </a:p>
          <a:p>
            <a:endParaRPr lang="en-US" dirty="0"/>
          </a:p>
          <a:p>
            <a:r>
              <a:rPr lang="en-US" dirty="0"/>
              <a:t>- navigation works</a:t>
            </a:r>
          </a:p>
          <a:p>
            <a:r>
              <a:rPr lang="en-US" dirty="0"/>
              <a:t>- cards remain readable</a:t>
            </a:r>
          </a:p>
          <a:p>
            <a:r>
              <a:rPr lang="en-US" dirty="0"/>
              <a:t>- buttons are visible</a:t>
            </a:r>
          </a:p>
          <a:p>
            <a:r>
              <a:rPr lang="en-US" dirty="0"/>
              <a:t>- no horizontal scrolling occurs</a:t>
            </a:r>
          </a:p>
          <a:p>
            <a:endParaRPr lang="en-US" dirty="0"/>
          </a:p>
          <a:p>
            <a:r>
              <a:rPr lang="en-US" dirty="0"/>
              <a:t>Execute immediately.</a:t>
            </a:r>
            <a:endParaRPr lang="en-GB" dirty="0"/>
          </a:p>
        </p:txBody>
      </p:sp>
    </p:spTree>
    <p:extLst>
      <p:ext uri="{BB962C8B-B14F-4D97-AF65-F5344CB8AC3E}">
        <p14:creationId xmlns:p14="http://schemas.microsoft.com/office/powerpoint/2010/main" val="3881380354"/>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804A70-8AF8-5F63-0061-CA3E489E2FEC}"/>
              </a:ext>
            </a:extLst>
          </p:cNvPr>
          <p:cNvSpPr>
            <a:spLocks noGrp="1"/>
          </p:cNvSpPr>
          <p:nvPr>
            <p:ph type="title"/>
          </p:nvPr>
        </p:nvSpPr>
        <p:spPr/>
        <p:txBody>
          <a:bodyPr/>
          <a:lstStyle/>
          <a:p>
            <a:r>
              <a:rPr lang="en-IN" dirty="0"/>
              <a:t>Project 13 – End-to-End Feature, Three Roles</a:t>
            </a:r>
            <a:endParaRPr lang="en-GB" dirty="0"/>
          </a:p>
        </p:txBody>
      </p:sp>
      <p:sp>
        <p:nvSpPr>
          <p:cNvPr id="3" name="Content Placeholder 2">
            <a:extLst>
              <a:ext uri="{FF2B5EF4-FFF2-40B4-BE49-F238E27FC236}">
                <a16:creationId xmlns:a16="http://schemas.microsoft.com/office/drawing/2014/main" id="{8D485825-459B-6996-9DC1-7EA93A1EC716}"/>
              </a:ext>
            </a:extLst>
          </p:cNvPr>
          <p:cNvSpPr>
            <a:spLocks noGrp="1"/>
          </p:cNvSpPr>
          <p:nvPr>
            <p:ph idx="1"/>
          </p:nvPr>
        </p:nvSpPr>
        <p:spPr/>
        <p:txBody>
          <a:bodyPr/>
          <a:lstStyle/>
          <a:p>
            <a:r>
              <a:rPr lang="en-IN" dirty="0"/>
              <a:t>Goal: </a:t>
            </a:r>
            <a:r>
              <a:rPr lang="en-GB" dirty="0"/>
              <a:t>Run a complete feature cycle — spec → guarded implementation → verification — using the CLAUDE.md, hooks, and prompt-engineering skills from the entire course, with each role doing the part they actually practiced</a:t>
            </a:r>
          </a:p>
          <a:p>
            <a:r>
              <a:rPr lang="en-GB" dirty="0"/>
              <a:t>Setup: Pick some existing project to add a new feature, if none exists, use the notes manager/expense tracker/personal website and have one of the features as the new feature to be added (See next slide)</a:t>
            </a:r>
          </a:p>
        </p:txBody>
      </p:sp>
    </p:spTree>
    <p:extLst>
      <p:ext uri="{BB962C8B-B14F-4D97-AF65-F5344CB8AC3E}">
        <p14:creationId xmlns:p14="http://schemas.microsoft.com/office/powerpoint/2010/main" val="355887660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40405-7208-2CCD-7224-9D71DE371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3E1AD6-D4EC-1537-DC57-EEE1A5690554}"/>
              </a:ext>
            </a:extLst>
          </p:cNvPr>
          <p:cNvSpPr>
            <a:spLocks noGrp="1"/>
          </p:cNvSpPr>
          <p:nvPr>
            <p:ph type="title"/>
          </p:nvPr>
        </p:nvSpPr>
        <p:spPr/>
        <p:txBody>
          <a:bodyPr/>
          <a:lstStyle/>
          <a:p>
            <a:r>
              <a:rPr lang="en-IN" dirty="0"/>
              <a:t>Project 13 – End-to-End Feature, Three Roles</a:t>
            </a:r>
            <a:endParaRPr lang="en-GB" dirty="0"/>
          </a:p>
        </p:txBody>
      </p:sp>
      <p:graphicFrame>
        <p:nvGraphicFramePr>
          <p:cNvPr id="4" name="Table 3">
            <a:extLst>
              <a:ext uri="{FF2B5EF4-FFF2-40B4-BE49-F238E27FC236}">
                <a16:creationId xmlns:a16="http://schemas.microsoft.com/office/drawing/2014/main" id="{55EE4BA7-1E72-8D25-754D-9346E3601857}"/>
              </a:ext>
            </a:extLst>
          </p:cNvPr>
          <p:cNvGraphicFramePr>
            <a:graphicFrameLocks noGrp="1"/>
          </p:cNvGraphicFramePr>
          <p:nvPr>
            <p:extLst>
              <p:ext uri="{D42A27DB-BD31-4B8C-83A1-F6EECF244321}">
                <p14:modId xmlns:p14="http://schemas.microsoft.com/office/powerpoint/2010/main" val="3436523792"/>
              </p:ext>
            </p:extLst>
          </p:nvPr>
        </p:nvGraphicFramePr>
        <p:xfrm>
          <a:off x="691617" y="1937438"/>
          <a:ext cx="10515600" cy="3383280"/>
        </p:xfrm>
        <a:graphic>
          <a:graphicData uri="http://schemas.openxmlformats.org/drawingml/2006/table">
            <a:tbl>
              <a:tblPr firstRow="1">
                <a:tableStyleId>{B301B821-A1FF-4177-AEE7-76D212191A09}</a:tableStyleId>
              </a:tblPr>
              <a:tblGrid>
                <a:gridCol w="2628900">
                  <a:extLst>
                    <a:ext uri="{9D8B030D-6E8A-4147-A177-3AD203B41FA5}">
                      <a16:colId xmlns:a16="http://schemas.microsoft.com/office/drawing/2014/main" val="1871148099"/>
                    </a:ext>
                  </a:extLst>
                </a:gridCol>
                <a:gridCol w="2628900">
                  <a:extLst>
                    <a:ext uri="{9D8B030D-6E8A-4147-A177-3AD203B41FA5}">
                      <a16:colId xmlns:a16="http://schemas.microsoft.com/office/drawing/2014/main" val="2906259411"/>
                    </a:ext>
                  </a:extLst>
                </a:gridCol>
                <a:gridCol w="2628900">
                  <a:extLst>
                    <a:ext uri="{9D8B030D-6E8A-4147-A177-3AD203B41FA5}">
                      <a16:colId xmlns:a16="http://schemas.microsoft.com/office/drawing/2014/main" val="3652871490"/>
                    </a:ext>
                  </a:extLst>
                </a:gridCol>
                <a:gridCol w="2628900">
                  <a:extLst>
                    <a:ext uri="{9D8B030D-6E8A-4147-A177-3AD203B41FA5}">
                      <a16:colId xmlns:a16="http://schemas.microsoft.com/office/drawing/2014/main" val="684140413"/>
                    </a:ext>
                  </a:extLst>
                </a:gridCol>
              </a:tblGrid>
              <a:tr h="0">
                <a:tc>
                  <a:txBody>
                    <a:bodyPr/>
                    <a:lstStyle/>
                    <a:p>
                      <a:pPr>
                        <a:buNone/>
                      </a:pPr>
                      <a:r>
                        <a:rPr lang="en-GB"/>
                        <a:t>Project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Feature Option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Feature Option 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Feature Option 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9496690"/>
                  </a:ext>
                </a:extLst>
              </a:tr>
              <a:tr h="0">
                <a:tc>
                  <a:txBody>
                    <a:bodyPr/>
                    <a:lstStyle/>
                    <a:p>
                      <a:pPr>
                        <a:buNone/>
                      </a:pPr>
                      <a:r>
                        <a:rPr lang="en-GB" b="1"/>
                        <a:t>Personal Website</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Add a "download resume" button linking to a PDF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Add a testimonials/quotes section with 2–3 sample quotes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Add a simple contact form (no backend — just mailto link)</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90072666"/>
                  </a:ext>
                </a:extLst>
              </a:tr>
              <a:tr h="0">
                <a:tc>
                  <a:txBody>
                    <a:bodyPr/>
                    <a:lstStyle/>
                    <a:p>
                      <a:pPr>
                        <a:buNone/>
                      </a:pPr>
                      <a:r>
                        <a:rPr lang="en-GB" b="1"/>
                        <a:t>Personal Notes Manager</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Add a "pin/</a:t>
                      </a:r>
                      <a:r>
                        <a:rPr lang="en-GB" dirty="0" err="1"/>
                        <a:t>favorite</a:t>
                      </a:r>
                      <a:r>
                        <a:rPr lang="en-GB" dirty="0"/>
                        <a:t>" flag so pinned notes show first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Add a word/character count shown per note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Add a "duplicate note" command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11674145"/>
                  </a:ext>
                </a:extLst>
              </a:tr>
              <a:tr h="0">
                <a:tc>
                  <a:txBody>
                    <a:bodyPr/>
                    <a:lstStyle/>
                    <a:p>
                      <a:pPr>
                        <a:buNone/>
                      </a:pPr>
                      <a:r>
                        <a:rPr lang="en-GB" b="1"/>
                        <a:t>Expense Tracker</a:t>
                      </a:r>
                      <a:endParaRPr lang="en-GB"/>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Add a monthly total summary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a:t>Add a "top 3 categories this month" view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GB" dirty="0"/>
                        <a:t>Add a simple budget warning ("you've spent 80% of your monthly limit")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99056744"/>
                  </a:ext>
                </a:extLst>
              </a:tr>
            </a:tbl>
          </a:graphicData>
        </a:graphic>
      </p:graphicFrame>
    </p:spTree>
    <p:extLst>
      <p:ext uri="{BB962C8B-B14F-4D97-AF65-F5344CB8AC3E}">
        <p14:creationId xmlns:p14="http://schemas.microsoft.com/office/powerpoint/2010/main" val="175699485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71CBC-D1E6-C535-49D3-62A04FCE5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9E8E2-1007-5FEA-5FD2-661F0AE59088}"/>
              </a:ext>
            </a:extLst>
          </p:cNvPr>
          <p:cNvSpPr>
            <a:spLocks noGrp="1"/>
          </p:cNvSpPr>
          <p:nvPr>
            <p:ph type="title"/>
          </p:nvPr>
        </p:nvSpPr>
        <p:spPr/>
        <p:txBody>
          <a:bodyPr/>
          <a:lstStyle/>
          <a:p>
            <a:r>
              <a:rPr lang="en-IN" dirty="0"/>
              <a:t>Project 13 – End-to-End Feature, Three Roles</a:t>
            </a:r>
            <a:endParaRPr lang="en-GB" dirty="0"/>
          </a:p>
        </p:txBody>
      </p:sp>
      <p:sp>
        <p:nvSpPr>
          <p:cNvPr id="3" name="Content Placeholder 2">
            <a:extLst>
              <a:ext uri="{FF2B5EF4-FFF2-40B4-BE49-F238E27FC236}">
                <a16:creationId xmlns:a16="http://schemas.microsoft.com/office/drawing/2014/main" id="{BB03619C-D5F4-07F1-B130-F2C8623D1892}"/>
              </a:ext>
            </a:extLst>
          </p:cNvPr>
          <p:cNvSpPr>
            <a:spLocks noGrp="1"/>
          </p:cNvSpPr>
          <p:nvPr>
            <p:ph idx="1"/>
          </p:nvPr>
        </p:nvSpPr>
        <p:spPr/>
        <p:txBody>
          <a:bodyPr>
            <a:normAutofit lnSpcReduction="10000"/>
          </a:bodyPr>
          <a:lstStyle/>
          <a:p>
            <a:r>
              <a:rPr lang="en-IN" dirty="0"/>
              <a:t>Step 1: PM/BA writes the specs</a:t>
            </a:r>
          </a:p>
          <a:p>
            <a:r>
              <a:rPr lang="en-GB" dirty="0"/>
              <a:t>Using the Role-Task-Context-Output-Limits-Verification formula from Section 4, and the SPECS.md pattern from earlier sections:</a:t>
            </a:r>
          </a:p>
          <a:p>
            <a:pPr lvl="1"/>
            <a:r>
              <a:rPr lang="en-GB" dirty="0"/>
              <a:t>"Act as a business analyst drafting requirements. Context: [describe the feature idea]. Output: a SPECS.md with user story, acceptance criteria, and edge cases. Limits: do not write any code — this is for a developer to implement later. Verification: read it back and tell me if any acceptance criterion is untestable as written."</a:t>
            </a:r>
          </a:p>
          <a:p>
            <a:r>
              <a:rPr lang="en-GB" dirty="0"/>
              <a:t>Save the output as SPECS.md in the project folder</a:t>
            </a:r>
          </a:p>
          <a:p>
            <a:r>
              <a:rPr lang="en-GB" dirty="0"/>
              <a:t>PM/BA reviews it once against the "Exercise Solutions" reminder: is every acceptance criterion something someone could actually check?</a:t>
            </a:r>
          </a:p>
        </p:txBody>
      </p:sp>
    </p:spTree>
    <p:extLst>
      <p:ext uri="{BB962C8B-B14F-4D97-AF65-F5344CB8AC3E}">
        <p14:creationId xmlns:p14="http://schemas.microsoft.com/office/powerpoint/2010/main" val="118107427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A4072-9C72-B3FD-0315-A149A828DA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BFFEA0-5A5E-9AF5-88C7-F6A9F9EDAA35}"/>
              </a:ext>
            </a:extLst>
          </p:cNvPr>
          <p:cNvSpPr>
            <a:spLocks noGrp="1"/>
          </p:cNvSpPr>
          <p:nvPr>
            <p:ph type="title"/>
          </p:nvPr>
        </p:nvSpPr>
        <p:spPr/>
        <p:txBody>
          <a:bodyPr/>
          <a:lstStyle/>
          <a:p>
            <a:r>
              <a:rPr lang="en-IN" dirty="0"/>
              <a:t>Project 13 – End-to-End Feature, Three Roles</a:t>
            </a:r>
            <a:endParaRPr lang="en-GB" dirty="0"/>
          </a:p>
        </p:txBody>
      </p:sp>
      <p:sp>
        <p:nvSpPr>
          <p:cNvPr id="3" name="Content Placeholder 2">
            <a:extLst>
              <a:ext uri="{FF2B5EF4-FFF2-40B4-BE49-F238E27FC236}">
                <a16:creationId xmlns:a16="http://schemas.microsoft.com/office/drawing/2014/main" id="{FF4232CF-0EB9-90DC-793F-DE61D5130EB2}"/>
              </a:ext>
            </a:extLst>
          </p:cNvPr>
          <p:cNvSpPr>
            <a:spLocks noGrp="1"/>
          </p:cNvSpPr>
          <p:nvPr>
            <p:ph idx="1"/>
          </p:nvPr>
        </p:nvSpPr>
        <p:spPr/>
        <p:txBody>
          <a:bodyPr>
            <a:normAutofit fontScale="77500" lnSpcReduction="20000"/>
          </a:bodyPr>
          <a:lstStyle/>
          <a:p>
            <a:r>
              <a:rPr lang="en-IN" dirty="0"/>
              <a:t>Step 2: Technical colleague sets the guardrails</a:t>
            </a:r>
          </a:p>
          <a:p>
            <a:r>
              <a:rPr lang="en-GB" dirty="0"/>
              <a:t>Before writing the code, two things are done</a:t>
            </a:r>
          </a:p>
          <a:p>
            <a:pPr lvl="1"/>
            <a:r>
              <a:rPr lang="en-GB" dirty="0"/>
              <a:t>2a — Write a CLAUDE.md</a:t>
            </a:r>
          </a:p>
          <a:p>
            <a:pPr lvl="2"/>
            <a:r>
              <a:rPr lang="en-GB" dirty="0"/>
              <a:t>"Inspect this project and help me create a short CLAUDE.md file. Include: project purpose, important files, coding rules, testing rules, and changes that require approval. Keep it beginner-friendly and concise.“</a:t>
            </a:r>
          </a:p>
          <a:p>
            <a:pPr lvl="1"/>
            <a:r>
              <a:rPr lang="en-GB" dirty="0"/>
              <a:t>2b — Add a hook that blocks unreviewed changes</a:t>
            </a:r>
          </a:p>
          <a:p>
            <a:pPr lvl="2"/>
            <a:r>
              <a:rPr lang="en-GB" dirty="0"/>
              <a:t>{</a:t>
            </a:r>
          </a:p>
          <a:p>
            <a:pPr lvl="2"/>
            <a:r>
              <a:rPr lang="en-GB" dirty="0"/>
              <a:t>  "hooks": {</a:t>
            </a:r>
          </a:p>
          <a:p>
            <a:pPr lvl="2"/>
            <a:r>
              <a:rPr lang="en-GB" dirty="0"/>
              <a:t>    "</a:t>
            </a:r>
            <a:r>
              <a:rPr lang="en-GB" dirty="0" err="1"/>
              <a:t>PreToolUse</a:t>
            </a:r>
            <a:r>
              <a:rPr lang="en-GB" dirty="0"/>
              <a:t>": [</a:t>
            </a:r>
          </a:p>
          <a:p>
            <a:pPr lvl="2"/>
            <a:r>
              <a:rPr lang="en-GB" dirty="0"/>
              <a:t>      {</a:t>
            </a:r>
          </a:p>
          <a:p>
            <a:pPr lvl="2"/>
            <a:r>
              <a:rPr lang="en-GB" dirty="0"/>
              <a:t>        "matcher": "Edit",</a:t>
            </a:r>
          </a:p>
          <a:p>
            <a:pPr lvl="2"/>
            <a:r>
              <a:rPr lang="en-GB" dirty="0"/>
              <a:t>        "command": "python3 -c \"import sys, </a:t>
            </a:r>
            <a:r>
              <a:rPr lang="en-GB" dirty="0" err="1"/>
              <a:t>os</a:t>
            </a:r>
            <a:r>
              <a:rPr lang="en-GB" dirty="0"/>
              <a:t>; </a:t>
            </a:r>
            <a:r>
              <a:rPr lang="en-GB" dirty="0" err="1"/>
              <a:t>sys.exit</a:t>
            </a:r>
            <a:r>
              <a:rPr lang="en-GB" dirty="0"/>
              <a:t>(2 if not </a:t>
            </a:r>
            <a:r>
              <a:rPr lang="en-GB" dirty="0" err="1"/>
              <a:t>os.path.exists</a:t>
            </a:r>
            <a:r>
              <a:rPr lang="en-GB" dirty="0"/>
              <a:t>('</a:t>
            </a:r>
            <a:r>
              <a:rPr lang="en-GB" dirty="0" err="1"/>
              <a:t>reviewed.flag</a:t>
            </a:r>
            <a:r>
              <a:rPr lang="en-GB" dirty="0"/>
              <a:t>') else 0)\""</a:t>
            </a:r>
          </a:p>
          <a:p>
            <a:pPr lvl="2"/>
            <a:r>
              <a:rPr lang="en-GB" dirty="0"/>
              <a:t>      }</a:t>
            </a:r>
          </a:p>
          <a:p>
            <a:pPr lvl="2"/>
            <a:r>
              <a:rPr lang="en-GB" dirty="0"/>
              <a:t>    ]</a:t>
            </a:r>
          </a:p>
          <a:p>
            <a:pPr lvl="2"/>
            <a:r>
              <a:rPr lang="en-GB" dirty="0"/>
              <a:t>  }</a:t>
            </a:r>
          </a:p>
          <a:p>
            <a:pPr lvl="2"/>
            <a:r>
              <a:rPr lang="en-GB"/>
              <a:t>}</a:t>
            </a:r>
            <a:endParaRPr lang="en-GB" dirty="0"/>
          </a:p>
        </p:txBody>
      </p:sp>
      <p:sp>
        <p:nvSpPr>
          <p:cNvPr id="8" name="TextBox 7">
            <a:extLst>
              <a:ext uri="{FF2B5EF4-FFF2-40B4-BE49-F238E27FC236}">
                <a16:creationId xmlns:a16="http://schemas.microsoft.com/office/drawing/2014/main" id="{3152F270-8F70-658E-44AA-D9D2EA2E045A}"/>
              </a:ext>
            </a:extLst>
          </p:cNvPr>
          <p:cNvSpPr txBox="1"/>
          <p:nvPr/>
        </p:nvSpPr>
        <p:spPr>
          <a:xfrm>
            <a:off x="6533423" y="5046543"/>
            <a:ext cx="2959584" cy="1200329"/>
          </a:xfrm>
          <a:prstGeom prst="rect">
            <a:avLst/>
          </a:prstGeom>
          <a:solidFill>
            <a:schemeClr val="accent4">
              <a:lumMod val="20000"/>
              <a:lumOff val="80000"/>
            </a:schemeClr>
          </a:solidFill>
        </p:spPr>
        <p:txBody>
          <a:bodyPr wrap="square" rtlCol="0">
            <a:spAutoFit/>
          </a:bodyPr>
          <a:lstStyle/>
          <a:p>
            <a:pPr algn="ctr"/>
            <a:r>
              <a:rPr lang="en-IN" dirty="0"/>
              <a:t>Only if a file called </a:t>
            </a:r>
            <a:r>
              <a:rPr lang="en-IN" dirty="0" err="1"/>
              <a:t>reviewed.flag</a:t>
            </a:r>
            <a:r>
              <a:rPr lang="en-IN" dirty="0"/>
              <a:t> exists, Claude Code will consider that review was done</a:t>
            </a:r>
            <a:endParaRPr lang="en-GB" dirty="0"/>
          </a:p>
        </p:txBody>
      </p:sp>
    </p:spTree>
    <p:extLst>
      <p:ext uri="{BB962C8B-B14F-4D97-AF65-F5344CB8AC3E}">
        <p14:creationId xmlns:p14="http://schemas.microsoft.com/office/powerpoint/2010/main" val="3377423508"/>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B172C-7880-092F-3D2D-6C68DFA8D1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92D2B9-10FF-B5C0-F124-5F5C09F67A92}"/>
              </a:ext>
            </a:extLst>
          </p:cNvPr>
          <p:cNvSpPr>
            <a:spLocks noGrp="1"/>
          </p:cNvSpPr>
          <p:nvPr>
            <p:ph type="title"/>
          </p:nvPr>
        </p:nvSpPr>
        <p:spPr/>
        <p:txBody>
          <a:bodyPr/>
          <a:lstStyle/>
          <a:p>
            <a:r>
              <a:rPr lang="en-IN" dirty="0"/>
              <a:t>Project 13 – End-to-End Feature, Three Roles</a:t>
            </a:r>
            <a:endParaRPr lang="en-GB" dirty="0"/>
          </a:p>
        </p:txBody>
      </p:sp>
      <p:sp>
        <p:nvSpPr>
          <p:cNvPr id="3" name="Content Placeholder 2">
            <a:extLst>
              <a:ext uri="{FF2B5EF4-FFF2-40B4-BE49-F238E27FC236}">
                <a16:creationId xmlns:a16="http://schemas.microsoft.com/office/drawing/2014/main" id="{565AD5E0-458D-BFA4-5131-65CF7B7A91DA}"/>
              </a:ext>
            </a:extLst>
          </p:cNvPr>
          <p:cNvSpPr>
            <a:spLocks noGrp="1"/>
          </p:cNvSpPr>
          <p:nvPr>
            <p:ph idx="1"/>
          </p:nvPr>
        </p:nvSpPr>
        <p:spPr/>
        <p:txBody>
          <a:bodyPr>
            <a:normAutofit lnSpcReduction="10000"/>
          </a:bodyPr>
          <a:lstStyle/>
          <a:p>
            <a:r>
              <a:rPr lang="en-IN" dirty="0"/>
              <a:t>Step 3: Technical colleague implements, PM/BA approves each step</a:t>
            </a:r>
          </a:p>
          <a:p>
            <a:pPr lvl="1"/>
            <a:r>
              <a:rPr lang="en-GB" dirty="0"/>
              <a:t>Restart Claude, referencing the spec directly:</a:t>
            </a:r>
          </a:p>
          <a:p>
            <a:pPr lvl="2"/>
            <a:r>
              <a:rPr lang="en-GB" dirty="0"/>
              <a:t>"We are building the feature described in @SPECS.md. Start by explaining your implementation plan — which files will change and why. Do not edit anything yet."</a:t>
            </a:r>
          </a:p>
          <a:p>
            <a:r>
              <a:rPr lang="en-GB" dirty="0"/>
              <a:t>PM/BA partner reads the plan against SPECS.md and either approves or asks for changes — this is their checkpoint, mirroring the "Request Plans Before Edits" habit</a:t>
            </a:r>
          </a:p>
          <a:p>
            <a:r>
              <a:rPr lang="en-GB" dirty="0"/>
              <a:t>Once approved, create the review flag to let the hook allow edits</a:t>
            </a:r>
          </a:p>
          <a:p>
            <a:pPr lvl="1"/>
            <a:r>
              <a:rPr lang="en-GB" dirty="0"/>
              <a:t>Create a new file </a:t>
            </a:r>
            <a:r>
              <a:rPr lang="en-GB" dirty="0" err="1"/>
              <a:t>reviewed.flag</a:t>
            </a:r>
            <a:r>
              <a:rPr lang="en-GB" dirty="0"/>
              <a:t> (can be empty also)</a:t>
            </a:r>
          </a:p>
          <a:p>
            <a:r>
              <a:rPr lang="en-GB" dirty="0"/>
              <a:t>Implement the plan we just agreed on</a:t>
            </a:r>
          </a:p>
          <a:p>
            <a:r>
              <a:rPr lang="en-GB" dirty="0"/>
              <a:t>The hook allows the edits through</a:t>
            </a:r>
          </a:p>
          <a:p>
            <a:pPr lvl="1"/>
            <a:endParaRPr lang="en-IN" dirty="0"/>
          </a:p>
        </p:txBody>
      </p:sp>
    </p:spTree>
    <p:extLst>
      <p:ext uri="{BB962C8B-B14F-4D97-AF65-F5344CB8AC3E}">
        <p14:creationId xmlns:p14="http://schemas.microsoft.com/office/powerpoint/2010/main" val="2983147421"/>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84F6C-6766-2DBE-5045-ACC5B8E8FB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2F7E1-085C-38B5-9EE5-CEEF1B13D289}"/>
              </a:ext>
            </a:extLst>
          </p:cNvPr>
          <p:cNvSpPr>
            <a:spLocks noGrp="1"/>
          </p:cNvSpPr>
          <p:nvPr>
            <p:ph type="title"/>
          </p:nvPr>
        </p:nvSpPr>
        <p:spPr/>
        <p:txBody>
          <a:bodyPr/>
          <a:lstStyle/>
          <a:p>
            <a:r>
              <a:rPr lang="en-IN" dirty="0"/>
              <a:t>Project 13 – End-to-End Feature, Three Roles</a:t>
            </a:r>
            <a:endParaRPr lang="en-GB" dirty="0"/>
          </a:p>
        </p:txBody>
      </p:sp>
      <p:sp>
        <p:nvSpPr>
          <p:cNvPr id="3" name="Content Placeholder 2">
            <a:extLst>
              <a:ext uri="{FF2B5EF4-FFF2-40B4-BE49-F238E27FC236}">
                <a16:creationId xmlns:a16="http://schemas.microsoft.com/office/drawing/2014/main" id="{3AB40F00-F73D-A7D5-8E7E-BF12F578FADE}"/>
              </a:ext>
            </a:extLst>
          </p:cNvPr>
          <p:cNvSpPr>
            <a:spLocks noGrp="1"/>
          </p:cNvSpPr>
          <p:nvPr>
            <p:ph idx="1"/>
          </p:nvPr>
        </p:nvSpPr>
        <p:spPr/>
        <p:txBody>
          <a:bodyPr>
            <a:normAutofit/>
          </a:bodyPr>
          <a:lstStyle/>
          <a:p>
            <a:r>
              <a:rPr lang="en-IN" dirty="0"/>
              <a:t>Step 4: QA colleague verifies against the spec, not the code</a:t>
            </a:r>
          </a:p>
          <a:p>
            <a:pPr lvl="1"/>
            <a:r>
              <a:rPr lang="en-GB" dirty="0"/>
              <a:t>QA colleague has not read the implementation — only SPECS.md</a:t>
            </a:r>
          </a:p>
          <a:p>
            <a:pPr lvl="1"/>
            <a:r>
              <a:rPr lang="en-GB" dirty="0"/>
              <a:t>Using the "Is this feature done?" pattern from the Prompt Rewrite Drill:</a:t>
            </a:r>
          </a:p>
          <a:p>
            <a:pPr lvl="2"/>
            <a:r>
              <a:rPr lang="en-GB" dirty="0"/>
              <a:t>"Act as a QA-minded reviewer. Context: the team says this feature is complete; the requirements are in SPECS.md. Output: compare what's actually implemented against each acceptance criterion in SPECS.md, and flag any criterion that isn't met. Limits: do not modify any files. Verification: give me a simple done/not-done table.“</a:t>
            </a:r>
          </a:p>
          <a:p>
            <a:pPr lvl="1"/>
            <a:r>
              <a:rPr lang="en-GB" dirty="0"/>
              <a:t>QA colleague reads out the table to the others</a:t>
            </a:r>
          </a:p>
          <a:p>
            <a:pPr lvl="1"/>
            <a:r>
              <a:rPr lang="en-GB" dirty="0"/>
              <a:t>If anything is flagged "not done," decide as a group: is this a real gap, or was the spec ambiguous? </a:t>
            </a:r>
          </a:p>
          <a:p>
            <a:pPr lvl="1"/>
            <a:endParaRPr lang="en-IN" dirty="0"/>
          </a:p>
        </p:txBody>
      </p:sp>
    </p:spTree>
    <p:extLst>
      <p:ext uri="{BB962C8B-B14F-4D97-AF65-F5344CB8AC3E}">
        <p14:creationId xmlns:p14="http://schemas.microsoft.com/office/powerpoint/2010/main" val="24906112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3178</TotalTime>
  <Words>19978</Words>
  <Application>Microsoft Office PowerPoint</Application>
  <PresentationFormat>Widescreen</PresentationFormat>
  <Paragraphs>2482</Paragraphs>
  <Slides>213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213</vt:i4>
      </vt:variant>
    </vt:vector>
  </HeadingPairs>
  <TitlesOfParts>
    <vt:vector size="218" baseType="lpstr">
      <vt:lpstr>Arial</vt:lpstr>
      <vt:lpstr>Calibri</vt:lpstr>
      <vt:lpstr>Calibri Light</vt:lpstr>
      <vt:lpstr>Wingdings</vt:lpstr>
      <vt:lpstr>Office Theme</vt:lpstr>
      <vt:lpstr>Claude Code</vt:lpstr>
      <vt:lpstr>Section 1: What is Claude Code?</vt:lpstr>
      <vt:lpstr>What is Claude Code</vt:lpstr>
      <vt:lpstr>What is Claude Code? – Objectives</vt:lpstr>
      <vt:lpstr>Understand Claude Code</vt:lpstr>
      <vt:lpstr>Understand Claude Code</vt:lpstr>
      <vt:lpstr>Compare Claude AI and Claude Code</vt:lpstr>
      <vt:lpstr>Exercise: Compare Claude and Claude Code</vt:lpstr>
      <vt:lpstr>Understand Agentic Coding</vt:lpstr>
      <vt:lpstr>Agentic Ability</vt:lpstr>
      <vt:lpstr>Understand Project Awareness</vt:lpstr>
      <vt:lpstr>Identify Beginner Use Cases</vt:lpstr>
      <vt:lpstr>More Beginner Use Cases</vt:lpstr>
      <vt:lpstr>Exercise: Using Claude for Various Situations </vt:lpstr>
      <vt:lpstr>Recognize Limitations</vt:lpstr>
      <vt:lpstr>Start Safely</vt:lpstr>
      <vt:lpstr>Installation and Setup</vt:lpstr>
      <vt:lpstr>Exercise – Coding</vt:lpstr>
      <vt:lpstr>Exercise – PM/BA</vt:lpstr>
      <vt:lpstr>Configurations</vt:lpstr>
      <vt:lpstr>Directly Running an Operation in the Terminal</vt:lpstr>
      <vt:lpstr>Permissions</vt:lpstr>
      <vt:lpstr>Section 2: Agentic Coding for Beginners</vt:lpstr>
      <vt:lpstr>Agentic Coding Basics</vt:lpstr>
      <vt:lpstr>Agentic Coding Basics – Objectives</vt:lpstr>
      <vt:lpstr>Begin Confidently</vt:lpstr>
      <vt:lpstr>Begin Confidently – Example</vt:lpstr>
      <vt:lpstr>Learn Differently</vt:lpstr>
      <vt:lpstr>Learn Differently – Example</vt:lpstr>
      <vt:lpstr>Think in Tasks</vt:lpstr>
      <vt:lpstr>Think in Tasks - Example</vt:lpstr>
      <vt:lpstr>Break Ideas Down</vt:lpstr>
      <vt:lpstr>Break Ideas Down – Example</vt:lpstr>
      <vt:lpstr>Collaborate Well</vt:lpstr>
      <vt:lpstr>Collaborate Well - Example</vt:lpstr>
      <vt:lpstr>Avoid Mistakes</vt:lpstr>
      <vt:lpstr>Avoid Mistakes – Example</vt:lpstr>
      <vt:lpstr>Practice Planning</vt:lpstr>
      <vt:lpstr>Practice Planning – Solution</vt:lpstr>
      <vt:lpstr>Practice Planning – Solution</vt:lpstr>
      <vt:lpstr>Practice Planning – Solution</vt:lpstr>
      <vt:lpstr>Section 3: First Coding Workflow with Claude Code</vt:lpstr>
      <vt:lpstr>First Coding Workflow with Claude Code</vt:lpstr>
      <vt:lpstr>Create a New Project</vt:lpstr>
      <vt:lpstr>Generate Starter Files</vt:lpstr>
      <vt:lpstr>Understand Generated Code</vt:lpstr>
      <vt:lpstr>Run Locally</vt:lpstr>
      <vt:lpstr>Fix First Errors</vt:lpstr>
      <vt:lpstr>Save Progress</vt:lpstr>
      <vt:lpstr>Complete a Practical Mini Project</vt:lpstr>
      <vt:lpstr>Section 4: Prompt Engineering for Coding Beginners</vt:lpstr>
      <vt:lpstr>Prompt Engineering for Coding Beginners</vt:lpstr>
      <vt:lpstr>Understand Coding Prompt Engineering</vt:lpstr>
      <vt:lpstr>Recognize Weak Prompts</vt:lpstr>
      <vt:lpstr>Use a Prompt Formula</vt:lpstr>
      <vt:lpstr>Use a Prompt Formula</vt:lpstr>
      <vt:lpstr>Ask for Explanations</vt:lpstr>
      <vt:lpstr>Request Plans Before Edits</vt:lpstr>
      <vt:lpstr>Suggested Planning Guidelines</vt:lpstr>
      <vt:lpstr>Improve Prompt Quality</vt:lpstr>
      <vt:lpstr>Exercise – Improve these Weak Prompts</vt:lpstr>
      <vt:lpstr>Exercise Solutions</vt:lpstr>
      <vt:lpstr>Section 5: Project Instructions and CLAUDE.md File</vt:lpstr>
      <vt:lpstr>CLAUDE.md File</vt:lpstr>
      <vt:lpstr>CLAUDE.md and Project Memory</vt:lpstr>
      <vt:lpstr>Sample CLAUDE.md File</vt:lpstr>
      <vt:lpstr>CLAUDE.md and Project Memory</vt:lpstr>
      <vt:lpstr>CLAUDE.md Exercise – Investment Tracker</vt:lpstr>
      <vt:lpstr>CLAUDE.md Exercise 1 – Business Rules</vt:lpstr>
      <vt:lpstr>CLAUDE.md Exercise 1 – Business Rules</vt:lpstr>
      <vt:lpstr>CLAUDE.md Exercise 1 – Business Rules</vt:lpstr>
      <vt:lpstr>CLAUDE.md Exercise 2 – Dev and Testing</vt:lpstr>
      <vt:lpstr>CLAUDE.md Exercise 2 – Dev and Testing</vt:lpstr>
      <vt:lpstr>CLAUDE.md Exercise 2 – Dev and Testing</vt:lpstr>
      <vt:lpstr>CLAUDE.md Exercise 3 – DevOps</vt:lpstr>
      <vt:lpstr>CLAUDE.md Exercise 3 – DevOps</vt:lpstr>
      <vt:lpstr>CLAUDE.md Exercise 3 – DevOps</vt:lpstr>
      <vt:lpstr>Section 6: Some Technical Aspects of Claude Code</vt:lpstr>
      <vt:lpstr>Context Window</vt:lpstr>
      <vt:lpstr>Exercise – Context Window Check</vt:lpstr>
      <vt:lpstr>Prompting</vt:lpstr>
      <vt:lpstr>Planning and Executing</vt:lpstr>
      <vt:lpstr>Let Claude Interview You</vt:lpstr>
      <vt:lpstr>Exercise</vt:lpstr>
      <vt:lpstr>Delegate, Do not Dictate</vt:lpstr>
      <vt:lpstr>Common Workflows</vt:lpstr>
      <vt:lpstr>Permissions</vt:lpstr>
      <vt:lpstr>Permissions Exercise</vt:lpstr>
      <vt:lpstr>Round 1 – Default Mode</vt:lpstr>
      <vt:lpstr>Round 2 – acceptEdits Mode</vt:lpstr>
      <vt:lpstr>Round 3 – plan Mode</vt:lpstr>
      <vt:lpstr>Round 4 – auto Mode</vt:lpstr>
      <vt:lpstr>Sessions and Context</vt:lpstr>
      <vt:lpstr>Slash Commands – Beginner</vt:lpstr>
      <vt:lpstr>Slash Commands – General</vt:lpstr>
      <vt:lpstr>Section 7: Skills and Subagents</vt:lpstr>
      <vt:lpstr>Skills</vt:lpstr>
      <vt:lpstr>Skills</vt:lpstr>
      <vt:lpstr>Sample SKILL.md Files</vt:lpstr>
      <vt:lpstr>Skills: Arguments and Workflows</vt:lpstr>
      <vt:lpstr>Skill: Running as a Subagent</vt:lpstr>
      <vt:lpstr>Exercise 1: Skill (BA/PM)</vt:lpstr>
      <vt:lpstr>Exercise 1: Skill (BA/PM)</vt:lpstr>
      <vt:lpstr>Exercise 1: Skill (BA/PM)</vt:lpstr>
      <vt:lpstr>Exercise 2: Skill (Technical)</vt:lpstr>
      <vt:lpstr>Exercise 2: Skill (Technical)</vt:lpstr>
      <vt:lpstr>Exercise 2: Skill (Technical)</vt:lpstr>
      <vt:lpstr>Subagent</vt:lpstr>
      <vt:lpstr>Subagent</vt:lpstr>
      <vt:lpstr>Subagent Patterns and Limits</vt:lpstr>
      <vt:lpstr>Exercise 1: Subagent (Technical)</vt:lpstr>
      <vt:lpstr>Exercise 1: Subagent (Technical)</vt:lpstr>
      <vt:lpstr>Exercise 1: Subagent (Technical)</vt:lpstr>
      <vt:lpstr>Exercise 1: Subagent (Technical)</vt:lpstr>
      <vt:lpstr>Exercise 1: Subagent (Technical)</vt:lpstr>
      <vt:lpstr>Exercise 2: Subagent (BA/PM)</vt:lpstr>
      <vt:lpstr>Exercise 2: Subagent (BA/PM)</vt:lpstr>
      <vt:lpstr>Exercise 2: Subagent (BA/PM)</vt:lpstr>
      <vt:lpstr>Exercise 2: Subagent (BA/PM)</vt:lpstr>
      <vt:lpstr>Exercise 2: Subagent (BA/PM)</vt:lpstr>
      <vt:lpstr>Exercise 2: Subagent (BA/PM)</vt:lpstr>
      <vt:lpstr>Exercise 2: Subagent (BA/PM)</vt:lpstr>
      <vt:lpstr>Exercise 2: Subagent (BA/PM)</vt:lpstr>
      <vt:lpstr>Skill or Subagent?</vt:lpstr>
      <vt:lpstr>Skill or Subagent?</vt:lpstr>
      <vt:lpstr>Skill or Subagent?</vt:lpstr>
      <vt:lpstr>Section 8: Hooks</vt:lpstr>
      <vt:lpstr>Hooks</vt:lpstr>
      <vt:lpstr>Hooks Example</vt:lpstr>
      <vt:lpstr>More on Hooks</vt:lpstr>
      <vt:lpstr>Hook Working</vt:lpstr>
      <vt:lpstr>Hooks for Safety</vt:lpstr>
      <vt:lpstr>Examples of Hooks</vt:lpstr>
      <vt:lpstr>Hooks Exercise</vt:lpstr>
      <vt:lpstr>Hooks Exercise</vt:lpstr>
      <vt:lpstr>Hooks Exercise</vt:lpstr>
      <vt:lpstr>Hooks Exercise</vt:lpstr>
      <vt:lpstr>Section 9: MCP</vt:lpstr>
      <vt:lpstr>MCP</vt:lpstr>
      <vt:lpstr>MCP: Multiple Secrets</vt:lpstr>
      <vt:lpstr>Exercise: Adding an MCP Server</vt:lpstr>
      <vt:lpstr>Exercise: Adding an MCP Server</vt:lpstr>
      <vt:lpstr>Exercise: Context7 MCP Server</vt:lpstr>
      <vt:lpstr>Section 10: Building Sample Projects Using Claude Code</vt:lpstr>
      <vt:lpstr>Project 1: Personal Website</vt:lpstr>
      <vt:lpstr>Project 2: Personal Notes Manager</vt:lpstr>
      <vt:lpstr>Project 3: Expense Tracker - Exercise</vt:lpstr>
      <vt:lpstr>Project 4: PDF Knowledge Search (RAG)</vt:lpstr>
      <vt:lpstr>Project 5: Image Caption Creator</vt:lpstr>
      <vt:lpstr>Project 6: Deliberate Login Bug Detection</vt:lpstr>
      <vt:lpstr>Project 7: Ask Claude to Explain Code and Add Something</vt:lpstr>
      <vt:lpstr>Project 8: Spring Boot API</vt:lpstr>
      <vt:lpstr>Spring Initializer</vt:lpstr>
      <vt:lpstr>Creating Project</vt:lpstr>
      <vt:lpstr>Using Claude Code</vt:lpstr>
      <vt:lpstr>Testing</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9: Shopizer (Open Source E-commerce Software)</vt:lpstr>
      <vt:lpstr>Project 10: Customer Churn Prediction (Machine Learning) Step 1: Create a New Project</vt:lpstr>
      <vt:lpstr>Step 2: Create CLAUDE.md</vt:lpstr>
      <vt:lpstr>Step 3: Create Repository Structure</vt:lpstr>
      <vt:lpstr>Step 4: Review</vt:lpstr>
      <vt:lpstr>Step 5: Generate requirements.txt</vt:lpstr>
      <vt:lpstr>Step 6: Generate readme File</vt:lpstr>
      <vt:lpstr>Step 7: Download Dataset</vt:lpstr>
      <vt:lpstr>Step 8: Ask Claude to Explore the Dataset</vt:lpstr>
      <vt:lpstr>Step 9: Ask for Better Visualizations</vt:lpstr>
      <vt:lpstr>Step 10: Explain Code</vt:lpstr>
      <vt:lpstr>Step 11: Dataset Documentation</vt:lpstr>
      <vt:lpstr>Step 12: Generate Architecture Diagram</vt:lpstr>
      <vt:lpstr>Step 13: Generate a Development Roadmap</vt:lpstr>
      <vt:lpstr>Step 14: Ask Claude to Understand the Repo</vt:lpstr>
      <vt:lpstr>Step 15: Generate Coding Standards</vt:lpstr>
      <vt:lpstr>Step 16: Project Risk Review</vt:lpstr>
      <vt:lpstr>Step 17: Generate Development Tasks</vt:lpstr>
      <vt:lpstr>Step 18: Commit with Git</vt:lpstr>
      <vt:lpstr>Ask Claude Questions – Conversational Repo</vt:lpstr>
      <vt:lpstr>Project 11 – Claude Code for Testing</vt:lpstr>
      <vt:lpstr>Project 11 – Claude Code for Testing</vt:lpstr>
      <vt:lpstr>Project 11 – Claude Code for Testing</vt:lpstr>
      <vt:lpstr>Project 12 – Automation Engineer</vt:lpstr>
      <vt:lpstr>Project 12 – Automation Engineer</vt:lpstr>
      <vt:lpstr>Project 12 – Automation Engineer</vt:lpstr>
      <vt:lpstr>Project 12 – Automation Engineer</vt:lpstr>
      <vt:lpstr>Project 12 – Automation Engineer</vt:lpstr>
      <vt:lpstr>Project 12 – Automation Engineer</vt:lpstr>
      <vt:lpstr>Project 12 – Automation Engineer</vt:lpstr>
      <vt:lpstr>Project 12 – Automation Engineer</vt:lpstr>
      <vt:lpstr>Project 12 – Automation Engineer</vt:lpstr>
      <vt:lpstr>Project 13 – End-to-End Feature, Three Roles</vt:lpstr>
      <vt:lpstr>Project 13 – End-to-End Feature, Three Roles</vt:lpstr>
      <vt:lpstr>Project 13 – End-to-End Feature, Three Roles</vt:lpstr>
      <vt:lpstr>Project 13 – End-to-End Feature, Three Roles</vt:lpstr>
      <vt:lpstr>Project 13 – End-to-End Feature, Three Roles</vt:lpstr>
      <vt:lpstr>Project 13 – End-to-End Feature, Three Roles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Atul Kahate</dc:creator>
  <cp:lastModifiedBy>Atul Kahate</cp:lastModifiedBy>
  <cp:revision>46</cp:revision>
  <dcterms:created xsi:type="dcterms:W3CDTF">2026-07-07T11:43:15Z</dcterms:created>
  <dcterms:modified xsi:type="dcterms:W3CDTF">2026-07-17T14:24:03Z</dcterms:modified>
</cp:coreProperties>
</file>